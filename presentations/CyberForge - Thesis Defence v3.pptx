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1"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Oswald" panose="00000500000000000000" pitchFamily="2" charset="0"/>
      <p:regular r:id="rId23"/>
      <p:bold r:id="rId24"/>
    </p:embeddedFont>
    <p:embeddedFont>
      <p:font typeface="Titillium Web" panose="00000500000000000000"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Good morning. My dissertation is CyberForge, a real-time agentic AI system for web threat detection and user protection, supervised by Professor Onabid Mathias Akong. I will follow the structure: introduction, problem, research questions and objectives, a brief literature review, methods and materials, results, and the conclusion.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web is now the main attack surface. Signature tools fall behind fast-changing domains, so research moved to machine learning, deep learning and Transformers, and now to systems of specialised agents. CyberForge is my response: specialised agents analyse each URL in real time and agree one explained verdict. Scope is URL and web-context security; kernel, firmware and enterprise lateral movement are out of scope (§1.6).</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Three problems. First, false alarms: my own early heuristic returned 'medium' for every URL because of a +0.5 baseline offset, which shows how biases stay hidden until deployment. Second, explainability: a probability is not a story an analyst can act on. Third, no open architecture combines specialised analysers, memory and cross-device display; SOAR products do, but at enterprise scale.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general question asks how a network of specialised analysers can give real-time, explainable protection across platforms. It breaks into four: decomposition, integration of the analysis types, aggregation that reduces false alarms without hiding strong threats, and the use of historical browsing context.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general objective is to design, implement and evaluate the system end to end. Each specific objective answers one research question: the agent framework, the unified detection approach, the aggregation that controls false alerts, and contextual threat intelligence.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literature moves through four stages: hand-written rules, classical machine learning, deep learning and Transformers, and now hybrid designs and agents. The timeline scrolls through the works the design builds on: Provos on drive-by downloads, Sommer and Paxson's critique, Antonakakis on DGAs, Khonji's phishing survey, IOC extraction, MITRE ATT&amp;CK, URLNet, BERT, ReAct and Generative Agents.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Five gaps motivate the work: few complete multi-agent security systems, little honesty about model and service failure, a focus on accuracy rather than false alarms, unused historical context, and poor reproducibility. Each lime answer shows how CyberForge responds.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architecture separates four layers: clients, native and backend control, inference, and persistence with intelligence. A request passes privacy and session checks in the native layer, the backend selects the service, and the user receives a source-labelled result that states its coverage and any failure.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Eight specialist agents run in three stages plus a Reporter. Stage one works on the URL alone, in parallel: the BERT URL classifier, the DGA detector, the web scraper and the memory reader. Stage two needs the scraped page: IOC extraction with ten patterns, behavioural analysis, and MITRE mapping with twenty signals. Stage three enriches IOCs from AlienVault OTX. The Reporter combines everything; the original blend weights the mean at 60% and the strongest signal at 40%, so one strong signal is not averaged away. The current ReportAgent uses a weighted evidence sum instead (§3.4).</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materials: a Tauri 2 and Rust desktop, a Node.js 24 Express backend, a Python FastAPI service on Hugging Face Spaces, a React Native companion, and a shared Rust core with a CLI and MCP adapter. Pretrained BERT and Qwen are used for inference only; the training data are public phishing, malware-URL, popularity and web-attack corpora.</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Development was iterative: seven deployable iterations, each checked with representative URLs. Iteration three found the +0.5 baseline offset behind the 'medium risk for everything' defect. Calibration used seven labelled URLs for the risk score and thirty domains for the DGA threshold of 0.45; the explanation fallback was exercised from Gemini through Mistral to rules. These are development checks, separate from the evaluation set.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Four kinds of learning are kept apart: supervised gradient-boosted classifiers (HistGradientBoostingClassifier), an unsupervised IsolationForest on benign URLs, pretrained BERT and Qwen used only for inference, and rules with memory retrieval. Training follows five phases, with domain-grouped splits so the same domain never sits in both training and test, and thresholds chosen for a 2% false-positive target.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evaluation set has 300 URLs: 150 benign, 100 phishing and 50 malware or DGA domains, with the harmful URLs as the positive class. Four criteria were set before testing: functional correctness, false positives on common benign sites, coverage of curated phishing, and latency of at most ten seconds cold and four seconds warm.</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On the 300-URL set the prototype classified 284 correctly: 94.7% accuracy, 97.9% precision, 91.3% recall, 98% specificity and F1 94.5%. Only three of 150 benign sites were flagged, a 2% false-positive rate. Benign detection was 98%, phishing 92% and malware/DGA 90%. These are the historical prototype results; they were not re-run on the revised implementation.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mean end-to-end analysis took 4.05 seconds, 50 milliseconds over the strict four-second warm target, so I report that objective as not met. The Reporter, with the language-model explanation, is the largest share at 34%. Cached repeat visits returned in under 100 milliseconds.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Reliability is how often each agent returned a usable result, not its accuracy. All agents were above 95%; the web scraper and the OTX enricher depend on outside services and were lowest. Every external service had a fallback, so a scan degrades instead of failing; these uptime figures are from the original test period.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Explanations were rated 9.5 for factual accuracy and 9.0 for readability by non-experts; these are descriptive manual ratings, not a blinded user study. Against the targets, four of five objectives were met. Real-time analysis was not: 4.05 seconds against a strict 4.00-second target.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To conclude: the integrated, explainable workflow classified 284 of 300 URLs correctly with only three false alarms, in a little over four seconds. The contribution is the integration of complementary evidence into one explained verdict. The limits are clear: there is no single-model ablation, and the historical results are not a measurement of the revised system. The current source adds the access, privacy and signing controls recommended after the prototype.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Four recommendations follow: test the security controls in the packaged product, validate the privacy and retention controls across all clients, strengthen model evaluation and isolate training, and widen automatic actions only after verified rollback. Future research should include ablations, independent corpora and a blinded study of the explanations.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Thank you. I welcome your questions. The references scroll on the right; the full list is in the dissertation.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9"/>
        <p:cNvGrpSpPr/>
        <p:nvPr/>
      </p:nvGrpSpPr>
      <p:grpSpPr>
        <a:xfrm>
          <a:off x="0" y="0"/>
          <a:ext cx="0" cy="0"/>
          <a:chOff x="0" y="0"/>
          <a:chExt cx="0" cy="0"/>
        </a:xfrm>
      </p:grpSpPr>
      <p:sp>
        <p:nvSpPr>
          <p:cNvPr id="10" name="Google Shape;10;p3"/>
          <p:cNvSpPr/>
          <p:nvPr/>
        </p:nvSpPr>
        <p:spPr>
          <a:xfrm>
            <a:off x="1028700" y="1694498"/>
            <a:ext cx="16230600" cy="6898005"/>
          </a:xfrm>
          <a:custGeom>
            <a:avLst/>
            <a:gdLst/>
            <a:ahLst/>
            <a:cxnLst/>
            <a:rect l="l" t="t" r="r" b="b"/>
            <a:pathLst>
              <a:path w="16230600" h="6898005" extrusionOk="0">
                <a:moveTo>
                  <a:pt x="0" y="0"/>
                </a:moveTo>
                <a:lnTo>
                  <a:pt x="16230600" y="0"/>
                </a:lnTo>
                <a:lnTo>
                  <a:pt x="16230600" y="6898004"/>
                </a:lnTo>
                <a:lnTo>
                  <a:pt x="0" y="6898004"/>
                </a:lnTo>
                <a:lnTo>
                  <a:pt x="0" y="0"/>
                </a:lnTo>
                <a:close/>
              </a:path>
            </a:pathLst>
          </a:custGeom>
          <a:blipFill rotWithShape="1">
            <a:blip r:embed="rId2">
              <a:alphaModFix/>
            </a:blip>
            <a:stretch>
              <a:fillRect/>
            </a:stretch>
          </a:blipFill>
          <a:ln>
            <a:noFill/>
          </a:ln>
        </p:spPr>
      </p:sp>
      <p:sp>
        <p:nvSpPr>
          <p:cNvPr id="11" name="Google Shape;11;p3"/>
          <p:cNvSpPr/>
          <p:nvPr/>
        </p:nvSpPr>
        <p:spPr>
          <a:xfrm>
            <a:off x="1" y="772000"/>
            <a:ext cx="7587295" cy="1026782"/>
          </a:xfrm>
          <a:custGeom>
            <a:avLst/>
            <a:gdLst/>
            <a:ahLst/>
            <a:cxnLst/>
            <a:rect l="l" t="t" r="r" b="b"/>
            <a:pathLst>
              <a:path w="11240437" h="1026782" extrusionOk="0">
                <a:moveTo>
                  <a:pt x="0" y="0"/>
                </a:moveTo>
                <a:lnTo>
                  <a:pt x="11240437" y="0"/>
                </a:lnTo>
                <a:lnTo>
                  <a:pt x="11240437" y="1026783"/>
                </a:lnTo>
                <a:lnTo>
                  <a:pt x="0" y="1026783"/>
                </a:lnTo>
                <a:lnTo>
                  <a:pt x="0" y="0"/>
                </a:lnTo>
                <a:close/>
              </a:path>
            </a:pathLst>
          </a:custGeom>
          <a:blipFill rotWithShape="1">
            <a:blip r:embed="rId3">
              <a:alphaModFix/>
            </a:blip>
            <a:stretch>
              <a:fillRect l="-73988"/>
            </a:stretch>
          </a:blipFill>
          <a:ln>
            <a:noFill/>
          </a:ln>
        </p:spPr>
      </p:sp>
      <p:sp>
        <p:nvSpPr>
          <p:cNvPr id="12" name="Google Shape;12;p3"/>
          <p:cNvSpPr/>
          <p:nvPr/>
        </p:nvSpPr>
        <p:spPr>
          <a:xfrm>
            <a:off x="9144000" y="8488225"/>
            <a:ext cx="9132855" cy="1026782"/>
          </a:xfrm>
          <a:custGeom>
            <a:avLst/>
            <a:gdLst/>
            <a:ahLst/>
            <a:cxnLst/>
            <a:rect l="l" t="t" r="r" b="b"/>
            <a:pathLst>
              <a:path w="11240437" h="1026782" extrusionOk="0">
                <a:moveTo>
                  <a:pt x="0" y="0"/>
                </a:moveTo>
                <a:lnTo>
                  <a:pt x="11240437" y="0"/>
                </a:lnTo>
                <a:lnTo>
                  <a:pt x="11240437" y="1026783"/>
                </a:lnTo>
                <a:lnTo>
                  <a:pt x="0" y="1026783"/>
                </a:lnTo>
                <a:lnTo>
                  <a:pt x="0" y="0"/>
                </a:lnTo>
                <a:close/>
              </a:path>
            </a:pathLst>
          </a:custGeom>
          <a:blipFill rotWithShape="1">
            <a:blip r:embed="rId3">
              <a:alphaModFix/>
            </a:blip>
            <a:stretch>
              <a:fillRect r="-73988"/>
            </a:stretch>
          </a:blipFill>
          <a:ln>
            <a:noFill/>
          </a:ln>
        </p:spPr>
      </p:sp>
      <p:sp>
        <p:nvSpPr>
          <p:cNvPr id="13" name="Google Shape;13;p3"/>
          <p:cNvSpPr txBox="1">
            <a:spLocks noGrp="1"/>
          </p:cNvSpPr>
          <p:nvPr>
            <p:ph type="subTitle" idx="1"/>
          </p:nvPr>
        </p:nvSpPr>
        <p:spPr>
          <a:xfrm>
            <a:off x="1133450" y="1002050"/>
            <a:ext cx="6210300" cy="681000"/>
          </a:xfrm>
          <a:prstGeom prst="rect">
            <a:avLst/>
          </a:prstGeom>
        </p:spPr>
        <p:txBody>
          <a:bodyPr spcFirstLastPara="1" wrap="square" lIns="91425" tIns="45700" rIns="91425" bIns="45700" anchor="t" anchorCtr="0">
            <a:normAutofit/>
          </a:bodyPr>
          <a:lstStyle>
            <a:lvl1pPr lvl="0">
              <a:spcBef>
                <a:spcPts val="640"/>
              </a:spcBef>
              <a:spcAft>
                <a:spcPts val="0"/>
              </a:spcAft>
              <a:buSzPts val="3200"/>
              <a:buNone/>
              <a:defRPr sz="3200"/>
            </a:lvl1pPr>
            <a:lvl2pPr lvl="1">
              <a:spcBef>
                <a:spcPts val="560"/>
              </a:spcBef>
              <a:spcAft>
                <a:spcPts val="0"/>
              </a:spcAft>
              <a:buSzPts val="2400"/>
              <a:buNone/>
              <a:defRPr/>
            </a:lvl2pPr>
            <a:lvl3pPr lvl="2">
              <a:spcBef>
                <a:spcPts val="480"/>
              </a:spcBef>
              <a:spcAft>
                <a:spcPts val="0"/>
              </a:spcAft>
              <a:buSzPts val="2400"/>
              <a:buNone/>
              <a:defRPr/>
            </a:lvl3pPr>
            <a:lvl4pPr lvl="3">
              <a:spcBef>
                <a:spcPts val="400"/>
              </a:spcBef>
              <a:spcAft>
                <a:spcPts val="0"/>
              </a:spcAft>
              <a:buSzPts val="2400"/>
              <a:buNone/>
              <a:defRPr/>
            </a:lvl4pPr>
            <a:lvl5pPr lvl="4">
              <a:spcBef>
                <a:spcPts val="400"/>
              </a:spcBef>
              <a:spcAft>
                <a:spcPts val="0"/>
              </a:spcAft>
              <a:buSzPts val="2400"/>
              <a:buNone/>
              <a:defRPr/>
            </a:lvl5pPr>
            <a:lvl6pPr lvl="5">
              <a:spcBef>
                <a:spcPts val="400"/>
              </a:spcBef>
              <a:spcAft>
                <a:spcPts val="0"/>
              </a:spcAft>
              <a:buSzPts val="2400"/>
              <a:buNone/>
              <a:defRPr/>
            </a:lvl6pPr>
            <a:lvl7pPr lvl="6">
              <a:spcBef>
                <a:spcPts val="400"/>
              </a:spcBef>
              <a:spcAft>
                <a:spcPts val="0"/>
              </a:spcAft>
              <a:buSzPts val="2400"/>
              <a:buNone/>
              <a:defRPr/>
            </a:lvl7pPr>
            <a:lvl8pPr lvl="7">
              <a:spcBef>
                <a:spcPts val="400"/>
              </a:spcBef>
              <a:spcAft>
                <a:spcPts val="0"/>
              </a:spcAft>
              <a:buSzPts val="2400"/>
              <a:buNone/>
              <a:defRPr/>
            </a:lvl8pPr>
            <a:lvl9pPr lvl="8">
              <a:spcBef>
                <a:spcPts val="400"/>
              </a:spcBef>
              <a:spcAft>
                <a:spcPts val="0"/>
              </a:spcAft>
              <a:buSzPts val="2400"/>
              <a:buNone/>
              <a:defRPr/>
            </a:lvl9pPr>
          </a:lstStyle>
          <a:p>
            <a:endParaRPr/>
          </a:p>
        </p:txBody>
      </p:sp>
      <p:sp>
        <p:nvSpPr>
          <p:cNvPr id="14" name="Google Shape;14;p3"/>
          <p:cNvSpPr txBox="1">
            <a:spLocks noGrp="1"/>
          </p:cNvSpPr>
          <p:nvPr>
            <p:ph type="subTitle" idx="2"/>
          </p:nvPr>
        </p:nvSpPr>
        <p:spPr>
          <a:xfrm>
            <a:off x="10944200" y="8718263"/>
            <a:ext cx="6210300" cy="681000"/>
          </a:xfrm>
          <a:prstGeom prst="rect">
            <a:avLst/>
          </a:prstGeom>
        </p:spPr>
        <p:txBody>
          <a:bodyPr spcFirstLastPara="1" wrap="square" lIns="91425" tIns="45700" rIns="91425" bIns="45700" anchor="t" anchorCtr="0">
            <a:normAutofit/>
          </a:bodyPr>
          <a:lstStyle>
            <a:lvl1pPr lvl="0" algn="r" rtl="0">
              <a:spcBef>
                <a:spcPts val="640"/>
              </a:spcBef>
              <a:spcAft>
                <a:spcPts val="0"/>
              </a:spcAft>
              <a:buSzPts val="3200"/>
              <a:buNone/>
              <a:defRPr sz="3200"/>
            </a:lvl1pPr>
            <a:lvl2pPr lvl="1" algn="r" rtl="0">
              <a:spcBef>
                <a:spcPts val="560"/>
              </a:spcBef>
              <a:spcAft>
                <a:spcPts val="0"/>
              </a:spcAft>
              <a:buSzPts val="2400"/>
              <a:buNone/>
              <a:defRPr/>
            </a:lvl2pPr>
            <a:lvl3pPr lvl="2" algn="r" rtl="0">
              <a:spcBef>
                <a:spcPts val="480"/>
              </a:spcBef>
              <a:spcAft>
                <a:spcPts val="0"/>
              </a:spcAft>
              <a:buSzPts val="2400"/>
              <a:buNone/>
              <a:defRPr/>
            </a:lvl3pPr>
            <a:lvl4pPr lvl="3" algn="r" rtl="0">
              <a:spcBef>
                <a:spcPts val="400"/>
              </a:spcBef>
              <a:spcAft>
                <a:spcPts val="0"/>
              </a:spcAft>
              <a:buSzPts val="2400"/>
              <a:buNone/>
              <a:defRPr/>
            </a:lvl4pPr>
            <a:lvl5pPr lvl="4" algn="r" rtl="0">
              <a:spcBef>
                <a:spcPts val="400"/>
              </a:spcBef>
              <a:spcAft>
                <a:spcPts val="0"/>
              </a:spcAft>
              <a:buSzPts val="2400"/>
              <a:buNone/>
              <a:defRPr/>
            </a:lvl5pPr>
            <a:lvl6pPr lvl="5" algn="r" rtl="0">
              <a:spcBef>
                <a:spcPts val="400"/>
              </a:spcBef>
              <a:spcAft>
                <a:spcPts val="0"/>
              </a:spcAft>
              <a:buSzPts val="2400"/>
              <a:buNone/>
              <a:defRPr/>
            </a:lvl6pPr>
            <a:lvl7pPr lvl="6" algn="r" rtl="0">
              <a:spcBef>
                <a:spcPts val="400"/>
              </a:spcBef>
              <a:spcAft>
                <a:spcPts val="0"/>
              </a:spcAft>
              <a:buSzPts val="2400"/>
              <a:buNone/>
              <a:defRPr/>
            </a:lvl7pPr>
            <a:lvl8pPr lvl="7" algn="r" rtl="0">
              <a:spcBef>
                <a:spcPts val="400"/>
              </a:spcBef>
              <a:spcAft>
                <a:spcPts val="0"/>
              </a:spcAft>
              <a:buSzPts val="2400"/>
              <a:buNone/>
              <a:defRPr/>
            </a:lvl8pPr>
            <a:lvl9pPr lvl="8" algn="r" rtl="0">
              <a:spcBef>
                <a:spcPts val="400"/>
              </a:spcBef>
              <a:spcAft>
                <a:spcPts val="0"/>
              </a:spcAft>
              <a:buSzPts val="2400"/>
              <a:buNone/>
              <a:defRPr/>
            </a:lvl9pPr>
          </a:lstStyle>
          <a:p>
            <a:endParaRPr/>
          </a:p>
        </p:txBody>
      </p:sp>
      <p:sp>
        <p:nvSpPr>
          <p:cNvPr id="15" name="Google Shape;15;p3"/>
          <p:cNvSpPr txBox="1">
            <a:spLocks noGrp="1"/>
          </p:cNvSpPr>
          <p:nvPr>
            <p:ph type="title"/>
          </p:nvPr>
        </p:nvSpPr>
        <p:spPr>
          <a:xfrm>
            <a:off x="1857300" y="4133850"/>
            <a:ext cx="14573400" cy="1562100"/>
          </a:xfrm>
          <a:prstGeom prst="rect">
            <a:avLst/>
          </a:prstGeom>
        </p:spPr>
        <p:txBody>
          <a:bodyPr spcFirstLastPara="1" wrap="square" lIns="91425" tIns="45700" rIns="91425" bIns="45700" anchor="t" anchorCtr="0">
            <a:normAutofit/>
          </a:bodyPr>
          <a:lstStyle>
            <a:lvl1pPr lvl="0" algn="ctr">
              <a:spcBef>
                <a:spcPts val="0"/>
              </a:spcBef>
              <a:spcAft>
                <a:spcPts val="0"/>
              </a:spcAft>
              <a:buClr>
                <a:srgbClr val="C1FF72"/>
              </a:buClr>
              <a:buSzPts val="10500"/>
              <a:buNone/>
              <a:defRPr sz="10500">
                <a:solidFill>
                  <a:srgbClr val="C1FF72"/>
                </a:solidFill>
              </a:defRPr>
            </a:lvl1pPr>
            <a:lvl2pPr lvl="1" algn="ctr">
              <a:spcBef>
                <a:spcPts val="0"/>
              </a:spcBef>
              <a:spcAft>
                <a:spcPts val="0"/>
              </a:spcAft>
              <a:buSzPts val="10000"/>
              <a:buNone/>
              <a:defRPr/>
            </a:lvl2pPr>
            <a:lvl3pPr lvl="2" algn="ctr">
              <a:spcBef>
                <a:spcPts val="0"/>
              </a:spcBef>
              <a:spcAft>
                <a:spcPts val="0"/>
              </a:spcAft>
              <a:buSzPts val="10000"/>
              <a:buNone/>
              <a:defRPr/>
            </a:lvl3pPr>
            <a:lvl4pPr lvl="3" algn="ctr">
              <a:spcBef>
                <a:spcPts val="0"/>
              </a:spcBef>
              <a:spcAft>
                <a:spcPts val="0"/>
              </a:spcAft>
              <a:buSzPts val="10000"/>
              <a:buNone/>
              <a:defRPr/>
            </a:lvl4pPr>
            <a:lvl5pPr lvl="4" algn="ctr">
              <a:spcBef>
                <a:spcPts val="0"/>
              </a:spcBef>
              <a:spcAft>
                <a:spcPts val="0"/>
              </a:spcAft>
              <a:buSzPts val="10000"/>
              <a:buNone/>
              <a:defRPr/>
            </a:lvl5pPr>
            <a:lvl6pPr lvl="5" algn="ctr">
              <a:spcBef>
                <a:spcPts val="0"/>
              </a:spcBef>
              <a:spcAft>
                <a:spcPts val="0"/>
              </a:spcAft>
              <a:buSzPts val="10000"/>
              <a:buNone/>
              <a:defRPr/>
            </a:lvl6pPr>
            <a:lvl7pPr lvl="6" algn="ctr">
              <a:spcBef>
                <a:spcPts val="0"/>
              </a:spcBef>
              <a:spcAft>
                <a:spcPts val="0"/>
              </a:spcAft>
              <a:buSzPts val="10000"/>
              <a:buNone/>
              <a:defRPr/>
            </a:lvl7pPr>
            <a:lvl8pPr lvl="7" algn="ctr">
              <a:spcBef>
                <a:spcPts val="0"/>
              </a:spcBef>
              <a:spcAft>
                <a:spcPts val="0"/>
              </a:spcAft>
              <a:buSzPts val="10000"/>
              <a:buNone/>
              <a:defRPr/>
            </a:lvl8pPr>
            <a:lvl9pPr lvl="8" algn="ctr">
              <a:spcBef>
                <a:spcPts val="0"/>
              </a:spcBef>
              <a:spcAft>
                <a:spcPts val="0"/>
              </a:spcAft>
              <a:buSzPts val="100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2">
  <p:cSld name="CUSTOM_1">
    <p:spTree>
      <p:nvGrpSpPr>
        <p:cNvPr id="1" name="Shape 16"/>
        <p:cNvGrpSpPr/>
        <p:nvPr/>
      </p:nvGrpSpPr>
      <p:grpSpPr>
        <a:xfrm>
          <a:off x="0" y="0"/>
          <a:ext cx="0" cy="0"/>
          <a:chOff x="0" y="0"/>
          <a:chExt cx="0" cy="0"/>
        </a:xfrm>
      </p:grpSpPr>
      <p:sp>
        <p:nvSpPr>
          <p:cNvPr id="17" name="Google Shape;17;p4"/>
          <p:cNvSpPr/>
          <p:nvPr/>
        </p:nvSpPr>
        <p:spPr>
          <a:xfrm>
            <a:off x="0" y="2747281"/>
            <a:ext cx="13430734" cy="4792440"/>
          </a:xfrm>
          <a:custGeom>
            <a:avLst/>
            <a:gdLst/>
            <a:ahLst/>
            <a:cxnLst/>
            <a:rect l="l" t="t" r="r" b="b"/>
            <a:pathLst>
              <a:path w="13810523" h="4792440" extrusionOk="0">
                <a:moveTo>
                  <a:pt x="0" y="0"/>
                </a:moveTo>
                <a:lnTo>
                  <a:pt x="13810523" y="0"/>
                </a:lnTo>
                <a:lnTo>
                  <a:pt x="13810523" y="4792440"/>
                </a:lnTo>
                <a:lnTo>
                  <a:pt x="0" y="4792440"/>
                </a:lnTo>
                <a:lnTo>
                  <a:pt x="0" y="0"/>
                </a:lnTo>
                <a:close/>
              </a:path>
            </a:pathLst>
          </a:custGeom>
          <a:blipFill rotWithShape="1">
            <a:blip r:embed="rId2">
              <a:alphaModFix/>
            </a:blip>
            <a:stretch>
              <a:fillRect l="-137264"/>
            </a:stretch>
          </a:blipFill>
          <a:ln>
            <a:noFill/>
          </a:ln>
        </p:spPr>
      </p:sp>
      <p:sp>
        <p:nvSpPr>
          <p:cNvPr id="18" name="Google Shape;18;p4"/>
          <p:cNvSpPr/>
          <p:nvPr/>
        </p:nvSpPr>
        <p:spPr>
          <a:xfrm>
            <a:off x="0" y="5997892"/>
            <a:ext cx="13430734" cy="4792440"/>
          </a:xfrm>
          <a:custGeom>
            <a:avLst/>
            <a:gdLst/>
            <a:ahLst/>
            <a:cxnLst/>
            <a:rect l="l" t="t" r="r" b="b"/>
            <a:pathLst>
              <a:path w="13810523" h="4792440" extrusionOk="0">
                <a:moveTo>
                  <a:pt x="0" y="0"/>
                </a:moveTo>
                <a:lnTo>
                  <a:pt x="13810523" y="0"/>
                </a:lnTo>
                <a:lnTo>
                  <a:pt x="13810523" y="4792440"/>
                </a:lnTo>
                <a:lnTo>
                  <a:pt x="0" y="4792440"/>
                </a:lnTo>
                <a:lnTo>
                  <a:pt x="0" y="0"/>
                </a:lnTo>
                <a:close/>
              </a:path>
            </a:pathLst>
          </a:custGeom>
          <a:blipFill rotWithShape="1">
            <a:blip r:embed="rId2">
              <a:alphaModFix/>
            </a:blip>
            <a:stretch>
              <a:fillRect l="-137264"/>
            </a:stretch>
          </a:blipFill>
          <a:ln>
            <a:noFill/>
          </a:ln>
        </p:spPr>
      </p:sp>
      <p:sp>
        <p:nvSpPr>
          <p:cNvPr id="19" name="Google Shape;19;p4"/>
          <p:cNvSpPr/>
          <p:nvPr/>
        </p:nvSpPr>
        <p:spPr>
          <a:xfrm>
            <a:off x="0" y="-503675"/>
            <a:ext cx="13430734" cy="4792440"/>
          </a:xfrm>
          <a:custGeom>
            <a:avLst/>
            <a:gdLst/>
            <a:ahLst/>
            <a:cxnLst/>
            <a:rect l="l" t="t" r="r" b="b"/>
            <a:pathLst>
              <a:path w="13810523" h="4792440" extrusionOk="0">
                <a:moveTo>
                  <a:pt x="0" y="0"/>
                </a:moveTo>
                <a:lnTo>
                  <a:pt x="13810523" y="0"/>
                </a:lnTo>
                <a:lnTo>
                  <a:pt x="13810523" y="4792440"/>
                </a:lnTo>
                <a:lnTo>
                  <a:pt x="0" y="4792440"/>
                </a:lnTo>
                <a:lnTo>
                  <a:pt x="0" y="0"/>
                </a:lnTo>
                <a:close/>
              </a:path>
            </a:pathLst>
          </a:custGeom>
          <a:blipFill rotWithShape="1">
            <a:blip r:embed="rId2">
              <a:alphaModFix/>
            </a:blip>
            <a:stretch>
              <a:fillRect l="-137264"/>
            </a:stretch>
          </a:blipFill>
          <a:ln>
            <a:noFill/>
          </a:ln>
        </p:spPr>
      </p:sp>
      <p:sp>
        <p:nvSpPr>
          <p:cNvPr id="20" name="Google Shape;20;p4"/>
          <p:cNvSpPr txBox="1"/>
          <p:nvPr/>
        </p:nvSpPr>
        <p:spPr>
          <a:xfrm>
            <a:off x="1723690" y="1235384"/>
            <a:ext cx="1290000" cy="954300"/>
          </a:xfrm>
          <a:prstGeom prst="rect">
            <a:avLst/>
          </a:prstGeom>
          <a:noFill/>
          <a:ln>
            <a:noFill/>
          </a:ln>
        </p:spPr>
        <p:txBody>
          <a:bodyPr spcFirstLastPara="1" wrap="square" lIns="0" tIns="0" rIns="0" bIns="0" anchor="t" anchorCtr="0">
            <a:spAutoFit/>
          </a:bodyPr>
          <a:lstStyle/>
          <a:p>
            <a:pPr marL="0" marR="0" lvl="0" indent="0" algn="l" rtl="0">
              <a:lnSpc>
                <a:spcPct val="124000"/>
              </a:lnSpc>
              <a:spcBef>
                <a:spcPts val="0"/>
              </a:spcBef>
              <a:spcAft>
                <a:spcPts val="0"/>
              </a:spcAft>
              <a:buNone/>
            </a:pPr>
            <a:r>
              <a:rPr lang="en-US" sz="6200" b="0" i="0" u="none" strike="noStrike" cap="none">
                <a:solidFill>
                  <a:srgbClr val="C1FF72"/>
                </a:solidFill>
                <a:latin typeface="Oswald"/>
                <a:ea typeface="Oswald"/>
                <a:cs typeface="Oswald"/>
                <a:sym typeface="Oswald"/>
              </a:rPr>
              <a:t>01</a:t>
            </a:r>
            <a:endParaRPr/>
          </a:p>
        </p:txBody>
      </p:sp>
      <p:sp>
        <p:nvSpPr>
          <p:cNvPr id="21" name="Google Shape;21;p4"/>
          <p:cNvSpPr txBox="1"/>
          <p:nvPr/>
        </p:nvSpPr>
        <p:spPr>
          <a:xfrm>
            <a:off x="1723690" y="4486345"/>
            <a:ext cx="1290000" cy="954300"/>
          </a:xfrm>
          <a:prstGeom prst="rect">
            <a:avLst/>
          </a:prstGeom>
          <a:noFill/>
          <a:ln>
            <a:noFill/>
          </a:ln>
        </p:spPr>
        <p:txBody>
          <a:bodyPr spcFirstLastPara="1" wrap="square" lIns="0" tIns="0" rIns="0" bIns="0" anchor="t" anchorCtr="0">
            <a:spAutoFit/>
          </a:bodyPr>
          <a:lstStyle/>
          <a:p>
            <a:pPr marL="0" marR="0" lvl="0" indent="0" algn="l" rtl="0">
              <a:lnSpc>
                <a:spcPct val="124000"/>
              </a:lnSpc>
              <a:spcBef>
                <a:spcPts val="0"/>
              </a:spcBef>
              <a:spcAft>
                <a:spcPts val="0"/>
              </a:spcAft>
              <a:buNone/>
            </a:pPr>
            <a:r>
              <a:rPr lang="en-US" sz="6200" b="0" i="0" u="none" strike="noStrike" cap="none">
                <a:solidFill>
                  <a:srgbClr val="C1FF72"/>
                </a:solidFill>
                <a:latin typeface="Oswald"/>
                <a:ea typeface="Oswald"/>
                <a:cs typeface="Oswald"/>
                <a:sym typeface="Oswald"/>
              </a:rPr>
              <a:t>02</a:t>
            </a:r>
            <a:endParaRPr/>
          </a:p>
        </p:txBody>
      </p:sp>
      <p:sp>
        <p:nvSpPr>
          <p:cNvPr id="22" name="Google Shape;22;p4"/>
          <p:cNvSpPr txBox="1"/>
          <p:nvPr/>
        </p:nvSpPr>
        <p:spPr>
          <a:xfrm>
            <a:off x="1723690" y="7708731"/>
            <a:ext cx="1290000" cy="954300"/>
          </a:xfrm>
          <a:prstGeom prst="rect">
            <a:avLst/>
          </a:prstGeom>
          <a:noFill/>
          <a:ln>
            <a:noFill/>
          </a:ln>
        </p:spPr>
        <p:txBody>
          <a:bodyPr spcFirstLastPara="1" wrap="square" lIns="0" tIns="0" rIns="0" bIns="0" anchor="t" anchorCtr="0">
            <a:spAutoFit/>
          </a:bodyPr>
          <a:lstStyle/>
          <a:p>
            <a:pPr marL="0" marR="0" lvl="0" indent="0" algn="l" rtl="0">
              <a:lnSpc>
                <a:spcPct val="124000"/>
              </a:lnSpc>
              <a:spcBef>
                <a:spcPts val="0"/>
              </a:spcBef>
              <a:spcAft>
                <a:spcPts val="0"/>
              </a:spcAft>
              <a:buNone/>
            </a:pPr>
            <a:r>
              <a:rPr lang="en-US" sz="6200" b="0" i="0" u="none" strike="noStrike" cap="none">
                <a:solidFill>
                  <a:srgbClr val="C1FF72"/>
                </a:solidFill>
                <a:latin typeface="Oswald"/>
                <a:ea typeface="Oswald"/>
                <a:cs typeface="Oswald"/>
                <a:sym typeface="Oswald"/>
              </a:rPr>
              <a:t>03</a:t>
            </a:r>
            <a:endParaRPr/>
          </a:p>
        </p:txBody>
      </p:sp>
      <p:sp>
        <p:nvSpPr>
          <p:cNvPr id="23" name="Google Shape;23;p4"/>
          <p:cNvSpPr txBox="1">
            <a:spLocks noGrp="1"/>
          </p:cNvSpPr>
          <p:nvPr>
            <p:ph type="subTitle" idx="1"/>
          </p:nvPr>
        </p:nvSpPr>
        <p:spPr>
          <a:xfrm>
            <a:off x="3361225" y="1200575"/>
            <a:ext cx="10069500" cy="954300"/>
          </a:xfrm>
          <a:prstGeom prst="rect">
            <a:avLst/>
          </a:prstGeom>
        </p:spPr>
        <p:txBody>
          <a:bodyPr spcFirstLastPara="1" wrap="square" lIns="91425" tIns="45700" rIns="91425" bIns="45700" anchor="t" anchorCtr="0">
            <a:normAutofit/>
          </a:bodyPr>
          <a:lstStyle>
            <a:lvl1pPr lvl="0" rtl="0">
              <a:spcBef>
                <a:spcPts val="640"/>
              </a:spcBef>
              <a:spcAft>
                <a:spcPts val="0"/>
              </a:spcAft>
              <a:buSzPts val="6200"/>
              <a:buFont typeface="Oswald"/>
              <a:buNone/>
              <a:defRPr sz="6200">
                <a:latin typeface="Oswald"/>
                <a:ea typeface="Oswald"/>
                <a:cs typeface="Oswald"/>
                <a:sym typeface="Oswald"/>
              </a:defRPr>
            </a:lvl1pPr>
            <a:lvl2pPr lvl="1" rtl="0">
              <a:spcBef>
                <a:spcPts val="560"/>
              </a:spcBef>
              <a:spcAft>
                <a:spcPts val="0"/>
              </a:spcAft>
              <a:buSzPts val="2400"/>
              <a:buFont typeface="Oswald"/>
              <a:buNone/>
              <a:defRPr>
                <a:latin typeface="Oswald"/>
                <a:ea typeface="Oswald"/>
                <a:cs typeface="Oswald"/>
                <a:sym typeface="Oswald"/>
              </a:defRPr>
            </a:lvl2pPr>
            <a:lvl3pPr lvl="2" rtl="0">
              <a:spcBef>
                <a:spcPts val="480"/>
              </a:spcBef>
              <a:spcAft>
                <a:spcPts val="0"/>
              </a:spcAft>
              <a:buSzPts val="2400"/>
              <a:buFont typeface="Oswald"/>
              <a:buNone/>
              <a:defRPr>
                <a:latin typeface="Oswald"/>
                <a:ea typeface="Oswald"/>
                <a:cs typeface="Oswald"/>
                <a:sym typeface="Oswald"/>
              </a:defRPr>
            </a:lvl3pPr>
            <a:lvl4pPr lvl="3" rtl="0">
              <a:spcBef>
                <a:spcPts val="400"/>
              </a:spcBef>
              <a:spcAft>
                <a:spcPts val="0"/>
              </a:spcAft>
              <a:buSzPts val="2400"/>
              <a:buFont typeface="Oswald"/>
              <a:buNone/>
              <a:defRPr>
                <a:latin typeface="Oswald"/>
                <a:ea typeface="Oswald"/>
                <a:cs typeface="Oswald"/>
                <a:sym typeface="Oswald"/>
              </a:defRPr>
            </a:lvl4pPr>
            <a:lvl5pPr lvl="4" rtl="0">
              <a:spcBef>
                <a:spcPts val="400"/>
              </a:spcBef>
              <a:spcAft>
                <a:spcPts val="0"/>
              </a:spcAft>
              <a:buSzPts val="2400"/>
              <a:buFont typeface="Oswald"/>
              <a:buNone/>
              <a:defRPr>
                <a:latin typeface="Oswald"/>
                <a:ea typeface="Oswald"/>
                <a:cs typeface="Oswald"/>
                <a:sym typeface="Oswald"/>
              </a:defRPr>
            </a:lvl5pPr>
            <a:lvl6pPr lvl="5" rtl="0">
              <a:spcBef>
                <a:spcPts val="400"/>
              </a:spcBef>
              <a:spcAft>
                <a:spcPts val="0"/>
              </a:spcAft>
              <a:buSzPts val="2400"/>
              <a:buFont typeface="Oswald"/>
              <a:buNone/>
              <a:defRPr>
                <a:latin typeface="Oswald"/>
                <a:ea typeface="Oswald"/>
                <a:cs typeface="Oswald"/>
                <a:sym typeface="Oswald"/>
              </a:defRPr>
            </a:lvl6pPr>
            <a:lvl7pPr lvl="6" rtl="0">
              <a:spcBef>
                <a:spcPts val="400"/>
              </a:spcBef>
              <a:spcAft>
                <a:spcPts val="0"/>
              </a:spcAft>
              <a:buSzPts val="2400"/>
              <a:buFont typeface="Oswald"/>
              <a:buNone/>
              <a:defRPr>
                <a:latin typeface="Oswald"/>
                <a:ea typeface="Oswald"/>
                <a:cs typeface="Oswald"/>
                <a:sym typeface="Oswald"/>
              </a:defRPr>
            </a:lvl7pPr>
            <a:lvl8pPr lvl="7" rtl="0">
              <a:spcBef>
                <a:spcPts val="400"/>
              </a:spcBef>
              <a:spcAft>
                <a:spcPts val="0"/>
              </a:spcAft>
              <a:buSzPts val="2400"/>
              <a:buFont typeface="Oswald"/>
              <a:buNone/>
              <a:defRPr>
                <a:latin typeface="Oswald"/>
                <a:ea typeface="Oswald"/>
                <a:cs typeface="Oswald"/>
                <a:sym typeface="Oswald"/>
              </a:defRPr>
            </a:lvl8pPr>
            <a:lvl9pPr lvl="8" rtl="0">
              <a:spcBef>
                <a:spcPts val="400"/>
              </a:spcBef>
              <a:spcAft>
                <a:spcPts val="0"/>
              </a:spcAft>
              <a:buSzPts val="2400"/>
              <a:buFont typeface="Oswald"/>
              <a:buNone/>
              <a:defRPr>
                <a:latin typeface="Oswald"/>
                <a:ea typeface="Oswald"/>
                <a:cs typeface="Oswald"/>
                <a:sym typeface="Oswald"/>
              </a:defRPr>
            </a:lvl9pPr>
          </a:lstStyle>
          <a:p>
            <a:endParaRPr/>
          </a:p>
        </p:txBody>
      </p:sp>
      <p:sp>
        <p:nvSpPr>
          <p:cNvPr id="24" name="Google Shape;24;p4"/>
          <p:cNvSpPr txBox="1">
            <a:spLocks noGrp="1"/>
          </p:cNvSpPr>
          <p:nvPr>
            <p:ph type="subTitle" idx="2"/>
          </p:nvPr>
        </p:nvSpPr>
        <p:spPr>
          <a:xfrm>
            <a:off x="3361225" y="4429200"/>
            <a:ext cx="10069500" cy="954300"/>
          </a:xfrm>
          <a:prstGeom prst="rect">
            <a:avLst/>
          </a:prstGeom>
        </p:spPr>
        <p:txBody>
          <a:bodyPr spcFirstLastPara="1" wrap="square" lIns="91425" tIns="45700" rIns="91425" bIns="45700" anchor="t" anchorCtr="0">
            <a:normAutofit/>
          </a:bodyPr>
          <a:lstStyle>
            <a:lvl1pPr lvl="0" rtl="0">
              <a:spcBef>
                <a:spcPts val="640"/>
              </a:spcBef>
              <a:spcAft>
                <a:spcPts val="0"/>
              </a:spcAft>
              <a:buSzPts val="6200"/>
              <a:buFont typeface="Oswald"/>
              <a:buNone/>
              <a:defRPr sz="6200">
                <a:latin typeface="Oswald"/>
                <a:ea typeface="Oswald"/>
                <a:cs typeface="Oswald"/>
                <a:sym typeface="Oswald"/>
              </a:defRPr>
            </a:lvl1pPr>
            <a:lvl2pPr lvl="1" rtl="0">
              <a:spcBef>
                <a:spcPts val="560"/>
              </a:spcBef>
              <a:spcAft>
                <a:spcPts val="0"/>
              </a:spcAft>
              <a:buSzPts val="2400"/>
              <a:buFont typeface="Oswald"/>
              <a:buNone/>
              <a:defRPr>
                <a:latin typeface="Oswald"/>
                <a:ea typeface="Oswald"/>
                <a:cs typeface="Oswald"/>
                <a:sym typeface="Oswald"/>
              </a:defRPr>
            </a:lvl2pPr>
            <a:lvl3pPr lvl="2" rtl="0">
              <a:spcBef>
                <a:spcPts val="480"/>
              </a:spcBef>
              <a:spcAft>
                <a:spcPts val="0"/>
              </a:spcAft>
              <a:buSzPts val="2400"/>
              <a:buFont typeface="Oswald"/>
              <a:buNone/>
              <a:defRPr>
                <a:latin typeface="Oswald"/>
                <a:ea typeface="Oswald"/>
                <a:cs typeface="Oswald"/>
                <a:sym typeface="Oswald"/>
              </a:defRPr>
            </a:lvl3pPr>
            <a:lvl4pPr lvl="3" rtl="0">
              <a:spcBef>
                <a:spcPts val="400"/>
              </a:spcBef>
              <a:spcAft>
                <a:spcPts val="0"/>
              </a:spcAft>
              <a:buSzPts val="2400"/>
              <a:buFont typeface="Oswald"/>
              <a:buNone/>
              <a:defRPr>
                <a:latin typeface="Oswald"/>
                <a:ea typeface="Oswald"/>
                <a:cs typeface="Oswald"/>
                <a:sym typeface="Oswald"/>
              </a:defRPr>
            </a:lvl4pPr>
            <a:lvl5pPr lvl="4" rtl="0">
              <a:spcBef>
                <a:spcPts val="400"/>
              </a:spcBef>
              <a:spcAft>
                <a:spcPts val="0"/>
              </a:spcAft>
              <a:buSzPts val="2400"/>
              <a:buFont typeface="Oswald"/>
              <a:buNone/>
              <a:defRPr>
                <a:latin typeface="Oswald"/>
                <a:ea typeface="Oswald"/>
                <a:cs typeface="Oswald"/>
                <a:sym typeface="Oswald"/>
              </a:defRPr>
            </a:lvl5pPr>
            <a:lvl6pPr lvl="5" rtl="0">
              <a:spcBef>
                <a:spcPts val="400"/>
              </a:spcBef>
              <a:spcAft>
                <a:spcPts val="0"/>
              </a:spcAft>
              <a:buSzPts val="2400"/>
              <a:buFont typeface="Oswald"/>
              <a:buNone/>
              <a:defRPr>
                <a:latin typeface="Oswald"/>
                <a:ea typeface="Oswald"/>
                <a:cs typeface="Oswald"/>
                <a:sym typeface="Oswald"/>
              </a:defRPr>
            </a:lvl6pPr>
            <a:lvl7pPr lvl="6" rtl="0">
              <a:spcBef>
                <a:spcPts val="400"/>
              </a:spcBef>
              <a:spcAft>
                <a:spcPts val="0"/>
              </a:spcAft>
              <a:buSzPts val="2400"/>
              <a:buFont typeface="Oswald"/>
              <a:buNone/>
              <a:defRPr>
                <a:latin typeface="Oswald"/>
                <a:ea typeface="Oswald"/>
                <a:cs typeface="Oswald"/>
                <a:sym typeface="Oswald"/>
              </a:defRPr>
            </a:lvl7pPr>
            <a:lvl8pPr lvl="7" rtl="0">
              <a:spcBef>
                <a:spcPts val="400"/>
              </a:spcBef>
              <a:spcAft>
                <a:spcPts val="0"/>
              </a:spcAft>
              <a:buSzPts val="2400"/>
              <a:buFont typeface="Oswald"/>
              <a:buNone/>
              <a:defRPr>
                <a:latin typeface="Oswald"/>
                <a:ea typeface="Oswald"/>
                <a:cs typeface="Oswald"/>
                <a:sym typeface="Oswald"/>
              </a:defRPr>
            </a:lvl8pPr>
            <a:lvl9pPr lvl="8" rtl="0">
              <a:spcBef>
                <a:spcPts val="400"/>
              </a:spcBef>
              <a:spcAft>
                <a:spcPts val="0"/>
              </a:spcAft>
              <a:buSzPts val="2400"/>
              <a:buFont typeface="Oswald"/>
              <a:buNone/>
              <a:defRPr>
                <a:latin typeface="Oswald"/>
                <a:ea typeface="Oswald"/>
                <a:cs typeface="Oswald"/>
                <a:sym typeface="Oswald"/>
              </a:defRPr>
            </a:lvl9pPr>
          </a:lstStyle>
          <a:p>
            <a:endParaRPr/>
          </a:p>
        </p:txBody>
      </p:sp>
      <p:sp>
        <p:nvSpPr>
          <p:cNvPr id="25" name="Google Shape;25;p4"/>
          <p:cNvSpPr txBox="1">
            <a:spLocks noGrp="1"/>
          </p:cNvSpPr>
          <p:nvPr>
            <p:ph type="subTitle" idx="3"/>
          </p:nvPr>
        </p:nvSpPr>
        <p:spPr>
          <a:xfrm>
            <a:off x="3361225" y="7651575"/>
            <a:ext cx="10069500" cy="954300"/>
          </a:xfrm>
          <a:prstGeom prst="rect">
            <a:avLst/>
          </a:prstGeom>
        </p:spPr>
        <p:txBody>
          <a:bodyPr spcFirstLastPara="1" wrap="square" lIns="91425" tIns="45700" rIns="91425" bIns="45700" anchor="t" anchorCtr="0">
            <a:normAutofit/>
          </a:bodyPr>
          <a:lstStyle>
            <a:lvl1pPr lvl="0" rtl="0">
              <a:spcBef>
                <a:spcPts val="640"/>
              </a:spcBef>
              <a:spcAft>
                <a:spcPts val="0"/>
              </a:spcAft>
              <a:buSzPts val="6200"/>
              <a:buFont typeface="Oswald"/>
              <a:buNone/>
              <a:defRPr sz="6200">
                <a:latin typeface="Oswald"/>
                <a:ea typeface="Oswald"/>
                <a:cs typeface="Oswald"/>
                <a:sym typeface="Oswald"/>
              </a:defRPr>
            </a:lvl1pPr>
            <a:lvl2pPr lvl="1" rtl="0">
              <a:spcBef>
                <a:spcPts val="560"/>
              </a:spcBef>
              <a:spcAft>
                <a:spcPts val="0"/>
              </a:spcAft>
              <a:buSzPts val="2400"/>
              <a:buFont typeface="Oswald"/>
              <a:buNone/>
              <a:defRPr>
                <a:latin typeface="Oswald"/>
                <a:ea typeface="Oswald"/>
                <a:cs typeface="Oswald"/>
                <a:sym typeface="Oswald"/>
              </a:defRPr>
            </a:lvl2pPr>
            <a:lvl3pPr lvl="2" rtl="0">
              <a:spcBef>
                <a:spcPts val="480"/>
              </a:spcBef>
              <a:spcAft>
                <a:spcPts val="0"/>
              </a:spcAft>
              <a:buSzPts val="2400"/>
              <a:buFont typeface="Oswald"/>
              <a:buNone/>
              <a:defRPr>
                <a:latin typeface="Oswald"/>
                <a:ea typeface="Oswald"/>
                <a:cs typeface="Oswald"/>
                <a:sym typeface="Oswald"/>
              </a:defRPr>
            </a:lvl3pPr>
            <a:lvl4pPr lvl="3" rtl="0">
              <a:spcBef>
                <a:spcPts val="400"/>
              </a:spcBef>
              <a:spcAft>
                <a:spcPts val="0"/>
              </a:spcAft>
              <a:buSzPts val="2400"/>
              <a:buFont typeface="Oswald"/>
              <a:buNone/>
              <a:defRPr>
                <a:latin typeface="Oswald"/>
                <a:ea typeface="Oswald"/>
                <a:cs typeface="Oswald"/>
                <a:sym typeface="Oswald"/>
              </a:defRPr>
            </a:lvl4pPr>
            <a:lvl5pPr lvl="4" rtl="0">
              <a:spcBef>
                <a:spcPts val="400"/>
              </a:spcBef>
              <a:spcAft>
                <a:spcPts val="0"/>
              </a:spcAft>
              <a:buSzPts val="2400"/>
              <a:buFont typeface="Oswald"/>
              <a:buNone/>
              <a:defRPr>
                <a:latin typeface="Oswald"/>
                <a:ea typeface="Oswald"/>
                <a:cs typeface="Oswald"/>
                <a:sym typeface="Oswald"/>
              </a:defRPr>
            </a:lvl5pPr>
            <a:lvl6pPr lvl="5" rtl="0">
              <a:spcBef>
                <a:spcPts val="400"/>
              </a:spcBef>
              <a:spcAft>
                <a:spcPts val="0"/>
              </a:spcAft>
              <a:buSzPts val="2400"/>
              <a:buFont typeface="Oswald"/>
              <a:buNone/>
              <a:defRPr>
                <a:latin typeface="Oswald"/>
                <a:ea typeface="Oswald"/>
                <a:cs typeface="Oswald"/>
                <a:sym typeface="Oswald"/>
              </a:defRPr>
            </a:lvl6pPr>
            <a:lvl7pPr lvl="6" rtl="0">
              <a:spcBef>
                <a:spcPts val="400"/>
              </a:spcBef>
              <a:spcAft>
                <a:spcPts val="0"/>
              </a:spcAft>
              <a:buSzPts val="2400"/>
              <a:buFont typeface="Oswald"/>
              <a:buNone/>
              <a:defRPr>
                <a:latin typeface="Oswald"/>
                <a:ea typeface="Oswald"/>
                <a:cs typeface="Oswald"/>
                <a:sym typeface="Oswald"/>
              </a:defRPr>
            </a:lvl7pPr>
            <a:lvl8pPr lvl="7" rtl="0">
              <a:spcBef>
                <a:spcPts val="400"/>
              </a:spcBef>
              <a:spcAft>
                <a:spcPts val="0"/>
              </a:spcAft>
              <a:buSzPts val="2400"/>
              <a:buFont typeface="Oswald"/>
              <a:buNone/>
              <a:defRPr>
                <a:latin typeface="Oswald"/>
                <a:ea typeface="Oswald"/>
                <a:cs typeface="Oswald"/>
                <a:sym typeface="Oswald"/>
              </a:defRPr>
            </a:lvl8pPr>
            <a:lvl9pPr lvl="8" rtl="0">
              <a:spcBef>
                <a:spcPts val="400"/>
              </a:spcBef>
              <a:spcAft>
                <a:spcPts val="0"/>
              </a:spcAft>
              <a:buSzPts val="2400"/>
              <a:buFont typeface="Oswald"/>
              <a:buNone/>
              <a:defRPr>
                <a:latin typeface="Oswald"/>
                <a:ea typeface="Oswald"/>
                <a:cs typeface="Oswald"/>
                <a:sym typeface="Oswald"/>
              </a:defRPr>
            </a:lvl9pPr>
          </a:lstStyle>
          <a:p>
            <a:endParaRPr/>
          </a:p>
        </p:txBody>
      </p:sp>
      <p:sp>
        <p:nvSpPr>
          <p:cNvPr id="26" name="Google Shape;26;p4"/>
          <p:cNvSpPr txBox="1">
            <a:spLocks noGrp="1"/>
          </p:cNvSpPr>
          <p:nvPr>
            <p:ph type="title"/>
          </p:nvPr>
        </p:nvSpPr>
        <p:spPr>
          <a:xfrm rot="5400000">
            <a:off x="10534650" y="3581400"/>
            <a:ext cx="9906000" cy="3124200"/>
          </a:xfrm>
          <a:prstGeom prst="rect">
            <a:avLst/>
          </a:prstGeom>
        </p:spPr>
        <p:txBody>
          <a:bodyPr spcFirstLastPara="1" wrap="square" lIns="91425" tIns="45700" rIns="91425" bIns="45700" anchor="ctr" anchorCtr="0">
            <a:normAutofit/>
          </a:bodyPr>
          <a:lstStyle>
            <a:lvl1pPr lvl="0" algn="ctr" rtl="0">
              <a:spcBef>
                <a:spcPts val="0"/>
              </a:spcBef>
              <a:spcAft>
                <a:spcPts val="0"/>
              </a:spcAft>
              <a:buClr>
                <a:srgbClr val="D4D4D4"/>
              </a:buClr>
              <a:buSzPts val="13000"/>
              <a:buNone/>
              <a:defRPr sz="13000" b="1">
                <a:solidFill>
                  <a:srgbClr val="D4D4D4"/>
                </a:solidFill>
              </a:defRPr>
            </a:lvl1pPr>
            <a:lvl2pPr lvl="1" algn="ctr" rtl="0">
              <a:spcBef>
                <a:spcPts val="0"/>
              </a:spcBef>
              <a:spcAft>
                <a:spcPts val="0"/>
              </a:spcAft>
              <a:buSzPts val="10000"/>
              <a:buNone/>
              <a:defRPr/>
            </a:lvl2pPr>
            <a:lvl3pPr lvl="2" algn="ctr" rtl="0">
              <a:spcBef>
                <a:spcPts val="0"/>
              </a:spcBef>
              <a:spcAft>
                <a:spcPts val="0"/>
              </a:spcAft>
              <a:buSzPts val="10000"/>
              <a:buNone/>
              <a:defRPr/>
            </a:lvl3pPr>
            <a:lvl4pPr lvl="3" algn="ctr" rtl="0">
              <a:spcBef>
                <a:spcPts val="0"/>
              </a:spcBef>
              <a:spcAft>
                <a:spcPts val="0"/>
              </a:spcAft>
              <a:buSzPts val="10000"/>
              <a:buNone/>
              <a:defRPr/>
            </a:lvl4pPr>
            <a:lvl5pPr lvl="4" algn="ctr" rtl="0">
              <a:spcBef>
                <a:spcPts val="0"/>
              </a:spcBef>
              <a:spcAft>
                <a:spcPts val="0"/>
              </a:spcAft>
              <a:buSzPts val="10000"/>
              <a:buNone/>
              <a:defRPr/>
            </a:lvl5pPr>
            <a:lvl6pPr lvl="5" algn="ctr" rtl="0">
              <a:spcBef>
                <a:spcPts val="0"/>
              </a:spcBef>
              <a:spcAft>
                <a:spcPts val="0"/>
              </a:spcAft>
              <a:buSzPts val="10000"/>
              <a:buNone/>
              <a:defRPr/>
            </a:lvl6pPr>
            <a:lvl7pPr lvl="6" algn="ctr" rtl="0">
              <a:spcBef>
                <a:spcPts val="0"/>
              </a:spcBef>
              <a:spcAft>
                <a:spcPts val="0"/>
              </a:spcAft>
              <a:buSzPts val="10000"/>
              <a:buNone/>
              <a:defRPr/>
            </a:lvl7pPr>
            <a:lvl8pPr lvl="7" algn="ctr" rtl="0">
              <a:spcBef>
                <a:spcPts val="0"/>
              </a:spcBef>
              <a:spcAft>
                <a:spcPts val="0"/>
              </a:spcAft>
              <a:buSzPts val="10000"/>
              <a:buNone/>
              <a:defRPr/>
            </a:lvl8pPr>
            <a:lvl9pPr lvl="8" algn="ctr" rtl="0">
              <a:spcBef>
                <a:spcPts val="0"/>
              </a:spcBef>
              <a:spcAft>
                <a:spcPts val="0"/>
              </a:spcAft>
              <a:buSzPts val="10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3">
  <p:cSld name="CUSTOM_2">
    <p:spTree>
      <p:nvGrpSpPr>
        <p:cNvPr id="1" name="Shape 27"/>
        <p:cNvGrpSpPr/>
        <p:nvPr/>
      </p:nvGrpSpPr>
      <p:grpSpPr>
        <a:xfrm>
          <a:off x="0" y="0"/>
          <a:ext cx="0" cy="0"/>
          <a:chOff x="0" y="0"/>
          <a:chExt cx="0" cy="0"/>
        </a:xfrm>
      </p:grpSpPr>
      <p:pic>
        <p:nvPicPr>
          <p:cNvPr id="28" name="Google Shape;28;p5"/>
          <p:cNvPicPr preferRelativeResize="0"/>
          <p:nvPr/>
        </p:nvPicPr>
        <p:blipFill rotWithShape="1">
          <a:blip r:embed="rId2">
            <a:alphaModFix/>
          </a:blip>
          <a:srcRect l="25138"/>
          <a:stretch/>
        </p:blipFill>
        <p:spPr>
          <a:xfrm>
            <a:off x="0" y="1281250"/>
            <a:ext cx="9144002" cy="8227701"/>
          </a:xfrm>
          <a:prstGeom prst="rect">
            <a:avLst/>
          </a:prstGeom>
          <a:noFill/>
          <a:ln>
            <a:noFill/>
          </a:ln>
        </p:spPr>
      </p:pic>
      <p:pic>
        <p:nvPicPr>
          <p:cNvPr id="29" name="Google Shape;29;p5"/>
          <p:cNvPicPr preferRelativeResize="0"/>
          <p:nvPr/>
        </p:nvPicPr>
        <p:blipFill rotWithShape="1">
          <a:blip r:embed="rId2">
            <a:alphaModFix/>
          </a:blip>
          <a:srcRect r="56368"/>
          <a:stretch/>
        </p:blipFill>
        <p:spPr>
          <a:xfrm>
            <a:off x="12958625" y="1281250"/>
            <a:ext cx="5329374" cy="8227701"/>
          </a:xfrm>
          <a:prstGeom prst="rect">
            <a:avLst/>
          </a:prstGeom>
          <a:noFill/>
          <a:ln>
            <a:noFill/>
          </a:ln>
        </p:spPr>
      </p:pic>
      <p:sp>
        <p:nvSpPr>
          <p:cNvPr id="30" name="Google Shape;30;p5"/>
          <p:cNvSpPr>
            <a:spLocks noGrp="1"/>
          </p:cNvSpPr>
          <p:nvPr>
            <p:ph type="pic" idx="2"/>
          </p:nvPr>
        </p:nvSpPr>
        <p:spPr>
          <a:xfrm>
            <a:off x="-323850" y="1962150"/>
            <a:ext cx="11792100" cy="8324700"/>
          </a:xfrm>
          <a:prstGeom prst="rect">
            <a:avLst/>
          </a:prstGeom>
          <a:noFill/>
          <a:ln>
            <a:noFill/>
          </a:ln>
        </p:spPr>
      </p:sp>
      <p:sp>
        <p:nvSpPr>
          <p:cNvPr id="31" name="Google Shape;31;p5"/>
          <p:cNvSpPr txBox="1">
            <a:spLocks noGrp="1"/>
          </p:cNvSpPr>
          <p:nvPr>
            <p:ph type="title"/>
          </p:nvPr>
        </p:nvSpPr>
        <p:spPr>
          <a:xfrm rot="5400000">
            <a:off x="6762750" y="3581400"/>
            <a:ext cx="10096500" cy="3124200"/>
          </a:xfrm>
          <a:prstGeom prst="rect">
            <a:avLst/>
          </a:prstGeom>
        </p:spPr>
        <p:txBody>
          <a:bodyPr spcFirstLastPara="1" wrap="square" lIns="91425" tIns="45700" rIns="91425" bIns="45700" anchor="ctr" anchorCtr="0">
            <a:normAutofit/>
          </a:bodyPr>
          <a:lstStyle>
            <a:lvl1pPr lvl="0" algn="ctr" rtl="0">
              <a:spcBef>
                <a:spcPts val="0"/>
              </a:spcBef>
              <a:spcAft>
                <a:spcPts val="0"/>
              </a:spcAft>
              <a:buClr>
                <a:srgbClr val="D4D4D4"/>
              </a:buClr>
              <a:buSzPts val="8450"/>
              <a:buNone/>
              <a:defRPr sz="8450" b="1">
                <a:solidFill>
                  <a:srgbClr val="D4D4D4"/>
                </a:solidFill>
              </a:defRPr>
            </a:lvl1pPr>
            <a:lvl2pPr lvl="1" algn="ctr" rtl="0">
              <a:spcBef>
                <a:spcPts val="0"/>
              </a:spcBef>
              <a:spcAft>
                <a:spcPts val="0"/>
              </a:spcAft>
              <a:buSzPts val="10000"/>
              <a:buNone/>
              <a:defRPr/>
            </a:lvl2pPr>
            <a:lvl3pPr lvl="2" algn="ctr" rtl="0">
              <a:spcBef>
                <a:spcPts val="0"/>
              </a:spcBef>
              <a:spcAft>
                <a:spcPts val="0"/>
              </a:spcAft>
              <a:buSzPts val="10000"/>
              <a:buNone/>
              <a:defRPr/>
            </a:lvl3pPr>
            <a:lvl4pPr lvl="3" algn="ctr" rtl="0">
              <a:spcBef>
                <a:spcPts val="0"/>
              </a:spcBef>
              <a:spcAft>
                <a:spcPts val="0"/>
              </a:spcAft>
              <a:buSzPts val="10000"/>
              <a:buNone/>
              <a:defRPr/>
            </a:lvl4pPr>
            <a:lvl5pPr lvl="4" algn="ctr" rtl="0">
              <a:spcBef>
                <a:spcPts val="0"/>
              </a:spcBef>
              <a:spcAft>
                <a:spcPts val="0"/>
              </a:spcAft>
              <a:buSzPts val="10000"/>
              <a:buNone/>
              <a:defRPr/>
            </a:lvl5pPr>
            <a:lvl6pPr lvl="5" algn="ctr" rtl="0">
              <a:spcBef>
                <a:spcPts val="0"/>
              </a:spcBef>
              <a:spcAft>
                <a:spcPts val="0"/>
              </a:spcAft>
              <a:buSzPts val="10000"/>
              <a:buNone/>
              <a:defRPr/>
            </a:lvl6pPr>
            <a:lvl7pPr lvl="6" algn="ctr" rtl="0">
              <a:spcBef>
                <a:spcPts val="0"/>
              </a:spcBef>
              <a:spcAft>
                <a:spcPts val="0"/>
              </a:spcAft>
              <a:buSzPts val="10000"/>
              <a:buNone/>
              <a:defRPr/>
            </a:lvl7pPr>
            <a:lvl8pPr lvl="7" algn="ctr" rtl="0">
              <a:spcBef>
                <a:spcPts val="0"/>
              </a:spcBef>
              <a:spcAft>
                <a:spcPts val="0"/>
              </a:spcAft>
              <a:buSzPts val="10000"/>
              <a:buNone/>
              <a:defRPr/>
            </a:lvl8pPr>
            <a:lvl9pPr lvl="8" algn="ctr" rtl="0">
              <a:spcBef>
                <a:spcPts val="0"/>
              </a:spcBef>
              <a:spcAft>
                <a:spcPts val="0"/>
              </a:spcAft>
              <a:buSzPts val="10000"/>
              <a:buNone/>
              <a:defRPr/>
            </a:lvl9pPr>
          </a:lstStyle>
          <a:p>
            <a:endParaRPr/>
          </a:p>
        </p:txBody>
      </p:sp>
      <p:sp>
        <p:nvSpPr>
          <p:cNvPr id="32" name="Google Shape;32;p5"/>
          <p:cNvSpPr txBox="1">
            <a:spLocks noGrp="1"/>
          </p:cNvSpPr>
          <p:nvPr>
            <p:ph type="title" idx="3"/>
          </p:nvPr>
        </p:nvSpPr>
        <p:spPr>
          <a:xfrm>
            <a:off x="15364088" y="4344750"/>
            <a:ext cx="1600200" cy="1562100"/>
          </a:xfrm>
          <a:prstGeom prst="rect">
            <a:avLst/>
          </a:prstGeom>
        </p:spPr>
        <p:txBody>
          <a:bodyPr spcFirstLastPara="1" wrap="square" lIns="91425" tIns="45700" rIns="91425" bIns="45700" anchor="t" anchorCtr="0">
            <a:normAutofit/>
          </a:bodyPr>
          <a:lstStyle>
            <a:lvl1pPr lvl="0" algn="ctr" rtl="0">
              <a:spcBef>
                <a:spcPts val="0"/>
              </a:spcBef>
              <a:spcAft>
                <a:spcPts val="0"/>
              </a:spcAft>
              <a:buClr>
                <a:srgbClr val="C1FF72"/>
              </a:buClr>
              <a:buSzPts val="9000"/>
              <a:buNone/>
              <a:defRPr sz="9000">
                <a:solidFill>
                  <a:srgbClr val="C1FF72"/>
                </a:solidFill>
              </a:defRPr>
            </a:lvl1pPr>
            <a:lvl2pPr lvl="1" algn="ctr" rtl="0">
              <a:spcBef>
                <a:spcPts val="0"/>
              </a:spcBef>
              <a:spcAft>
                <a:spcPts val="0"/>
              </a:spcAft>
              <a:buSzPts val="9000"/>
              <a:buNone/>
              <a:defRPr sz="9000"/>
            </a:lvl2pPr>
            <a:lvl3pPr lvl="2" algn="ctr" rtl="0">
              <a:spcBef>
                <a:spcPts val="0"/>
              </a:spcBef>
              <a:spcAft>
                <a:spcPts val="0"/>
              </a:spcAft>
              <a:buSzPts val="9000"/>
              <a:buNone/>
              <a:defRPr sz="9000"/>
            </a:lvl3pPr>
            <a:lvl4pPr lvl="3" algn="ctr" rtl="0">
              <a:spcBef>
                <a:spcPts val="0"/>
              </a:spcBef>
              <a:spcAft>
                <a:spcPts val="0"/>
              </a:spcAft>
              <a:buSzPts val="9000"/>
              <a:buNone/>
              <a:defRPr sz="9000"/>
            </a:lvl4pPr>
            <a:lvl5pPr lvl="4" algn="ctr" rtl="0">
              <a:spcBef>
                <a:spcPts val="0"/>
              </a:spcBef>
              <a:spcAft>
                <a:spcPts val="0"/>
              </a:spcAft>
              <a:buSzPts val="9000"/>
              <a:buNone/>
              <a:defRPr sz="9000"/>
            </a:lvl5pPr>
            <a:lvl6pPr lvl="5" algn="ctr" rtl="0">
              <a:spcBef>
                <a:spcPts val="0"/>
              </a:spcBef>
              <a:spcAft>
                <a:spcPts val="0"/>
              </a:spcAft>
              <a:buSzPts val="9000"/>
              <a:buNone/>
              <a:defRPr sz="9000"/>
            </a:lvl6pPr>
            <a:lvl7pPr lvl="6" algn="ctr" rtl="0">
              <a:spcBef>
                <a:spcPts val="0"/>
              </a:spcBef>
              <a:spcAft>
                <a:spcPts val="0"/>
              </a:spcAft>
              <a:buSzPts val="9000"/>
              <a:buNone/>
              <a:defRPr sz="9000"/>
            </a:lvl7pPr>
            <a:lvl8pPr lvl="7" algn="ctr" rtl="0">
              <a:spcBef>
                <a:spcPts val="0"/>
              </a:spcBef>
              <a:spcAft>
                <a:spcPts val="0"/>
              </a:spcAft>
              <a:buSzPts val="9000"/>
              <a:buNone/>
              <a:defRPr sz="9000"/>
            </a:lvl8pPr>
            <a:lvl9pPr lvl="8" algn="ctr" rtl="0">
              <a:spcBef>
                <a:spcPts val="0"/>
              </a:spcBef>
              <a:spcAft>
                <a:spcPts val="0"/>
              </a:spcAft>
              <a:buSzPts val="9000"/>
              <a:buNone/>
              <a:defRPr sz="9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ustom Layout 4">
  <p:cSld name="CUSTOM_3">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0" y="7900550"/>
            <a:ext cx="10694100" cy="1143000"/>
          </a:xfrm>
          <a:prstGeom prst="rect">
            <a:avLst/>
          </a:prstGeom>
        </p:spPr>
        <p:txBody>
          <a:bodyPr spcFirstLastPara="1" wrap="square" lIns="91425" tIns="45700" rIns="91425" bIns="45700" anchor="t" anchorCtr="0">
            <a:normAutofit/>
          </a:bodyPr>
          <a:lstStyle>
            <a:lvl1pPr lvl="0" algn="ctr">
              <a:spcBef>
                <a:spcPts val="0"/>
              </a:spcBef>
              <a:spcAft>
                <a:spcPts val="0"/>
              </a:spcAft>
              <a:buClr>
                <a:srgbClr val="D4D4D4"/>
              </a:buClr>
              <a:buSzPts val="10350"/>
              <a:buNone/>
              <a:defRPr sz="10350" b="1">
                <a:solidFill>
                  <a:srgbClr val="D4D4D4"/>
                </a:solidFill>
              </a:defRPr>
            </a:lvl1pPr>
            <a:lvl2pPr lvl="1">
              <a:spcBef>
                <a:spcPts val="0"/>
              </a:spcBef>
              <a:spcAft>
                <a:spcPts val="0"/>
              </a:spcAft>
              <a:buSzPts val="10000"/>
              <a:buNone/>
              <a:defRPr/>
            </a:lvl2pPr>
            <a:lvl3pPr lvl="2">
              <a:spcBef>
                <a:spcPts val="0"/>
              </a:spcBef>
              <a:spcAft>
                <a:spcPts val="0"/>
              </a:spcAft>
              <a:buSzPts val="10000"/>
              <a:buNone/>
              <a:defRPr/>
            </a:lvl3pPr>
            <a:lvl4pPr lvl="3">
              <a:spcBef>
                <a:spcPts val="0"/>
              </a:spcBef>
              <a:spcAft>
                <a:spcPts val="0"/>
              </a:spcAft>
              <a:buSzPts val="10000"/>
              <a:buNone/>
              <a:defRPr/>
            </a:lvl4pPr>
            <a:lvl5pPr lvl="4">
              <a:spcBef>
                <a:spcPts val="0"/>
              </a:spcBef>
              <a:spcAft>
                <a:spcPts val="0"/>
              </a:spcAft>
              <a:buSzPts val="10000"/>
              <a:buNone/>
              <a:defRPr/>
            </a:lvl5pPr>
            <a:lvl6pPr lvl="5">
              <a:spcBef>
                <a:spcPts val="0"/>
              </a:spcBef>
              <a:spcAft>
                <a:spcPts val="0"/>
              </a:spcAft>
              <a:buSzPts val="10000"/>
              <a:buNone/>
              <a:defRPr/>
            </a:lvl6pPr>
            <a:lvl7pPr lvl="6">
              <a:spcBef>
                <a:spcPts val="0"/>
              </a:spcBef>
              <a:spcAft>
                <a:spcPts val="0"/>
              </a:spcAft>
              <a:buSzPts val="10000"/>
              <a:buNone/>
              <a:defRPr/>
            </a:lvl7pPr>
            <a:lvl8pPr lvl="7">
              <a:spcBef>
                <a:spcPts val="0"/>
              </a:spcBef>
              <a:spcAft>
                <a:spcPts val="0"/>
              </a:spcAft>
              <a:buSzPts val="10000"/>
              <a:buNone/>
              <a:defRPr/>
            </a:lvl8pPr>
            <a:lvl9pPr lvl="8">
              <a:spcBef>
                <a:spcPts val="0"/>
              </a:spcBef>
              <a:spcAft>
                <a:spcPts val="0"/>
              </a:spcAft>
              <a:buSzPts val="10000"/>
              <a:buNone/>
              <a:defRPr/>
            </a:lvl9pPr>
          </a:lstStyle>
          <a:p>
            <a:endParaRPr/>
          </a:p>
        </p:txBody>
      </p:sp>
      <p:pic>
        <p:nvPicPr>
          <p:cNvPr id="35" name="Google Shape;35;p6"/>
          <p:cNvPicPr preferRelativeResize="0"/>
          <p:nvPr/>
        </p:nvPicPr>
        <p:blipFill rotWithShape="1">
          <a:blip r:embed="rId2">
            <a:alphaModFix/>
          </a:blip>
          <a:srcRect r="27536" b="27267"/>
          <a:stretch/>
        </p:blipFill>
        <p:spPr>
          <a:xfrm>
            <a:off x="11038400" y="3019150"/>
            <a:ext cx="7249599" cy="7267849"/>
          </a:xfrm>
          <a:prstGeom prst="rect">
            <a:avLst/>
          </a:prstGeom>
          <a:noFill/>
          <a:ln>
            <a:noFill/>
          </a:ln>
        </p:spPr>
      </p:pic>
      <p:pic>
        <p:nvPicPr>
          <p:cNvPr id="36" name="Google Shape;36;p6"/>
          <p:cNvPicPr preferRelativeResize="0"/>
          <p:nvPr/>
        </p:nvPicPr>
        <p:blipFill rotWithShape="1">
          <a:blip r:embed="rId2">
            <a:alphaModFix/>
          </a:blip>
          <a:srcRect l="32953" t="20166"/>
          <a:stretch/>
        </p:blipFill>
        <p:spPr>
          <a:xfrm>
            <a:off x="0" y="0"/>
            <a:ext cx="6708076" cy="7977199"/>
          </a:xfrm>
          <a:prstGeom prst="rect">
            <a:avLst/>
          </a:prstGeom>
          <a:noFill/>
          <a:ln>
            <a:noFill/>
          </a:ln>
        </p:spPr>
      </p:pic>
      <p:sp>
        <p:nvSpPr>
          <p:cNvPr id="37" name="Google Shape;37;p6"/>
          <p:cNvSpPr txBox="1">
            <a:spLocks noGrp="1"/>
          </p:cNvSpPr>
          <p:nvPr>
            <p:ph type="subTitle" idx="1"/>
          </p:nvPr>
        </p:nvSpPr>
        <p:spPr>
          <a:xfrm>
            <a:off x="828050" y="1466375"/>
            <a:ext cx="4576800" cy="954300"/>
          </a:xfrm>
          <a:prstGeom prst="rect">
            <a:avLst/>
          </a:prstGeom>
        </p:spPr>
        <p:txBody>
          <a:bodyPr spcFirstLastPara="1" wrap="square" lIns="91425" tIns="45700" rIns="91425" bIns="45700" anchor="t" anchorCtr="0">
            <a:normAutofit/>
          </a:bodyPr>
          <a:lstStyle>
            <a:lvl1pPr lvl="0" rtl="0">
              <a:spcBef>
                <a:spcPts val="640"/>
              </a:spcBef>
              <a:spcAft>
                <a:spcPts val="0"/>
              </a:spcAft>
              <a:buClr>
                <a:srgbClr val="C1FF72"/>
              </a:buClr>
              <a:buSzPts val="6450"/>
              <a:buFont typeface="Oswald"/>
              <a:buNone/>
              <a:defRPr sz="6450">
                <a:solidFill>
                  <a:srgbClr val="C1FF72"/>
                </a:solidFill>
                <a:latin typeface="Oswald"/>
                <a:ea typeface="Oswald"/>
                <a:cs typeface="Oswald"/>
                <a:sym typeface="Oswald"/>
              </a:defRPr>
            </a:lvl1pPr>
            <a:lvl2pPr lvl="1" rtl="0">
              <a:spcBef>
                <a:spcPts val="560"/>
              </a:spcBef>
              <a:spcAft>
                <a:spcPts val="0"/>
              </a:spcAft>
              <a:buSzPts val="2400"/>
              <a:buFont typeface="Oswald"/>
              <a:buNone/>
              <a:defRPr>
                <a:latin typeface="Oswald"/>
                <a:ea typeface="Oswald"/>
                <a:cs typeface="Oswald"/>
                <a:sym typeface="Oswald"/>
              </a:defRPr>
            </a:lvl2pPr>
            <a:lvl3pPr lvl="2" rtl="0">
              <a:spcBef>
                <a:spcPts val="480"/>
              </a:spcBef>
              <a:spcAft>
                <a:spcPts val="0"/>
              </a:spcAft>
              <a:buSzPts val="2400"/>
              <a:buFont typeface="Oswald"/>
              <a:buNone/>
              <a:defRPr>
                <a:latin typeface="Oswald"/>
                <a:ea typeface="Oswald"/>
                <a:cs typeface="Oswald"/>
                <a:sym typeface="Oswald"/>
              </a:defRPr>
            </a:lvl3pPr>
            <a:lvl4pPr lvl="3" rtl="0">
              <a:spcBef>
                <a:spcPts val="400"/>
              </a:spcBef>
              <a:spcAft>
                <a:spcPts val="0"/>
              </a:spcAft>
              <a:buSzPts val="2400"/>
              <a:buFont typeface="Oswald"/>
              <a:buNone/>
              <a:defRPr>
                <a:latin typeface="Oswald"/>
                <a:ea typeface="Oswald"/>
                <a:cs typeface="Oswald"/>
                <a:sym typeface="Oswald"/>
              </a:defRPr>
            </a:lvl4pPr>
            <a:lvl5pPr lvl="4" rtl="0">
              <a:spcBef>
                <a:spcPts val="400"/>
              </a:spcBef>
              <a:spcAft>
                <a:spcPts val="0"/>
              </a:spcAft>
              <a:buSzPts val="2400"/>
              <a:buFont typeface="Oswald"/>
              <a:buNone/>
              <a:defRPr>
                <a:latin typeface="Oswald"/>
                <a:ea typeface="Oswald"/>
                <a:cs typeface="Oswald"/>
                <a:sym typeface="Oswald"/>
              </a:defRPr>
            </a:lvl5pPr>
            <a:lvl6pPr lvl="5" rtl="0">
              <a:spcBef>
                <a:spcPts val="400"/>
              </a:spcBef>
              <a:spcAft>
                <a:spcPts val="0"/>
              </a:spcAft>
              <a:buSzPts val="2400"/>
              <a:buFont typeface="Oswald"/>
              <a:buNone/>
              <a:defRPr>
                <a:latin typeface="Oswald"/>
                <a:ea typeface="Oswald"/>
                <a:cs typeface="Oswald"/>
                <a:sym typeface="Oswald"/>
              </a:defRPr>
            </a:lvl6pPr>
            <a:lvl7pPr lvl="6" rtl="0">
              <a:spcBef>
                <a:spcPts val="400"/>
              </a:spcBef>
              <a:spcAft>
                <a:spcPts val="0"/>
              </a:spcAft>
              <a:buSzPts val="2400"/>
              <a:buFont typeface="Oswald"/>
              <a:buNone/>
              <a:defRPr>
                <a:latin typeface="Oswald"/>
                <a:ea typeface="Oswald"/>
                <a:cs typeface="Oswald"/>
                <a:sym typeface="Oswald"/>
              </a:defRPr>
            </a:lvl7pPr>
            <a:lvl8pPr lvl="7" rtl="0">
              <a:spcBef>
                <a:spcPts val="400"/>
              </a:spcBef>
              <a:spcAft>
                <a:spcPts val="0"/>
              </a:spcAft>
              <a:buSzPts val="2400"/>
              <a:buFont typeface="Oswald"/>
              <a:buNone/>
              <a:defRPr>
                <a:latin typeface="Oswald"/>
                <a:ea typeface="Oswald"/>
                <a:cs typeface="Oswald"/>
                <a:sym typeface="Oswald"/>
              </a:defRPr>
            </a:lvl8pPr>
            <a:lvl9pPr lvl="8" rtl="0">
              <a:spcBef>
                <a:spcPts val="400"/>
              </a:spcBef>
              <a:spcAft>
                <a:spcPts val="0"/>
              </a:spcAft>
              <a:buSzPts val="2400"/>
              <a:buFont typeface="Oswald"/>
              <a:buNone/>
              <a:defRPr>
                <a:latin typeface="Oswald"/>
                <a:ea typeface="Oswald"/>
                <a:cs typeface="Oswald"/>
                <a:sym typeface="Oswald"/>
              </a:defRPr>
            </a:lvl9pPr>
          </a:lstStyle>
          <a:p>
            <a:endParaRPr/>
          </a:p>
        </p:txBody>
      </p:sp>
      <p:sp>
        <p:nvSpPr>
          <p:cNvPr id="38" name="Google Shape;38;p6"/>
          <p:cNvSpPr txBox="1">
            <a:spLocks noGrp="1"/>
          </p:cNvSpPr>
          <p:nvPr>
            <p:ph type="body" idx="2"/>
          </p:nvPr>
        </p:nvSpPr>
        <p:spPr>
          <a:xfrm>
            <a:off x="828050" y="2923950"/>
            <a:ext cx="4164300" cy="2170800"/>
          </a:xfrm>
          <a:prstGeom prst="rect">
            <a:avLst/>
          </a:prstGeom>
        </p:spPr>
        <p:txBody>
          <a:bodyPr spcFirstLastPara="1" wrap="square" lIns="91425" tIns="45700" rIns="91425" bIns="45700" anchor="t" anchorCtr="0">
            <a:normAutofit/>
          </a:bodyPr>
          <a:lstStyle>
            <a:lvl1pPr marL="457200" lvl="0" indent="-381000">
              <a:spcBef>
                <a:spcPts val="640"/>
              </a:spcBef>
              <a:spcAft>
                <a:spcPts val="0"/>
              </a:spcAft>
              <a:buSzPts val="2400"/>
              <a:buChar char="•"/>
              <a:defRPr/>
            </a:lvl1pPr>
            <a:lvl2pPr marL="914400" lvl="1" indent="-381000">
              <a:spcBef>
                <a:spcPts val="560"/>
              </a:spcBef>
              <a:spcAft>
                <a:spcPts val="0"/>
              </a:spcAft>
              <a:buSzPts val="2400"/>
              <a:buChar char="–"/>
              <a:defRPr/>
            </a:lvl2pPr>
            <a:lvl3pPr marL="1371600" lvl="2" indent="-381000">
              <a:spcBef>
                <a:spcPts val="480"/>
              </a:spcBef>
              <a:spcAft>
                <a:spcPts val="0"/>
              </a:spcAft>
              <a:buSzPts val="2400"/>
              <a:buChar char="•"/>
              <a:defRPr/>
            </a:lvl3pPr>
            <a:lvl4pPr marL="1828800" lvl="3" indent="-381000">
              <a:spcBef>
                <a:spcPts val="400"/>
              </a:spcBef>
              <a:spcAft>
                <a:spcPts val="0"/>
              </a:spcAft>
              <a:buSzPts val="2400"/>
              <a:buChar char="–"/>
              <a:defRPr/>
            </a:lvl4pPr>
            <a:lvl5pPr marL="2286000" lvl="4" indent="-381000">
              <a:spcBef>
                <a:spcPts val="400"/>
              </a:spcBef>
              <a:spcAft>
                <a:spcPts val="0"/>
              </a:spcAft>
              <a:buSzPts val="2400"/>
              <a:buChar char="»"/>
              <a:defRPr/>
            </a:lvl5pPr>
            <a:lvl6pPr marL="2743200" lvl="5" indent="-381000">
              <a:spcBef>
                <a:spcPts val="400"/>
              </a:spcBef>
              <a:spcAft>
                <a:spcPts val="0"/>
              </a:spcAft>
              <a:buSzPts val="2400"/>
              <a:buChar char="•"/>
              <a:defRPr/>
            </a:lvl6pPr>
            <a:lvl7pPr marL="3200400" lvl="6" indent="-381000">
              <a:spcBef>
                <a:spcPts val="400"/>
              </a:spcBef>
              <a:spcAft>
                <a:spcPts val="0"/>
              </a:spcAft>
              <a:buSzPts val="2400"/>
              <a:buChar char="•"/>
              <a:defRPr/>
            </a:lvl7pPr>
            <a:lvl8pPr marL="3657600" lvl="7" indent="-381000">
              <a:spcBef>
                <a:spcPts val="400"/>
              </a:spcBef>
              <a:spcAft>
                <a:spcPts val="0"/>
              </a:spcAft>
              <a:buSzPts val="2400"/>
              <a:buChar char="•"/>
              <a:defRPr/>
            </a:lvl8pPr>
            <a:lvl9pPr marL="4114800" lvl="8" indent="-381000">
              <a:spcBef>
                <a:spcPts val="400"/>
              </a:spcBef>
              <a:spcAft>
                <a:spcPts val="0"/>
              </a:spcAft>
              <a:buSzPts val="2400"/>
              <a:buChar char="•"/>
              <a:defRPr/>
            </a:lvl9pPr>
          </a:lstStyle>
          <a:p>
            <a:endParaRPr/>
          </a:p>
        </p:txBody>
      </p:sp>
      <p:sp>
        <p:nvSpPr>
          <p:cNvPr id="39" name="Google Shape;39;p6"/>
          <p:cNvSpPr txBox="1">
            <a:spLocks noGrp="1"/>
          </p:cNvSpPr>
          <p:nvPr>
            <p:ph type="subTitle" idx="3"/>
          </p:nvPr>
        </p:nvSpPr>
        <p:spPr>
          <a:xfrm>
            <a:off x="12811825" y="5608650"/>
            <a:ext cx="4576800" cy="954300"/>
          </a:xfrm>
          <a:prstGeom prst="rect">
            <a:avLst/>
          </a:prstGeom>
        </p:spPr>
        <p:txBody>
          <a:bodyPr spcFirstLastPara="1" wrap="square" lIns="91425" tIns="45700" rIns="91425" bIns="45700" anchor="t" anchorCtr="0">
            <a:normAutofit/>
          </a:bodyPr>
          <a:lstStyle>
            <a:lvl1pPr lvl="0" algn="r" rtl="0">
              <a:spcBef>
                <a:spcPts val="640"/>
              </a:spcBef>
              <a:spcAft>
                <a:spcPts val="0"/>
              </a:spcAft>
              <a:buClr>
                <a:srgbClr val="C1FF72"/>
              </a:buClr>
              <a:buSzPts val="6450"/>
              <a:buFont typeface="Oswald"/>
              <a:buNone/>
              <a:defRPr sz="6450">
                <a:solidFill>
                  <a:srgbClr val="C1FF72"/>
                </a:solidFill>
                <a:latin typeface="Oswald"/>
                <a:ea typeface="Oswald"/>
                <a:cs typeface="Oswald"/>
                <a:sym typeface="Oswald"/>
              </a:defRPr>
            </a:lvl1pPr>
            <a:lvl2pPr lvl="1" algn="r" rtl="0">
              <a:spcBef>
                <a:spcPts val="560"/>
              </a:spcBef>
              <a:spcAft>
                <a:spcPts val="0"/>
              </a:spcAft>
              <a:buSzPts val="2400"/>
              <a:buFont typeface="Oswald"/>
              <a:buNone/>
              <a:defRPr>
                <a:latin typeface="Oswald"/>
                <a:ea typeface="Oswald"/>
                <a:cs typeface="Oswald"/>
                <a:sym typeface="Oswald"/>
              </a:defRPr>
            </a:lvl2pPr>
            <a:lvl3pPr lvl="2" algn="r" rtl="0">
              <a:spcBef>
                <a:spcPts val="480"/>
              </a:spcBef>
              <a:spcAft>
                <a:spcPts val="0"/>
              </a:spcAft>
              <a:buSzPts val="2400"/>
              <a:buFont typeface="Oswald"/>
              <a:buNone/>
              <a:defRPr>
                <a:latin typeface="Oswald"/>
                <a:ea typeface="Oswald"/>
                <a:cs typeface="Oswald"/>
                <a:sym typeface="Oswald"/>
              </a:defRPr>
            </a:lvl3pPr>
            <a:lvl4pPr lvl="3" algn="r" rtl="0">
              <a:spcBef>
                <a:spcPts val="400"/>
              </a:spcBef>
              <a:spcAft>
                <a:spcPts val="0"/>
              </a:spcAft>
              <a:buSzPts val="2400"/>
              <a:buFont typeface="Oswald"/>
              <a:buNone/>
              <a:defRPr>
                <a:latin typeface="Oswald"/>
                <a:ea typeface="Oswald"/>
                <a:cs typeface="Oswald"/>
                <a:sym typeface="Oswald"/>
              </a:defRPr>
            </a:lvl4pPr>
            <a:lvl5pPr lvl="4" algn="r" rtl="0">
              <a:spcBef>
                <a:spcPts val="400"/>
              </a:spcBef>
              <a:spcAft>
                <a:spcPts val="0"/>
              </a:spcAft>
              <a:buSzPts val="2400"/>
              <a:buFont typeface="Oswald"/>
              <a:buNone/>
              <a:defRPr>
                <a:latin typeface="Oswald"/>
                <a:ea typeface="Oswald"/>
                <a:cs typeface="Oswald"/>
                <a:sym typeface="Oswald"/>
              </a:defRPr>
            </a:lvl5pPr>
            <a:lvl6pPr lvl="5" algn="r" rtl="0">
              <a:spcBef>
                <a:spcPts val="400"/>
              </a:spcBef>
              <a:spcAft>
                <a:spcPts val="0"/>
              </a:spcAft>
              <a:buSzPts val="2400"/>
              <a:buFont typeface="Oswald"/>
              <a:buNone/>
              <a:defRPr>
                <a:latin typeface="Oswald"/>
                <a:ea typeface="Oswald"/>
                <a:cs typeface="Oswald"/>
                <a:sym typeface="Oswald"/>
              </a:defRPr>
            </a:lvl6pPr>
            <a:lvl7pPr lvl="6" algn="r" rtl="0">
              <a:spcBef>
                <a:spcPts val="400"/>
              </a:spcBef>
              <a:spcAft>
                <a:spcPts val="0"/>
              </a:spcAft>
              <a:buSzPts val="2400"/>
              <a:buFont typeface="Oswald"/>
              <a:buNone/>
              <a:defRPr>
                <a:latin typeface="Oswald"/>
                <a:ea typeface="Oswald"/>
                <a:cs typeface="Oswald"/>
                <a:sym typeface="Oswald"/>
              </a:defRPr>
            </a:lvl7pPr>
            <a:lvl8pPr lvl="7" algn="r" rtl="0">
              <a:spcBef>
                <a:spcPts val="400"/>
              </a:spcBef>
              <a:spcAft>
                <a:spcPts val="0"/>
              </a:spcAft>
              <a:buSzPts val="2400"/>
              <a:buFont typeface="Oswald"/>
              <a:buNone/>
              <a:defRPr>
                <a:latin typeface="Oswald"/>
                <a:ea typeface="Oswald"/>
                <a:cs typeface="Oswald"/>
                <a:sym typeface="Oswald"/>
              </a:defRPr>
            </a:lvl8pPr>
            <a:lvl9pPr lvl="8" algn="r" rtl="0">
              <a:spcBef>
                <a:spcPts val="400"/>
              </a:spcBef>
              <a:spcAft>
                <a:spcPts val="0"/>
              </a:spcAft>
              <a:buSzPts val="2400"/>
              <a:buFont typeface="Oswald"/>
              <a:buNone/>
              <a:defRPr>
                <a:latin typeface="Oswald"/>
                <a:ea typeface="Oswald"/>
                <a:cs typeface="Oswald"/>
                <a:sym typeface="Oswald"/>
              </a:defRPr>
            </a:lvl9pPr>
          </a:lstStyle>
          <a:p>
            <a:endParaRPr/>
          </a:p>
        </p:txBody>
      </p:sp>
      <p:sp>
        <p:nvSpPr>
          <p:cNvPr id="40" name="Google Shape;40;p6"/>
          <p:cNvSpPr txBox="1">
            <a:spLocks noGrp="1"/>
          </p:cNvSpPr>
          <p:nvPr>
            <p:ph type="body" idx="4"/>
          </p:nvPr>
        </p:nvSpPr>
        <p:spPr>
          <a:xfrm>
            <a:off x="12811825" y="7066225"/>
            <a:ext cx="4164300" cy="2170800"/>
          </a:xfrm>
          <a:prstGeom prst="rect">
            <a:avLst/>
          </a:prstGeom>
        </p:spPr>
        <p:txBody>
          <a:bodyPr spcFirstLastPara="1" wrap="square" lIns="91425" tIns="45700" rIns="91425" bIns="45700" anchor="t" anchorCtr="0">
            <a:normAutofit/>
          </a:bodyPr>
          <a:lstStyle>
            <a:lvl1pPr marL="457200" lvl="0" indent="-381000" algn="r" rtl="0">
              <a:spcBef>
                <a:spcPts val="640"/>
              </a:spcBef>
              <a:spcAft>
                <a:spcPts val="0"/>
              </a:spcAft>
              <a:buSzPts val="2400"/>
              <a:buChar char="•"/>
              <a:defRPr/>
            </a:lvl1pPr>
            <a:lvl2pPr marL="914400" lvl="1" indent="-381000" algn="r" rtl="0">
              <a:spcBef>
                <a:spcPts val="560"/>
              </a:spcBef>
              <a:spcAft>
                <a:spcPts val="0"/>
              </a:spcAft>
              <a:buSzPts val="2400"/>
              <a:buChar char="–"/>
              <a:defRPr/>
            </a:lvl2pPr>
            <a:lvl3pPr marL="1371600" lvl="2" indent="-381000" algn="r" rtl="0">
              <a:spcBef>
                <a:spcPts val="480"/>
              </a:spcBef>
              <a:spcAft>
                <a:spcPts val="0"/>
              </a:spcAft>
              <a:buSzPts val="2400"/>
              <a:buChar char="•"/>
              <a:defRPr/>
            </a:lvl3pPr>
            <a:lvl4pPr marL="1828800" lvl="3" indent="-381000" algn="r" rtl="0">
              <a:spcBef>
                <a:spcPts val="400"/>
              </a:spcBef>
              <a:spcAft>
                <a:spcPts val="0"/>
              </a:spcAft>
              <a:buSzPts val="2400"/>
              <a:buChar char="–"/>
              <a:defRPr/>
            </a:lvl4pPr>
            <a:lvl5pPr marL="2286000" lvl="4" indent="-381000" algn="r" rtl="0">
              <a:spcBef>
                <a:spcPts val="400"/>
              </a:spcBef>
              <a:spcAft>
                <a:spcPts val="0"/>
              </a:spcAft>
              <a:buSzPts val="2400"/>
              <a:buChar char="»"/>
              <a:defRPr/>
            </a:lvl5pPr>
            <a:lvl6pPr marL="2743200" lvl="5" indent="-381000" algn="r" rtl="0">
              <a:spcBef>
                <a:spcPts val="400"/>
              </a:spcBef>
              <a:spcAft>
                <a:spcPts val="0"/>
              </a:spcAft>
              <a:buSzPts val="2400"/>
              <a:buChar char="•"/>
              <a:defRPr/>
            </a:lvl6pPr>
            <a:lvl7pPr marL="3200400" lvl="6" indent="-381000" algn="r" rtl="0">
              <a:spcBef>
                <a:spcPts val="400"/>
              </a:spcBef>
              <a:spcAft>
                <a:spcPts val="0"/>
              </a:spcAft>
              <a:buSzPts val="2400"/>
              <a:buChar char="•"/>
              <a:defRPr/>
            </a:lvl7pPr>
            <a:lvl8pPr marL="3657600" lvl="7" indent="-381000" algn="r" rtl="0">
              <a:spcBef>
                <a:spcPts val="400"/>
              </a:spcBef>
              <a:spcAft>
                <a:spcPts val="0"/>
              </a:spcAft>
              <a:buSzPts val="2400"/>
              <a:buChar char="•"/>
              <a:defRPr/>
            </a:lvl8pPr>
            <a:lvl9pPr marL="4114800" lvl="8" indent="-381000" algn="r" rtl="0">
              <a:spcBef>
                <a:spcPts val="400"/>
              </a:spcBef>
              <a:spcAft>
                <a:spcPts val="0"/>
              </a:spcAft>
              <a:buSzPts val="24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5">
  <p:cSld name="CUSTOM_4">
    <p:spTree>
      <p:nvGrpSpPr>
        <p:cNvPr id="1" name="Shape 41"/>
        <p:cNvGrpSpPr/>
        <p:nvPr/>
      </p:nvGrpSpPr>
      <p:grpSpPr>
        <a:xfrm>
          <a:off x="0" y="0"/>
          <a:ext cx="0" cy="0"/>
          <a:chOff x="0" y="0"/>
          <a:chExt cx="0" cy="0"/>
        </a:xfrm>
      </p:grpSpPr>
      <p:sp>
        <p:nvSpPr>
          <p:cNvPr id="42" name="Google Shape;42;p7"/>
          <p:cNvSpPr/>
          <p:nvPr/>
        </p:nvSpPr>
        <p:spPr>
          <a:xfrm>
            <a:off x="2625505" y="1028700"/>
            <a:ext cx="13036990" cy="8229600"/>
          </a:xfrm>
          <a:custGeom>
            <a:avLst/>
            <a:gdLst/>
            <a:ahLst/>
            <a:cxnLst/>
            <a:rect l="l" t="t" r="r" b="b"/>
            <a:pathLst>
              <a:path w="13036990" h="8229600" extrusionOk="0">
                <a:moveTo>
                  <a:pt x="0" y="0"/>
                </a:moveTo>
                <a:lnTo>
                  <a:pt x="13036990" y="0"/>
                </a:lnTo>
                <a:lnTo>
                  <a:pt x="13036990" y="8229600"/>
                </a:lnTo>
                <a:lnTo>
                  <a:pt x="0" y="8229600"/>
                </a:lnTo>
                <a:lnTo>
                  <a:pt x="0" y="0"/>
                </a:lnTo>
                <a:close/>
              </a:path>
            </a:pathLst>
          </a:custGeom>
          <a:blipFill rotWithShape="1">
            <a:blip r:embed="rId2">
              <a:alphaModFix/>
            </a:blip>
            <a:stretch>
              <a:fillRect/>
            </a:stretch>
          </a:blipFill>
          <a:ln>
            <a:noFill/>
          </a:ln>
        </p:spPr>
      </p:sp>
      <p:sp>
        <p:nvSpPr>
          <p:cNvPr id="43" name="Google Shape;43;p7"/>
          <p:cNvSpPr txBox="1"/>
          <p:nvPr/>
        </p:nvSpPr>
        <p:spPr>
          <a:xfrm>
            <a:off x="8537847" y="1383062"/>
            <a:ext cx="1212300" cy="3173400"/>
          </a:xfrm>
          <a:prstGeom prst="rect">
            <a:avLst/>
          </a:prstGeom>
          <a:noFill/>
          <a:ln>
            <a:noFill/>
          </a:ln>
        </p:spPr>
        <p:txBody>
          <a:bodyPr spcFirstLastPara="1" wrap="square" lIns="0" tIns="0" rIns="0" bIns="0" anchor="t" anchorCtr="0">
            <a:spAutoFit/>
          </a:bodyPr>
          <a:lstStyle/>
          <a:p>
            <a:pPr marL="0" marR="0" lvl="0" indent="0" algn="ctr" rtl="0">
              <a:lnSpc>
                <a:spcPct val="124000"/>
              </a:lnSpc>
              <a:spcBef>
                <a:spcPts val="0"/>
              </a:spcBef>
              <a:spcAft>
                <a:spcPts val="0"/>
              </a:spcAft>
              <a:buNone/>
            </a:pPr>
            <a:r>
              <a:rPr lang="en-US" sz="20616" b="0" i="0" u="none" strike="noStrike" cap="none">
                <a:solidFill>
                  <a:srgbClr val="C1FF72"/>
                </a:solidFill>
                <a:latin typeface="Oswald"/>
                <a:ea typeface="Oswald"/>
                <a:cs typeface="Oswald"/>
                <a:sym typeface="Oswald"/>
              </a:rPr>
              <a:t>“</a:t>
            </a:r>
            <a:endParaRPr/>
          </a:p>
        </p:txBody>
      </p:sp>
      <p:sp>
        <p:nvSpPr>
          <p:cNvPr id="44" name="Google Shape;44;p7"/>
          <p:cNvSpPr txBox="1">
            <a:spLocks noGrp="1"/>
          </p:cNvSpPr>
          <p:nvPr>
            <p:ph type="title"/>
          </p:nvPr>
        </p:nvSpPr>
        <p:spPr>
          <a:xfrm>
            <a:off x="4860000" y="2999275"/>
            <a:ext cx="8568000" cy="4288500"/>
          </a:xfrm>
          <a:prstGeom prst="rect">
            <a:avLst/>
          </a:prstGeom>
        </p:spPr>
        <p:txBody>
          <a:bodyPr spcFirstLastPara="1" wrap="square" lIns="91425" tIns="45700" rIns="91425" bIns="45700" anchor="ctr" anchorCtr="0">
            <a:normAutofit/>
          </a:bodyPr>
          <a:lstStyle>
            <a:lvl1pPr lvl="0" algn="ctr">
              <a:spcBef>
                <a:spcPts val="0"/>
              </a:spcBef>
              <a:spcAft>
                <a:spcPts val="0"/>
              </a:spcAft>
              <a:buClr>
                <a:srgbClr val="D4D4D4"/>
              </a:buClr>
              <a:buSzPts val="7750"/>
              <a:buNone/>
              <a:defRPr sz="7750">
                <a:solidFill>
                  <a:srgbClr val="D4D4D4"/>
                </a:solidFill>
              </a:defRPr>
            </a:lvl1pPr>
            <a:lvl2pPr lvl="1" algn="ctr">
              <a:spcBef>
                <a:spcPts val="0"/>
              </a:spcBef>
              <a:spcAft>
                <a:spcPts val="0"/>
              </a:spcAft>
              <a:buSzPts val="10000"/>
              <a:buNone/>
              <a:defRPr/>
            </a:lvl2pPr>
            <a:lvl3pPr lvl="2" algn="ctr">
              <a:spcBef>
                <a:spcPts val="0"/>
              </a:spcBef>
              <a:spcAft>
                <a:spcPts val="0"/>
              </a:spcAft>
              <a:buSzPts val="10000"/>
              <a:buNone/>
              <a:defRPr/>
            </a:lvl3pPr>
            <a:lvl4pPr lvl="3" algn="ctr">
              <a:spcBef>
                <a:spcPts val="0"/>
              </a:spcBef>
              <a:spcAft>
                <a:spcPts val="0"/>
              </a:spcAft>
              <a:buSzPts val="10000"/>
              <a:buNone/>
              <a:defRPr/>
            </a:lvl4pPr>
            <a:lvl5pPr lvl="4" algn="ctr">
              <a:spcBef>
                <a:spcPts val="0"/>
              </a:spcBef>
              <a:spcAft>
                <a:spcPts val="0"/>
              </a:spcAft>
              <a:buSzPts val="10000"/>
              <a:buNone/>
              <a:defRPr/>
            </a:lvl5pPr>
            <a:lvl6pPr lvl="5" algn="ctr">
              <a:spcBef>
                <a:spcPts val="0"/>
              </a:spcBef>
              <a:spcAft>
                <a:spcPts val="0"/>
              </a:spcAft>
              <a:buSzPts val="10000"/>
              <a:buNone/>
              <a:defRPr/>
            </a:lvl6pPr>
            <a:lvl7pPr lvl="6" algn="ctr">
              <a:spcBef>
                <a:spcPts val="0"/>
              </a:spcBef>
              <a:spcAft>
                <a:spcPts val="0"/>
              </a:spcAft>
              <a:buSzPts val="10000"/>
              <a:buNone/>
              <a:defRPr/>
            </a:lvl7pPr>
            <a:lvl8pPr lvl="7" algn="ctr">
              <a:spcBef>
                <a:spcPts val="0"/>
              </a:spcBef>
              <a:spcAft>
                <a:spcPts val="0"/>
              </a:spcAft>
              <a:buSzPts val="10000"/>
              <a:buNone/>
              <a:defRPr/>
            </a:lvl8pPr>
            <a:lvl9pPr lvl="8" algn="ctr">
              <a:spcBef>
                <a:spcPts val="0"/>
              </a:spcBef>
              <a:spcAft>
                <a:spcPts val="0"/>
              </a:spcAft>
              <a:buSzPts val="10000"/>
              <a:buNone/>
              <a:defRPr/>
            </a:lvl9pPr>
          </a:lstStyle>
          <a:p>
            <a:endParaRPr/>
          </a:p>
        </p:txBody>
      </p:sp>
      <p:sp>
        <p:nvSpPr>
          <p:cNvPr id="45" name="Google Shape;45;p7"/>
          <p:cNvSpPr txBox="1">
            <a:spLocks noGrp="1"/>
          </p:cNvSpPr>
          <p:nvPr>
            <p:ph type="subTitle" idx="1"/>
          </p:nvPr>
        </p:nvSpPr>
        <p:spPr>
          <a:xfrm>
            <a:off x="6782100" y="7795877"/>
            <a:ext cx="4723800" cy="593700"/>
          </a:xfrm>
          <a:prstGeom prst="rect">
            <a:avLst/>
          </a:prstGeom>
        </p:spPr>
        <p:txBody>
          <a:bodyPr spcFirstLastPara="1" wrap="square" lIns="91425" tIns="45700" rIns="91425" bIns="45700" anchor="t" anchorCtr="0">
            <a:normAutofit/>
          </a:bodyPr>
          <a:lstStyle>
            <a:lvl1pPr lvl="0" algn="ctr" rtl="0">
              <a:spcBef>
                <a:spcPts val="640"/>
              </a:spcBef>
              <a:spcAft>
                <a:spcPts val="0"/>
              </a:spcAft>
              <a:buClr>
                <a:srgbClr val="C1FF72"/>
              </a:buClr>
              <a:buSzPts val="2400"/>
              <a:buNone/>
              <a:defRPr b="1">
                <a:solidFill>
                  <a:srgbClr val="C1FF72"/>
                </a:solidFill>
              </a:defRPr>
            </a:lvl1pPr>
            <a:lvl2pPr lvl="1" rtl="0">
              <a:spcBef>
                <a:spcPts val="560"/>
              </a:spcBef>
              <a:spcAft>
                <a:spcPts val="0"/>
              </a:spcAft>
              <a:buSzPts val="2400"/>
              <a:buFont typeface="Oswald"/>
              <a:buNone/>
              <a:defRPr>
                <a:latin typeface="Oswald"/>
                <a:ea typeface="Oswald"/>
                <a:cs typeface="Oswald"/>
                <a:sym typeface="Oswald"/>
              </a:defRPr>
            </a:lvl2pPr>
            <a:lvl3pPr lvl="2" rtl="0">
              <a:spcBef>
                <a:spcPts val="480"/>
              </a:spcBef>
              <a:spcAft>
                <a:spcPts val="0"/>
              </a:spcAft>
              <a:buSzPts val="2400"/>
              <a:buFont typeface="Oswald"/>
              <a:buNone/>
              <a:defRPr>
                <a:latin typeface="Oswald"/>
                <a:ea typeface="Oswald"/>
                <a:cs typeface="Oswald"/>
                <a:sym typeface="Oswald"/>
              </a:defRPr>
            </a:lvl3pPr>
            <a:lvl4pPr lvl="3" rtl="0">
              <a:spcBef>
                <a:spcPts val="400"/>
              </a:spcBef>
              <a:spcAft>
                <a:spcPts val="0"/>
              </a:spcAft>
              <a:buSzPts val="2400"/>
              <a:buFont typeface="Oswald"/>
              <a:buNone/>
              <a:defRPr>
                <a:latin typeface="Oswald"/>
                <a:ea typeface="Oswald"/>
                <a:cs typeface="Oswald"/>
                <a:sym typeface="Oswald"/>
              </a:defRPr>
            </a:lvl4pPr>
            <a:lvl5pPr lvl="4" rtl="0">
              <a:spcBef>
                <a:spcPts val="400"/>
              </a:spcBef>
              <a:spcAft>
                <a:spcPts val="0"/>
              </a:spcAft>
              <a:buSzPts val="2400"/>
              <a:buFont typeface="Oswald"/>
              <a:buNone/>
              <a:defRPr>
                <a:latin typeface="Oswald"/>
                <a:ea typeface="Oswald"/>
                <a:cs typeface="Oswald"/>
                <a:sym typeface="Oswald"/>
              </a:defRPr>
            </a:lvl5pPr>
            <a:lvl6pPr lvl="5" rtl="0">
              <a:spcBef>
                <a:spcPts val="400"/>
              </a:spcBef>
              <a:spcAft>
                <a:spcPts val="0"/>
              </a:spcAft>
              <a:buSzPts val="2400"/>
              <a:buFont typeface="Oswald"/>
              <a:buNone/>
              <a:defRPr>
                <a:latin typeface="Oswald"/>
                <a:ea typeface="Oswald"/>
                <a:cs typeface="Oswald"/>
                <a:sym typeface="Oswald"/>
              </a:defRPr>
            </a:lvl6pPr>
            <a:lvl7pPr lvl="6" rtl="0">
              <a:spcBef>
                <a:spcPts val="400"/>
              </a:spcBef>
              <a:spcAft>
                <a:spcPts val="0"/>
              </a:spcAft>
              <a:buSzPts val="2400"/>
              <a:buFont typeface="Oswald"/>
              <a:buNone/>
              <a:defRPr>
                <a:latin typeface="Oswald"/>
                <a:ea typeface="Oswald"/>
                <a:cs typeface="Oswald"/>
                <a:sym typeface="Oswald"/>
              </a:defRPr>
            </a:lvl7pPr>
            <a:lvl8pPr lvl="7" rtl="0">
              <a:spcBef>
                <a:spcPts val="400"/>
              </a:spcBef>
              <a:spcAft>
                <a:spcPts val="0"/>
              </a:spcAft>
              <a:buSzPts val="2400"/>
              <a:buFont typeface="Oswald"/>
              <a:buNone/>
              <a:defRPr>
                <a:latin typeface="Oswald"/>
                <a:ea typeface="Oswald"/>
                <a:cs typeface="Oswald"/>
                <a:sym typeface="Oswald"/>
              </a:defRPr>
            </a:lvl8pPr>
            <a:lvl9pPr lvl="8" rtl="0">
              <a:spcBef>
                <a:spcPts val="400"/>
              </a:spcBef>
              <a:spcAft>
                <a:spcPts val="0"/>
              </a:spcAft>
              <a:buSzPts val="2400"/>
              <a:buFont typeface="Oswald"/>
              <a:buNone/>
              <a:defRPr>
                <a:latin typeface="Oswald"/>
                <a:ea typeface="Oswald"/>
                <a:cs typeface="Oswald"/>
                <a:sym typeface="Oswald"/>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ustom Layout 6">
  <p:cSld name="CUSTOM_5">
    <p:spTree>
      <p:nvGrpSpPr>
        <p:cNvPr id="1" name="Shape 46"/>
        <p:cNvGrpSpPr/>
        <p:nvPr/>
      </p:nvGrpSpPr>
      <p:grpSpPr>
        <a:xfrm>
          <a:off x="0" y="0"/>
          <a:ext cx="0" cy="0"/>
          <a:chOff x="0" y="0"/>
          <a:chExt cx="0" cy="0"/>
        </a:xfrm>
      </p:grpSpPr>
      <p:pic>
        <p:nvPicPr>
          <p:cNvPr id="47" name="Google Shape;47;p8"/>
          <p:cNvPicPr preferRelativeResize="0"/>
          <p:nvPr/>
        </p:nvPicPr>
        <p:blipFill rotWithShape="1">
          <a:blip r:embed="rId2">
            <a:alphaModFix/>
          </a:blip>
          <a:srcRect l="68166" b="69515"/>
          <a:stretch/>
        </p:blipFill>
        <p:spPr>
          <a:xfrm>
            <a:off x="0" y="3428997"/>
            <a:ext cx="7161902" cy="6857999"/>
          </a:xfrm>
          <a:prstGeom prst="rect">
            <a:avLst/>
          </a:prstGeom>
          <a:noFill/>
          <a:ln>
            <a:noFill/>
          </a:ln>
        </p:spPr>
      </p:pic>
      <p:pic>
        <p:nvPicPr>
          <p:cNvPr id="48" name="Google Shape;48;p8"/>
          <p:cNvPicPr preferRelativeResize="0"/>
          <p:nvPr/>
        </p:nvPicPr>
        <p:blipFill rotWithShape="1">
          <a:blip r:embed="rId3">
            <a:alphaModFix/>
          </a:blip>
          <a:srcRect r="35224" b="30986"/>
          <a:stretch/>
        </p:blipFill>
        <p:spPr>
          <a:xfrm>
            <a:off x="5563100" y="1151425"/>
            <a:ext cx="12724900" cy="9135576"/>
          </a:xfrm>
          <a:prstGeom prst="rect">
            <a:avLst/>
          </a:prstGeom>
          <a:noFill/>
          <a:ln>
            <a:noFill/>
          </a:ln>
        </p:spPr>
      </p:pic>
      <p:sp>
        <p:nvSpPr>
          <p:cNvPr id="49" name="Google Shape;49;p8"/>
          <p:cNvSpPr txBox="1">
            <a:spLocks noGrp="1"/>
          </p:cNvSpPr>
          <p:nvPr>
            <p:ph type="subTitle" idx="1"/>
          </p:nvPr>
        </p:nvSpPr>
        <p:spPr>
          <a:xfrm>
            <a:off x="1292550" y="1151425"/>
            <a:ext cx="4576800" cy="1025700"/>
          </a:xfrm>
          <a:prstGeom prst="rect">
            <a:avLst/>
          </a:prstGeom>
        </p:spPr>
        <p:txBody>
          <a:bodyPr spcFirstLastPara="1" wrap="square" lIns="91425" tIns="45700" rIns="91425" bIns="45700" anchor="t" anchorCtr="0">
            <a:normAutofit/>
          </a:bodyPr>
          <a:lstStyle>
            <a:lvl1pPr lvl="0" rtl="0">
              <a:spcBef>
                <a:spcPts val="640"/>
              </a:spcBef>
              <a:spcAft>
                <a:spcPts val="0"/>
              </a:spcAft>
              <a:buClr>
                <a:srgbClr val="C1FF72"/>
              </a:buClr>
              <a:buSzPts val="5500"/>
              <a:buFont typeface="Oswald"/>
              <a:buNone/>
              <a:defRPr sz="5500">
                <a:solidFill>
                  <a:srgbClr val="C1FF72"/>
                </a:solidFill>
                <a:latin typeface="Oswald"/>
                <a:ea typeface="Oswald"/>
                <a:cs typeface="Oswald"/>
                <a:sym typeface="Oswald"/>
              </a:defRPr>
            </a:lvl1pPr>
            <a:lvl2pPr lvl="1" rtl="0">
              <a:spcBef>
                <a:spcPts val="560"/>
              </a:spcBef>
              <a:spcAft>
                <a:spcPts val="0"/>
              </a:spcAft>
              <a:buSzPts val="2400"/>
              <a:buFont typeface="Oswald"/>
              <a:buNone/>
              <a:defRPr>
                <a:latin typeface="Oswald"/>
                <a:ea typeface="Oswald"/>
                <a:cs typeface="Oswald"/>
                <a:sym typeface="Oswald"/>
              </a:defRPr>
            </a:lvl2pPr>
            <a:lvl3pPr lvl="2" rtl="0">
              <a:spcBef>
                <a:spcPts val="480"/>
              </a:spcBef>
              <a:spcAft>
                <a:spcPts val="0"/>
              </a:spcAft>
              <a:buSzPts val="2400"/>
              <a:buFont typeface="Oswald"/>
              <a:buNone/>
              <a:defRPr>
                <a:latin typeface="Oswald"/>
                <a:ea typeface="Oswald"/>
                <a:cs typeface="Oswald"/>
                <a:sym typeface="Oswald"/>
              </a:defRPr>
            </a:lvl3pPr>
            <a:lvl4pPr lvl="3" rtl="0">
              <a:spcBef>
                <a:spcPts val="400"/>
              </a:spcBef>
              <a:spcAft>
                <a:spcPts val="0"/>
              </a:spcAft>
              <a:buSzPts val="2400"/>
              <a:buFont typeface="Oswald"/>
              <a:buNone/>
              <a:defRPr>
                <a:latin typeface="Oswald"/>
                <a:ea typeface="Oswald"/>
                <a:cs typeface="Oswald"/>
                <a:sym typeface="Oswald"/>
              </a:defRPr>
            </a:lvl4pPr>
            <a:lvl5pPr lvl="4" rtl="0">
              <a:spcBef>
                <a:spcPts val="400"/>
              </a:spcBef>
              <a:spcAft>
                <a:spcPts val="0"/>
              </a:spcAft>
              <a:buSzPts val="2400"/>
              <a:buFont typeface="Oswald"/>
              <a:buNone/>
              <a:defRPr>
                <a:latin typeface="Oswald"/>
                <a:ea typeface="Oswald"/>
                <a:cs typeface="Oswald"/>
                <a:sym typeface="Oswald"/>
              </a:defRPr>
            </a:lvl5pPr>
            <a:lvl6pPr lvl="5" rtl="0">
              <a:spcBef>
                <a:spcPts val="400"/>
              </a:spcBef>
              <a:spcAft>
                <a:spcPts val="0"/>
              </a:spcAft>
              <a:buSzPts val="2400"/>
              <a:buFont typeface="Oswald"/>
              <a:buNone/>
              <a:defRPr>
                <a:latin typeface="Oswald"/>
                <a:ea typeface="Oswald"/>
                <a:cs typeface="Oswald"/>
                <a:sym typeface="Oswald"/>
              </a:defRPr>
            </a:lvl6pPr>
            <a:lvl7pPr lvl="6" rtl="0">
              <a:spcBef>
                <a:spcPts val="400"/>
              </a:spcBef>
              <a:spcAft>
                <a:spcPts val="0"/>
              </a:spcAft>
              <a:buSzPts val="2400"/>
              <a:buFont typeface="Oswald"/>
              <a:buNone/>
              <a:defRPr>
                <a:latin typeface="Oswald"/>
                <a:ea typeface="Oswald"/>
                <a:cs typeface="Oswald"/>
                <a:sym typeface="Oswald"/>
              </a:defRPr>
            </a:lvl7pPr>
            <a:lvl8pPr lvl="7" rtl="0">
              <a:spcBef>
                <a:spcPts val="400"/>
              </a:spcBef>
              <a:spcAft>
                <a:spcPts val="0"/>
              </a:spcAft>
              <a:buSzPts val="2400"/>
              <a:buFont typeface="Oswald"/>
              <a:buNone/>
              <a:defRPr>
                <a:latin typeface="Oswald"/>
                <a:ea typeface="Oswald"/>
                <a:cs typeface="Oswald"/>
                <a:sym typeface="Oswald"/>
              </a:defRPr>
            </a:lvl8pPr>
            <a:lvl9pPr lvl="8" rtl="0">
              <a:spcBef>
                <a:spcPts val="400"/>
              </a:spcBef>
              <a:spcAft>
                <a:spcPts val="0"/>
              </a:spcAft>
              <a:buSzPts val="2400"/>
              <a:buFont typeface="Oswald"/>
              <a:buNone/>
              <a:defRPr>
                <a:latin typeface="Oswald"/>
                <a:ea typeface="Oswald"/>
                <a:cs typeface="Oswald"/>
                <a:sym typeface="Oswald"/>
              </a:defRPr>
            </a:lvl9pPr>
          </a:lstStyle>
          <a:p>
            <a:endParaRPr/>
          </a:p>
        </p:txBody>
      </p:sp>
      <p:sp>
        <p:nvSpPr>
          <p:cNvPr id="50" name="Google Shape;50;p8"/>
          <p:cNvSpPr txBox="1">
            <a:spLocks noGrp="1"/>
          </p:cNvSpPr>
          <p:nvPr>
            <p:ph type="body" idx="2"/>
          </p:nvPr>
        </p:nvSpPr>
        <p:spPr>
          <a:xfrm>
            <a:off x="1292550" y="2483625"/>
            <a:ext cx="4164300" cy="21708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SzPts val="2400"/>
              <a:buChar char="•"/>
              <a:defRPr/>
            </a:lvl1pPr>
            <a:lvl2pPr marL="914400" lvl="1" indent="-381000" rtl="0">
              <a:spcBef>
                <a:spcPts val="560"/>
              </a:spcBef>
              <a:spcAft>
                <a:spcPts val="0"/>
              </a:spcAft>
              <a:buSzPts val="2400"/>
              <a:buChar char="–"/>
              <a:defRPr/>
            </a:lvl2pPr>
            <a:lvl3pPr marL="1371600" lvl="2" indent="-381000" rtl="0">
              <a:spcBef>
                <a:spcPts val="480"/>
              </a:spcBef>
              <a:spcAft>
                <a:spcPts val="0"/>
              </a:spcAft>
              <a:buSzPts val="2400"/>
              <a:buChar char="•"/>
              <a:defRPr/>
            </a:lvl3pPr>
            <a:lvl4pPr marL="1828800" lvl="3" indent="-381000" rtl="0">
              <a:spcBef>
                <a:spcPts val="400"/>
              </a:spcBef>
              <a:spcAft>
                <a:spcPts val="0"/>
              </a:spcAft>
              <a:buSzPts val="2400"/>
              <a:buChar char="–"/>
              <a:defRPr/>
            </a:lvl4pPr>
            <a:lvl5pPr marL="2286000" lvl="4" indent="-381000" rtl="0">
              <a:spcBef>
                <a:spcPts val="400"/>
              </a:spcBef>
              <a:spcAft>
                <a:spcPts val="0"/>
              </a:spcAft>
              <a:buSzPts val="2400"/>
              <a:buChar char="»"/>
              <a:defRPr/>
            </a:lvl5pPr>
            <a:lvl6pPr marL="2743200" lvl="5" indent="-381000" rtl="0">
              <a:spcBef>
                <a:spcPts val="400"/>
              </a:spcBef>
              <a:spcAft>
                <a:spcPts val="0"/>
              </a:spcAft>
              <a:buSzPts val="2400"/>
              <a:buChar char="•"/>
              <a:defRPr/>
            </a:lvl6pPr>
            <a:lvl7pPr marL="3200400" lvl="6" indent="-381000" rtl="0">
              <a:spcBef>
                <a:spcPts val="400"/>
              </a:spcBef>
              <a:spcAft>
                <a:spcPts val="0"/>
              </a:spcAft>
              <a:buSzPts val="2400"/>
              <a:buChar char="•"/>
              <a:defRPr/>
            </a:lvl7pPr>
            <a:lvl8pPr marL="3657600" lvl="7" indent="-381000" rtl="0">
              <a:spcBef>
                <a:spcPts val="400"/>
              </a:spcBef>
              <a:spcAft>
                <a:spcPts val="0"/>
              </a:spcAft>
              <a:buSzPts val="2400"/>
              <a:buChar char="•"/>
              <a:defRPr/>
            </a:lvl8pPr>
            <a:lvl9pPr marL="4114800" lvl="8" indent="-381000" rtl="0">
              <a:spcBef>
                <a:spcPts val="400"/>
              </a:spcBef>
              <a:spcAft>
                <a:spcPts val="0"/>
              </a:spcAft>
              <a:buSzPts val="2400"/>
              <a:buChar char="•"/>
              <a:defRPr/>
            </a:lvl9pPr>
          </a:lstStyle>
          <a:p>
            <a:endParaRPr/>
          </a:p>
        </p:txBody>
      </p:sp>
      <p:sp>
        <p:nvSpPr>
          <p:cNvPr id="51" name="Google Shape;51;p8"/>
          <p:cNvSpPr txBox="1">
            <a:spLocks noGrp="1"/>
          </p:cNvSpPr>
          <p:nvPr>
            <p:ph type="title"/>
          </p:nvPr>
        </p:nvSpPr>
        <p:spPr>
          <a:xfrm>
            <a:off x="8445775" y="3152304"/>
            <a:ext cx="12467700" cy="1143000"/>
          </a:xfrm>
          <a:prstGeom prst="rect">
            <a:avLst/>
          </a:prstGeom>
        </p:spPr>
        <p:txBody>
          <a:bodyPr spcFirstLastPara="1" wrap="square" lIns="91425" tIns="45700" rIns="91425" bIns="45700" anchor="t" anchorCtr="0">
            <a:normAutofit/>
          </a:bodyPr>
          <a:lstStyle>
            <a:lvl1pPr lvl="0">
              <a:spcBef>
                <a:spcPts val="0"/>
              </a:spcBef>
              <a:spcAft>
                <a:spcPts val="0"/>
              </a:spcAft>
              <a:buClr>
                <a:srgbClr val="D4D4D4"/>
              </a:buClr>
              <a:buSzPts val="11400"/>
              <a:buNone/>
              <a:defRPr sz="11400" b="1">
                <a:solidFill>
                  <a:srgbClr val="D4D4D4"/>
                </a:solidFill>
              </a:defRPr>
            </a:lvl1pPr>
            <a:lvl2pPr lvl="1">
              <a:spcBef>
                <a:spcPts val="0"/>
              </a:spcBef>
              <a:spcAft>
                <a:spcPts val="0"/>
              </a:spcAft>
              <a:buSzPts val="10000"/>
              <a:buNone/>
              <a:defRPr/>
            </a:lvl2pPr>
            <a:lvl3pPr lvl="2">
              <a:spcBef>
                <a:spcPts val="0"/>
              </a:spcBef>
              <a:spcAft>
                <a:spcPts val="0"/>
              </a:spcAft>
              <a:buSzPts val="10000"/>
              <a:buNone/>
              <a:defRPr/>
            </a:lvl3pPr>
            <a:lvl4pPr lvl="3">
              <a:spcBef>
                <a:spcPts val="0"/>
              </a:spcBef>
              <a:spcAft>
                <a:spcPts val="0"/>
              </a:spcAft>
              <a:buSzPts val="10000"/>
              <a:buNone/>
              <a:defRPr/>
            </a:lvl4pPr>
            <a:lvl5pPr lvl="4">
              <a:spcBef>
                <a:spcPts val="0"/>
              </a:spcBef>
              <a:spcAft>
                <a:spcPts val="0"/>
              </a:spcAft>
              <a:buSzPts val="10000"/>
              <a:buNone/>
              <a:defRPr/>
            </a:lvl5pPr>
            <a:lvl6pPr lvl="5">
              <a:spcBef>
                <a:spcPts val="0"/>
              </a:spcBef>
              <a:spcAft>
                <a:spcPts val="0"/>
              </a:spcAft>
              <a:buSzPts val="10000"/>
              <a:buNone/>
              <a:defRPr/>
            </a:lvl6pPr>
            <a:lvl7pPr lvl="6">
              <a:spcBef>
                <a:spcPts val="0"/>
              </a:spcBef>
              <a:spcAft>
                <a:spcPts val="0"/>
              </a:spcAft>
              <a:buSzPts val="10000"/>
              <a:buNone/>
              <a:defRPr/>
            </a:lvl7pPr>
            <a:lvl8pPr lvl="7">
              <a:spcBef>
                <a:spcPts val="0"/>
              </a:spcBef>
              <a:spcAft>
                <a:spcPts val="0"/>
              </a:spcAft>
              <a:buSzPts val="10000"/>
              <a:buNone/>
              <a:defRPr/>
            </a:lvl8pPr>
            <a:lvl9pPr lvl="8">
              <a:spcBef>
                <a:spcPts val="0"/>
              </a:spcBef>
              <a:spcAft>
                <a:spcPts val="0"/>
              </a:spcAft>
              <a:buSzPts val="10000"/>
              <a:buNone/>
              <a:defRPr/>
            </a:lvl9pPr>
          </a:lstStyle>
          <a:p>
            <a:endParaRPr/>
          </a:p>
        </p:txBody>
      </p:sp>
      <p:sp>
        <p:nvSpPr>
          <p:cNvPr id="52" name="Google Shape;52;p8"/>
          <p:cNvSpPr txBox="1">
            <a:spLocks noGrp="1"/>
          </p:cNvSpPr>
          <p:nvPr>
            <p:ph type="title" idx="3"/>
          </p:nvPr>
        </p:nvSpPr>
        <p:spPr>
          <a:xfrm>
            <a:off x="8445775" y="5533541"/>
            <a:ext cx="12467700" cy="1143000"/>
          </a:xfrm>
          <a:prstGeom prst="rect">
            <a:avLst/>
          </a:prstGeom>
        </p:spPr>
        <p:txBody>
          <a:bodyPr spcFirstLastPara="1" wrap="square" lIns="91425" tIns="45700" rIns="91425" bIns="45700" anchor="t" anchorCtr="0">
            <a:normAutofit/>
          </a:bodyPr>
          <a:lstStyle>
            <a:lvl1pPr lvl="0" rtl="0">
              <a:spcBef>
                <a:spcPts val="0"/>
              </a:spcBef>
              <a:spcAft>
                <a:spcPts val="0"/>
              </a:spcAft>
              <a:buClr>
                <a:srgbClr val="C1FF72"/>
              </a:buClr>
              <a:buSzPts val="11400"/>
              <a:buNone/>
              <a:defRPr sz="11400" b="1">
                <a:solidFill>
                  <a:srgbClr val="C1FF72"/>
                </a:solidFill>
              </a:defRPr>
            </a:lvl1pPr>
            <a:lvl2pPr lvl="1" rtl="0">
              <a:spcBef>
                <a:spcPts val="0"/>
              </a:spcBef>
              <a:spcAft>
                <a:spcPts val="0"/>
              </a:spcAft>
              <a:buSzPts val="10000"/>
              <a:buNone/>
              <a:defRPr/>
            </a:lvl2pPr>
            <a:lvl3pPr lvl="2" rtl="0">
              <a:spcBef>
                <a:spcPts val="0"/>
              </a:spcBef>
              <a:spcAft>
                <a:spcPts val="0"/>
              </a:spcAft>
              <a:buSzPts val="10000"/>
              <a:buNone/>
              <a:defRPr/>
            </a:lvl3pPr>
            <a:lvl4pPr lvl="3" rtl="0">
              <a:spcBef>
                <a:spcPts val="0"/>
              </a:spcBef>
              <a:spcAft>
                <a:spcPts val="0"/>
              </a:spcAft>
              <a:buSzPts val="10000"/>
              <a:buNone/>
              <a:defRPr/>
            </a:lvl4pPr>
            <a:lvl5pPr lvl="4" rtl="0">
              <a:spcBef>
                <a:spcPts val="0"/>
              </a:spcBef>
              <a:spcAft>
                <a:spcPts val="0"/>
              </a:spcAft>
              <a:buSzPts val="10000"/>
              <a:buNone/>
              <a:defRPr/>
            </a:lvl5pPr>
            <a:lvl6pPr lvl="5" rtl="0">
              <a:spcBef>
                <a:spcPts val="0"/>
              </a:spcBef>
              <a:spcAft>
                <a:spcPts val="0"/>
              </a:spcAft>
              <a:buSzPts val="10000"/>
              <a:buNone/>
              <a:defRPr/>
            </a:lvl6pPr>
            <a:lvl7pPr lvl="6" rtl="0">
              <a:spcBef>
                <a:spcPts val="0"/>
              </a:spcBef>
              <a:spcAft>
                <a:spcPts val="0"/>
              </a:spcAft>
              <a:buSzPts val="10000"/>
              <a:buNone/>
              <a:defRPr/>
            </a:lvl7pPr>
            <a:lvl8pPr lvl="7" rtl="0">
              <a:spcBef>
                <a:spcPts val="0"/>
              </a:spcBef>
              <a:spcAft>
                <a:spcPts val="0"/>
              </a:spcAft>
              <a:buSzPts val="10000"/>
              <a:buNone/>
              <a:defRPr/>
            </a:lvl8pPr>
            <a:lvl9pPr lvl="8" rtl="0">
              <a:spcBef>
                <a:spcPts val="0"/>
              </a:spcBef>
              <a:spcAft>
                <a:spcPts val="0"/>
              </a:spcAft>
              <a:buSzPts val="10000"/>
              <a:buNone/>
              <a:defRPr/>
            </a:lvl9pPr>
          </a:lstStyle>
          <a:p>
            <a:endParaRPr/>
          </a:p>
        </p:txBody>
      </p:sp>
      <p:sp>
        <p:nvSpPr>
          <p:cNvPr id="53" name="Google Shape;53;p8"/>
          <p:cNvSpPr txBox="1">
            <a:spLocks noGrp="1"/>
          </p:cNvSpPr>
          <p:nvPr>
            <p:ph type="title" idx="4"/>
          </p:nvPr>
        </p:nvSpPr>
        <p:spPr>
          <a:xfrm>
            <a:off x="8445775" y="7914779"/>
            <a:ext cx="12467700" cy="1143000"/>
          </a:xfrm>
          <a:prstGeom prst="rect">
            <a:avLst/>
          </a:prstGeom>
        </p:spPr>
        <p:txBody>
          <a:bodyPr spcFirstLastPara="1" wrap="square" lIns="91425" tIns="45700" rIns="91425" bIns="45700" anchor="t" anchorCtr="0">
            <a:normAutofit/>
          </a:bodyPr>
          <a:lstStyle>
            <a:lvl1pPr lvl="0" rtl="0">
              <a:spcBef>
                <a:spcPts val="0"/>
              </a:spcBef>
              <a:spcAft>
                <a:spcPts val="0"/>
              </a:spcAft>
              <a:buClr>
                <a:srgbClr val="D4D4D4"/>
              </a:buClr>
              <a:buSzPts val="11400"/>
              <a:buNone/>
              <a:defRPr sz="11400" b="1">
                <a:solidFill>
                  <a:srgbClr val="D4D4D4"/>
                </a:solidFill>
              </a:defRPr>
            </a:lvl1pPr>
            <a:lvl2pPr lvl="1" rtl="0">
              <a:spcBef>
                <a:spcPts val="0"/>
              </a:spcBef>
              <a:spcAft>
                <a:spcPts val="0"/>
              </a:spcAft>
              <a:buSzPts val="10000"/>
              <a:buNone/>
              <a:defRPr/>
            </a:lvl2pPr>
            <a:lvl3pPr lvl="2" rtl="0">
              <a:spcBef>
                <a:spcPts val="0"/>
              </a:spcBef>
              <a:spcAft>
                <a:spcPts val="0"/>
              </a:spcAft>
              <a:buSzPts val="10000"/>
              <a:buNone/>
              <a:defRPr/>
            </a:lvl3pPr>
            <a:lvl4pPr lvl="3" rtl="0">
              <a:spcBef>
                <a:spcPts val="0"/>
              </a:spcBef>
              <a:spcAft>
                <a:spcPts val="0"/>
              </a:spcAft>
              <a:buSzPts val="10000"/>
              <a:buNone/>
              <a:defRPr/>
            </a:lvl4pPr>
            <a:lvl5pPr lvl="4" rtl="0">
              <a:spcBef>
                <a:spcPts val="0"/>
              </a:spcBef>
              <a:spcAft>
                <a:spcPts val="0"/>
              </a:spcAft>
              <a:buSzPts val="10000"/>
              <a:buNone/>
              <a:defRPr/>
            </a:lvl5pPr>
            <a:lvl6pPr lvl="5" rtl="0">
              <a:spcBef>
                <a:spcPts val="0"/>
              </a:spcBef>
              <a:spcAft>
                <a:spcPts val="0"/>
              </a:spcAft>
              <a:buSzPts val="10000"/>
              <a:buNone/>
              <a:defRPr/>
            </a:lvl6pPr>
            <a:lvl7pPr lvl="6" rtl="0">
              <a:spcBef>
                <a:spcPts val="0"/>
              </a:spcBef>
              <a:spcAft>
                <a:spcPts val="0"/>
              </a:spcAft>
              <a:buSzPts val="10000"/>
              <a:buNone/>
              <a:defRPr/>
            </a:lvl7pPr>
            <a:lvl8pPr lvl="7" rtl="0">
              <a:spcBef>
                <a:spcPts val="0"/>
              </a:spcBef>
              <a:spcAft>
                <a:spcPts val="0"/>
              </a:spcAft>
              <a:buSzPts val="10000"/>
              <a:buNone/>
              <a:defRPr/>
            </a:lvl8pPr>
            <a:lvl9pPr lvl="8" rtl="0">
              <a:spcBef>
                <a:spcPts val="0"/>
              </a:spcBef>
              <a:spcAft>
                <a:spcPts val="0"/>
              </a:spcAft>
              <a:buSzPts val="100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ustom Layout 7">
  <p:cSld name="CUSTOM_6">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1232925" y="7883050"/>
            <a:ext cx="6731700" cy="1143000"/>
          </a:xfrm>
          <a:prstGeom prst="rect">
            <a:avLst/>
          </a:prstGeom>
        </p:spPr>
        <p:txBody>
          <a:bodyPr spcFirstLastPara="1" wrap="square" lIns="91425" tIns="45700" rIns="91425" bIns="45700" anchor="t" anchorCtr="0">
            <a:normAutofit/>
          </a:bodyPr>
          <a:lstStyle>
            <a:lvl1pPr lvl="0">
              <a:spcBef>
                <a:spcPts val="0"/>
              </a:spcBef>
              <a:spcAft>
                <a:spcPts val="0"/>
              </a:spcAft>
              <a:buSzPts val="10000"/>
              <a:buNone/>
              <a:defRPr b="1"/>
            </a:lvl1pPr>
            <a:lvl2pPr lvl="1">
              <a:spcBef>
                <a:spcPts val="0"/>
              </a:spcBef>
              <a:spcAft>
                <a:spcPts val="0"/>
              </a:spcAft>
              <a:buSzPts val="10000"/>
              <a:buNone/>
              <a:defRPr/>
            </a:lvl2pPr>
            <a:lvl3pPr lvl="2">
              <a:spcBef>
                <a:spcPts val="0"/>
              </a:spcBef>
              <a:spcAft>
                <a:spcPts val="0"/>
              </a:spcAft>
              <a:buSzPts val="10000"/>
              <a:buNone/>
              <a:defRPr/>
            </a:lvl3pPr>
            <a:lvl4pPr lvl="3">
              <a:spcBef>
                <a:spcPts val="0"/>
              </a:spcBef>
              <a:spcAft>
                <a:spcPts val="0"/>
              </a:spcAft>
              <a:buSzPts val="10000"/>
              <a:buNone/>
              <a:defRPr/>
            </a:lvl4pPr>
            <a:lvl5pPr lvl="4">
              <a:spcBef>
                <a:spcPts val="0"/>
              </a:spcBef>
              <a:spcAft>
                <a:spcPts val="0"/>
              </a:spcAft>
              <a:buSzPts val="10000"/>
              <a:buNone/>
              <a:defRPr/>
            </a:lvl5pPr>
            <a:lvl6pPr lvl="5">
              <a:spcBef>
                <a:spcPts val="0"/>
              </a:spcBef>
              <a:spcAft>
                <a:spcPts val="0"/>
              </a:spcAft>
              <a:buSzPts val="10000"/>
              <a:buNone/>
              <a:defRPr/>
            </a:lvl6pPr>
            <a:lvl7pPr lvl="6">
              <a:spcBef>
                <a:spcPts val="0"/>
              </a:spcBef>
              <a:spcAft>
                <a:spcPts val="0"/>
              </a:spcAft>
              <a:buSzPts val="10000"/>
              <a:buNone/>
              <a:defRPr/>
            </a:lvl7pPr>
            <a:lvl8pPr lvl="7">
              <a:spcBef>
                <a:spcPts val="0"/>
              </a:spcBef>
              <a:spcAft>
                <a:spcPts val="0"/>
              </a:spcAft>
              <a:buSzPts val="10000"/>
              <a:buNone/>
              <a:defRPr/>
            </a:lvl8pPr>
            <a:lvl9pPr lvl="8">
              <a:spcBef>
                <a:spcPts val="0"/>
              </a:spcBef>
              <a:spcAft>
                <a:spcPts val="0"/>
              </a:spcAft>
              <a:buSzPts val="10000"/>
              <a:buNone/>
              <a:defRPr/>
            </a:lvl9pPr>
          </a:lstStyle>
          <a:p>
            <a:endParaRPr/>
          </a:p>
        </p:txBody>
      </p:sp>
      <p:sp>
        <p:nvSpPr>
          <p:cNvPr id="56" name="Google Shape;56;p9"/>
          <p:cNvSpPr/>
          <p:nvPr/>
        </p:nvSpPr>
        <p:spPr>
          <a:xfrm>
            <a:off x="1011163" y="781366"/>
            <a:ext cx="6475586" cy="6467492"/>
          </a:xfrm>
          <a:custGeom>
            <a:avLst/>
            <a:gdLst/>
            <a:ahLst/>
            <a:cxnLst/>
            <a:rect l="l" t="t" r="r" b="b"/>
            <a:pathLst>
              <a:path w="6475586" h="6467492" extrusionOk="0">
                <a:moveTo>
                  <a:pt x="0" y="0"/>
                </a:moveTo>
                <a:lnTo>
                  <a:pt x="6475586" y="0"/>
                </a:lnTo>
                <a:lnTo>
                  <a:pt x="6475586" y="6467491"/>
                </a:lnTo>
                <a:lnTo>
                  <a:pt x="0" y="6467491"/>
                </a:lnTo>
                <a:lnTo>
                  <a:pt x="0" y="0"/>
                </a:lnTo>
                <a:close/>
              </a:path>
            </a:pathLst>
          </a:custGeom>
          <a:blipFill rotWithShape="1">
            <a:blip r:embed="rId2">
              <a:alphaModFix/>
            </a:blip>
            <a:stretch>
              <a:fillRect/>
            </a:stretch>
          </a:blipFill>
          <a:ln>
            <a:noFill/>
          </a:ln>
        </p:spPr>
      </p:sp>
      <p:sp>
        <p:nvSpPr>
          <p:cNvPr id="57" name="Google Shape;57;p9"/>
          <p:cNvSpPr/>
          <p:nvPr/>
        </p:nvSpPr>
        <p:spPr>
          <a:xfrm>
            <a:off x="8918507" y="352728"/>
            <a:ext cx="3840686" cy="3835885"/>
          </a:xfrm>
          <a:custGeom>
            <a:avLst/>
            <a:gdLst/>
            <a:ahLst/>
            <a:cxnLst/>
            <a:rect l="l" t="t" r="r" b="b"/>
            <a:pathLst>
              <a:path w="3840686" h="3835885" extrusionOk="0">
                <a:moveTo>
                  <a:pt x="0" y="0"/>
                </a:moveTo>
                <a:lnTo>
                  <a:pt x="3840686" y="0"/>
                </a:lnTo>
                <a:lnTo>
                  <a:pt x="3840686" y="3835885"/>
                </a:lnTo>
                <a:lnTo>
                  <a:pt x="0" y="3835885"/>
                </a:lnTo>
                <a:lnTo>
                  <a:pt x="0" y="0"/>
                </a:lnTo>
                <a:close/>
              </a:path>
            </a:pathLst>
          </a:custGeom>
          <a:blipFill rotWithShape="1">
            <a:blip r:embed="rId2">
              <a:alphaModFix/>
            </a:blip>
            <a:stretch>
              <a:fillRect/>
            </a:stretch>
          </a:blipFill>
          <a:ln>
            <a:noFill/>
          </a:ln>
        </p:spPr>
      </p:sp>
      <p:sp>
        <p:nvSpPr>
          <p:cNvPr id="58" name="Google Shape;58;p9"/>
          <p:cNvSpPr/>
          <p:nvPr/>
        </p:nvSpPr>
        <p:spPr>
          <a:xfrm>
            <a:off x="8918507" y="5190156"/>
            <a:ext cx="3840686" cy="3835885"/>
          </a:xfrm>
          <a:custGeom>
            <a:avLst/>
            <a:gdLst/>
            <a:ahLst/>
            <a:cxnLst/>
            <a:rect l="l" t="t" r="r" b="b"/>
            <a:pathLst>
              <a:path w="3840686" h="3835885" extrusionOk="0">
                <a:moveTo>
                  <a:pt x="0" y="0"/>
                </a:moveTo>
                <a:lnTo>
                  <a:pt x="3840686" y="0"/>
                </a:lnTo>
                <a:lnTo>
                  <a:pt x="3840686" y="3835886"/>
                </a:lnTo>
                <a:lnTo>
                  <a:pt x="0" y="3835886"/>
                </a:lnTo>
                <a:lnTo>
                  <a:pt x="0" y="0"/>
                </a:lnTo>
                <a:close/>
              </a:path>
            </a:pathLst>
          </a:custGeom>
          <a:blipFill rotWithShape="1">
            <a:blip r:embed="rId2">
              <a:alphaModFix/>
            </a:blip>
            <a:stretch>
              <a:fillRect/>
            </a:stretch>
          </a:blipFill>
          <a:ln>
            <a:noFill/>
          </a:ln>
        </p:spPr>
      </p:sp>
      <p:sp>
        <p:nvSpPr>
          <p:cNvPr id="59" name="Google Shape;59;p9"/>
          <p:cNvSpPr/>
          <p:nvPr/>
        </p:nvSpPr>
        <p:spPr>
          <a:xfrm>
            <a:off x="13436151" y="352728"/>
            <a:ext cx="3840686" cy="3835885"/>
          </a:xfrm>
          <a:custGeom>
            <a:avLst/>
            <a:gdLst/>
            <a:ahLst/>
            <a:cxnLst/>
            <a:rect l="l" t="t" r="r" b="b"/>
            <a:pathLst>
              <a:path w="3840686" h="3835885" extrusionOk="0">
                <a:moveTo>
                  <a:pt x="0" y="0"/>
                </a:moveTo>
                <a:lnTo>
                  <a:pt x="3840686" y="0"/>
                </a:lnTo>
                <a:lnTo>
                  <a:pt x="3840686" y="3835885"/>
                </a:lnTo>
                <a:lnTo>
                  <a:pt x="0" y="3835885"/>
                </a:lnTo>
                <a:lnTo>
                  <a:pt x="0" y="0"/>
                </a:lnTo>
                <a:close/>
              </a:path>
            </a:pathLst>
          </a:custGeom>
          <a:blipFill rotWithShape="1">
            <a:blip r:embed="rId2">
              <a:alphaModFix/>
            </a:blip>
            <a:stretch>
              <a:fillRect/>
            </a:stretch>
          </a:blipFill>
          <a:ln>
            <a:noFill/>
          </a:ln>
        </p:spPr>
      </p:sp>
      <p:sp>
        <p:nvSpPr>
          <p:cNvPr id="60" name="Google Shape;60;p9"/>
          <p:cNvSpPr/>
          <p:nvPr/>
        </p:nvSpPr>
        <p:spPr>
          <a:xfrm>
            <a:off x="13436151" y="5190156"/>
            <a:ext cx="3840686" cy="3835885"/>
          </a:xfrm>
          <a:custGeom>
            <a:avLst/>
            <a:gdLst/>
            <a:ahLst/>
            <a:cxnLst/>
            <a:rect l="l" t="t" r="r" b="b"/>
            <a:pathLst>
              <a:path w="3840686" h="3835885" extrusionOk="0">
                <a:moveTo>
                  <a:pt x="0" y="0"/>
                </a:moveTo>
                <a:lnTo>
                  <a:pt x="3840686" y="0"/>
                </a:lnTo>
                <a:lnTo>
                  <a:pt x="3840686" y="3835886"/>
                </a:lnTo>
                <a:lnTo>
                  <a:pt x="0" y="3835886"/>
                </a:lnTo>
                <a:lnTo>
                  <a:pt x="0" y="0"/>
                </a:lnTo>
                <a:close/>
              </a:path>
            </a:pathLst>
          </a:custGeom>
          <a:blipFill rotWithShape="1">
            <a:blip r:embed="rId2">
              <a:alphaModFix/>
            </a:blip>
            <a:stretch>
              <a:fillRect/>
            </a:stretch>
          </a:blipFill>
          <a:ln>
            <a:noFill/>
          </a:ln>
        </p:spPr>
      </p:sp>
      <p:sp>
        <p:nvSpPr>
          <p:cNvPr id="61" name="Google Shape;61;p9"/>
          <p:cNvSpPr/>
          <p:nvPr/>
        </p:nvSpPr>
        <p:spPr>
          <a:xfrm>
            <a:off x="1550421" y="1214479"/>
            <a:ext cx="5381625" cy="5558142"/>
          </a:xfrm>
          <a:custGeom>
            <a:avLst/>
            <a:gdLst/>
            <a:ahLst/>
            <a:cxnLst/>
            <a:rect l="l" t="t" r="r" b="b"/>
            <a:pathLst>
              <a:path w="6350000" h="6558280" extrusionOk="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232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9"/>
          <p:cNvSpPr/>
          <p:nvPr/>
        </p:nvSpPr>
        <p:spPr>
          <a:xfrm>
            <a:off x="9238343" y="609608"/>
            <a:ext cx="3190875" cy="3295536"/>
          </a:xfrm>
          <a:custGeom>
            <a:avLst/>
            <a:gdLst/>
            <a:ahLst/>
            <a:cxnLst/>
            <a:rect l="l" t="t" r="r" b="b"/>
            <a:pathLst>
              <a:path w="6350000" h="6558280" extrusionOk="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232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9"/>
          <p:cNvSpPr/>
          <p:nvPr/>
        </p:nvSpPr>
        <p:spPr>
          <a:xfrm>
            <a:off x="9238343" y="5447037"/>
            <a:ext cx="3190875" cy="3295536"/>
          </a:xfrm>
          <a:custGeom>
            <a:avLst/>
            <a:gdLst/>
            <a:ahLst/>
            <a:cxnLst/>
            <a:rect l="l" t="t" r="r" b="b"/>
            <a:pathLst>
              <a:path w="6350000" h="6558280" extrusionOk="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232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9"/>
          <p:cNvSpPr/>
          <p:nvPr/>
        </p:nvSpPr>
        <p:spPr>
          <a:xfrm>
            <a:off x="13755987" y="609608"/>
            <a:ext cx="3190875" cy="3295536"/>
          </a:xfrm>
          <a:custGeom>
            <a:avLst/>
            <a:gdLst/>
            <a:ahLst/>
            <a:cxnLst/>
            <a:rect l="l" t="t" r="r" b="b"/>
            <a:pathLst>
              <a:path w="6350000" h="6558280" extrusionOk="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232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a:off x="13755987" y="5447037"/>
            <a:ext cx="3190875" cy="3295536"/>
          </a:xfrm>
          <a:custGeom>
            <a:avLst/>
            <a:gdLst/>
            <a:ahLst/>
            <a:cxnLst/>
            <a:rect l="l" t="t" r="r" b="b"/>
            <a:pathLst>
              <a:path w="6350000" h="6558280" extrusionOk="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2323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9"/>
          <p:cNvSpPr txBox="1"/>
          <p:nvPr/>
        </p:nvSpPr>
        <p:spPr>
          <a:xfrm>
            <a:off x="1975724" y="2240927"/>
            <a:ext cx="725400" cy="369300"/>
          </a:xfrm>
          <a:prstGeom prst="rect">
            <a:avLst/>
          </a:prstGeom>
          <a:noFill/>
          <a:ln>
            <a:noFill/>
          </a:ln>
        </p:spPr>
        <p:txBody>
          <a:bodyPr spcFirstLastPara="1" wrap="square" lIns="0" tIns="0" rIns="0" bIns="0" anchor="t" anchorCtr="0">
            <a:spAutoFit/>
          </a:bodyPr>
          <a:lstStyle/>
          <a:p>
            <a:pPr marL="0" marR="0" lvl="0" indent="0" algn="l" rtl="0">
              <a:lnSpc>
                <a:spcPct val="139958"/>
              </a:lnSpc>
              <a:spcBef>
                <a:spcPts val="0"/>
              </a:spcBef>
              <a:spcAft>
                <a:spcPts val="0"/>
              </a:spcAft>
              <a:buNone/>
            </a:pPr>
            <a:r>
              <a:rPr lang="en-US" sz="2400" b="0" i="0" u="none" strike="noStrike" cap="none">
                <a:solidFill>
                  <a:srgbClr val="C1FF72"/>
                </a:solidFill>
                <a:latin typeface="Titillium Web"/>
                <a:ea typeface="Titillium Web"/>
                <a:cs typeface="Titillium Web"/>
                <a:sym typeface="Titillium Web"/>
              </a:rPr>
              <a:t>CEO</a:t>
            </a:r>
            <a:endParaRPr/>
          </a:p>
        </p:txBody>
      </p:sp>
      <p:sp>
        <p:nvSpPr>
          <p:cNvPr id="67" name="Google Shape;67;p9"/>
          <p:cNvSpPr txBox="1"/>
          <p:nvPr/>
        </p:nvSpPr>
        <p:spPr>
          <a:xfrm>
            <a:off x="1975724" y="1854212"/>
            <a:ext cx="1491300" cy="369300"/>
          </a:xfrm>
          <a:prstGeom prst="rect">
            <a:avLst/>
          </a:prstGeom>
          <a:noFill/>
          <a:ln>
            <a:noFill/>
          </a:ln>
        </p:spPr>
        <p:txBody>
          <a:bodyPr spcFirstLastPara="1" wrap="square" lIns="0" tIns="0" rIns="0" bIns="0" anchor="t" anchorCtr="0">
            <a:spAutoFit/>
          </a:bodyPr>
          <a:lstStyle/>
          <a:p>
            <a:pPr marL="0" marR="0" lvl="0" indent="0" algn="l" rtl="0">
              <a:lnSpc>
                <a:spcPct val="139958"/>
              </a:lnSpc>
              <a:spcBef>
                <a:spcPts val="0"/>
              </a:spcBef>
              <a:spcAft>
                <a:spcPts val="0"/>
              </a:spcAft>
              <a:buNone/>
            </a:pPr>
            <a:r>
              <a:rPr lang="en-US" sz="2400" b="1" i="0" u="none" strike="noStrike" cap="none">
                <a:solidFill>
                  <a:srgbClr val="D4D4D4"/>
                </a:solidFill>
                <a:latin typeface="Titillium Web"/>
                <a:ea typeface="Titillium Web"/>
                <a:cs typeface="Titillium Web"/>
                <a:sym typeface="Titillium Web"/>
              </a:rPr>
              <a:t>John Doe</a:t>
            </a:r>
            <a:endParaRPr/>
          </a:p>
        </p:txBody>
      </p:sp>
      <p:sp>
        <p:nvSpPr>
          <p:cNvPr id="68" name="Google Shape;68;p9"/>
          <p:cNvSpPr>
            <a:spLocks noGrp="1"/>
          </p:cNvSpPr>
          <p:nvPr>
            <p:ph type="pic" idx="2"/>
          </p:nvPr>
        </p:nvSpPr>
        <p:spPr>
          <a:xfrm>
            <a:off x="1686738" y="1439050"/>
            <a:ext cx="5109000" cy="5109000"/>
          </a:xfrm>
          <a:prstGeom prst="roundRect">
            <a:avLst>
              <a:gd name="adj" fmla="val 16667"/>
            </a:avLst>
          </a:prstGeom>
          <a:noFill/>
          <a:ln>
            <a:noFill/>
          </a:ln>
        </p:spPr>
      </p:sp>
      <p:sp>
        <p:nvSpPr>
          <p:cNvPr id="69" name="Google Shape;69;p9"/>
          <p:cNvSpPr>
            <a:spLocks noGrp="1"/>
          </p:cNvSpPr>
          <p:nvPr>
            <p:ph type="pic" idx="3"/>
          </p:nvPr>
        </p:nvSpPr>
        <p:spPr>
          <a:xfrm>
            <a:off x="9362838" y="781375"/>
            <a:ext cx="2952000" cy="2952000"/>
          </a:xfrm>
          <a:prstGeom prst="roundRect">
            <a:avLst>
              <a:gd name="adj" fmla="val 16667"/>
            </a:avLst>
          </a:prstGeom>
          <a:noFill/>
          <a:ln>
            <a:noFill/>
          </a:ln>
        </p:spPr>
      </p:sp>
      <p:sp>
        <p:nvSpPr>
          <p:cNvPr id="70" name="Google Shape;70;p9"/>
          <p:cNvSpPr>
            <a:spLocks noGrp="1"/>
          </p:cNvSpPr>
          <p:nvPr>
            <p:ph type="pic" idx="4"/>
          </p:nvPr>
        </p:nvSpPr>
        <p:spPr>
          <a:xfrm>
            <a:off x="13880475" y="781375"/>
            <a:ext cx="2952000" cy="2952000"/>
          </a:xfrm>
          <a:prstGeom prst="roundRect">
            <a:avLst>
              <a:gd name="adj" fmla="val 16667"/>
            </a:avLst>
          </a:prstGeom>
          <a:noFill/>
          <a:ln>
            <a:noFill/>
          </a:ln>
        </p:spPr>
      </p:sp>
      <p:sp>
        <p:nvSpPr>
          <p:cNvPr id="71" name="Google Shape;71;p9"/>
          <p:cNvSpPr>
            <a:spLocks noGrp="1"/>
          </p:cNvSpPr>
          <p:nvPr>
            <p:ph type="pic" idx="5"/>
          </p:nvPr>
        </p:nvSpPr>
        <p:spPr>
          <a:xfrm>
            <a:off x="9362838" y="5623856"/>
            <a:ext cx="2952000" cy="2952000"/>
          </a:xfrm>
          <a:prstGeom prst="roundRect">
            <a:avLst>
              <a:gd name="adj" fmla="val 16667"/>
            </a:avLst>
          </a:prstGeom>
          <a:noFill/>
          <a:ln>
            <a:noFill/>
          </a:ln>
        </p:spPr>
      </p:sp>
      <p:sp>
        <p:nvSpPr>
          <p:cNvPr id="72" name="Google Shape;72;p9"/>
          <p:cNvSpPr>
            <a:spLocks noGrp="1"/>
          </p:cNvSpPr>
          <p:nvPr>
            <p:ph type="pic" idx="6"/>
          </p:nvPr>
        </p:nvSpPr>
        <p:spPr>
          <a:xfrm>
            <a:off x="13880475" y="5623856"/>
            <a:ext cx="2952000" cy="2952000"/>
          </a:xfrm>
          <a:prstGeom prst="roundRect">
            <a:avLst>
              <a:gd name="adj" fmla="val 16667"/>
            </a:avLst>
          </a:prstGeom>
          <a:noFill/>
          <a:ln>
            <a:noFill/>
          </a:ln>
        </p:spPr>
      </p:sp>
      <p:sp>
        <p:nvSpPr>
          <p:cNvPr id="73" name="Google Shape;73;p9"/>
          <p:cNvSpPr txBox="1">
            <a:spLocks noGrp="1"/>
          </p:cNvSpPr>
          <p:nvPr>
            <p:ph type="subTitle" idx="1"/>
          </p:nvPr>
        </p:nvSpPr>
        <p:spPr>
          <a:xfrm>
            <a:off x="9362850" y="4021825"/>
            <a:ext cx="3066300" cy="447900"/>
          </a:xfrm>
          <a:prstGeom prst="rect">
            <a:avLst/>
          </a:prstGeom>
        </p:spPr>
        <p:txBody>
          <a:bodyPr spcFirstLastPara="1" wrap="square" lIns="91425" tIns="45700" rIns="91425" bIns="45700" anchor="t" anchorCtr="0">
            <a:normAutofit/>
          </a:bodyPr>
          <a:lstStyle>
            <a:lvl1pPr lvl="0" rtl="0">
              <a:spcBef>
                <a:spcPts val="640"/>
              </a:spcBef>
              <a:spcAft>
                <a:spcPts val="0"/>
              </a:spcAft>
              <a:buClr>
                <a:srgbClr val="D4D4D4"/>
              </a:buClr>
              <a:buSzPts val="2400"/>
              <a:buNone/>
              <a:defRPr b="1">
                <a:solidFill>
                  <a:srgbClr val="D4D4D4"/>
                </a:solidFill>
              </a:defRPr>
            </a:lvl1pPr>
            <a:lvl2pPr lvl="1" rtl="0">
              <a:spcBef>
                <a:spcPts val="560"/>
              </a:spcBef>
              <a:spcAft>
                <a:spcPts val="0"/>
              </a:spcAft>
              <a:buClr>
                <a:srgbClr val="D4D4D4"/>
              </a:buClr>
              <a:buSzPts val="2400"/>
              <a:buFont typeface="Oswald"/>
              <a:buNone/>
              <a:defRPr>
                <a:solidFill>
                  <a:srgbClr val="D4D4D4"/>
                </a:solidFill>
                <a:latin typeface="Oswald"/>
                <a:ea typeface="Oswald"/>
                <a:cs typeface="Oswald"/>
                <a:sym typeface="Oswald"/>
              </a:defRPr>
            </a:lvl2pPr>
            <a:lvl3pPr lvl="2" rtl="0">
              <a:spcBef>
                <a:spcPts val="480"/>
              </a:spcBef>
              <a:spcAft>
                <a:spcPts val="0"/>
              </a:spcAft>
              <a:buClr>
                <a:srgbClr val="D4D4D4"/>
              </a:buClr>
              <a:buSzPts val="2400"/>
              <a:buFont typeface="Oswald"/>
              <a:buNone/>
              <a:defRPr>
                <a:solidFill>
                  <a:srgbClr val="D4D4D4"/>
                </a:solidFill>
                <a:latin typeface="Oswald"/>
                <a:ea typeface="Oswald"/>
                <a:cs typeface="Oswald"/>
                <a:sym typeface="Oswald"/>
              </a:defRPr>
            </a:lvl3pPr>
            <a:lvl4pPr lvl="3"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4pPr>
            <a:lvl5pPr lvl="4"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5pPr>
            <a:lvl6pPr lvl="5"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6pPr>
            <a:lvl7pPr lvl="6"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7pPr>
            <a:lvl8pPr lvl="7"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8pPr>
            <a:lvl9pPr lvl="8"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9pPr>
          </a:lstStyle>
          <a:p>
            <a:endParaRPr/>
          </a:p>
        </p:txBody>
      </p:sp>
      <p:sp>
        <p:nvSpPr>
          <p:cNvPr id="74" name="Google Shape;74;p9"/>
          <p:cNvSpPr txBox="1">
            <a:spLocks noGrp="1"/>
          </p:cNvSpPr>
          <p:nvPr>
            <p:ph type="body" idx="7"/>
          </p:nvPr>
        </p:nvSpPr>
        <p:spPr>
          <a:xfrm>
            <a:off x="9362850" y="4457400"/>
            <a:ext cx="2952000" cy="5604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Clr>
                <a:srgbClr val="C1FF72"/>
              </a:buClr>
              <a:buSzPts val="2400"/>
              <a:buChar char="•"/>
              <a:defRPr>
                <a:solidFill>
                  <a:srgbClr val="C1FF72"/>
                </a:solidFill>
              </a:defRPr>
            </a:lvl1pPr>
            <a:lvl2pPr marL="914400" lvl="1" indent="-381000" rtl="0">
              <a:spcBef>
                <a:spcPts val="560"/>
              </a:spcBef>
              <a:spcAft>
                <a:spcPts val="0"/>
              </a:spcAft>
              <a:buClr>
                <a:srgbClr val="C1FF72"/>
              </a:buClr>
              <a:buSzPts val="2400"/>
              <a:buChar char="–"/>
              <a:defRPr>
                <a:solidFill>
                  <a:srgbClr val="C1FF72"/>
                </a:solidFill>
              </a:defRPr>
            </a:lvl2pPr>
            <a:lvl3pPr marL="1371600" lvl="2" indent="-381000" rtl="0">
              <a:spcBef>
                <a:spcPts val="480"/>
              </a:spcBef>
              <a:spcAft>
                <a:spcPts val="0"/>
              </a:spcAft>
              <a:buClr>
                <a:srgbClr val="C1FF72"/>
              </a:buClr>
              <a:buSzPts val="2400"/>
              <a:buChar char="•"/>
              <a:defRPr>
                <a:solidFill>
                  <a:srgbClr val="C1FF72"/>
                </a:solidFill>
              </a:defRPr>
            </a:lvl3pPr>
            <a:lvl4pPr marL="1828800" lvl="3" indent="-381000" rtl="0">
              <a:spcBef>
                <a:spcPts val="400"/>
              </a:spcBef>
              <a:spcAft>
                <a:spcPts val="0"/>
              </a:spcAft>
              <a:buClr>
                <a:srgbClr val="C1FF72"/>
              </a:buClr>
              <a:buSzPts val="2400"/>
              <a:buChar char="–"/>
              <a:defRPr>
                <a:solidFill>
                  <a:srgbClr val="C1FF72"/>
                </a:solidFill>
              </a:defRPr>
            </a:lvl4pPr>
            <a:lvl5pPr marL="2286000" lvl="4" indent="-381000" rtl="0">
              <a:spcBef>
                <a:spcPts val="400"/>
              </a:spcBef>
              <a:spcAft>
                <a:spcPts val="0"/>
              </a:spcAft>
              <a:buClr>
                <a:srgbClr val="C1FF72"/>
              </a:buClr>
              <a:buSzPts val="2400"/>
              <a:buChar char="»"/>
              <a:defRPr>
                <a:solidFill>
                  <a:srgbClr val="C1FF72"/>
                </a:solidFill>
              </a:defRPr>
            </a:lvl5pPr>
            <a:lvl6pPr marL="2743200" lvl="5" indent="-381000" rtl="0">
              <a:spcBef>
                <a:spcPts val="400"/>
              </a:spcBef>
              <a:spcAft>
                <a:spcPts val="0"/>
              </a:spcAft>
              <a:buClr>
                <a:srgbClr val="C1FF72"/>
              </a:buClr>
              <a:buSzPts val="2400"/>
              <a:buChar char="•"/>
              <a:defRPr>
                <a:solidFill>
                  <a:srgbClr val="C1FF72"/>
                </a:solidFill>
              </a:defRPr>
            </a:lvl6pPr>
            <a:lvl7pPr marL="3200400" lvl="6" indent="-381000" rtl="0">
              <a:spcBef>
                <a:spcPts val="400"/>
              </a:spcBef>
              <a:spcAft>
                <a:spcPts val="0"/>
              </a:spcAft>
              <a:buClr>
                <a:srgbClr val="C1FF72"/>
              </a:buClr>
              <a:buSzPts val="2400"/>
              <a:buChar char="•"/>
              <a:defRPr>
                <a:solidFill>
                  <a:srgbClr val="C1FF72"/>
                </a:solidFill>
              </a:defRPr>
            </a:lvl7pPr>
            <a:lvl8pPr marL="3657600" lvl="7" indent="-381000" rtl="0">
              <a:spcBef>
                <a:spcPts val="400"/>
              </a:spcBef>
              <a:spcAft>
                <a:spcPts val="0"/>
              </a:spcAft>
              <a:buClr>
                <a:srgbClr val="C1FF72"/>
              </a:buClr>
              <a:buSzPts val="2400"/>
              <a:buChar char="•"/>
              <a:defRPr>
                <a:solidFill>
                  <a:srgbClr val="C1FF72"/>
                </a:solidFill>
              </a:defRPr>
            </a:lvl8pPr>
            <a:lvl9pPr marL="4114800" lvl="8" indent="-381000" rtl="0">
              <a:spcBef>
                <a:spcPts val="400"/>
              </a:spcBef>
              <a:spcAft>
                <a:spcPts val="0"/>
              </a:spcAft>
              <a:buClr>
                <a:srgbClr val="C1FF72"/>
              </a:buClr>
              <a:buSzPts val="2400"/>
              <a:buChar char="•"/>
              <a:defRPr>
                <a:solidFill>
                  <a:srgbClr val="C1FF72"/>
                </a:solidFill>
              </a:defRPr>
            </a:lvl9pPr>
          </a:lstStyle>
          <a:p>
            <a:endParaRPr/>
          </a:p>
        </p:txBody>
      </p:sp>
      <p:sp>
        <p:nvSpPr>
          <p:cNvPr id="75" name="Google Shape;75;p9"/>
          <p:cNvSpPr txBox="1">
            <a:spLocks noGrp="1"/>
          </p:cNvSpPr>
          <p:nvPr>
            <p:ph type="subTitle" idx="8"/>
          </p:nvPr>
        </p:nvSpPr>
        <p:spPr>
          <a:xfrm>
            <a:off x="13880475" y="4021825"/>
            <a:ext cx="3066300" cy="447900"/>
          </a:xfrm>
          <a:prstGeom prst="rect">
            <a:avLst/>
          </a:prstGeom>
        </p:spPr>
        <p:txBody>
          <a:bodyPr spcFirstLastPara="1" wrap="square" lIns="91425" tIns="45700" rIns="91425" bIns="45700" anchor="t" anchorCtr="0">
            <a:normAutofit/>
          </a:bodyPr>
          <a:lstStyle>
            <a:lvl1pPr lvl="0" rtl="0">
              <a:spcBef>
                <a:spcPts val="640"/>
              </a:spcBef>
              <a:spcAft>
                <a:spcPts val="0"/>
              </a:spcAft>
              <a:buClr>
                <a:srgbClr val="D4D4D4"/>
              </a:buClr>
              <a:buSzPts val="2400"/>
              <a:buNone/>
              <a:defRPr b="1">
                <a:solidFill>
                  <a:srgbClr val="D4D4D4"/>
                </a:solidFill>
              </a:defRPr>
            </a:lvl1pPr>
            <a:lvl2pPr lvl="1" rtl="0">
              <a:spcBef>
                <a:spcPts val="560"/>
              </a:spcBef>
              <a:spcAft>
                <a:spcPts val="0"/>
              </a:spcAft>
              <a:buClr>
                <a:srgbClr val="D4D4D4"/>
              </a:buClr>
              <a:buSzPts val="2400"/>
              <a:buFont typeface="Oswald"/>
              <a:buNone/>
              <a:defRPr>
                <a:solidFill>
                  <a:srgbClr val="D4D4D4"/>
                </a:solidFill>
                <a:latin typeface="Oswald"/>
                <a:ea typeface="Oswald"/>
                <a:cs typeface="Oswald"/>
                <a:sym typeface="Oswald"/>
              </a:defRPr>
            </a:lvl2pPr>
            <a:lvl3pPr lvl="2" rtl="0">
              <a:spcBef>
                <a:spcPts val="480"/>
              </a:spcBef>
              <a:spcAft>
                <a:spcPts val="0"/>
              </a:spcAft>
              <a:buClr>
                <a:srgbClr val="D4D4D4"/>
              </a:buClr>
              <a:buSzPts val="2400"/>
              <a:buFont typeface="Oswald"/>
              <a:buNone/>
              <a:defRPr>
                <a:solidFill>
                  <a:srgbClr val="D4D4D4"/>
                </a:solidFill>
                <a:latin typeface="Oswald"/>
                <a:ea typeface="Oswald"/>
                <a:cs typeface="Oswald"/>
                <a:sym typeface="Oswald"/>
              </a:defRPr>
            </a:lvl3pPr>
            <a:lvl4pPr lvl="3"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4pPr>
            <a:lvl5pPr lvl="4"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5pPr>
            <a:lvl6pPr lvl="5"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6pPr>
            <a:lvl7pPr lvl="6"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7pPr>
            <a:lvl8pPr lvl="7"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8pPr>
            <a:lvl9pPr lvl="8"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9pPr>
          </a:lstStyle>
          <a:p>
            <a:endParaRPr/>
          </a:p>
        </p:txBody>
      </p:sp>
      <p:sp>
        <p:nvSpPr>
          <p:cNvPr id="76" name="Google Shape;76;p9"/>
          <p:cNvSpPr txBox="1">
            <a:spLocks noGrp="1"/>
          </p:cNvSpPr>
          <p:nvPr>
            <p:ph type="body" idx="9"/>
          </p:nvPr>
        </p:nvSpPr>
        <p:spPr>
          <a:xfrm>
            <a:off x="13880475" y="4457400"/>
            <a:ext cx="2952000" cy="5604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Clr>
                <a:srgbClr val="C1FF72"/>
              </a:buClr>
              <a:buSzPts val="2400"/>
              <a:buChar char="•"/>
              <a:defRPr>
                <a:solidFill>
                  <a:srgbClr val="C1FF72"/>
                </a:solidFill>
              </a:defRPr>
            </a:lvl1pPr>
            <a:lvl2pPr marL="914400" lvl="1" indent="-381000" rtl="0">
              <a:spcBef>
                <a:spcPts val="560"/>
              </a:spcBef>
              <a:spcAft>
                <a:spcPts val="0"/>
              </a:spcAft>
              <a:buClr>
                <a:srgbClr val="C1FF72"/>
              </a:buClr>
              <a:buSzPts val="2400"/>
              <a:buChar char="–"/>
              <a:defRPr>
                <a:solidFill>
                  <a:srgbClr val="C1FF72"/>
                </a:solidFill>
              </a:defRPr>
            </a:lvl2pPr>
            <a:lvl3pPr marL="1371600" lvl="2" indent="-381000" rtl="0">
              <a:spcBef>
                <a:spcPts val="480"/>
              </a:spcBef>
              <a:spcAft>
                <a:spcPts val="0"/>
              </a:spcAft>
              <a:buClr>
                <a:srgbClr val="C1FF72"/>
              </a:buClr>
              <a:buSzPts val="2400"/>
              <a:buChar char="•"/>
              <a:defRPr>
                <a:solidFill>
                  <a:srgbClr val="C1FF72"/>
                </a:solidFill>
              </a:defRPr>
            </a:lvl3pPr>
            <a:lvl4pPr marL="1828800" lvl="3" indent="-381000" rtl="0">
              <a:spcBef>
                <a:spcPts val="400"/>
              </a:spcBef>
              <a:spcAft>
                <a:spcPts val="0"/>
              </a:spcAft>
              <a:buClr>
                <a:srgbClr val="C1FF72"/>
              </a:buClr>
              <a:buSzPts val="2400"/>
              <a:buChar char="–"/>
              <a:defRPr>
                <a:solidFill>
                  <a:srgbClr val="C1FF72"/>
                </a:solidFill>
              </a:defRPr>
            </a:lvl4pPr>
            <a:lvl5pPr marL="2286000" lvl="4" indent="-381000" rtl="0">
              <a:spcBef>
                <a:spcPts val="400"/>
              </a:spcBef>
              <a:spcAft>
                <a:spcPts val="0"/>
              </a:spcAft>
              <a:buClr>
                <a:srgbClr val="C1FF72"/>
              </a:buClr>
              <a:buSzPts val="2400"/>
              <a:buChar char="»"/>
              <a:defRPr>
                <a:solidFill>
                  <a:srgbClr val="C1FF72"/>
                </a:solidFill>
              </a:defRPr>
            </a:lvl5pPr>
            <a:lvl6pPr marL="2743200" lvl="5" indent="-381000" rtl="0">
              <a:spcBef>
                <a:spcPts val="400"/>
              </a:spcBef>
              <a:spcAft>
                <a:spcPts val="0"/>
              </a:spcAft>
              <a:buClr>
                <a:srgbClr val="C1FF72"/>
              </a:buClr>
              <a:buSzPts val="2400"/>
              <a:buChar char="•"/>
              <a:defRPr>
                <a:solidFill>
                  <a:srgbClr val="C1FF72"/>
                </a:solidFill>
              </a:defRPr>
            </a:lvl6pPr>
            <a:lvl7pPr marL="3200400" lvl="6" indent="-381000" rtl="0">
              <a:spcBef>
                <a:spcPts val="400"/>
              </a:spcBef>
              <a:spcAft>
                <a:spcPts val="0"/>
              </a:spcAft>
              <a:buClr>
                <a:srgbClr val="C1FF72"/>
              </a:buClr>
              <a:buSzPts val="2400"/>
              <a:buChar char="•"/>
              <a:defRPr>
                <a:solidFill>
                  <a:srgbClr val="C1FF72"/>
                </a:solidFill>
              </a:defRPr>
            </a:lvl7pPr>
            <a:lvl8pPr marL="3657600" lvl="7" indent="-381000" rtl="0">
              <a:spcBef>
                <a:spcPts val="400"/>
              </a:spcBef>
              <a:spcAft>
                <a:spcPts val="0"/>
              </a:spcAft>
              <a:buClr>
                <a:srgbClr val="C1FF72"/>
              </a:buClr>
              <a:buSzPts val="2400"/>
              <a:buChar char="•"/>
              <a:defRPr>
                <a:solidFill>
                  <a:srgbClr val="C1FF72"/>
                </a:solidFill>
              </a:defRPr>
            </a:lvl8pPr>
            <a:lvl9pPr marL="4114800" lvl="8" indent="-381000" rtl="0">
              <a:spcBef>
                <a:spcPts val="400"/>
              </a:spcBef>
              <a:spcAft>
                <a:spcPts val="0"/>
              </a:spcAft>
              <a:buClr>
                <a:srgbClr val="C1FF72"/>
              </a:buClr>
              <a:buSzPts val="2400"/>
              <a:buChar char="•"/>
              <a:defRPr>
                <a:solidFill>
                  <a:srgbClr val="C1FF72"/>
                </a:solidFill>
              </a:defRPr>
            </a:lvl9pPr>
          </a:lstStyle>
          <a:p>
            <a:endParaRPr/>
          </a:p>
        </p:txBody>
      </p:sp>
      <p:sp>
        <p:nvSpPr>
          <p:cNvPr id="77" name="Google Shape;77;p9"/>
          <p:cNvSpPr txBox="1">
            <a:spLocks noGrp="1"/>
          </p:cNvSpPr>
          <p:nvPr>
            <p:ph type="subTitle" idx="13"/>
          </p:nvPr>
        </p:nvSpPr>
        <p:spPr>
          <a:xfrm>
            <a:off x="9362850" y="8883175"/>
            <a:ext cx="3066300" cy="447900"/>
          </a:xfrm>
          <a:prstGeom prst="rect">
            <a:avLst/>
          </a:prstGeom>
        </p:spPr>
        <p:txBody>
          <a:bodyPr spcFirstLastPara="1" wrap="square" lIns="91425" tIns="45700" rIns="91425" bIns="45700" anchor="t" anchorCtr="0">
            <a:normAutofit/>
          </a:bodyPr>
          <a:lstStyle>
            <a:lvl1pPr lvl="0" rtl="0">
              <a:spcBef>
                <a:spcPts val="640"/>
              </a:spcBef>
              <a:spcAft>
                <a:spcPts val="0"/>
              </a:spcAft>
              <a:buClr>
                <a:srgbClr val="D4D4D4"/>
              </a:buClr>
              <a:buSzPts val="2400"/>
              <a:buNone/>
              <a:defRPr b="1">
                <a:solidFill>
                  <a:srgbClr val="D4D4D4"/>
                </a:solidFill>
              </a:defRPr>
            </a:lvl1pPr>
            <a:lvl2pPr lvl="1" rtl="0">
              <a:spcBef>
                <a:spcPts val="560"/>
              </a:spcBef>
              <a:spcAft>
                <a:spcPts val="0"/>
              </a:spcAft>
              <a:buClr>
                <a:srgbClr val="D4D4D4"/>
              </a:buClr>
              <a:buSzPts val="2400"/>
              <a:buFont typeface="Oswald"/>
              <a:buNone/>
              <a:defRPr>
                <a:solidFill>
                  <a:srgbClr val="D4D4D4"/>
                </a:solidFill>
                <a:latin typeface="Oswald"/>
                <a:ea typeface="Oswald"/>
                <a:cs typeface="Oswald"/>
                <a:sym typeface="Oswald"/>
              </a:defRPr>
            </a:lvl2pPr>
            <a:lvl3pPr lvl="2" rtl="0">
              <a:spcBef>
                <a:spcPts val="480"/>
              </a:spcBef>
              <a:spcAft>
                <a:spcPts val="0"/>
              </a:spcAft>
              <a:buClr>
                <a:srgbClr val="D4D4D4"/>
              </a:buClr>
              <a:buSzPts val="2400"/>
              <a:buFont typeface="Oswald"/>
              <a:buNone/>
              <a:defRPr>
                <a:solidFill>
                  <a:srgbClr val="D4D4D4"/>
                </a:solidFill>
                <a:latin typeface="Oswald"/>
                <a:ea typeface="Oswald"/>
                <a:cs typeface="Oswald"/>
                <a:sym typeface="Oswald"/>
              </a:defRPr>
            </a:lvl3pPr>
            <a:lvl4pPr lvl="3"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4pPr>
            <a:lvl5pPr lvl="4"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5pPr>
            <a:lvl6pPr lvl="5"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6pPr>
            <a:lvl7pPr lvl="6"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7pPr>
            <a:lvl8pPr lvl="7"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8pPr>
            <a:lvl9pPr lvl="8"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9pPr>
          </a:lstStyle>
          <a:p>
            <a:endParaRPr/>
          </a:p>
        </p:txBody>
      </p:sp>
      <p:sp>
        <p:nvSpPr>
          <p:cNvPr id="78" name="Google Shape;78;p9"/>
          <p:cNvSpPr txBox="1">
            <a:spLocks noGrp="1"/>
          </p:cNvSpPr>
          <p:nvPr>
            <p:ph type="body" idx="14"/>
          </p:nvPr>
        </p:nvSpPr>
        <p:spPr>
          <a:xfrm>
            <a:off x="9362850" y="9318750"/>
            <a:ext cx="2952000" cy="5604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Clr>
                <a:srgbClr val="C1FF72"/>
              </a:buClr>
              <a:buSzPts val="2400"/>
              <a:buChar char="•"/>
              <a:defRPr>
                <a:solidFill>
                  <a:srgbClr val="C1FF72"/>
                </a:solidFill>
              </a:defRPr>
            </a:lvl1pPr>
            <a:lvl2pPr marL="914400" lvl="1" indent="-381000" rtl="0">
              <a:spcBef>
                <a:spcPts val="560"/>
              </a:spcBef>
              <a:spcAft>
                <a:spcPts val="0"/>
              </a:spcAft>
              <a:buClr>
                <a:srgbClr val="C1FF72"/>
              </a:buClr>
              <a:buSzPts val="2400"/>
              <a:buChar char="–"/>
              <a:defRPr>
                <a:solidFill>
                  <a:srgbClr val="C1FF72"/>
                </a:solidFill>
              </a:defRPr>
            </a:lvl2pPr>
            <a:lvl3pPr marL="1371600" lvl="2" indent="-381000" rtl="0">
              <a:spcBef>
                <a:spcPts val="480"/>
              </a:spcBef>
              <a:spcAft>
                <a:spcPts val="0"/>
              </a:spcAft>
              <a:buClr>
                <a:srgbClr val="C1FF72"/>
              </a:buClr>
              <a:buSzPts val="2400"/>
              <a:buChar char="•"/>
              <a:defRPr>
                <a:solidFill>
                  <a:srgbClr val="C1FF72"/>
                </a:solidFill>
              </a:defRPr>
            </a:lvl3pPr>
            <a:lvl4pPr marL="1828800" lvl="3" indent="-381000" rtl="0">
              <a:spcBef>
                <a:spcPts val="400"/>
              </a:spcBef>
              <a:spcAft>
                <a:spcPts val="0"/>
              </a:spcAft>
              <a:buClr>
                <a:srgbClr val="C1FF72"/>
              </a:buClr>
              <a:buSzPts val="2400"/>
              <a:buChar char="–"/>
              <a:defRPr>
                <a:solidFill>
                  <a:srgbClr val="C1FF72"/>
                </a:solidFill>
              </a:defRPr>
            </a:lvl4pPr>
            <a:lvl5pPr marL="2286000" lvl="4" indent="-381000" rtl="0">
              <a:spcBef>
                <a:spcPts val="400"/>
              </a:spcBef>
              <a:spcAft>
                <a:spcPts val="0"/>
              </a:spcAft>
              <a:buClr>
                <a:srgbClr val="C1FF72"/>
              </a:buClr>
              <a:buSzPts val="2400"/>
              <a:buChar char="»"/>
              <a:defRPr>
                <a:solidFill>
                  <a:srgbClr val="C1FF72"/>
                </a:solidFill>
              </a:defRPr>
            </a:lvl5pPr>
            <a:lvl6pPr marL="2743200" lvl="5" indent="-381000" rtl="0">
              <a:spcBef>
                <a:spcPts val="400"/>
              </a:spcBef>
              <a:spcAft>
                <a:spcPts val="0"/>
              </a:spcAft>
              <a:buClr>
                <a:srgbClr val="C1FF72"/>
              </a:buClr>
              <a:buSzPts val="2400"/>
              <a:buChar char="•"/>
              <a:defRPr>
                <a:solidFill>
                  <a:srgbClr val="C1FF72"/>
                </a:solidFill>
              </a:defRPr>
            </a:lvl6pPr>
            <a:lvl7pPr marL="3200400" lvl="6" indent="-381000" rtl="0">
              <a:spcBef>
                <a:spcPts val="400"/>
              </a:spcBef>
              <a:spcAft>
                <a:spcPts val="0"/>
              </a:spcAft>
              <a:buClr>
                <a:srgbClr val="C1FF72"/>
              </a:buClr>
              <a:buSzPts val="2400"/>
              <a:buChar char="•"/>
              <a:defRPr>
                <a:solidFill>
                  <a:srgbClr val="C1FF72"/>
                </a:solidFill>
              </a:defRPr>
            </a:lvl7pPr>
            <a:lvl8pPr marL="3657600" lvl="7" indent="-381000" rtl="0">
              <a:spcBef>
                <a:spcPts val="400"/>
              </a:spcBef>
              <a:spcAft>
                <a:spcPts val="0"/>
              </a:spcAft>
              <a:buClr>
                <a:srgbClr val="C1FF72"/>
              </a:buClr>
              <a:buSzPts val="2400"/>
              <a:buChar char="•"/>
              <a:defRPr>
                <a:solidFill>
                  <a:srgbClr val="C1FF72"/>
                </a:solidFill>
              </a:defRPr>
            </a:lvl8pPr>
            <a:lvl9pPr marL="4114800" lvl="8" indent="-381000" rtl="0">
              <a:spcBef>
                <a:spcPts val="400"/>
              </a:spcBef>
              <a:spcAft>
                <a:spcPts val="0"/>
              </a:spcAft>
              <a:buClr>
                <a:srgbClr val="C1FF72"/>
              </a:buClr>
              <a:buSzPts val="2400"/>
              <a:buChar char="•"/>
              <a:defRPr>
                <a:solidFill>
                  <a:srgbClr val="C1FF72"/>
                </a:solidFill>
              </a:defRPr>
            </a:lvl9pPr>
          </a:lstStyle>
          <a:p>
            <a:endParaRPr/>
          </a:p>
        </p:txBody>
      </p:sp>
      <p:sp>
        <p:nvSpPr>
          <p:cNvPr id="79" name="Google Shape;79;p9"/>
          <p:cNvSpPr txBox="1">
            <a:spLocks noGrp="1"/>
          </p:cNvSpPr>
          <p:nvPr>
            <p:ph type="subTitle" idx="15"/>
          </p:nvPr>
        </p:nvSpPr>
        <p:spPr>
          <a:xfrm>
            <a:off x="13880475" y="8883175"/>
            <a:ext cx="3066300" cy="447900"/>
          </a:xfrm>
          <a:prstGeom prst="rect">
            <a:avLst/>
          </a:prstGeom>
        </p:spPr>
        <p:txBody>
          <a:bodyPr spcFirstLastPara="1" wrap="square" lIns="91425" tIns="45700" rIns="91425" bIns="45700" anchor="t" anchorCtr="0">
            <a:normAutofit/>
          </a:bodyPr>
          <a:lstStyle>
            <a:lvl1pPr lvl="0" rtl="0">
              <a:spcBef>
                <a:spcPts val="640"/>
              </a:spcBef>
              <a:spcAft>
                <a:spcPts val="0"/>
              </a:spcAft>
              <a:buClr>
                <a:srgbClr val="D4D4D4"/>
              </a:buClr>
              <a:buSzPts val="2400"/>
              <a:buNone/>
              <a:defRPr b="1">
                <a:solidFill>
                  <a:srgbClr val="D4D4D4"/>
                </a:solidFill>
              </a:defRPr>
            </a:lvl1pPr>
            <a:lvl2pPr lvl="1" rtl="0">
              <a:spcBef>
                <a:spcPts val="560"/>
              </a:spcBef>
              <a:spcAft>
                <a:spcPts val="0"/>
              </a:spcAft>
              <a:buClr>
                <a:srgbClr val="D4D4D4"/>
              </a:buClr>
              <a:buSzPts val="2400"/>
              <a:buFont typeface="Oswald"/>
              <a:buNone/>
              <a:defRPr>
                <a:solidFill>
                  <a:srgbClr val="D4D4D4"/>
                </a:solidFill>
                <a:latin typeface="Oswald"/>
                <a:ea typeface="Oswald"/>
                <a:cs typeface="Oswald"/>
                <a:sym typeface="Oswald"/>
              </a:defRPr>
            </a:lvl2pPr>
            <a:lvl3pPr lvl="2" rtl="0">
              <a:spcBef>
                <a:spcPts val="480"/>
              </a:spcBef>
              <a:spcAft>
                <a:spcPts val="0"/>
              </a:spcAft>
              <a:buClr>
                <a:srgbClr val="D4D4D4"/>
              </a:buClr>
              <a:buSzPts val="2400"/>
              <a:buFont typeface="Oswald"/>
              <a:buNone/>
              <a:defRPr>
                <a:solidFill>
                  <a:srgbClr val="D4D4D4"/>
                </a:solidFill>
                <a:latin typeface="Oswald"/>
                <a:ea typeface="Oswald"/>
                <a:cs typeface="Oswald"/>
                <a:sym typeface="Oswald"/>
              </a:defRPr>
            </a:lvl3pPr>
            <a:lvl4pPr lvl="3"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4pPr>
            <a:lvl5pPr lvl="4"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5pPr>
            <a:lvl6pPr lvl="5"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6pPr>
            <a:lvl7pPr lvl="6"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7pPr>
            <a:lvl8pPr lvl="7"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8pPr>
            <a:lvl9pPr lvl="8" rtl="0">
              <a:spcBef>
                <a:spcPts val="400"/>
              </a:spcBef>
              <a:spcAft>
                <a:spcPts val="0"/>
              </a:spcAft>
              <a:buClr>
                <a:srgbClr val="D4D4D4"/>
              </a:buClr>
              <a:buSzPts val="2400"/>
              <a:buFont typeface="Oswald"/>
              <a:buNone/>
              <a:defRPr>
                <a:solidFill>
                  <a:srgbClr val="D4D4D4"/>
                </a:solidFill>
                <a:latin typeface="Oswald"/>
                <a:ea typeface="Oswald"/>
                <a:cs typeface="Oswald"/>
                <a:sym typeface="Oswald"/>
              </a:defRPr>
            </a:lvl9pPr>
          </a:lstStyle>
          <a:p>
            <a:endParaRPr/>
          </a:p>
        </p:txBody>
      </p:sp>
      <p:sp>
        <p:nvSpPr>
          <p:cNvPr id="80" name="Google Shape;80;p9"/>
          <p:cNvSpPr txBox="1">
            <a:spLocks noGrp="1"/>
          </p:cNvSpPr>
          <p:nvPr>
            <p:ph type="body" idx="16"/>
          </p:nvPr>
        </p:nvSpPr>
        <p:spPr>
          <a:xfrm>
            <a:off x="13880475" y="9318750"/>
            <a:ext cx="2952000" cy="5604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Clr>
                <a:srgbClr val="C1FF72"/>
              </a:buClr>
              <a:buSzPts val="2400"/>
              <a:buChar char="•"/>
              <a:defRPr>
                <a:solidFill>
                  <a:srgbClr val="C1FF72"/>
                </a:solidFill>
              </a:defRPr>
            </a:lvl1pPr>
            <a:lvl2pPr marL="914400" lvl="1" indent="-381000" rtl="0">
              <a:spcBef>
                <a:spcPts val="560"/>
              </a:spcBef>
              <a:spcAft>
                <a:spcPts val="0"/>
              </a:spcAft>
              <a:buClr>
                <a:srgbClr val="C1FF72"/>
              </a:buClr>
              <a:buSzPts val="2400"/>
              <a:buChar char="–"/>
              <a:defRPr>
                <a:solidFill>
                  <a:srgbClr val="C1FF72"/>
                </a:solidFill>
              </a:defRPr>
            </a:lvl2pPr>
            <a:lvl3pPr marL="1371600" lvl="2" indent="-381000" rtl="0">
              <a:spcBef>
                <a:spcPts val="480"/>
              </a:spcBef>
              <a:spcAft>
                <a:spcPts val="0"/>
              </a:spcAft>
              <a:buClr>
                <a:srgbClr val="C1FF72"/>
              </a:buClr>
              <a:buSzPts val="2400"/>
              <a:buChar char="•"/>
              <a:defRPr>
                <a:solidFill>
                  <a:srgbClr val="C1FF72"/>
                </a:solidFill>
              </a:defRPr>
            </a:lvl3pPr>
            <a:lvl4pPr marL="1828800" lvl="3" indent="-381000" rtl="0">
              <a:spcBef>
                <a:spcPts val="400"/>
              </a:spcBef>
              <a:spcAft>
                <a:spcPts val="0"/>
              </a:spcAft>
              <a:buClr>
                <a:srgbClr val="C1FF72"/>
              </a:buClr>
              <a:buSzPts val="2400"/>
              <a:buChar char="–"/>
              <a:defRPr>
                <a:solidFill>
                  <a:srgbClr val="C1FF72"/>
                </a:solidFill>
              </a:defRPr>
            </a:lvl4pPr>
            <a:lvl5pPr marL="2286000" lvl="4" indent="-381000" rtl="0">
              <a:spcBef>
                <a:spcPts val="400"/>
              </a:spcBef>
              <a:spcAft>
                <a:spcPts val="0"/>
              </a:spcAft>
              <a:buClr>
                <a:srgbClr val="C1FF72"/>
              </a:buClr>
              <a:buSzPts val="2400"/>
              <a:buChar char="»"/>
              <a:defRPr>
                <a:solidFill>
                  <a:srgbClr val="C1FF72"/>
                </a:solidFill>
              </a:defRPr>
            </a:lvl5pPr>
            <a:lvl6pPr marL="2743200" lvl="5" indent="-381000" rtl="0">
              <a:spcBef>
                <a:spcPts val="400"/>
              </a:spcBef>
              <a:spcAft>
                <a:spcPts val="0"/>
              </a:spcAft>
              <a:buClr>
                <a:srgbClr val="C1FF72"/>
              </a:buClr>
              <a:buSzPts val="2400"/>
              <a:buChar char="•"/>
              <a:defRPr>
                <a:solidFill>
                  <a:srgbClr val="C1FF72"/>
                </a:solidFill>
              </a:defRPr>
            </a:lvl6pPr>
            <a:lvl7pPr marL="3200400" lvl="6" indent="-381000" rtl="0">
              <a:spcBef>
                <a:spcPts val="400"/>
              </a:spcBef>
              <a:spcAft>
                <a:spcPts val="0"/>
              </a:spcAft>
              <a:buClr>
                <a:srgbClr val="C1FF72"/>
              </a:buClr>
              <a:buSzPts val="2400"/>
              <a:buChar char="•"/>
              <a:defRPr>
                <a:solidFill>
                  <a:srgbClr val="C1FF72"/>
                </a:solidFill>
              </a:defRPr>
            </a:lvl7pPr>
            <a:lvl8pPr marL="3657600" lvl="7" indent="-381000" rtl="0">
              <a:spcBef>
                <a:spcPts val="400"/>
              </a:spcBef>
              <a:spcAft>
                <a:spcPts val="0"/>
              </a:spcAft>
              <a:buClr>
                <a:srgbClr val="C1FF72"/>
              </a:buClr>
              <a:buSzPts val="2400"/>
              <a:buChar char="•"/>
              <a:defRPr>
                <a:solidFill>
                  <a:srgbClr val="C1FF72"/>
                </a:solidFill>
              </a:defRPr>
            </a:lvl8pPr>
            <a:lvl9pPr marL="4114800" lvl="8" indent="-381000" rtl="0">
              <a:spcBef>
                <a:spcPts val="400"/>
              </a:spcBef>
              <a:spcAft>
                <a:spcPts val="0"/>
              </a:spcAft>
              <a:buClr>
                <a:srgbClr val="C1FF72"/>
              </a:buClr>
              <a:buSzPts val="2400"/>
              <a:buChar char="•"/>
              <a:defRPr>
                <a:solidFill>
                  <a:srgbClr val="C1FF72"/>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ustom Layout 8">
  <p:cSld name="CUSTOM_7">
    <p:spTree>
      <p:nvGrpSpPr>
        <p:cNvPr id="1" name="Shape 81"/>
        <p:cNvGrpSpPr/>
        <p:nvPr/>
      </p:nvGrpSpPr>
      <p:grpSpPr>
        <a:xfrm>
          <a:off x="0" y="0"/>
          <a:ext cx="0" cy="0"/>
          <a:chOff x="0" y="0"/>
          <a:chExt cx="0" cy="0"/>
        </a:xfrm>
      </p:grpSpPr>
      <p:pic>
        <p:nvPicPr>
          <p:cNvPr id="82" name="Google Shape;82;p10"/>
          <p:cNvPicPr preferRelativeResize="0"/>
          <p:nvPr/>
        </p:nvPicPr>
        <p:blipFill rotWithShape="1">
          <a:blip r:embed="rId2">
            <a:alphaModFix/>
          </a:blip>
          <a:srcRect l="7052" t="19676" r="12626" b="1520"/>
          <a:stretch/>
        </p:blipFill>
        <p:spPr>
          <a:xfrm>
            <a:off x="10075775" y="0"/>
            <a:ext cx="4913125" cy="10287000"/>
          </a:xfrm>
          <a:prstGeom prst="rect">
            <a:avLst/>
          </a:prstGeom>
          <a:noFill/>
          <a:ln>
            <a:noFill/>
          </a:ln>
        </p:spPr>
      </p:pic>
      <p:sp>
        <p:nvSpPr>
          <p:cNvPr id="83" name="Google Shape;83;p10"/>
          <p:cNvSpPr>
            <a:spLocks noGrp="1"/>
          </p:cNvSpPr>
          <p:nvPr>
            <p:ph type="pic" idx="2"/>
          </p:nvPr>
        </p:nvSpPr>
        <p:spPr>
          <a:xfrm>
            <a:off x="11997225" y="75"/>
            <a:ext cx="6290700" cy="10287000"/>
          </a:xfrm>
          <a:prstGeom prst="rect">
            <a:avLst/>
          </a:prstGeom>
          <a:noFill/>
          <a:ln>
            <a:noFill/>
          </a:ln>
        </p:spPr>
      </p:sp>
      <p:sp>
        <p:nvSpPr>
          <p:cNvPr id="84" name="Google Shape;84;p10"/>
          <p:cNvSpPr txBox="1">
            <a:spLocks noGrp="1"/>
          </p:cNvSpPr>
          <p:nvPr>
            <p:ph type="title"/>
          </p:nvPr>
        </p:nvSpPr>
        <p:spPr>
          <a:xfrm>
            <a:off x="1374125" y="671900"/>
            <a:ext cx="9249000" cy="1719900"/>
          </a:xfrm>
          <a:prstGeom prst="rect">
            <a:avLst/>
          </a:prstGeom>
        </p:spPr>
        <p:txBody>
          <a:bodyPr spcFirstLastPara="1" wrap="square" lIns="91425" tIns="45700" rIns="91425" bIns="45700" anchor="t" anchorCtr="0">
            <a:normAutofit/>
          </a:bodyPr>
          <a:lstStyle>
            <a:lvl1pPr lvl="0" algn="ctr" rtl="0">
              <a:spcBef>
                <a:spcPts val="0"/>
              </a:spcBef>
              <a:spcAft>
                <a:spcPts val="0"/>
              </a:spcAft>
              <a:buClr>
                <a:srgbClr val="D4D4D4"/>
              </a:buClr>
              <a:buSzPts val="10350"/>
              <a:buNone/>
              <a:defRPr sz="10350" b="1">
                <a:solidFill>
                  <a:srgbClr val="D4D4D4"/>
                </a:solidFill>
              </a:defRPr>
            </a:lvl1pPr>
            <a:lvl2pPr lvl="1" rtl="0">
              <a:spcBef>
                <a:spcPts val="0"/>
              </a:spcBef>
              <a:spcAft>
                <a:spcPts val="0"/>
              </a:spcAft>
              <a:buSzPts val="10000"/>
              <a:buNone/>
              <a:defRPr/>
            </a:lvl2pPr>
            <a:lvl3pPr lvl="2" rtl="0">
              <a:spcBef>
                <a:spcPts val="0"/>
              </a:spcBef>
              <a:spcAft>
                <a:spcPts val="0"/>
              </a:spcAft>
              <a:buSzPts val="10000"/>
              <a:buNone/>
              <a:defRPr/>
            </a:lvl3pPr>
            <a:lvl4pPr lvl="3" rtl="0">
              <a:spcBef>
                <a:spcPts val="0"/>
              </a:spcBef>
              <a:spcAft>
                <a:spcPts val="0"/>
              </a:spcAft>
              <a:buSzPts val="10000"/>
              <a:buNone/>
              <a:defRPr/>
            </a:lvl4pPr>
            <a:lvl5pPr lvl="4" rtl="0">
              <a:spcBef>
                <a:spcPts val="0"/>
              </a:spcBef>
              <a:spcAft>
                <a:spcPts val="0"/>
              </a:spcAft>
              <a:buSzPts val="10000"/>
              <a:buNone/>
              <a:defRPr/>
            </a:lvl5pPr>
            <a:lvl6pPr lvl="5" rtl="0">
              <a:spcBef>
                <a:spcPts val="0"/>
              </a:spcBef>
              <a:spcAft>
                <a:spcPts val="0"/>
              </a:spcAft>
              <a:buSzPts val="10000"/>
              <a:buNone/>
              <a:defRPr/>
            </a:lvl6pPr>
            <a:lvl7pPr lvl="6" rtl="0">
              <a:spcBef>
                <a:spcPts val="0"/>
              </a:spcBef>
              <a:spcAft>
                <a:spcPts val="0"/>
              </a:spcAft>
              <a:buSzPts val="10000"/>
              <a:buNone/>
              <a:defRPr/>
            </a:lvl7pPr>
            <a:lvl8pPr lvl="7" rtl="0">
              <a:spcBef>
                <a:spcPts val="0"/>
              </a:spcBef>
              <a:spcAft>
                <a:spcPts val="0"/>
              </a:spcAft>
              <a:buSzPts val="10000"/>
              <a:buNone/>
              <a:defRPr/>
            </a:lvl8pPr>
            <a:lvl9pPr lvl="8" rtl="0">
              <a:spcBef>
                <a:spcPts val="0"/>
              </a:spcBef>
              <a:spcAft>
                <a:spcPts val="0"/>
              </a:spcAft>
              <a:buSzPts val="10000"/>
              <a:buNone/>
              <a:defRPr/>
            </a:lvl9pPr>
          </a:lstStyle>
          <a:p>
            <a:endParaRPr/>
          </a:p>
        </p:txBody>
      </p:sp>
      <p:sp>
        <p:nvSpPr>
          <p:cNvPr id="85" name="Google Shape;85;p10"/>
          <p:cNvSpPr/>
          <p:nvPr/>
        </p:nvSpPr>
        <p:spPr>
          <a:xfrm>
            <a:off x="1214087" y="3917032"/>
            <a:ext cx="3726458" cy="3721800"/>
          </a:xfrm>
          <a:custGeom>
            <a:avLst/>
            <a:gdLst/>
            <a:ahLst/>
            <a:cxnLst/>
            <a:rect l="l" t="t" r="r" b="b"/>
            <a:pathLst>
              <a:path w="3726458" h="3721800" extrusionOk="0">
                <a:moveTo>
                  <a:pt x="0" y="0"/>
                </a:moveTo>
                <a:lnTo>
                  <a:pt x="3726458" y="0"/>
                </a:lnTo>
                <a:lnTo>
                  <a:pt x="3726458" y="3721799"/>
                </a:lnTo>
                <a:lnTo>
                  <a:pt x="0" y="3721799"/>
                </a:lnTo>
                <a:lnTo>
                  <a:pt x="0" y="0"/>
                </a:lnTo>
                <a:close/>
              </a:path>
            </a:pathLst>
          </a:custGeom>
          <a:blipFill rotWithShape="1">
            <a:blip r:embed="rId3">
              <a:alphaModFix/>
            </a:blip>
            <a:stretch>
              <a:fillRect/>
            </a:stretch>
          </a:blipFill>
          <a:ln>
            <a:noFill/>
          </a:ln>
        </p:spPr>
      </p:sp>
      <p:sp>
        <p:nvSpPr>
          <p:cNvPr id="86" name="Google Shape;86;p10"/>
          <p:cNvSpPr/>
          <p:nvPr/>
        </p:nvSpPr>
        <p:spPr>
          <a:xfrm>
            <a:off x="7056679" y="3917032"/>
            <a:ext cx="3726458" cy="3721800"/>
          </a:xfrm>
          <a:custGeom>
            <a:avLst/>
            <a:gdLst/>
            <a:ahLst/>
            <a:cxnLst/>
            <a:rect l="l" t="t" r="r" b="b"/>
            <a:pathLst>
              <a:path w="3726458" h="3721800" extrusionOk="0">
                <a:moveTo>
                  <a:pt x="0" y="0"/>
                </a:moveTo>
                <a:lnTo>
                  <a:pt x="3726458" y="0"/>
                </a:lnTo>
                <a:lnTo>
                  <a:pt x="3726458" y="3721799"/>
                </a:lnTo>
                <a:lnTo>
                  <a:pt x="0" y="3721799"/>
                </a:lnTo>
                <a:lnTo>
                  <a:pt x="0" y="0"/>
                </a:lnTo>
                <a:close/>
              </a:path>
            </a:pathLst>
          </a:custGeom>
          <a:blipFill rotWithShape="1">
            <a:blip r:embed="rId3">
              <a:alphaModFix/>
            </a:blip>
            <a:stretch>
              <a:fillRect/>
            </a:stretch>
          </a:blipFill>
          <a:ln>
            <a:noFill/>
          </a:ln>
        </p:spPr>
      </p:sp>
      <p:sp>
        <p:nvSpPr>
          <p:cNvPr id="87" name="Google Shape;87;p10"/>
          <p:cNvSpPr txBox="1">
            <a:spLocks noGrp="1"/>
          </p:cNvSpPr>
          <p:nvPr>
            <p:ph type="subTitle" idx="1"/>
          </p:nvPr>
        </p:nvSpPr>
        <p:spPr>
          <a:xfrm>
            <a:off x="1544163" y="3192900"/>
            <a:ext cx="3066300" cy="447900"/>
          </a:xfrm>
          <a:prstGeom prst="rect">
            <a:avLst/>
          </a:prstGeom>
        </p:spPr>
        <p:txBody>
          <a:bodyPr spcFirstLastPara="1" wrap="square" lIns="91425" tIns="45700" rIns="91425" bIns="45700" anchor="t" anchorCtr="0">
            <a:normAutofit/>
          </a:bodyPr>
          <a:lstStyle>
            <a:lvl1pPr lvl="0" algn="ctr" rtl="0">
              <a:spcBef>
                <a:spcPts val="640"/>
              </a:spcBef>
              <a:spcAft>
                <a:spcPts val="0"/>
              </a:spcAft>
              <a:buClr>
                <a:srgbClr val="C1FF72"/>
              </a:buClr>
              <a:buSzPts val="2400"/>
              <a:buNone/>
              <a:defRPr b="1">
                <a:solidFill>
                  <a:srgbClr val="C1FF72"/>
                </a:solidFill>
              </a:defRPr>
            </a:lvl1pPr>
            <a:lvl2pPr lvl="1" algn="ctr" rtl="0">
              <a:spcBef>
                <a:spcPts val="560"/>
              </a:spcBef>
              <a:spcAft>
                <a:spcPts val="0"/>
              </a:spcAft>
              <a:buClr>
                <a:srgbClr val="C1FF72"/>
              </a:buClr>
              <a:buSzPts val="2400"/>
              <a:buFont typeface="Oswald"/>
              <a:buNone/>
              <a:defRPr>
                <a:solidFill>
                  <a:srgbClr val="C1FF72"/>
                </a:solidFill>
                <a:latin typeface="Oswald"/>
                <a:ea typeface="Oswald"/>
                <a:cs typeface="Oswald"/>
                <a:sym typeface="Oswald"/>
              </a:defRPr>
            </a:lvl2pPr>
            <a:lvl3pPr lvl="2" algn="ctr" rtl="0">
              <a:spcBef>
                <a:spcPts val="480"/>
              </a:spcBef>
              <a:spcAft>
                <a:spcPts val="0"/>
              </a:spcAft>
              <a:buClr>
                <a:srgbClr val="C1FF72"/>
              </a:buClr>
              <a:buSzPts val="2400"/>
              <a:buFont typeface="Oswald"/>
              <a:buNone/>
              <a:defRPr>
                <a:solidFill>
                  <a:srgbClr val="C1FF72"/>
                </a:solidFill>
                <a:latin typeface="Oswald"/>
                <a:ea typeface="Oswald"/>
                <a:cs typeface="Oswald"/>
                <a:sym typeface="Oswald"/>
              </a:defRPr>
            </a:lvl3pPr>
            <a:lvl4pPr lvl="3" algn="ctr" rtl="0">
              <a:spcBef>
                <a:spcPts val="400"/>
              </a:spcBef>
              <a:spcAft>
                <a:spcPts val="0"/>
              </a:spcAft>
              <a:buClr>
                <a:srgbClr val="C1FF72"/>
              </a:buClr>
              <a:buSzPts val="2400"/>
              <a:buFont typeface="Oswald"/>
              <a:buNone/>
              <a:defRPr>
                <a:solidFill>
                  <a:srgbClr val="C1FF72"/>
                </a:solidFill>
                <a:latin typeface="Oswald"/>
                <a:ea typeface="Oswald"/>
                <a:cs typeface="Oswald"/>
                <a:sym typeface="Oswald"/>
              </a:defRPr>
            </a:lvl4pPr>
            <a:lvl5pPr lvl="4" algn="ctr" rtl="0">
              <a:spcBef>
                <a:spcPts val="400"/>
              </a:spcBef>
              <a:spcAft>
                <a:spcPts val="0"/>
              </a:spcAft>
              <a:buClr>
                <a:srgbClr val="C1FF72"/>
              </a:buClr>
              <a:buSzPts val="2400"/>
              <a:buFont typeface="Oswald"/>
              <a:buNone/>
              <a:defRPr>
                <a:solidFill>
                  <a:srgbClr val="C1FF72"/>
                </a:solidFill>
                <a:latin typeface="Oswald"/>
                <a:ea typeface="Oswald"/>
                <a:cs typeface="Oswald"/>
                <a:sym typeface="Oswald"/>
              </a:defRPr>
            </a:lvl5pPr>
            <a:lvl6pPr lvl="5" algn="ctr" rtl="0">
              <a:spcBef>
                <a:spcPts val="400"/>
              </a:spcBef>
              <a:spcAft>
                <a:spcPts val="0"/>
              </a:spcAft>
              <a:buClr>
                <a:srgbClr val="C1FF72"/>
              </a:buClr>
              <a:buSzPts val="2400"/>
              <a:buFont typeface="Oswald"/>
              <a:buNone/>
              <a:defRPr>
                <a:solidFill>
                  <a:srgbClr val="C1FF72"/>
                </a:solidFill>
                <a:latin typeface="Oswald"/>
                <a:ea typeface="Oswald"/>
                <a:cs typeface="Oswald"/>
                <a:sym typeface="Oswald"/>
              </a:defRPr>
            </a:lvl6pPr>
            <a:lvl7pPr lvl="6" algn="ctr" rtl="0">
              <a:spcBef>
                <a:spcPts val="400"/>
              </a:spcBef>
              <a:spcAft>
                <a:spcPts val="0"/>
              </a:spcAft>
              <a:buClr>
                <a:srgbClr val="C1FF72"/>
              </a:buClr>
              <a:buSzPts val="2400"/>
              <a:buFont typeface="Oswald"/>
              <a:buNone/>
              <a:defRPr>
                <a:solidFill>
                  <a:srgbClr val="C1FF72"/>
                </a:solidFill>
                <a:latin typeface="Oswald"/>
                <a:ea typeface="Oswald"/>
                <a:cs typeface="Oswald"/>
                <a:sym typeface="Oswald"/>
              </a:defRPr>
            </a:lvl7pPr>
            <a:lvl8pPr lvl="7" algn="ctr" rtl="0">
              <a:spcBef>
                <a:spcPts val="400"/>
              </a:spcBef>
              <a:spcAft>
                <a:spcPts val="0"/>
              </a:spcAft>
              <a:buClr>
                <a:srgbClr val="C1FF72"/>
              </a:buClr>
              <a:buSzPts val="2400"/>
              <a:buFont typeface="Oswald"/>
              <a:buNone/>
              <a:defRPr>
                <a:solidFill>
                  <a:srgbClr val="C1FF72"/>
                </a:solidFill>
                <a:latin typeface="Oswald"/>
                <a:ea typeface="Oswald"/>
                <a:cs typeface="Oswald"/>
                <a:sym typeface="Oswald"/>
              </a:defRPr>
            </a:lvl8pPr>
            <a:lvl9pPr lvl="8" algn="ctr" rtl="0">
              <a:spcBef>
                <a:spcPts val="400"/>
              </a:spcBef>
              <a:spcAft>
                <a:spcPts val="0"/>
              </a:spcAft>
              <a:buClr>
                <a:srgbClr val="C1FF72"/>
              </a:buClr>
              <a:buSzPts val="2400"/>
              <a:buFont typeface="Oswald"/>
              <a:buNone/>
              <a:defRPr>
                <a:solidFill>
                  <a:srgbClr val="C1FF72"/>
                </a:solidFill>
                <a:latin typeface="Oswald"/>
                <a:ea typeface="Oswald"/>
                <a:cs typeface="Oswald"/>
                <a:sym typeface="Oswald"/>
              </a:defRPr>
            </a:lvl9pPr>
          </a:lstStyle>
          <a:p>
            <a:endParaRPr/>
          </a:p>
        </p:txBody>
      </p:sp>
      <p:sp>
        <p:nvSpPr>
          <p:cNvPr id="88" name="Google Shape;88;p10"/>
          <p:cNvSpPr txBox="1">
            <a:spLocks noGrp="1"/>
          </p:cNvSpPr>
          <p:nvPr>
            <p:ph type="subTitle" idx="3"/>
          </p:nvPr>
        </p:nvSpPr>
        <p:spPr>
          <a:xfrm>
            <a:off x="7386738" y="3192900"/>
            <a:ext cx="3066300" cy="447900"/>
          </a:xfrm>
          <a:prstGeom prst="rect">
            <a:avLst/>
          </a:prstGeom>
        </p:spPr>
        <p:txBody>
          <a:bodyPr spcFirstLastPara="1" wrap="square" lIns="91425" tIns="45700" rIns="91425" bIns="45700" anchor="t" anchorCtr="0">
            <a:normAutofit/>
          </a:bodyPr>
          <a:lstStyle>
            <a:lvl1pPr lvl="0" algn="ctr" rtl="0">
              <a:spcBef>
                <a:spcPts val="640"/>
              </a:spcBef>
              <a:spcAft>
                <a:spcPts val="0"/>
              </a:spcAft>
              <a:buClr>
                <a:srgbClr val="C1FF72"/>
              </a:buClr>
              <a:buSzPts val="2400"/>
              <a:buNone/>
              <a:defRPr b="1">
                <a:solidFill>
                  <a:srgbClr val="C1FF72"/>
                </a:solidFill>
              </a:defRPr>
            </a:lvl1pPr>
            <a:lvl2pPr lvl="1" algn="ctr" rtl="0">
              <a:spcBef>
                <a:spcPts val="560"/>
              </a:spcBef>
              <a:spcAft>
                <a:spcPts val="0"/>
              </a:spcAft>
              <a:buClr>
                <a:srgbClr val="C1FF72"/>
              </a:buClr>
              <a:buSzPts val="2400"/>
              <a:buFont typeface="Oswald"/>
              <a:buNone/>
              <a:defRPr>
                <a:solidFill>
                  <a:srgbClr val="C1FF72"/>
                </a:solidFill>
                <a:latin typeface="Oswald"/>
                <a:ea typeface="Oswald"/>
                <a:cs typeface="Oswald"/>
                <a:sym typeface="Oswald"/>
              </a:defRPr>
            </a:lvl2pPr>
            <a:lvl3pPr lvl="2" algn="ctr" rtl="0">
              <a:spcBef>
                <a:spcPts val="480"/>
              </a:spcBef>
              <a:spcAft>
                <a:spcPts val="0"/>
              </a:spcAft>
              <a:buClr>
                <a:srgbClr val="C1FF72"/>
              </a:buClr>
              <a:buSzPts val="2400"/>
              <a:buFont typeface="Oswald"/>
              <a:buNone/>
              <a:defRPr>
                <a:solidFill>
                  <a:srgbClr val="C1FF72"/>
                </a:solidFill>
                <a:latin typeface="Oswald"/>
                <a:ea typeface="Oswald"/>
                <a:cs typeface="Oswald"/>
                <a:sym typeface="Oswald"/>
              </a:defRPr>
            </a:lvl3pPr>
            <a:lvl4pPr lvl="3" algn="ctr" rtl="0">
              <a:spcBef>
                <a:spcPts val="400"/>
              </a:spcBef>
              <a:spcAft>
                <a:spcPts val="0"/>
              </a:spcAft>
              <a:buClr>
                <a:srgbClr val="C1FF72"/>
              </a:buClr>
              <a:buSzPts val="2400"/>
              <a:buFont typeface="Oswald"/>
              <a:buNone/>
              <a:defRPr>
                <a:solidFill>
                  <a:srgbClr val="C1FF72"/>
                </a:solidFill>
                <a:latin typeface="Oswald"/>
                <a:ea typeface="Oswald"/>
                <a:cs typeface="Oswald"/>
                <a:sym typeface="Oswald"/>
              </a:defRPr>
            </a:lvl4pPr>
            <a:lvl5pPr lvl="4" algn="ctr" rtl="0">
              <a:spcBef>
                <a:spcPts val="400"/>
              </a:spcBef>
              <a:spcAft>
                <a:spcPts val="0"/>
              </a:spcAft>
              <a:buClr>
                <a:srgbClr val="C1FF72"/>
              </a:buClr>
              <a:buSzPts val="2400"/>
              <a:buFont typeface="Oswald"/>
              <a:buNone/>
              <a:defRPr>
                <a:solidFill>
                  <a:srgbClr val="C1FF72"/>
                </a:solidFill>
                <a:latin typeface="Oswald"/>
                <a:ea typeface="Oswald"/>
                <a:cs typeface="Oswald"/>
                <a:sym typeface="Oswald"/>
              </a:defRPr>
            </a:lvl5pPr>
            <a:lvl6pPr lvl="5" algn="ctr" rtl="0">
              <a:spcBef>
                <a:spcPts val="400"/>
              </a:spcBef>
              <a:spcAft>
                <a:spcPts val="0"/>
              </a:spcAft>
              <a:buClr>
                <a:srgbClr val="C1FF72"/>
              </a:buClr>
              <a:buSzPts val="2400"/>
              <a:buFont typeface="Oswald"/>
              <a:buNone/>
              <a:defRPr>
                <a:solidFill>
                  <a:srgbClr val="C1FF72"/>
                </a:solidFill>
                <a:latin typeface="Oswald"/>
                <a:ea typeface="Oswald"/>
                <a:cs typeface="Oswald"/>
                <a:sym typeface="Oswald"/>
              </a:defRPr>
            </a:lvl6pPr>
            <a:lvl7pPr lvl="6" algn="ctr" rtl="0">
              <a:spcBef>
                <a:spcPts val="400"/>
              </a:spcBef>
              <a:spcAft>
                <a:spcPts val="0"/>
              </a:spcAft>
              <a:buClr>
                <a:srgbClr val="C1FF72"/>
              </a:buClr>
              <a:buSzPts val="2400"/>
              <a:buFont typeface="Oswald"/>
              <a:buNone/>
              <a:defRPr>
                <a:solidFill>
                  <a:srgbClr val="C1FF72"/>
                </a:solidFill>
                <a:latin typeface="Oswald"/>
                <a:ea typeface="Oswald"/>
                <a:cs typeface="Oswald"/>
                <a:sym typeface="Oswald"/>
              </a:defRPr>
            </a:lvl7pPr>
            <a:lvl8pPr lvl="7" algn="ctr" rtl="0">
              <a:spcBef>
                <a:spcPts val="400"/>
              </a:spcBef>
              <a:spcAft>
                <a:spcPts val="0"/>
              </a:spcAft>
              <a:buClr>
                <a:srgbClr val="C1FF72"/>
              </a:buClr>
              <a:buSzPts val="2400"/>
              <a:buFont typeface="Oswald"/>
              <a:buNone/>
              <a:defRPr>
                <a:solidFill>
                  <a:srgbClr val="C1FF72"/>
                </a:solidFill>
                <a:latin typeface="Oswald"/>
                <a:ea typeface="Oswald"/>
                <a:cs typeface="Oswald"/>
                <a:sym typeface="Oswald"/>
              </a:defRPr>
            </a:lvl8pPr>
            <a:lvl9pPr lvl="8" algn="ctr" rtl="0">
              <a:spcBef>
                <a:spcPts val="400"/>
              </a:spcBef>
              <a:spcAft>
                <a:spcPts val="0"/>
              </a:spcAft>
              <a:buClr>
                <a:srgbClr val="C1FF72"/>
              </a:buClr>
              <a:buSzPts val="2400"/>
              <a:buFont typeface="Oswald"/>
              <a:buNone/>
              <a:defRPr>
                <a:solidFill>
                  <a:srgbClr val="C1FF72"/>
                </a:solidFill>
                <a:latin typeface="Oswald"/>
                <a:ea typeface="Oswald"/>
                <a:cs typeface="Oswald"/>
                <a:sym typeface="Oswald"/>
              </a:defRPr>
            </a:lvl9pPr>
          </a:lstStyle>
          <a:p>
            <a:endParaRPr/>
          </a:p>
        </p:txBody>
      </p:sp>
      <p:sp>
        <p:nvSpPr>
          <p:cNvPr id="89" name="Google Shape;89;p10"/>
          <p:cNvSpPr txBox="1">
            <a:spLocks noGrp="1"/>
          </p:cNvSpPr>
          <p:nvPr>
            <p:ph type="body" idx="4"/>
          </p:nvPr>
        </p:nvSpPr>
        <p:spPr>
          <a:xfrm>
            <a:off x="1335000" y="7915050"/>
            <a:ext cx="3484500" cy="1719900"/>
          </a:xfrm>
          <a:prstGeom prst="rect">
            <a:avLst/>
          </a:prstGeom>
        </p:spPr>
        <p:txBody>
          <a:bodyPr spcFirstLastPara="1" wrap="square" lIns="91425" tIns="45700" rIns="91425" bIns="45700" anchor="t" anchorCtr="0">
            <a:normAutofit/>
          </a:bodyPr>
          <a:lstStyle>
            <a:lvl1pPr marL="457200" lvl="0" indent="-355600" rtl="0">
              <a:spcBef>
                <a:spcPts val="640"/>
              </a:spcBef>
              <a:spcAft>
                <a:spcPts val="0"/>
              </a:spcAft>
              <a:buSzPts val="2000"/>
              <a:buChar char="•"/>
              <a:defRPr sz="2000"/>
            </a:lvl1pPr>
            <a:lvl2pPr marL="914400" lvl="1" indent="-355600" rtl="0">
              <a:spcBef>
                <a:spcPts val="560"/>
              </a:spcBef>
              <a:spcAft>
                <a:spcPts val="0"/>
              </a:spcAft>
              <a:buSzPts val="2000"/>
              <a:buChar char="–"/>
              <a:defRPr sz="2000"/>
            </a:lvl2pPr>
            <a:lvl3pPr marL="1371600" lvl="2" indent="-355600" rtl="0">
              <a:spcBef>
                <a:spcPts val="480"/>
              </a:spcBef>
              <a:spcAft>
                <a:spcPts val="0"/>
              </a:spcAft>
              <a:buSzPts val="2000"/>
              <a:buChar char="•"/>
              <a:defRPr sz="2000"/>
            </a:lvl3pPr>
            <a:lvl4pPr marL="1828800" lvl="3" indent="-355600" rtl="0">
              <a:spcBef>
                <a:spcPts val="400"/>
              </a:spcBef>
              <a:spcAft>
                <a:spcPts val="0"/>
              </a:spcAft>
              <a:buSzPts val="2000"/>
              <a:buChar char="–"/>
              <a:defRPr sz="2000"/>
            </a:lvl4pPr>
            <a:lvl5pPr marL="2286000" lvl="4" indent="-355600" rtl="0">
              <a:spcBef>
                <a:spcPts val="400"/>
              </a:spcBef>
              <a:spcAft>
                <a:spcPts val="0"/>
              </a:spcAft>
              <a:buSzPts val="2000"/>
              <a:buChar char="»"/>
              <a:defRPr sz="2000"/>
            </a:lvl5pPr>
            <a:lvl6pPr marL="2743200" lvl="5" indent="-355600" rtl="0">
              <a:spcBef>
                <a:spcPts val="400"/>
              </a:spcBef>
              <a:spcAft>
                <a:spcPts val="0"/>
              </a:spcAft>
              <a:buSzPts val="2000"/>
              <a:buChar char="•"/>
              <a:defRPr sz="2000"/>
            </a:lvl6pPr>
            <a:lvl7pPr marL="3200400" lvl="6" indent="-355600" rtl="0">
              <a:spcBef>
                <a:spcPts val="400"/>
              </a:spcBef>
              <a:spcAft>
                <a:spcPts val="0"/>
              </a:spcAft>
              <a:buSzPts val="2000"/>
              <a:buChar char="•"/>
              <a:defRPr sz="2000"/>
            </a:lvl7pPr>
            <a:lvl8pPr marL="3657600" lvl="7" indent="-355600" rtl="0">
              <a:spcBef>
                <a:spcPts val="400"/>
              </a:spcBef>
              <a:spcAft>
                <a:spcPts val="0"/>
              </a:spcAft>
              <a:buSzPts val="2000"/>
              <a:buChar char="•"/>
              <a:defRPr sz="2000"/>
            </a:lvl8pPr>
            <a:lvl9pPr marL="4114800" lvl="8" indent="-355600" rtl="0">
              <a:spcBef>
                <a:spcPts val="400"/>
              </a:spcBef>
              <a:spcAft>
                <a:spcPts val="0"/>
              </a:spcAft>
              <a:buSzPts val="2000"/>
              <a:buChar char="•"/>
              <a:defRPr sz="2000"/>
            </a:lvl9pPr>
          </a:lstStyle>
          <a:p>
            <a:endParaRPr/>
          </a:p>
        </p:txBody>
      </p:sp>
      <p:sp>
        <p:nvSpPr>
          <p:cNvPr id="90" name="Google Shape;90;p10"/>
          <p:cNvSpPr txBox="1">
            <a:spLocks noGrp="1"/>
          </p:cNvSpPr>
          <p:nvPr>
            <p:ph type="body" idx="5"/>
          </p:nvPr>
        </p:nvSpPr>
        <p:spPr>
          <a:xfrm>
            <a:off x="7177650" y="7915050"/>
            <a:ext cx="3484500" cy="1719900"/>
          </a:xfrm>
          <a:prstGeom prst="rect">
            <a:avLst/>
          </a:prstGeom>
        </p:spPr>
        <p:txBody>
          <a:bodyPr spcFirstLastPara="1" wrap="square" lIns="91425" tIns="45700" rIns="91425" bIns="45700" anchor="t" anchorCtr="0">
            <a:normAutofit/>
          </a:bodyPr>
          <a:lstStyle>
            <a:lvl1pPr marL="457200" lvl="0" indent="-355600" rtl="0">
              <a:spcBef>
                <a:spcPts val="640"/>
              </a:spcBef>
              <a:spcAft>
                <a:spcPts val="0"/>
              </a:spcAft>
              <a:buSzPts val="2000"/>
              <a:buChar char="•"/>
              <a:defRPr sz="2000"/>
            </a:lvl1pPr>
            <a:lvl2pPr marL="914400" lvl="1" indent="-355600" rtl="0">
              <a:spcBef>
                <a:spcPts val="560"/>
              </a:spcBef>
              <a:spcAft>
                <a:spcPts val="0"/>
              </a:spcAft>
              <a:buSzPts val="2000"/>
              <a:buChar char="–"/>
              <a:defRPr sz="2000"/>
            </a:lvl2pPr>
            <a:lvl3pPr marL="1371600" lvl="2" indent="-355600" rtl="0">
              <a:spcBef>
                <a:spcPts val="480"/>
              </a:spcBef>
              <a:spcAft>
                <a:spcPts val="0"/>
              </a:spcAft>
              <a:buSzPts val="2000"/>
              <a:buChar char="•"/>
              <a:defRPr sz="2000"/>
            </a:lvl3pPr>
            <a:lvl4pPr marL="1828800" lvl="3" indent="-355600" rtl="0">
              <a:spcBef>
                <a:spcPts val="400"/>
              </a:spcBef>
              <a:spcAft>
                <a:spcPts val="0"/>
              </a:spcAft>
              <a:buSzPts val="2000"/>
              <a:buChar char="–"/>
              <a:defRPr sz="2000"/>
            </a:lvl4pPr>
            <a:lvl5pPr marL="2286000" lvl="4" indent="-355600" rtl="0">
              <a:spcBef>
                <a:spcPts val="400"/>
              </a:spcBef>
              <a:spcAft>
                <a:spcPts val="0"/>
              </a:spcAft>
              <a:buSzPts val="2000"/>
              <a:buChar char="»"/>
              <a:defRPr sz="2000"/>
            </a:lvl5pPr>
            <a:lvl6pPr marL="2743200" lvl="5" indent="-355600" rtl="0">
              <a:spcBef>
                <a:spcPts val="400"/>
              </a:spcBef>
              <a:spcAft>
                <a:spcPts val="0"/>
              </a:spcAft>
              <a:buSzPts val="2000"/>
              <a:buChar char="•"/>
              <a:defRPr sz="2000"/>
            </a:lvl6pPr>
            <a:lvl7pPr marL="3200400" lvl="6" indent="-355600" rtl="0">
              <a:spcBef>
                <a:spcPts val="400"/>
              </a:spcBef>
              <a:spcAft>
                <a:spcPts val="0"/>
              </a:spcAft>
              <a:buSzPts val="2000"/>
              <a:buChar char="•"/>
              <a:defRPr sz="2000"/>
            </a:lvl7pPr>
            <a:lvl8pPr marL="3657600" lvl="7" indent="-355600" rtl="0">
              <a:spcBef>
                <a:spcPts val="400"/>
              </a:spcBef>
              <a:spcAft>
                <a:spcPts val="0"/>
              </a:spcAft>
              <a:buSzPts val="2000"/>
              <a:buChar char="•"/>
              <a:defRPr sz="2000"/>
            </a:lvl8pPr>
            <a:lvl9pPr marL="4114800" lvl="8" indent="-355600" rtl="0">
              <a:spcBef>
                <a:spcPts val="400"/>
              </a:spcBef>
              <a:spcAft>
                <a:spcPts val="0"/>
              </a:spcAft>
              <a:buSzPts val="2000"/>
              <a:buChar char="•"/>
              <a:defRPr sz="20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ustom Layout 9">
  <p:cSld name="CUSTOM_8">
    <p:spTree>
      <p:nvGrpSpPr>
        <p:cNvPr id="1" name="Shape 91"/>
        <p:cNvGrpSpPr/>
        <p:nvPr/>
      </p:nvGrpSpPr>
      <p:grpSpPr>
        <a:xfrm>
          <a:off x="0" y="0"/>
          <a:ext cx="0" cy="0"/>
          <a:chOff x="0" y="0"/>
          <a:chExt cx="0" cy="0"/>
        </a:xfrm>
      </p:grpSpPr>
      <p:sp>
        <p:nvSpPr>
          <p:cNvPr id="92" name="Google Shape;92;p11"/>
          <p:cNvSpPr txBox="1">
            <a:spLocks noGrp="1"/>
          </p:cNvSpPr>
          <p:nvPr>
            <p:ph type="body" idx="1"/>
          </p:nvPr>
        </p:nvSpPr>
        <p:spPr>
          <a:xfrm>
            <a:off x="841800" y="7466425"/>
            <a:ext cx="6534600" cy="1719900"/>
          </a:xfrm>
          <a:prstGeom prst="rect">
            <a:avLst/>
          </a:prstGeom>
        </p:spPr>
        <p:txBody>
          <a:bodyPr spcFirstLastPara="1" wrap="square" lIns="91425" tIns="45700" rIns="91425" bIns="45700" anchor="t" anchorCtr="0">
            <a:normAutofit/>
          </a:bodyPr>
          <a:lstStyle>
            <a:lvl1pPr marL="457200" lvl="0" indent="-355600" algn="ctr" rtl="0">
              <a:spcBef>
                <a:spcPts val="640"/>
              </a:spcBef>
              <a:spcAft>
                <a:spcPts val="0"/>
              </a:spcAft>
              <a:buSzPts val="2000"/>
              <a:buChar char="•"/>
              <a:defRPr sz="2000"/>
            </a:lvl1pPr>
            <a:lvl2pPr marL="914400" lvl="1" indent="-355600" algn="ctr" rtl="0">
              <a:spcBef>
                <a:spcPts val="560"/>
              </a:spcBef>
              <a:spcAft>
                <a:spcPts val="0"/>
              </a:spcAft>
              <a:buSzPts val="2000"/>
              <a:buChar char="–"/>
              <a:defRPr sz="2000"/>
            </a:lvl2pPr>
            <a:lvl3pPr marL="1371600" lvl="2" indent="-355600" algn="ctr" rtl="0">
              <a:spcBef>
                <a:spcPts val="480"/>
              </a:spcBef>
              <a:spcAft>
                <a:spcPts val="0"/>
              </a:spcAft>
              <a:buSzPts val="2000"/>
              <a:buChar char="•"/>
              <a:defRPr sz="2000"/>
            </a:lvl3pPr>
            <a:lvl4pPr marL="1828800" lvl="3" indent="-355600" algn="ctr" rtl="0">
              <a:spcBef>
                <a:spcPts val="400"/>
              </a:spcBef>
              <a:spcAft>
                <a:spcPts val="0"/>
              </a:spcAft>
              <a:buSzPts val="2000"/>
              <a:buChar char="–"/>
              <a:defRPr sz="2000"/>
            </a:lvl4pPr>
            <a:lvl5pPr marL="2286000" lvl="4" indent="-355600" algn="ctr" rtl="0">
              <a:spcBef>
                <a:spcPts val="400"/>
              </a:spcBef>
              <a:spcAft>
                <a:spcPts val="0"/>
              </a:spcAft>
              <a:buSzPts val="2000"/>
              <a:buChar char="»"/>
              <a:defRPr sz="2000"/>
            </a:lvl5pPr>
            <a:lvl6pPr marL="2743200" lvl="5" indent="-355600" algn="ctr" rtl="0">
              <a:spcBef>
                <a:spcPts val="400"/>
              </a:spcBef>
              <a:spcAft>
                <a:spcPts val="0"/>
              </a:spcAft>
              <a:buSzPts val="2000"/>
              <a:buChar char="•"/>
              <a:defRPr sz="2000"/>
            </a:lvl6pPr>
            <a:lvl7pPr marL="3200400" lvl="6" indent="-355600" algn="ctr" rtl="0">
              <a:spcBef>
                <a:spcPts val="400"/>
              </a:spcBef>
              <a:spcAft>
                <a:spcPts val="0"/>
              </a:spcAft>
              <a:buSzPts val="2000"/>
              <a:buChar char="•"/>
              <a:defRPr sz="2000"/>
            </a:lvl7pPr>
            <a:lvl8pPr marL="3657600" lvl="7" indent="-355600" algn="ctr" rtl="0">
              <a:spcBef>
                <a:spcPts val="400"/>
              </a:spcBef>
              <a:spcAft>
                <a:spcPts val="0"/>
              </a:spcAft>
              <a:buSzPts val="2000"/>
              <a:buChar char="•"/>
              <a:defRPr sz="2000"/>
            </a:lvl8pPr>
            <a:lvl9pPr marL="4114800" lvl="8" indent="-355600" algn="ctr" rtl="0">
              <a:spcBef>
                <a:spcPts val="400"/>
              </a:spcBef>
              <a:spcAft>
                <a:spcPts val="0"/>
              </a:spcAft>
              <a:buSzPts val="2000"/>
              <a:buChar char="•"/>
              <a:defRPr sz="2000"/>
            </a:lvl9pPr>
          </a:lstStyle>
          <a:p>
            <a:endParaRPr/>
          </a:p>
        </p:txBody>
      </p:sp>
      <p:sp>
        <p:nvSpPr>
          <p:cNvPr id="93" name="Google Shape;93;p11"/>
          <p:cNvSpPr txBox="1">
            <a:spLocks noGrp="1"/>
          </p:cNvSpPr>
          <p:nvPr>
            <p:ph type="title"/>
          </p:nvPr>
        </p:nvSpPr>
        <p:spPr>
          <a:xfrm>
            <a:off x="9118950" y="1343175"/>
            <a:ext cx="8114700" cy="1143000"/>
          </a:xfrm>
          <a:prstGeom prst="rect">
            <a:avLst/>
          </a:prstGeom>
        </p:spPr>
        <p:txBody>
          <a:bodyPr spcFirstLastPara="1" wrap="square" lIns="91425" tIns="45700" rIns="91425" bIns="45700" anchor="t" anchorCtr="0">
            <a:normAutofit/>
          </a:bodyPr>
          <a:lstStyle>
            <a:lvl1pPr lvl="0" algn="ctr">
              <a:spcBef>
                <a:spcPts val="0"/>
              </a:spcBef>
              <a:spcAft>
                <a:spcPts val="0"/>
              </a:spcAft>
              <a:buSzPts val="9950"/>
              <a:buNone/>
              <a:defRPr sz="9950" b="1"/>
            </a:lvl1pPr>
            <a:lvl2pPr lvl="1" algn="ctr">
              <a:spcBef>
                <a:spcPts val="0"/>
              </a:spcBef>
              <a:spcAft>
                <a:spcPts val="0"/>
              </a:spcAft>
              <a:buSzPts val="10000"/>
              <a:buNone/>
              <a:defRPr/>
            </a:lvl2pPr>
            <a:lvl3pPr lvl="2" algn="ctr">
              <a:spcBef>
                <a:spcPts val="0"/>
              </a:spcBef>
              <a:spcAft>
                <a:spcPts val="0"/>
              </a:spcAft>
              <a:buSzPts val="10000"/>
              <a:buNone/>
              <a:defRPr/>
            </a:lvl3pPr>
            <a:lvl4pPr lvl="3" algn="ctr">
              <a:spcBef>
                <a:spcPts val="0"/>
              </a:spcBef>
              <a:spcAft>
                <a:spcPts val="0"/>
              </a:spcAft>
              <a:buSzPts val="10000"/>
              <a:buNone/>
              <a:defRPr/>
            </a:lvl4pPr>
            <a:lvl5pPr lvl="4" algn="ctr">
              <a:spcBef>
                <a:spcPts val="0"/>
              </a:spcBef>
              <a:spcAft>
                <a:spcPts val="0"/>
              </a:spcAft>
              <a:buSzPts val="10000"/>
              <a:buNone/>
              <a:defRPr/>
            </a:lvl5pPr>
            <a:lvl6pPr lvl="5" algn="ctr">
              <a:spcBef>
                <a:spcPts val="0"/>
              </a:spcBef>
              <a:spcAft>
                <a:spcPts val="0"/>
              </a:spcAft>
              <a:buSzPts val="10000"/>
              <a:buNone/>
              <a:defRPr/>
            </a:lvl6pPr>
            <a:lvl7pPr lvl="6" algn="ctr">
              <a:spcBef>
                <a:spcPts val="0"/>
              </a:spcBef>
              <a:spcAft>
                <a:spcPts val="0"/>
              </a:spcAft>
              <a:buSzPts val="10000"/>
              <a:buNone/>
              <a:defRPr/>
            </a:lvl7pPr>
            <a:lvl8pPr lvl="7" algn="ctr">
              <a:spcBef>
                <a:spcPts val="0"/>
              </a:spcBef>
              <a:spcAft>
                <a:spcPts val="0"/>
              </a:spcAft>
              <a:buSzPts val="10000"/>
              <a:buNone/>
              <a:defRPr/>
            </a:lvl8pPr>
            <a:lvl9pPr lvl="8" algn="ctr">
              <a:spcBef>
                <a:spcPts val="0"/>
              </a:spcBef>
              <a:spcAft>
                <a:spcPts val="0"/>
              </a:spcAft>
              <a:buSzPts val="10000"/>
              <a:buNone/>
              <a:defRPr/>
            </a:lvl9pPr>
          </a:lstStyle>
          <a:p>
            <a:endParaRPr/>
          </a:p>
        </p:txBody>
      </p:sp>
      <p:sp>
        <p:nvSpPr>
          <p:cNvPr id="94" name="Google Shape;94;p11"/>
          <p:cNvSpPr/>
          <p:nvPr/>
        </p:nvSpPr>
        <p:spPr>
          <a:xfrm>
            <a:off x="1028700" y="954147"/>
            <a:ext cx="6160732" cy="6153031"/>
          </a:xfrm>
          <a:custGeom>
            <a:avLst/>
            <a:gdLst/>
            <a:ahLst/>
            <a:cxnLst/>
            <a:rect l="l" t="t" r="r" b="b"/>
            <a:pathLst>
              <a:path w="6160732" h="6153031" extrusionOk="0">
                <a:moveTo>
                  <a:pt x="0" y="0"/>
                </a:moveTo>
                <a:lnTo>
                  <a:pt x="6160732" y="0"/>
                </a:lnTo>
                <a:lnTo>
                  <a:pt x="6160732" y="6153031"/>
                </a:lnTo>
                <a:lnTo>
                  <a:pt x="0" y="6153031"/>
                </a:lnTo>
                <a:lnTo>
                  <a:pt x="0" y="0"/>
                </a:lnTo>
                <a:close/>
              </a:path>
            </a:pathLst>
          </a:custGeom>
          <a:blipFill rotWithShape="1">
            <a:blip r:embed="rId2">
              <a:alphaModFix/>
            </a:blip>
            <a:stretch>
              <a:fillRect/>
            </a:stretch>
          </a:blipFill>
          <a:ln>
            <a:noFill/>
          </a:ln>
        </p:spPr>
      </p:sp>
      <p:sp>
        <p:nvSpPr>
          <p:cNvPr id="95" name="Google Shape;95;p11"/>
          <p:cNvSpPr/>
          <p:nvPr/>
        </p:nvSpPr>
        <p:spPr>
          <a:xfrm>
            <a:off x="8009074" y="4064127"/>
            <a:ext cx="10572576" cy="6673939"/>
          </a:xfrm>
          <a:custGeom>
            <a:avLst/>
            <a:gdLst/>
            <a:ahLst/>
            <a:cxnLst/>
            <a:rect l="l" t="t" r="r" b="b"/>
            <a:pathLst>
              <a:path w="10572576" h="6673939" extrusionOk="0">
                <a:moveTo>
                  <a:pt x="0" y="0"/>
                </a:moveTo>
                <a:lnTo>
                  <a:pt x="10572576" y="0"/>
                </a:lnTo>
                <a:lnTo>
                  <a:pt x="10572576" y="6673939"/>
                </a:lnTo>
                <a:lnTo>
                  <a:pt x="0" y="6673939"/>
                </a:lnTo>
                <a:lnTo>
                  <a:pt x="0" y="0"/>
                </a:lnTo>
                <a:close/>
              </a:path>
            </a:pathLst>
          </a:custGeom>
          <a:blipFill rotWithShape="1">
            <a:blip r:embed="rId3">
              <a:alphaModFix/>
            </a:blip>
            <a:stretch>
              <a:fillRect/>
            </a:stretch>
          </a:blipFill>
          <a:ln>
            <a:noFill/>
          </a:ln>
        </p:spPr>
      </p:sp>
      <p:sp>
        <p:nvSpPr>
          <p:cNvPr id="96" name="Google Shape;96;p11"/>
          <p:cNvSpPr txBox="1">
            <a:spLocks noGrp="1"/>
          </p:cNvSpPr>
          <p:nvPr>
            <p:ph type="body" idx="2"/>
          </p:nvPr>
        </p:nvSpPr>
        <p:spPr>
          <a:xfrm>
            <a:off x="10028063" y="7466425"/>
            <a:ext cx="6534600" cy="1719900"/>
          </a:xfrm>
          <a:prstGeom prst="rect">
            <a:avLst/>
          </a:prstGeom>
        </p:spPr>
        <p:txBody>
          <a:bodyPr spcFirstLastPara="1" wrap="square" lIns="91425" tIns="45700" rIns="91425" bIns="45700" anchor="t" anchorCtr="0">
            <a:normAutofit/>
          </a:bodyPr>
          <a:lstStyle>
            <a:lvl1pPr marL="457200" lvl="0" indent="-412750" algn="ctr" rtl="0">
              <a:spcBef>
                <a:spcPts val="640"/>
              </a:spcBef>
              <a:spcAft>
                <a:spcPts val="0"/>
              </a:spcAft>
              <a:buSzPts val="2900"/>
              <a:buChar char="•"/>
              <a:defRPr sz="2900"/>
            </a:lvl1pPr>
            <a:lvl2pPr marL="914400" lvl="1" indent="-412750" algn="ctr" rtl="0">
              <a:spcBef>
                <a:spcPts val="560"/>
              </a:spcBef>
              <a:spcAft>
                <a:spcPts val="0"/>
              </a:spcAft>
              <a:buSzPts val="2900"/>
              <a:buChar char="–"/>
              <a:defRPr sz="2900"/>
            </a:lvl2pPr>
            <a:lvl3pPr marL="1371600" lvl="2" indent="-412750" algn="ctr" rtl="0">
              <a:spcBef>
                <a:spcPts val="480"/>
              </a:spcBef>
              <a:spcAft>
                <a:spcPts val="0"/>
              </a:spcAft>
              <a:buSzPts val="2900"/>
              <a:buChar char="•"/>
              <a:defRPr sz="2900"/>
            </a:lvl3pPr>
            <a:lvl4pPr marL="1828800" lvl="3" indent="-412750" algn="ctr" rtl="0">
              <a:spcBef>
                <a:spcPts val="400"/>
              </a:spcBef>
              <a:spcAft>
                <a:spcPts val="0"/>
              </a:spcAft>
              <a:buSzPts val="2900"/>
              <a:buChar char="–"/>
              <a:defRPr sz="2900"/>
            </a:lvl4pPr>
            <a:lvl5pPr marL="2286000" lvl="4" indent="-412750" algn="ctr" rtl="0">
              <a:spcBef>
                <a:spcPts val="400"/>
              </a:spcBef>
              <a:spcAft>
                <a:spcPts val="0"/>
              </a:spcAft>
              <a:buSzPts val="2900"/>
              <a:buChar char="»"/>
              <a:defRPr sz="2900"/>
            </a:lvl5pPr>
            <a:lvl6pPr marL="2743200" lvl="5" indent="-412750" algn="ctr" rtl="0">
              <a:spcBef>
                <a:spcPts val="400"/>
              </a:spcBef>
              <a:spcAft>
                <a:spcPts val="0"/>
              </a:spcAft>
              <a:buSzPts val="2900"/>
              <a:buChar char="•"/>
              <a:defRPr sz="2900"/>
            </a:lvl6pPr>
            <a:lvl7pPr marL="3200400" lvl="6" indent="-412750" algn="ctr" rtl="0">
              <a:spcBef>
                <a:spcPts val="400"/>
              </a:spcBef>
              <a:spcAft>
                <a:spcPts val="0"/>
              </a:spcAft>
              <a:buSzPts val="2900"/>
              <a:buChar char="•"/>
              <a:defRPr sz="2900"/>
            </a:lvl7pPr>
            <a:lvl8pPr marL="3657600" lvl="7" indent="-412750" algn="ctr" rtl="0">
              <a:spcBef>
                <a:spcPts val="400"/>
              </a:spcBef>
              <a:spcAft>
                <a:spcPts val="0"/>
              </a:spcAft>
              <a:buSzPts val="2900"/>
              <a:buChar char="•"/>
              <a:defRPr sz="2900"/>
            </a:lvl8pPr>
            <a:lvl9pPr marL="4114800" lvl="8" indent="-412750" algn="ctr" rtl="0">
              <a:spcBef>
                <a:spcPts val="400"/>
              </a:spcBef>
              <a:spcAft>
                <a:spcPts val="0"/>
              </a:spcAft>
              <a:buSzPts val="2900"/>
              <a:buChar char="•"/>
              <a:defRPr sz="29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ustom Layout 10">
  <p:cSld name="CUSTOM_9">
    <p:spTree>
      <p:nvGrpSpPr>
        <p:cNvPr id="1" name="Shape 97"/>
        <p:cNvGrpSpPr/>
        <p:nvPr/>
      </p:nvGrpSpPr>
      <p:grpSpPr>
        <a:xfrm>
          <a:off x="0" y="0"/>
          <a:ext cx="0" cy="0"/>
          <a:chOff x="0" y="0"/>
          <a:chExt cx="0" cy="0"/>
        </a:xfrm>
      </p:grpSpPr>
      <p:sp>
        <p:nvSpPr>
          <p:cNvPr id="98" name="Google Shape;98;p12"/>
          <p:cNvSpPr txBox="1">
            <a:spLocks noGrp="1"/>
          </p:cNvSpPr>
          <p:nvPr>
            <p:ph type="title"/>
          </p:nvPr>
        </p:nvSpPr>
        <p:spPr>
          <a:xfrm>
            <a:off x="9935575" y="447700"/>
            <a:ext cx="8114700" cy="3102300"/>
          </a:xfrm>
          <a:prstGeom prst="rect">
            <a:avLst/>
          </a:prstGeom>
        </p:spPr>
        <p:txBody>
          <a:bodyPr spcFirstLastPara="1" wrap="square" lIns="91425" tIns="45700" rIns="91425" bIns="45700" anchor="t" anchorCtr="0">
            <a:normAutofit/>
          </a:bodyPr>
          <a:lstStyle>
            <a:lvl1pPr lvl="0" rtl="0">
              <a:spcBef>
                <a:spcPts val="0"/>
              </a:spcBef>
              <a:spcAft>
                <a:spcPts val="0"/>
              </a:spcAft>
              <a:buSzPts val="9950"/>
              <a:buNone/>
              <a:defRPr sz="9950" b="1"/>
            </a:lvl1pPr>
            <a:lvl2pPr lvl="1" rtl="0">
              <a:spcBef>
                <a:spcPts val="0"/>
              </a:spcBef>
              <a:spcAft>
                <a:spcPts val="0"/>
              </a:spcAft>
              <a:buSzPts val="10000"/>
              <a:buNone/>
              <a:defRPr/>
            </a:lvl2pPr>
            <a:lvl3pPr lvl="2" rtl="0">
              <a:spcBef>
                <a:spcPts val="0"/>
              </a:spcBef>
              <a:spcAft>
                <a:spcPts val="0"/>
              </a:spcAft>
              <a:buSzPts val="10000"/>
              <a:buNone/>
              <a:defRPr/>
            </a:lvl3pPr>
            <a:lvl4pPr lvl="3" rtl="0">
              <a:spcBef>
                <a:spcPts val="0"/>
              </a:spcBef>
              <a:spcAft>
                <a:spcPts val="0"/>
              </a:spcAft>
              <a:buSzPts val="10000"/>
              <a:buNone/>
              <a:defRPr/>
            </a:lvl4pPr>
            <a:lvl5pPr lvl="4" rtl="0">
              <a:spcBef>
                <a:spcPts val="0"/>
              </a:spcBef>
              <a:spcAft>
                <a:spcPts val="0"/>
              </a:spcAft>
              <a:buSzPts val="10000"/>
              <a:buNone/>
              <a:defRPr/>
            </a:lvl5pPr>
            <a:lvl6pPr lvl="5" rtl="0">
              <a:spcBef>
                <a:spcPts val="0"/>
              </a:spcBef>
              <a:spcAft>
                <a:spcPts val="0"/>
              </a:spcAft>
              <a:buSzPts val="10000"/>
              <a:buNone/>
              <a:defRPr/>
            </a:lvl6pPr>
            <a:lvl7pPr lvl="6" rtl="0">
              <a:spcBef>
                <a:spcPts val="0"/>
              </a:spcBef>
              <a:spcAft>
                <a:spcPts val="0"/>
              </a:spcAft>
              <a:buSzPts val="10000"/>
              <a:buNone/>
              <a:defRPr/>
            </a:lvl7pPr>
            <a:lvl8pPr lvl="7" rtl="0">
              <a:spcBef>
                <a:spcPts val="0"/>
              </a:spcBef>
              <a:spcAft>
                <a:spcPts val="0"/>
              </a:spcAft>
              <a:buSzPts val="10000"/>
              <a:buNone/>
              <a:defRPr/>
            </a:lvl8pPr>
            <a:lvl9pPr lvl="8" rtl="0">
              <a:spcBef>
                <a:spcPts val="0"/>
              </a:spcBef>
              <a:spcAft>
                <a:spcPts val="0"/>
              </a:spcAft>
              <a:buSzPts val="10000"/>
              <a:buNone/>
              <a:defRPr/>
            </a:lvl9pPr>
          </a:lstStyle>
          <a:p>
            <a:endParaRPr/>
          </a:p>
        </p:txBody>
      </p:sp>
      <p:sp>
        <p:nvSpPr>
          <p:cNvPr id="99" name="Google Shape;99;p12"/>
          <p:cNvSpPr txBox="1"/>
          <p:nvPr/>
        </p:nvSpPr>
        <p:spPr>
          <a:xfrm>
            <a:off x="10015952" y="4028022"/>
            <a:ext cx="559800" cy="1600800"/>
          </a:xfrm>
          <a:prstGeom prst="rect">
            <a:avLst/>
          </a:prstGeom>
          <a:noFill/>
          <a:ln>
            <a:noFill/>
          </a:ln>
        </p:spPr>
        <p:txBody>
          <a:bodyPr spcFirstLastPara="1" wrap="square" lIns="0" tIns="0" rIns="0" bIns="0" anchor="t" anchorCtr="0">
            <a:spAutoFit/>
          </a:bodyPr>
          <a:lstStyle/>
          <a:p>
            <a:pPr marL="0" marR="0" lvl="0" indent="0" algn="l" rtl="0">
              <a:lnSpc>
                <a:spcPct val="124000"/>
              </a:lnSpc>
              <a:spcBef>
                <a:spcPts val="0"/>
              </a:spcBef>
              <a:spcAft>
                <a:spcPts val="0"/>
              </a:spcAft>
              <a:buNone/>
            </a:pPr>
            <a:r>
              <a:rPr lang="en-US" sz="10400" b="0" i="0" u="none" strike="noStrike" cap="none">
                <a:solidFill>
                  <a:srgbClr val="C1FF72"/>
                </a:solidFill>
                <a:latin typeface="Oswald"/>
                <a:ea typeface="Oswald"/>
                <a:cs typeface="Oswald"/>
                <a:sym typeface="Oswald"/>
              </a:rPr>
              <a:t>1</a:t>
            </a:r>
            <a:endParaRPr/>
          </a:p>
        </p:txBody>
      </p:sp>
      <p:sp>
        <p:nvSpPr>
          <p:cNvPr id="100" name="Google Shape;100;p12"/>
          <p:cNvSpPr txBox="1"/>
          <p:nvPr/>
        </p:nvSpPr>
        <p:spPr>
          <a:xfrm>
            <a:off x="10015952" y="5880577"/>
            <a:ext cx="559800" cy="1600800"/>
          </a:xfrm>
          <a:prstGeom prst="rect">
            <a:avLst/>
          </a:prstGeom>
          <a:noFill/>
          <a:ln>
            <a:noFill/>
          </a:ln>
        </p:spPr>
        <p:txBody>
          <a:bodyPr spcFirstLastPara="1" wrap="square" lIns="0" tIns="0" rIns="0" bIns="0" anchor="t" anchorCtr="0">
            <a:spAutoFit/>
          </a:bodyPr>
          <a:lstStyle/>
          <a:p>
            <a:pPr marL="0" marR="0" lvl="0" indent="0" algn="l" rtl="0">
              <a:lnSpc>
                <a:spcPct val="124000"/>
              </a:lnSpc>
              <a:spcBef>
                <a:spcPts val="0"/>
              </a:spcBef>
              <a:spcAft>
                <a:spcPts val="0"/>
              </a:spcAft>
              <a:buNone/>
            </a:pPr>
            <a:r>
              <a:rPr lang="en-US" sz="10400" b="0" i="0" u="none" strike="noStrike" cap="none">
                <a:solidFill>
                  <a:srgbClr val="C1FF72"/>
                </a:solidFill>
                <a:latin typeface="Oswald"/>
                <a:ea typeface="Oswald"/>
                <a:cs typeface="Oswald"/>
                <a:sym typeface="Oswald"/>
              </a:rPr>
              <a:t>2</a:t>
            </a:r>
            <a:endParaRPr/>
          </a:p>
        </p:txBody>
      </p:sp>
      <p:sp>
        <p:nvSpPr>
          <p:cNvPr id="101" name="Google Shape;101;p12"/>
          <p:cNvSpPr txBox="1"/>
          <p:nvPr/>
        </p:nvSpPr>
        <p:spPr>
          <a:xfrm>
            <a:off x="10015952" y="7733132"/>
            <a:ext cx="734400" cy="1600800"/>
          </a:xfrm>
          <a:prstGeom prst="rect">
            <a:avLst/>
          </a:prstGeom>
          <a:noFill/>
          <a:ln>
            <a:noFill/>
          </a:ln>
        </p:spPr>
        <p:txBody>
          <a:bodyPr spcFirstLastPara="1" wrap="square" lIns="0" tIns="0" rIns="0" bIns="0" anchor="t" anchorCtr="0">
            <a:spAutoFit/>
          </a:bodyPr>
          <a:lstStyle/>
          <a:p>
            <a:pPr marL="0" marR="0" lvl="0" indent="0" algn="l" rtl="0">
              <a:lnSpc>
                <a:spcPct val="124000"/>
              </a:lnSpc>
              <a:spcBef>
                <a:spcPts val="0"/>
              </a:spcBef>
              <a:spcAft>
                <a:spcPts val="0"/>
              </a:spcAft>
              <a:buNone/>
            </a:pPr>
            <a:r>
              <a:rPr lang="en-US" sz="10400" b="0" i="0" u="none" strike="noStrike" cap="none">
                <a:solidFill>
                  <a:srgbClr val="C1FF72"/>
                </a:solidFill>
                <a:latin typeface="Oswald"/>
                <a:ea typeface="Oswald"/>
                <a:cs typeface="Oswald"/>
                <a:sym typeface="Oswald"/>
              </a:rPr>
              <a:t>3</a:t>
            </a:r>
            <a:endParaRPr/>
          </a:p>
        </p:txBody>
      </p:sp>
      <p:pic>
        <p:nvPicPr>
          <p:cNvPr id="102" name="Google Shape;102;p12"/>
          <p:cNvPicPr preferRelativeResize="0"/>
          <p:nvPr/>
        </p:nvPicPr>
        <p:blipFill rotWithShape="1">
          <a:blip r:embed="rId2">
            <a:alphaModFix/>
          </a:blip>
          <a:srcRect l="15994" t="50553"/>
          <a:stretch/>
        </p:blipFill>
        <p:spPr>
          <a:xfrm>
            <a:off x="0" y="0"/>
            <a:ext cx="10383127" cy="6105298"/>
          </a:xfrm>
          <a:prstGeom prst="rect">
            <a:avLst/>
          </a:prstGeom>
          <a:noFill/>
          <a:ln>
            <a:noFill/>
          </a:ln>
        </p:spPr>
      </p:pic>
      <p:sp>
        <p:nvSpPr>
          <p:cNvPr id="103" name="Google Shape;103;p12"/>
          <p:cNvSpPr txBox="1">
            <a:spLocks noGrp="1"/>
          </p:cNvSpPr>
          <p:nvPr>
            <p:ph type="body" idx="1"/>
          </p:nvPr>
        </p:nvSpPr>
        <p:spPr>
          <a:xfrm>
            <a:off x="11172775" y="4237425"/>
            <a:ext cx="6534600" cy="11820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SzPts val="2400"/>
              <a:buChar char="•"/>
              <a:defRPr/>
            </a:lvl1pPr>
            <a:lvl2pPr marL="914400" lvl="1" indent="-381000" rtl="0">
              <a:spcBef>
                <a:spcPts val="560"/>
              </a:spcBef>
              <a:spcAft>
                <a:spcPts val="0"/>
              </a:spcAft>
              <a:buSzPts val="2400"/>
              <a:buChar char="–"/>
              <a:defRPr/>
            </a:lvl2pPr>
            <a:lvl3pPr marL="1371600" lvl="2" indent="-381000" rtl="0">
              <a:spcBef>
                <a:spcPts val="480"/>
              </a:spcBef>
              <a:spcAft>
                <a:spcPts val="0"/>
              </a:spcAft>
              <a:buSzPts val="2400"/>
              <a:buChar char="•"/>
              <a:defRPr/>
            </a:lvl3pPr>
            <a:lvl4pPr marL="1828800" lvl="3" indent="-381000" rtl="0">
              <a:spcBef>
                <a:spcPts val="400"/>
              </a:spcBef>
              <a:spcAft>
                <a:spcPts val="0"/>
              </a:spcAft>
              <a:buSzPts val="2400"/>
              <a:buChar char="–"/>
              <a:defRPr/>
            </a:lvl4pPr>
            <a:lvl5pPr marL="2286000" lvl="4" indent="-381000" rtl="0">
              <a:spcBef>
                <a:spcPts val="400"/>
              </a:spcBef>
              <a:spcAft>
                <a:spcPts val="0"/>
              </a:spcAft>
              <a:buSzPts val="2400"/>
              <a:buChar char="»"/>
              <a:defRPr/>
            </a:lvl5pPr>
            <a:lvl6pPr marL="2743200" lvl="5" indent="-381000" rtl="0">
              <a:spcBef>
                <a:spcPts val="400"/>
              </a:spcBef>
              <a:spcAft>
                <a:spcPts val="0"/>
              </a:spcAft>
              <a:buSzPts val="2400"/>
              <a:buChar char="•"/>
              <a:defRPr/>
            </a:lvl6pPr>
            <a:lvl7pPr marL="3200400" lvl="6" indent="-381000" rtl="0">
              <a:spcBef>
                <a:spcPts val="400"/>
              </a:spcBef>
              <a:spcAft>
                <a:spcPts val="0"/>
              </a:spcAft>
              <a:buSzPts val="2400"/>
              <a:buChar char="•"/>
              <a:defRPr/>
            </a:lvl7pPr>
            <a:lvl8pPr marL="3657600" lvl="7" indent="-381000" rtl="0">
              <a:spcBef>
                <a:spcPts val="400"/>
              </a:spcBef>
              <a:spcAft>
                <a:spcPts val="0"/>
              </a:spcAft>
              <a:buSzPts val="2400"/>
              <a:buChar char="•"/>
              <a:defRPr/>
            </a:lvl8pPr>
            <a:lvl9pPr marL="4114800" lvl="8" indent="-381000" rtl="0">
              <a:spcBef>
                <a:spcPts val="400"/>
              </a:spcBef>
              <a:spcAft>
                <a:spcPts val="0"/>
              </a:spcAft>
              <a:buSzPts val="2400"/>
              <a:buChar char="•"/>
              <a:defRPr/>
            </a:lvl9pPr>
          </a:lstStyle>
          <a:p>
            <a:endParaRPr/>
          </a:p>
        </p:txBody>
      </p:sp>
      <p:sp>
        <p:nvSpPr>
          <p:cNvPr id="104" name="Google Shape;104;p12"/>
          <p:cNvSpPr txBox="1">
            <a:spLocks noGrp="1"/>
          </p:cNvSpPr>
          <p:nvPr>
            <p:ph type="body" idx="2"/>
          </p:nvPr>
        </p:nvSpPr>
        <p:spPr>
          <a:xfrm>
            <a:off x="11172775" y="6081550"/>
            <a:ext cx="6534600" cy="11820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SzPts val="2400"/>
              <a:buChar char="•"/>
              <a:defRPr/>
            </a:lvl1pPr>
            <a:lvl2pPr marL="914400" lvl="1" indent="-381000" rtl="0">
              <a:spcBef>
                <a:spcPts val="560"/>
              </a:spcBef>
              <a:spcAft>
                <a:spcPts val="0"/>
              </a:spcAft>
              <a:buSzPts val="2400"/>
              <a:buChar char="–"/>
              <a:defRPr/>
            </a:lvl2pPr>
            <a:lvl3pPr marL="1371600" lvl="2" indent="-381000" rtl="0">
              <a:spcBef>
                <a:spcPts val="480"/>
              </a:spcBef>
              <a:spcAft>
                <a:spcPts val="0"/>
              </a:spcAft>
              <a:buSzPts val="2400"/>
              <a:buChar char="•"/>
              <a:defRPr/>
            </a:lvl3pPr>
            <a:lvl4pPr marL="1828800" lvl="3" indent="-381000" rtl="0">
              <a:spcBef>
                <a:spcPts val="400"/>
              </a:spcBef>
              <a:spcAft>
                <a:spcPts val="0"/>
              </a:spcAft>
              <a:buSzPts val="2400"/>
              <a:buChar char="–"/>
              <a:defRPr/>
            </a:lvl4pPr>
            <a:lvl5pPr marL="2286000" lvl="4" indent="-381000" rtl="0">
              <a:spcBef>
                <a:spcPts val="400"/>
              </a:spcBef>
              <a:spcAft>
                <a:spcPts val="0"/>
              </a:spcAft>
              <a:buSzPts val="2400"/>
              <a:buChar char="»"/>
              <a:defRPr/>
            </a:lvl5pPr>
            <a:lvl6pPr marL="2743200" lvl="5" indent="-381000" rtl="0">
              <a:spcBef>
                <a:spcPts val="400"/>
              </a:spcBef>
              <a:spcAft>
                <a:spcPts val="0"/>
              </a:spcAft>
              <a:buSzPts val="2400"/>
              <a:buChar char="•"/>
              <a:defRPr/>
            </a:lvl6pPr>
            <a:lvl7pPr marL="3200400" lvl="6" indent="-381000" rtl="0">
              <a:spcBef>
                <a:spcPts val="400"/>
              </a:spcBef>
              <a:spcAft>
                <a:spcPts val="0"/>
              </a:spcAft>
              <a:buSzPts val="2400"/>
              <a:buChar char="•"/>
              <a:defRPr/>
            </a:lvl7pPr>
            <a:lvl8pPr marL="3657600" lvl="7" indent="-381000" rtl="0">
              <a:spcBef>
                <a:spcPts val="400"/>
              </a:spcBef>
              <a:spcAft>
                <a:spcPts val="0"/>
              </a:spcAft>
              <a:buSzPts val="2400"/>
              <a:buChar char="•"/>
              <a:defRPr/>
            </a:lvl8pPr>
            <a:lvl9pPr marL="4114800" lvl="8" indent="-381000" rtl="0">
              <a:spcBef>
                <a:spcPts val="400"/>
              </a:spcBef>
              <a:spcAft>
                <a:spcPts val="0"/>
              </a:spcAft>
              <a:buSzPts val="2400"/>
              <a:buChar char="•"/>
              <a:defRPr/>
            </a:lvl9pPr>
          </a:lstStyle>
          <a:p>
            <a:endParaRPr/>
          </a:p>
        </p:txBody>
      </p:sp>
      <p:sp>
        <p:nvSpPr>
          <p:cNvPr id="105" name="Google Shape;105;p12"/>
          <p:cNvSpPr txBox="1">
            <a:spLocks noGrp="1"/>
          </p:cNvSpPr>
          <p:nvPr>
            <p:ph type="body" idx="3"/>
          </p:nvPr>
        </p:nvSpPr>
        <p:spPr>
          <a:xfrm>
            <a:off x="11172775" y="7905831"/>
            <a:ext cx="6534600" cy="1182000"/>
          </a:xfrm>
          <a:prstGeom prst="rect">
            <a:avLst/>
          </a:prstGeom>
        </p:spPr>
        <p:txBody>
          <a:bodyPr spcFirstLastPara="1" wrap="square" lIns="91425" tIns="45700" rIns="91425" bIns="45700" anchor="t" anchorCtr="0">
            <a:normAutofit/>
          </a:bodyPr>
          <a:lstStyle>
            <a:lvl1pPr marL="457200" lvl="0" indent="-381000" rtl="0">
              <a:spcBef>
                <a:spcPts val="640"/>
              </a:spcBef>
              <a:spcAft>
                <a:spcPts val="0"/>
              </a:spcAft>
              <a:buSzPts val="2400"/>
              <a:buChar char="•"/>
              <a:defRPr/>
            </a:lvl1pPr>
            <a:lvl2pPr marL="914400" lvl="1" indent="-381000" rtl="0">
              <a:spcBef>
                <a:spcPts val="560"/>
              </a:spcBef>
              <a:spcAft>
                <a:spcPts val="0"/>
              </a:spcAft>
              <a:buSzPts val="2400"/>
              <a:buChar char="–"/>
              <a:defRPr/>
            </a:lvl2pPr>
            <a:lvl3pPr marL="1371600" lvl="2" indent="-381000" rtl="0">
              <a:spcBef>
                <a:spcPts val="480"/>
              </a:spcBef>
              <a:spcAft>
                <a:spcPts val="0"/>
              </a:spcAft>
              <a:buSzPts val="2400"/>
              <a:buChar char="•"/>
              <a:defRPr/>
            </a:lvl3pPr>
            <a:lvl4pPr marL="1828800" lvl="3" indent="-381000" rtl="0">
              <a:spcBef>
                <a:spcPts val="400"/>
              </a:spcBef>
              <a:spcAft>
                <a:spcPts val="0"/>
              </a:spcAft>
              <a:buSzPts val="2400"/>
              <a:buChar char="–"/>
              <a:defRPr/>
            </a:lvl4pPr>
            <a:lvl5pPr marL="2286000" lvl="4" indent="-381000" rtl="0">
              <a:spcBef>
                <a:spcPts val="400"/>
              </a:spcBef>
              <a:spcAft>
                <a:spcPts val="0"/>
              </a:spcAft>
              <a:buSzPts val="2400"/>
              <a:buChar char="»"/>
              <a:defRPr/>
            </a:lvl5pPr>
            <a:lvl6pPr marL="2743200" lvl="5" indent="-381000" rtl="0">
              <a:spcBef>
                <a:spcPts val="400"/>
              </a:spcBef>
              <a:spcAft>
                <a:spcPts val="0"/>
              </a:spcAft>
              <a:buSzPts val="2400"/>
              <a:buChar char="•"/>
              <a:defRPr/>
            </a:lvl6pPr>
            <a:lvl7pPr marL="3200400" lvl="6" indent="-381000" rtl="0">
              <a:spcBef>
                <a:spcPts val="400"/>
              </a:spcBef>
              <a:spcAft>
                <a:spcPts val="0"/>
              </a:spcAft>
              <a:buSzPts val="2400"/>
              <a:buChar char="•"/>
              <a:defRPr/>
            </a:lvl7pPr>
            <a:lvl8pPr marL="3657600" lvl="7" indent="-381000" rtl="0">
              <a:spcBef>
                <a:spcPts val="400"/>
              </a:spcBef>
              <a:spcAft>
                <a:spcPts val="0"/>
              </a:spcAft>
              <a:buSzPts val="2400"/>
              <a:buChar char="•"/>
              <a:defRPr/>
            </a:lvl8pPr>
            <a:lvl9pPr marL="4114800" lvl="8" indent="-381000" rtl="0">
              <a:spcBef>
                <a:spcPts val="400"/>
              </a:spcBef>
              <a:spcAft>
                <a:spcPts val="0"/>
              </a:spcAft>
              <a:buSzPts val="24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11">
  <p:cSld name="CUSTOM_10">
    <p:spTree>
      <p:nvGrpSpPr>
        <p:cNvPr id="1" name="Shape 106"/>
        <p:cNvGrpSpPr/>
        <p:nvPr/>
      </p:nvGrpSpPr>
      <p:grpSpPr>
        <a:xfrm>
          <a:off x="0" y="0"/>
          <a:ext cx="0" cy="0"/>
          <a:chOff x="0" y="0"/>
          <a:chExt cx="0" cy="0"/>
        </a:xfrm>
      </p:grpSpPr>
      <p:sp>
        <p:nvSpPr>
          <p:cNvPr id="107" name="Google Shape;107;p13"/>
          <p:cNvSpPr/>
          <p:nvPr/>
        </p:nvSpPr>
        <p:spPr>
          <a:xfrm>
            <a:off x="659586" y="1028700"/>
            <a:ext cx="16968827" cy="5748463"/>
          </a:xfrm>
          <a:custGeom>
            <a:avLst/>
            <a:gdLst/>
            <a:ahLst/>
            <a:cxnLst/>
            <a:rect l="l" t="t" r="r" b="b"/>
            <a:pathLst>
              <a:path w="16968827" h="5748463" extrusionOk="0">
                <a:moveTo>
                  <a:pt x="0" y="0"/>
                </a:moveTo>
                <a:lnTo>
                  <a:pt x="16968828" y="0"/>
                </a:lnTo>
                <a:lnTo>
                  <a:pt x="16968828" y="5748463"/>
                </a:lnTo>
                <a:lnTo>
                  <a:pt x="0" y="5748463"/>
                </a:lnTo>
                <a:lnTo>
                  <a:pt x="0" y="0"/>
                </a:lnTo>
                <a:close/>
              </a:path>
            </a:pathLst>
          </a:custGeom>
          <a:blipFill rotWithShape="1">
            <a:blip r:embed="rId2">
              <a:alphaModFix/>
            </a:blip>
            <a:stretch>
              <a:fillRect l="-189" r="-179"/>
            </a:stretch>
          </a:blipFill>
          <a:ln>
            <a:noFill/>
          </a:ln>
        </p:spPr>
      </p:sp>
      <p:sp>
        <p:nvSpPr>
          <p:cNvPr id="108" name="Google Shape;108;p13"/>
          <p:cNvSpPr txBox="1"/>
          <p:nvPr/>
        </p:nvSpPr>
        <p:spPr>
          <a:xfrm>
            <a:off x="2611023" y="2579664"/>
            <a:ext cx="1073700" cy="1231500"/>
          </a:xfrm>
          <a:prstGeom prst="rect">
            <a:avLst/>
          </a:prstGeom>
          <a:noFill/>
          <a:ln>
            <a:noFill/>
          </a:ln>
        </p:spPr>
        <p:txBody>
          <a:bodyPr spcFirstLastPara="1" wrap="square" lIns="0" tIns="0" rIns="0" bIns="0" anchor="t" anchorCtr="0">
            <a:spAutoFit/>
          </a:bodyPr>
          <a:lstStyle/>
          <a:p>
            <a:pPr marL="0" marR="0" lvl="0" indent="0" algn="ctr" rtl="0">
              <a:lnSpc>
                <a:spcPct val="124000"/>
              </a:lnSpc>
              <a:spcBef>
                <a:spcPts val="0"/>
              </a:spcBef>
              <a:spcAft>
                <a:spcPts val="0"/>
              </a:spcAft>
              <a:buNone/>
            </a:pPr>
            <a:r>
              <a:rPr lang="en-US" sz="8000" b="0" i="0" u="none" strike="noStrike" cap="none">
                <a:solidFill>
                  <a:srgbClr val="C1FF72"/>
                </a:solidFill>
                <a:latin typeface="Oswald"/>
                <a:ea typeface="Oswald"/>
                <a:cs typeface="Oswald"/>
                <a:sym typeface="Oswald"/>
              </a:rPr>
              <a:t>S</a:t>
            </a:r>
            <a:endParaRPr/>
          </a:p>
        </p:txBody>
      </p:sp>
      <p:sp>
        <p:nvSpPr>
          <p:cNvPr id="109" name="Google Shape;109;p13"/>
          <p:cNvSpPr txBox="1"/>
          <p:nvPr/>
        </p:nvSpPr>
        <p:spPr>
          <a:xfrm>
            <a:off x="2070127" y="2028220"/>
            <a:ext cx="2155500" cy="384900"/>
          </a:xfrm>
          <a:prstGeom prst="rect">
            <a:avLst/>
          </a:prstGeom>
          <a:noFill/>
          <a:ln>
            <a:noFill/>
          </a:ln>
        </p:spPr>
        <p:txBody>
          <a:bodyPr spcFirstLastPara="1" wrap="square" lIns="0" tIns="0" rIns="0" bIns="0" anchor="t" anchorCtr="0">
            <a:spAutoFit/>
          </a:bodyPr>
          <a:lstStyle/>
          <a:p>
            <a:pPr marL="0" marR="0" lvl="0" indent="0" algn="ctr" rtl="0">
              <a:lnSpc>
                <a:spcPct val="124000"/>
              </a:lnSpc>
              <a:spcBef>
                <a:spcPts val="0"/>
              </a:spcBef>
              <a:spcAft>
                <a:spcPts val="0"/>
              </a:spcAft>
              <a:buNone/>
            </a:pPr>
            <a:r>
              <a:rPr lang="en-US" sz="2500" b="0" i="0" u="none" strike="noStrike" cap="none">
                <a:solidFill>
                  <a:srgbClr val="D4D4D4"/>
                </a:solidFill>
                <a:latin typeface="Oswald"/>
                <a:ea typeface="Oswald"/>
                <a:cs typeface="Oswald"/>
                <a:sym typeface="Oswald"/>
              </a:rPr>
              <a:t>STRENGTHS</a:t>
            </a:r>
            <a:endParaRPr/>
          </a:p>
        </p:txBody>
      </p:sp>
      <p:sp>
        <p:nvSpPr>
          <p:cNvPr id="110" name="Google Shape;110;p13"/>
          <p:cNvSpPr txBox="1"/>
          <p:nvPr/>
        </p:nvSpPr>
        <p:spPr>
          <a:xfrm>
            <a:off x="14603414" y="2545029"/>
            <a:ext cx="1073700" cy="1231500"/>
          </a:xfrm>
          <a:prstGeom prst="rect">
            <a:avLst/>
          </a:prstGeom>
          <a:noFill/>
          <a:ln>
            <a:noFill/>
          </a:ln>
        </p:spPr>
        <p:txBody>
          <a:bodyPr spcFirstLastPara="1" wrap="square" lIns="0" tIns="0" rIns="0" bIns="0" anchor="t" anchorCtr="0">
            <a:spAutoFit/>
          </a:bodyPr>
          <a:lstStyle/>
          <a:p>
            <a:pPr marL="0" marR="0" lvl="0" indent="0" algn="ctr" rtl="0">
              <a:lnSpc>
                <a:spcPct val="124000"/>
              </a:lnSpc>
              <a:spcBef>
                <a:spcPts val="0"/>
              </a:spcBef>
              <a:spcAft>
                <a:spcPts val="0"/>
              </a:spcAft>
              <a:buNone/>
            </a:pPr>
            <a:r>
              <a:rPr lang="en-US" sz="8000" b="0" i="0" u="none" strike="noStrike" cap="none">
                <a:solidFill>
                  <a:srgbClr val="C1FF72"/>
                </a:solidFill>
                <a:latin typeface="Oswald"/>
                <a:ea typeface="Oswald"/>
                <a:cs typeface="Oswald"/>
                <a:sym typeface="Oswald"/>
              </a:rPr>
              <a:t>T</a:t>
            </a:r>
            <a:endParaRPr/>
          </a:p>
        </p:txBody>
      </p:sp>
      <p:sp>
        <p:nvSpPr>
          <p:cNvPr id="111" name="Google Shape;111;p13"/>
          <p:cNvSpPr txBox="1"/>
          <p:nvPr/>
        </p:nvSpPr>
        <p:spPr>
          <a:xfrm>
            <a:off x="14062517" y="2031224"/>
            <a:ext cx="2155500" cy="384900"/>
          </a:xfrm>
          <a:prstGeom prst="rect">
            <a:avLst/>
          </a:prstGeom>
          <a:noFill/>
          <a:ln>
            <a:noFill/>
          </a:ln>
        </p:spPr>
        <p:txBody>
          <a:bodyPr spcFirstLastPara="1" wrap="square" lIns="0" tIns="0" rIns="0" bIns="0" anchor="t" anchorCtr="0">
            <a:spAutoFit/>
          </a:bodyPr>
          <a:lstStyle/>
          <a:p>
            <a:pPr marL="0" marR="0" lvl="0" indent="0" algn="ctr" rtl="0">
              <a:lnSpc>
                <a:spcPct val="124000"/>
              </a:lnSpc>
              <a:spcBef>
                <a:spcPts val="0"/>
              </a:spcBef>
              <a:spcAft>
                <a:spcPts val="0"/>
              </a:spcAft>
              <a:buNone/>
            </a:pPr>
            <a:r>
              <a:rPr lang="en-US" sz="2500" b="0" i="0" u="none" strike="noStrike" cap="none">
                <a:solidFill>
                  <a:srgbClr val="D4D4D4"/>
                </a:solidFill>
                <a:latin typeface="Oswald"/>
                <a:ea typeface="Oswald"/>
                <a:cs typeface="Oswald"/>
                <a:sym typeface="Oswald"/>
              </a:rPr>
              <a:t>THREATS</a:t>
            </a:r>
            <a:endParaRPr/>
          </a:p>
        </p:txBody>
      </p:sp>
      <p:sp>
        <p:nvSpPr>
          <p:cNvPr id="112" name="Google Shape;112;p13"/>
          <p:cNvSpPr txBox="1"/>
          <p:nvPr/>
        </p:nvSpPr>
        <p:spPr>
          <a:xfrm>
            <a:off x="6696256" y="2580663"/>
            <a:ext cx="1073700" cy="1231500"/>
          </a:xfrm>
          <a:prstGeom prst="rect">
            <a:avLst/>
          </a:prstGeom>
          <a:noFill/>
          <a:ln>
            <a:noFill/>
          </a:ln>
        </p:spPr>
        <p:txBody>
          <a:bodyPr spcFirstLastPara="1" wrap="square" lIns="0" tIns="0" rIns="0" bIns="0" anchor="t" anchorCtr="0">
            <a:spAutoFit/>
          </a:bodyPr>
          <a:lstStyle/>
          <a:p>
            <a:pPr marL="0" marR="0" lvl="0" indent="0" algn="ctr" rtl="0">
              <a:lnSpc>
                <a:spcPct val="124000"/>
              </a:lnSpc>
              <a:spcBef>
                <a:spcPts val="0"/>
              </a:spcBef>
              <a:spcAft>
                <a:spcPts val="0"/>
              </a:spcAft>
              <a:buNone/>
            </a:pPr>
            <a:r>
              <a:rPr lang="en-US" sz="8000" b="0" i="0" u="none" strike="noStrike" cap="none">
                <a:solidFill>
                  <a:srgbClr val="C1FF72"/>
                </a:solidFill>
                <a:latin typeface="Oswald"/>
                <a:ea typeface="Oswald"/>
                <a:cs typeface="Oswald"/>
                <a:sym typeface="Oswald"/>
              </a:rPr>
              <a:t>W</a:t>
            </a:r>
            <a:endParaRPr/>
          </a:p>
        </p:txBody>
      </p:sp>
      <p:sp>
        <p:nvSpPr>
          <p:cNvPr id="113" name="Google Shape;113;p13"/>
          <p:cNvSpPr txBox="1"/>
          <p:nvPr/>
        </p:nvSpPr>
        <p:spPr>
          <a:xfrm>
            <a:off x="5456457" y="2031224"/>
            <a:ext cx="3553200" cy="384900"/>
          </a:xfrm>
          <a:prstGeom prst="rect">
            <a:avLst/>
          </a:prstGeom>
          <a:noFill/>
          <a:ln>
            <a:noFill/>
          </a:ln>
        </p:spPr>
        <p:txBody>
          <a:bodyPr spcFirstLastPara="1" wrap="square" lIns="0" tIns="0" rIns="0" bIns="0" anchor="t" anchorCtr="0">
            <a:spAutoFit/>
          </a:bodyPr>
          <a:lstStyle/>
          <a:p>
            <a:pPr marL="0" marR="0" lvl="0" indent="0" algn="ctr" rtl="0">
              <a:lnSpc>
                <a:spcPct val="124000"/>
              </a:lnSpc>
              <a:spcBef>
                <a:spcPts val="0"/>
              </a:spcBef>
              <a:spcAft>
                <a:spcPts val="0"/>
              </a:spcAft>
              <a:buNone/>
            </a:pPr>
            <a:r>
              <a:rPr lang="en-US" sz="2500" b="0" i="0" u="none" strike="noStrike" cap="none">
                <a:solidFill>
                  <a:srgbClr val="D4D4D4"/>
                </a:solidFill>
                <a:latin typeface="Oswald"/>
                <a:ea typeface="Oswald"/>
                <a:cs typeface="Oswald"/>
                <a:sym typeface="Oswald"/>
              </a:rPr>
              <a:t>WEAKNESSES</a:t>
            </a:r>
            <a:endParaRPr/>
          </a:p>
        </p:txBody>
      </p:sp>
      <p:sp>
        <p:nvSpPr>
          <p:cNvPr id="114" name="Google Shape;114;p13"/>
          <p:cNvSpPr txBox="1"/>
          <p:nvPr/>
        </p:nvSpPr>
        <p:spPr>
          <a:xfrm>
            <a:off x="10781490" y="2580663"/>
            <a:ext cx="1073700" cy="1231500"/>
          </a:xfrm>
          <a:prstGeom prst="rect">
            <a:avLst/>
          </a:prstGeom>
          <a:noFill/>
          <a:ln>
            <a:noFill/>
          </a:ln>
        </p:spPr>
        <p:txBody>
          <a:bodyPr spcFirstLastPara="1" wrap="square" lIns="0" tIns="0" rIns="0" bIns="0" anchor="t" anchorCtr="0">
            <a:spAutoFit/>
          </a:bodyPr>
          <a:lstStyle/>
          <a:p>
            <a:pPr marL="0" marR="0" lvl="0" indent="0" algn="ctr" rtl="0">
              <a:lnSpc>
                <a:spcPct val="124000"/>
              </a:lnSpc>
              <a:spcBef>
                <a:spcPts val="0"/>
              </a:spcBef>
              <a:spcAft>
                <a:spcPts val="0"/>
              </a:spcAft>
              <a:buNone/>
            </a:pPr>
            <a:r>
              <a:rPr lang="en-US" sz="8000" b="0" i="0" u="none" strike="noStrike" cap="none">
                <a:solidFill>
                  <a:srgbClr val="C1FF72"/>
                </a:solidFill>
                <a:latin typeface="Oswald"/>
                <a:ea typeface="Oswald"/>
                <a:cs typeface="Oswald"/>
                <a:sym typeface="Oswald"/>
              </a:rPr>
              <a:t>O</a:t>
            </a:r>
            <a:endParaRPr/>
          </a:p>
        </p:txBody>
      </p:sp>
      <p:sp>
        <p:nvSpPr>
          <p:cNvPr id="115" name="Google Shape;115;p13"/>
          <p:cNvSpPr txBox="1"/>
          <p:nvPr/>
        </p:nvSpPr>
        <p:spPr>
          <a:xfrm>
            <a:off x="9972710" y="2031224"/>
            <a:ext cx="2691000" cy="384900"/>
          </a:xfrm>
          <a:prstGeom prst="rect">
            <a:avLst/>
          </a:prstGeom>
          <a:noFill/>
          <a:ln>
            <a:noFill/>
          </a:ln>
        </p:spPr>
        <p:txBody>
          <a:bodyPr spcFirstLastPara="1" wrap="square" lIns="0" tIns="0" rIns="0" bIns="0" anchor="t" anchorCtr="0">
            <a:spAutoFit/>
          </a:bodyPr>
          <a:lstStyle/>
          <a:p>
            <a:pPr marL="0" marR="0" lvl="0" indent="0" algn="ctr" rtl="0">
              <a:lnSpc>
                <a:spcPct val="124000"/>
              </a:lnSpc>
              <a:spcBef>
                <a:spcPts val="0"/>
              </a:spcBef>
              <a:spcAft>
                <a:spcPts val="0"/>
              </a:spcAft>
              <a:buNone/>
            </a:pPr>
            <a:r>
              <a:rPr lang="en-US" sz="2500" b="0" i="0" u="none" strike="noStrike" cap="none">
                <a:solidFill>
                  <a:srgbClr val="D4D4D4"/>
                </a:solidFill>
                <a:latin typeface="Oswald"/>
                <a:ea typeface="Oswald"/>
                <a:cs typeface="Oswald"/>
                <a:sym typeface="Oswald"/>
              </a:rPr>
              <a:t>OPPORTUNITIES</a:t>
            </a:r>
            <a:endParaRPr/>
          </a:p>
        </p:txBody>
      </p:sp>
      <p:cxnSp>
        <p:nvCxnSpPr>
          <p:cNvPr id="116" name="Google Shape;116;p13"/>
          <p:cNvCxnSpPr/>
          <p:nvPr/>
        </p:nvCxnSpPr>
        <p:spPr>
          <a:xfrm rot="10800000">
            <a:off x="9144000" y="2083956"/>
            <a:ext cx="0" cy="3807300"/>
          </a:xfrm>
          <a:prstGeom prst="straightConnector1">
            <a:avLst/>
          </a:prstGeom>
          <a:noFill/>
          <a:ln w="19050" cap="flat" cmpd="sng">
            <a:solidFill>
              <a:srgbClr val="D4D4D4"/>
            </a:solidFill>
            <a:prstDash val="solid"/>
            <a:round/>
            <a:headEnd type="none" w="sm" len="sm"/>
            <a:tailEnd type="none" w="sm" len="sm"/>
          </a:ln>
        </p:spPr>
      </p:cxnSp>
      <p:cxnSp>
        <p:nvCxnSpPr>
          <p:cNvPr id="117" name="Google Shape;117;p13"/>
          <p:cNvCxnSpPr/>
          <p:nvPr/>
        </p:nvCxnSpPr>
        <p:spPr>
          <a:xfrm rot="10800000">
            <a:off x="5147963" y="2083956"/>
            <a:ext cx="0" cy="3807300"/>
          </a:xfrm>
          <a:prstGeom prst="straightConnector1">
            <a:avLst/>
          </a:prstGeom>
          <a:noFill/>
          <a:ln w="19050" cap="flat" cmpd="sng">
            <a:solidFill>
              <a:srgbClr val="D4D4D4"/>
            </a:solidFill>
            <a:prstDash val="solid"/>
            <a:round/>
            <a:headEnd type="none" w="sm" len="sm"/>
            <a:tailEnd type="none" w="sm" len="sm"/>
          </a:ln>
        </p:spPr>
      </p:cxnSp>
      <p:cxnSp>
        <p:nvCxnSpPr>
          <p:cNvPr id="118" name="Google Shape;118;p13"/>
          <p:cNvCxnSpPr/>
          <p:nvPr/>
        </p:nvCxnSpPr>
        <p:spPr>
          <a:xfrm rot="10800000">
            <a:off x="13140037" y="2083956"/>
            <a:ext cx="0" cy="3807300"/>
          </a:xfrm>
          <a:prstGeom prst="straightConnector1">
            <a:avLst/>
          </a:prstGeom>
          <a:noFill/>
          <a:ln w="19050" cap="flat" cmpd="sng">
            <a:solidFill>
              <a:srgbClr val="D4D4D4"/>
            </a:solidFill>
            <a:prstDash val="solid"/>
            <a:round/>
            <a:headEnd type="none" w="sm" len="sm"/>
            <a:tailEnd type="none" w="sm" len="sm"/>
          </a:ln>
        </p:spPr>
      </p:cxnSp>
      <p:sp>
        <p:nvSpPr>
          <p:cNvPr id="119" name="Google Shape;119;p13"/>
          <p:cNvSpPr txBox="1">
            <a:spLocks noGrp="1"/>
          </p:cNvSpPr>
          <p:nvPr>
            <p:ph type="title"/>
          </p:nvPr>
        </p:nvSpPr>
        <p:spPr>
          <a:xfrm>
            <a:off x="1504350" y="7676731"/>
            <a:ext cx="15279300" cy="1719900"/>
          </a:xfrm>
          <a:prstGeom prst="rect">
            <a:avLst/>
          </a:prstGeom>
        </p:spPr>
        <p:txBody>
          <a:bodyPr spcFirstLastPara="1" wrap="square" lIns="91425" tIns="45700" rIns="91425" bIns="45700" anchor="t" anchorCtr="0">
            <a:normAutofit/>
          </a:bodyPr>
          <a:lstStyle>
            <a:lvl1pPr lvl="0" algn="ctr" rtl="0">
              <a:spcBef>
                <a:spcPts val="0"/>
              </a:spcBef>
              <a:spcAft>
                <a:spcPts val="0"/>
              </a:spcAft>
              <a:buClr>
                <a:srgbClr val="D4D4D4"/>
              </a:buClr>
              <a:buSzPts val="8950"/>
              <a:buNone/>
              <a:defRPr sz="8950" b="1">
                <a:solidFill>
                  <a:srgbClr val="D4D4D4"/>
                </a:solidFill>
              </a:defRPr>
            </a:lvl1pPr>
            <a:lvl2pPr lvl="1" rtl="0">
              <a:spcBef>
                <a:spcPts val="0"/>
              </a:spcBef>
              <a:spcAft>
                <a:spcPts val="0"/>
              </a:spcAft>
              <a:buSzPts val="8950"/>
              <a:buNone/>
              <a:defRPr sz="8950"/>
            </a:lvl2pPr>
            <a:lvl3pPr lvl="2" rtl="0">
              <a:spcBef>
                <a:spcPts val="0"/>
              </a:spcBef>
              <a:spcAft>
                <a:spcPts val="0"/>
              </a:spcAft>
              <a:buSzPts val="8950"/>
              <a:buNone/>
              <a:defRPr sz="8950"/>
            </a:lvl3pPr>
            <a:lvl4pPr lvl="3" rtl="0">
              <a:spcBef>
                <a:spcPts val="0"/>
              </a:spcBef>
              <a:spcAft>
                <a:spcPts val="0"/>
              </a:spcAft>
              <a:buSzPts val="8950"/>
              <a:buNone/>
              <a:defRPr sz="8950"/>
            </a:lvl4pPr>
            <a:lvl5pPr lvl="4" rtl="0">
              <a:spcBef>
                <a:spcPts val="0"/>
              </a:spcBef>
              <a:spcAft>
                <a:spcPts val="0"/>
              </a:spcAft>
              <a:buSzPts val="8950"/>
              <a:buNone/>
              <a:defRPr sz="8950"/>
            </a:lvl5pPr>
            <a:lvl6pPr lvl="5" rtl="0">
              <a:spcBef>
                <a:spcPts val="0"/>
              </a:spcBef>
              <a:spcAft>
                <a:spcPts val="0"/>
              </a:spcAft>
              <a:buSzPts val="8950"/>
              <a:buNone/>
              <a:defRPr sz="8950"/>
            </a:lvl6pPr>
            <a:lvl7pPr lvl="6" rtl="0">
              <a:spcBef>
                <a:spcPts val="0"/>
              </a:spcBef>
              <a:spcAft>
                <a:spcPts val="0"/>
              </a:spcAft>
              <a:buSzPts val="8950"/>
              <a:buNone/>
              <a:defRPr sz="8950"/>
            </a:lvl7pPr>
            <a:lvl8pPr lvl="7" rtl="0">
              <a:spcBef>
                <a:spcPts val="0"/>
              </a:spcBef>
              <a:spcAft>
                <a:spcPts val="0"/>
              </a:spcAft>
              <a:buSzPts val="8950"/>
              <a:buNone/>
              <a:defRPr sz="8950"/>
            </a:lvl8pPr>
            <a:lvl9pPr lvl="8" rtl="0">
              <a:spcBef>
                <a:spcPts val="0"/>
              </a:spcBef>
              <a:spcAft>
                <a:spcPts val="0"/>
              </a:spcAft>
              <a:buSzPts val="8950"/>
              <a:buNone/>
              <a:defRPr sz="8950"/>
            </a:lvl9pPr>
          </a:lstStyle>
          <a:p>
            <a:endParaRPr/>
          </a:p>
        </p:txBody>
      </p:sp>
      <p:sp>
        <p:nvSpPr>
          <p:cNvPr id="120" name="Google Shape;120;p13"/>
          <p:cNvSpPr txBox="1">
            <a:spLocks noGrp="1"/>
          </p:cNvSpPr>
          <p:nvPr>
            <p:ph type="body" idx="1"/>
          </p:nvPr>
        </p:nvSpPr>
        <p:spPr>
          <a:xfrm>
            <a:off x="1719275" y="4010125"/>
            <a:ext cx="2856900" cy="1881000"/>
          </a:xfrm>
          <a:prstGeom prst="rect">
            <a:avLst/>
          </a:prstGeom>
        </p:spPr>
        <p:txBody>
          <a:bodyPr spcFirstLastPara="1" wrap="square" lIns="91425" tIns="45700" rIns="91425" bIns="45700" anchor="t" anchorCtr="0">
            <a:normAutofit/>
          </a:bodyPr>
          <a:lstStyle>
            <a:lvl1pPr marL="457200" lvl="0" indent="-352425" algn="ctr" rtl="0">
              <a:spcBef>
                <a:spcPts val="640"/>
              </a:spcBef>
              <a:spcAft>
                <a:spcPts val="0"/>
              </a:spcAft>
              <a:buSzPts val="1950"/>
              <a:buChar char="•"/>
              <a:defRPr sz="1950"/>
            </a:lvl1pPr>
            <a:lvl2pPr marL="914400" lvl="1" indent="-352425" algn="ctr" rtl="0">
              <a:spcBef>
                <a:spcPts val="560"/>
              </a:spcBef>
              <a:spcAft>
                <a:spcPts val="0"/>
              </a:spcAft>
              <a:buSzPts val="1950"/>
              <a:buChar char="–"/>
              <a:defRPr sz="1950"/>
            </a:lvl2pPr>
            <a:lvl3pPr marL="1371600" lvl="2" indent="-352425" algn="ctr" rtl="0">
              <a:spcBef>
                <a:spcPts val="480"/>
              </a:spcBef>
              <a:spcAft>
                <a:spcPts val="0"/>
              </a:spcAft>
              <a:buSzPts val="1950"/>
              <a:buChar char="•"/>
              <a:defRPr sz="1950"/>
            </a:lvl3pPr>
            <a:lvl4pPr marL="1828800" lvl="3" indent="-352425" algn="ctr" rtl="0">
              <a:spcBef>
                <a:spcPts val="400"/>
              </a:spcBef>
              <a:spcAft>
                <a:spcPts val="0"/>
              </a:spcAft>
              <a:buSzPts val="1950"/>
              <a:buChar char="–"/>
              <a:defRPr sz="1950"/>
            </a:lvl4pPr>
            <a:lvl5pPr marL="2286000" lvl="4" indent="-352425" algn="ctr" rtl="0">
              <a:spcBef>
                <a:spcPts val="400"/>
              </a:spcBef>
              <a:spcAft>
                <a:spcPts val="0"/>
              </a:spcAft>
              <a:buSzPts val="1950"/>
              <a:buChar char="»"/>
              <a:defRPr sz="1950"/>
            </a:lvl5pPr>
            <a:lvl6pPr marL="2743200" lvl="5" indent="-352425" algn="ctr" rtl="0">
              <a:spcBef>
                <a:spcPts val="400"/>
              </a:spcBef>
              <a:spcAft>
                <a:spcPts val="0"/>
              </a:spcAft>
              <a:buSzPts val="1950"/>
              <a:buChar char="•"/>
              <a:defRPr sz="1950"/>
            </a:lvl6pPr>
            <a:lvl7pPr marL="3200400" lvl="6" indent="-352425" algn="ctr" rtl="0">
              <a:spcBef>
                <a:spcPts val="400"/>
              </a:spcBef>
              <a:spcAft>
                <a:spcPts val="0"/>
              </a:spcAft>
              <a:buSzPts val="1950"/>
              <a:buChar char="•"/>
              <a:defRPr sz="1950"/>
            </a:lvl7pPr>
            <a:lvl8pPr marL="3657600" lvl="7" indent="-352425" algn="ctr" rtl="0">
              <a:spcBef>
                <a:spcPts val="400"/>
              </a:spcBef>
              <a:spcAft>
                <a:spcPts val="0"/>
              </a:spcAft>
              <a:buSzPts val="1950"/>
              <a:buChar char="•"/>
              <a:defRPr sz="1950"/>
            </a:lvl8pPr>
            <a:lvl9pPr marL="4114800" lvl="8" indent="-352425" algn="ctr" rtl="0">
              <a:spcBef>
                <a:spcPts val="400"/>
              </a:spcBef>
              <a:spcAft>
                <a:spcPts val="0"/>
              </a:spcAft>
              <a:buSzPts val="1950"/>
              <a:buChar char="•"/>
              <a:defRPr sz="1950"/>
            </a:lvl9pPr>
          </a:lstStyle>
          <a:p>
            <a:endParaRPr/>
          </a:p>
        </p:txBody>
      </p:sp>
      <p:sp>
        <p:nvSpPr>
          <p:cNvPr id="121" name="Google Shape;121;p13"/>
          <p:cNvSpPr txBox="1">
            <a:spLocks noGrp="1"/>
          </p:cNvSpPr>
          <p:nvPr>
            <p:ph type="body" idx="2"/>
          </p:nvPr>
        </p:nvSpPr>
        <p:spPr>
          <a:xfrm>
            <a:off x="5804650" y="4010125"/>
            <a:ext cx="2856900" cy="1881000"/>
          </a:xfrm>
          <a:prstGeom prst="rect">
            <a:avLst/>
          </a:prstGeom>
        </p:spPr>
        <p:txBody>
          <a:bodyPr spcFirstLastPara="1" wrap="square" lIns="91425" tIns="45700" rIns="91425" bIns="45700" anchor="t" anchorCtr="0">
            <a:normAutofit/>
          </a:bodyPr>
          <a:lstStyle>
            <a:lvl1pPr marL="457200" lvl="0" indent="-352425" algn="ctr" rtl="0">
              <a:spcBef>
                <a:spcPts val="640"/>
              </a:spcBef>
              <a:spcAft>
                <a:spcPts val="0"/>
              </a:spcAft>
              <a:buSzPts val="1950"/>
              <a:buChar char="•"/>
              <a:defRPr sz="1950"/>
            </a:lvl1pPr>
            <a:lvl2pPr marL="914400" lvl="1" indent="-352425" algn="ctr" rtl="0">
              <a:spcBef>
                <a:spcPts val="560"/>
              </a:spcBef>
              <a:spcAft>
                <a:spcPts val="0"/>
              </a:spcAft>
              <a:buSzPts val="1950"/>
              <a:buChar char="–"/>
              <a:defRPr sz="1950"/>
            </a:lvl2pPr>
            <a:lvl3pPr marL="1371600" lvl="2" indent="-352425" algn="ctr" rtl="0">
              <a:spcBef>
                <a:spcPts val="480"/>
              </a:spcBef>
              <a:spcAft>
                <a:spcPts val="0"/>
              </a:spcAft>
              <a:buSzPts val="1950"/>
              <a:buChar char="•"/>
              <a:defRPr sz="1950"/>
            </a:lvl3pPr>
            <a:lvl4pPr marL="1828800" lvl="3" indent="-352425" algn="ctr" rtl="0">
              <a:spcBef>
                <a:spcPts val="400"/>
              </a:spcBef>
              <a:spcAft>
                <a:spcPts val="0"/>
              </a:spcAft>
              <a:buSzPts val="1950"/>
              <a:buChar char="–"/>
              <a:defRPr sz="1950"/>
            </a:lvl4pPr>
            <a:lvl5pPr marL="2286000" lvl="4" indent="-352425" algn="ctr" rtl="0">
              <a:spcBef>
                <a:spcPts val="400"/>
              </a:spcBef>
              <a:spcAft>
                <a:spcPts val="0"/>
              </a:spcAft>
              <a:buSzPts val="1950"/>
              <a:buChar char="»"/>
              <a:defRPr sz="1950"/>
            </a:lvl5pPr>
            <a:lvl6pPr marL="2743200" lvl="5" indent="-352425" algn="ctr" rtl="0">
              <a:spcBef>
                <a:spcPts val="400"/>
              </a:spcBef>
              <a:spcAft>
                <a:spcPts val="0"/>
              </a:spcAft>
              <a:buSzPts val="1950"/>
              <a:buChar char="•"/>
              <a:defRPr sz="1950"/>
            </a:lvl6pPr>
            <a:lvl7pPr marL="3200400" lvl="6" indent="-352425" algn="ctr" rtl="0">
              <a:spcBef>
                <a:spcPts val="400"/>
              </a:spcBef>
              <a:spcAft>
                <a:spcPts val="0"/>
              </a:spcAft>
              <a:buSzPts val="1950"/>
              <a:buChar char="•"/>
              <a:defRPr sz="1950"/>
            </a:lvl7pPr>
            <a:lvl8pPr marL="3657600" lvl="7" indent="-352425" algn="ctr" rtl="0">
              <a:spcBef>
                <a:spcPts val="400"/>
              </a:spcBef>
              <a:spcAft>
                <a:spcPts val="0"/>
              </a:spcAft>
              <a:buSzPts val="1950"/>
              <a:buChar char="•"/>
              <a:defRPr sz="1950"/>
            </a:lvl8pPr>
            <a:lvl9pPr marL="4114800" lvl="8" indent="-352425" algn="ctr" rtl="0">
              <a:spcBef>
                <a:spcPts val="400"/>
              </a:spcBef>
              <a:spcAft>
                <a:spcPts val="0"/>
              </a:spcAft>
              <a:buSzPts val="1950"/>
              <a:buChar char="•"/>
              <a:defRPr sz="1950"/>
            </a:lvl9pPr>
          </a:lstStyle>
          <a:p>
            <a:endParaRPr/>
          </a:p>
        </p:txBody>
      </p:sp>
      <p:sp>
        <p:nvSpPr>
          <p:cNvPr id="122" name="Google Shape;122;p13"/>
          <p:cNvSpPr txBox="1">
            <a:spLocks noGrp="1"/>
          </p:cNvSpPr>
          <p:nvPr>
            <p:ph type="body" idx="3"/>
          </p:nvPr>
        </p:nvSpPr>
        <p:spPr>
          <a:xfrm>
            <a:off x="9713563" y="4010125"/>
            <a:ext cx="2856900" cy="1881000"/>
          </a:xfrm>
          <a:prstGeom prst="rect">
            <a:avLst/>
          </a:prstGeom>
        </p:spPr>
        <p:txBody>
          <a:bodyPr spcFirstLastPara="1" wrap="square" lIns="91425" tIns="45700" rIns="91425" bIns="45700" anchor="t" anchorCtr="0">
            <a:normAutofit/>
          </a:bodyPr>
          <a:lstStyle>
            <a:lvl1pPr marL="457200" lvl="0" indent="-352425" algn="ctr" rtl="0">
              <a:spcBef>
                <a:spcPts val="640"/>
              </a:spcBef>
              <a:spcAft>
                <a:spcPts val="0"/>
              </a:spcAft>
              <a:buSzPts val="1950"/>
              <a:buChar char="•"/>
              <a:defRPr sz="1950"/>
            </a:lvl1pPr>
            <a:lvl2pPr marL="914400" lvl="1" indent="-352425" algn="ctr" rtl="0">
              <a:spcBef>
                <a:spcPts val="560"/>
              </a:spcBef>
              <a:spcAft>
                <a:spcPts val="0"/>
              </a:spcAft>
              <a:buSzPts val="1950"/>
              <a:buChar char="–"/>
              <a:defRPr sz="1950"/>
            </a:lvl2pPr>
            <a:lvl3pPr marL="1371600" lvl="2" indent="-352425" algn="ctr" rtl="0">
              <a:spcBef>
                <a:spcPts val="480"/>
              </a:spcBef>
              <a:spcAft>
                <a:spcPts val="0"/>
              </a:spcAft>
              <a:buSzPts val="1950"/>
              <a:buChar char="•"/>
              <a:defRPr sz="1950"/>
            </a:lvl3pPr>
            <a:lvl4pPr marL="1828800" lvl="3" indent="-352425" algn="ctr" rtl="0">
              <a:spcBef>
                <a:spcPts val="400"/>
              </a:spcBef>
              <a:spcAft>
                <a:spcPts val="0"/>
              </a:spcAft>
              <a:buSzPts val="1950"/>
              <a:buChar char="–"/>
              <a:defRPr sz="1950"/>
            </a:lvl4pPr>
            <a:lvl5pPr marL="2286000" lvl="4" indent="-352425" algn="ctr" rtl="0">
              <a:spcBef>
                <a:spcPts val="400"/>
              </a:spcBef>
              <a:spcAft>
                <a:spcPts val="0"/>
              </a:spcAft>
              <a:buSzPts val="1950"/>
              <a:buChar char="»"/>
              <a:defRPr sz="1950"/>
            </a:lvl5pPr>
            <a:lvl6pPr marL="2743200" lvl="5" indent="-352425" algn="ctr" rtl="0">
              <a:spcBef>
                <a:spcPts val="400"/>
              </a:spcBef>
              <a:spcAft>
                <a:spcPts val="0"/>
              </a:spcAft>
              <a:buSzPts val="1950"/>
              <a:buChar char="•"/>
              <a:defRPr sz="1950"/>
            </a:lvl6pPr>
            <a:lvl7pPr marL="3200400" lvl="6" indent="-352425" algn="ctr" rtl="0">
              <a:spcBef>
                <a:spcPts val="400"/>
              </a:spcBef>
              <a:spcAft>
                <a:spcPts val="0"/>
              </a:spcAft>
              <a:buSzPts val="1950"/>
              <a:buChar char="•"/>
              <a:defRPr sz="1950"/>
            </a:lvl7pPr>
            <a:lvl8pPr marL="3657600" lvl="7" indent="-352425" algn="ctr" rtl="0">
              <a:spcBef>
                <a:spcPts val="400"/>
              </a:spcBef>
              <a:spcAft>
                <a:spcPts val="0"/>
              </a:spcAft>
              <a:buSzPts val="1950"/>
              <a:buChar char="•"/>
              <a:defRPr sz="1950"/>
            </a:lvl8pPr>
            <a:lvl9pPr marL="4114800" lvl="8" indent="-352425" algn="ctr" rtl="0">
              <a:spcBef>
                <a:spcPts val="400"/>
              </a:spcBef>
              <a:spcAft>
                <a:spcPts val="0"/>
              </a:spcAft>
              <a:buSzPts val="1950"/>
              <a:buChar char="•"/>
              <a:defRPr sz="1950"/>
            </a:lvl9pPr>
          </a:lstStyle>
          <a:p>
            <a:endParaRPr/>
          </a:p>
        </p:txBody>
      </p:sp>
      <p:sp>
        <p:nvSpPr>
          <p:cNvPr id="123" name="Google Shape;123;p13"/>
          <p:cNvSpPr txBox="1">
            <a:spLocks noGrp="1"/>
          </p:cNvSpPr>
          <p:nvPr>
            <p:ph type="body" idx="4"/>
          </p:nvPr>
        </p:nvSpPr>
        <p:spPr>
          <a:xfrm>
            <a:off x="13622488" y="4010125"/>
            <a:ext cx="2856900" cy="1881000"/>
          </a:xfrm>
          <a:prstGeom prst="rect">
            <a:avLst/>
          </a:prstGeom>
        </p:spPr>
        <p:txBody>
          <a:bodyPr spcFirstLastPara="1" wrap="square" lIns="91425" tIns="45700" rIns="91425" bIns="45700" anchor="t" anchorCtr="0">
            <a:normAutofit/>
          </a:bodyPr>
          <a:lstStyle>
            <a:lvl1pPr marL="457200" lvl="0" indent="-352425" algn="ctr" rtl="0">
              <a:spcBef>
                <a:spcPts val="640"/>
              </a:spcBef>
              <a:spcAft>
                <a:spcPts val="0"/>
              </a:spcAft>
              <a:buSzPts val="1950"/>
              <a:buChar char="•"/>
              <a:defRPr sz="1950"/>
            </a:lvl1pPr>
            <a:lvl2pPr marL="914400" lvl="1" indent="-352425" algn="ctr" rtl="0">
              <a:spcBef>
                <a:spcPts val="560"/>
              </a:spcBef>
              <a:spcAft>
                <a:spcPts val="0"/>
              </a:spcAft>
              <a:buSzPts val="1950"/>
              <a:buChar char="–"/>
              <a:defRPr sz="1950"/>
            </a:lvl2pPr>
            <a:lvl3pPr marL="1371600" lvl="2" indent="-352425" algn="ctr" rtl="0">
              <a:spcBef>
                <a:spcPts val="480"/>
              </a:spcBef>
              <a:spcAft>
                <a:spcPts val="0"/>
              </a:spcAft>
              <a:buSzPts val="1950"/>
              <a:buChar char="•"/>
              <a:defRPr sz="1950"/>
            </a:lvl3pPr>
            <a:lvl4pPr marL="1828800" lvl="3" indent="-352425" algn="ctr" rtl="0">
              <a:spcBef>
                <a:spcPts val="400"/>
              </a:spcBef>
              <a:spcAft>
                <a:spcPts val="0"/>
              </a:spcAft>
              <a:buSzPts val="1950"/>
              <a:buChar char="–"/>
              <a:defRPr sz="1950"/>
            </a:lvl4pPr>
            <a:lvl5pPr marL="2286000" lvl="4" indent="-352425" algn="ctr" rtl="0">
              <a:spcBef>
                <a:spcPts val="400"/>
              </a:spcBef>
              <a:spcAft>
                <a:spcPts val="0"/>
              </a:spcAft>
              <a:buSzPts val="1950"/>
              <a:buChar char="»"/>
              <a:defRPr sz="1950"/>
            </a:lvl5pPr>
            <a:lvl6pPr marL="2743200" lvl="5" indent="-352425" algn="ctr" rtl="0">
              <a:spcBef>
                <a:spcPts val="400"/>
              </a:spcBef>
              <a:spcAft>
                <a:spcPts val="0"/>
              </a:spcAft>
              <a:buSzPts val="1950"/>
              <a:buChar char="•"/>
              <a:defRPr sz="1950"/>
            </a:lvl6pPr>
            <a:lvl7pPr marL="3200400" lvl="6" indent="-352425" algn="ctr" rtl="0">
              <a:spcBef>
                <a:spcPts val="400"/>
              </a:spcBef>
              <a:spcAft>
                <a:spcPts val="0"/>
              </a:spcAft>
              <a:buSzPts val="1950"/>
              <a:buChar char="•"/>
              <a:defRPr sz="1950"/>
            </a:lvl7pPr>
            <a:lvl8pPr marL="3657600" lvl="7" indent="-352425" algn="ctr" rtl="0">
              <a:spcBef>
                <a:spcPts val="400"/>
              </a:spcBef>
              <a:spcAft>
                <a:spcPts val="0"/>
              </a:spcAft>
              <a:buSzPts val="1950"/>
              <a:buChar char="•"/>
              <a:defRPr sz="1950"/>
            </a:lvl8pPr>
            <a:lvl9pPr marL="4114800" lvl="8" indent="-352425" algn="ctr" rtl="0">
              <a:spcBef>
                <a:spcPts val="400"/>
              </a:spcBef>
              <a:spcAft>
                <a:spcPts val="0"/>
              </a:spcAft>
              <a:buSzPts val="1950"/>
              <a:buChar char="•"/>
              <a:defRPr sz="195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 Layout 12">
  <p:cSld name="CUSTOM_11">
    <p:spTree>
      <p:nvGrpSpPr>
        <p:cNvPr id="1" name="Shape 124"/>
        <p:cNvGrpSpPr/>
        <p:nvPr/>
      </p:nvGrpSpPr>
      <p:grpSpPr>
        <a:xfrm>
          <a:off x="0" y="0"/>
          <a:ext cx="0" cy="0"/>
          <a:chOff x="0" y="0"/>
          <a:chExt cx="0" cy="0"/>
        </a:xfrm>
      </p:grpSpPr>
      <p:sp>
        <p:nvSpPr>
          <p:cNvPr id="125" name="Google Shape;125;p14"/>
          <p:cNvSpPr>
            <a:spLocks noGrp="1"/>
          </p:cNvSpPr>
          <p:nvPr>
            <p:ph type="pic" idx="2"/>
          </p:nvPr>
        </p:nvSpPr>
        <p:spPr>
          <a:xfrm>
            <a:off x="7794475" y="3226125"/>
            <a:ext cx="10493400" cy="7060800"/>
          </a:xfrm>
          <a:prstGeom prst="rect">
            <a:avLst/>
          </a:prstGeom>
          <a:noFill/>
          <a:ln>
            <a:noFill/>
          </a:ln>
        </p:spPr>
      </p:sp>
      <p:pic>
        <p:nvPicPr>
          <p:cNvPr id="126" name="Google Shape;126;p14"/>
          <p:cNvPicPr preferRelativeResize="0"/>
          <p:nvPr/>
        </p:nvPicPr>
        <p:blipFill rotWithShape="1">
          <a:blip r:embed="rId2">
            <a:alphaModFix/>
          </a:blip>
          <a:srcRect l="28143" t="15739" r="33917"/>
          <a:stretch/>
        </p:blipFill>
        <p:spPr>
          <a:xfrm>
            <a:off x="0" y="0"/>
            <a:ext cx="18288000" cy="5949400"/>
          </a:xfrm>
          <a:prstGeom prst="rect">
            <a:avLst/>
          </a:prstGeom>
          <a:noFill/>
          <a:ln>
            <a:noFill/>
          </a:ln>
        </p:spPr>
      </p:pic>
      <p:sp>
        <p:nvSpPr>
          <p:cNvPr id="127" name="Google Shape;127;p14"/>
          <p:cNvSpPr txBox="1">
            <a:spLocks noGrp="1"/>
          </p:cNvSpPr>
          <p:nvPr>
            <p:ph type="title"/>
          </p:nvPr>
        </p:nvSpPr>
        <p:spPr>
          <a:xfrm>
            <a:off x="971550" y="1306450"/>
            <a:ext cx="16344900" cy="1143000"/>
          </a:xfrm>
          <a:prstGeom prst="rect">
            <a:avLst/>
          </a:prstGeom>
        </p:spPr>
        <p:txBody>
          <a:bodyPr spcFirstLastPara="1" wrap="square" lIns="91425" tIns="45700" rIns="91425" bIns="45700" anchor="t" anchorCtr="0">
            <a:normAutofit/>
          </a:bodyPr>
          <a:lstStyle>
            <a:lvl1pPr lvl="0" algn="ctr">
              <a:spcBef>
                <a:spcPts val="0"/>
              </a:spcBef>
              <a:spcAft>
                <a:spcPts val="0"/>
              </a:spcAft>
              <a:buSzPts val="9950"/>
              <a:buNone/>
              <a:defRPr sz="9950" b="1"/>
            </a:lvl1pPr>
            <a:lvl2pPr lvl="1">
              <a:spcBef>
                <a:spcPts val="0"/>
              </a:spcBef>
              <a:spcAft>
                <a:spcPts val="0"/>
              </a:spcAft>
              <a:buSzPts val="10000"/>
              <a:buNone/>
              <a:defRPr/>
            </a:lvl2pPr>
            <a:lvl3pPr lvl="2">
              <a:spcBef>
                <a:spcPts val="0"/>
              </a:spcBef>
              <a:spcAft>
                <a:spcPts val="0"/>
              </a:spcAft>
              <a:buSzPts val="10000"/>
              <a:buNone/>
              <a:defRPr/>
            </a:lvl3pPr>
            <a:lvl4pPr lvl="3">
              <a:spcBef>
                <a:spcPts val="0"/>
              </a:spcBef>
              <a:spcAft>
                <a:spcPts val="0"/>
              </a:spcAft>
              <a:buSzPts val="10000"/>
              <a:buNone/>
              <a:defRPr/>
            </a:lvl4pPr>
            <a:lvl5pPr lvl="4">
              <a:spcBef>
                <a:spcPts val="0"/>
              </a:spcBef>
              <a:spcAft>
                <a:spcPts val="0"/>
              </a:spcAft>
              <a:buSzPts val="10000"/>
              <a:buNone/>
              <a:defRPr/>
            </a:lvl5pPr>
            <a:lvl6pPr lvl="5">
              <a:spcBef>
                <a:spcPts val="0"/>
              </a:spcBef>
              <a:spcAft>
                <a:spcPts val="0"/>
              </a:spcAft>
              <a:buSzPts val="10000"/>
              <a:buNone/>
              <a:defRPr/>
            </a:lvl6pPr>
            <a:lvl7pPr lvl="6">
              <a:spcBef>
                <a:spcPts val="0"/>
              </a:spcBef>
              <a:spcAft>
                <a:spcPts val="0"/>
              </a:spcAft>
              <a:buSzPts val="10000"/>
              <a:buNone/>
              <a:defRPr/>
            </a:lvl7pPr>
            <a:lvl8pPr lvl="7">
              <a:spcBef>
                <a:spcPts val="0"/>
              </a:spcBef>
              <a:spcAft>
                <a:spcPts val="0"/>
              </a:spcAft>
              <a:buSzPts val="10000"/>
              <a:buNone/>
              <a:defRPr/>
            </a:lvl8pPr>
            <a:lvl9pPr lvl="8">
              <a:spcBef>
                <a:spcPts val="0"/>
              </a:spcBef>
              <a:spcAft>
                <a:spcPts val="0"/>
              </a:spcAft>
              <a:buSzPts val="10000"/>
              <a:buNone/>
              <a:defRPr/>
            </a:lvl9pPr>
          </a:lstStyle>
          <a:p>
            <a:endParaRPr/>
          </a:p>
        </p:txBody>
      </p:sp>
      <p:sp>
        <p:nvSpPr>
          <p:cNvPr id="128" name="Google Shape;128;p14"/>
          <p:cNvSpPr txBox="1">
            <a:spLocks noGrp="1"/>
          </p:cNvSpPr>
          <p:nvPr>
            <p:ph type="body" idx="1"/>
          </p:nvPr>
        </p:nvSpPr>
        <p:spPr>
          <a:xfrm>
            <a:off x="1282200" y="5690050"/>
            <a:ext cx="5226600" cy="3973800"/>
          </a:xfrm>
          <a:prstGeom prst="rect">
            <a:avLst/>
          </a:prstGeom>
        </p:spPr>
        <p:txBody>
          <a:bodyPr spcFirstLastPara="1" wrap="square" lIns="91425" tIns="45700" rIns="91425" bIns="45700" anchor="t" anchorCtr="0">
            <a:normAutofit/>
          </a:bodyPr>
          <a:lstStyle>
            <a:lvl1pPr marL="457200" lvl="0" indent="-352425" algn="ctr" rtl="0">
              <a:spcBef>
                <a:spcPts val="640"/>
              </a:spcBef>
              <a:spcAft>
                <a:spcPts val="0"/>
              </a:spcAft>
              <a:buSzPts val="1950"/>
              <a:buChar char="•"/>
              <a:defRPr sz="1950"/>
            </a:lvl1pPr>
            <a:lvl2pPr marL="914400" lvl="1" indent="-352425" algn="ctr" rtl="0">
              <a:spcBef>
                <a:spcPts val="560"/>
              </a:spcBef>
              <a:spcAft>
                <a:spcPts val="0"/>
              </a:spcAft>
              <a:buSzPts val="1950"/>
              <a:buChar char="–"/>
              <a:defRPr sz="1950"/>
            </a:lvl2pPr>
            <a:lvl3pPr marL="1371600" lvl="2" indent="-352425" algn="ctr" rtl="0">
              <a:spcBef>
                <a:spcPts val="480"/>
              </a:spcBef>
              <a:spcAft>
                <a:spcPts val="0"/>
              </a:spcAft>
              <a:buSzPts val="1950"/>
              <a:buChar char="•"/>
              <a:defRPr sz="1950"/>
            </a:lvl3pPr>
            <a:lvl4pPr marL="1828800" lvl="3" indent="-352425" algn="ctr" rtl="0">
              <a:spcBef>
                <a:spcPts val="400"/>
              </a:spcBef>
              <a:spcAft>
                <a:spcPts val="0"/>
              </a:spcAft>
              <a:buSzPts val="1950"/>
              <a:buChar char="–"/>
              <a:defRPr sz="1950"/>
            </a:lvl4pPr>
            <a:lvl5pPr marL="2286000" lvl="4" indent="-352425" algn="ctr" rtl="0">
              <a:spcBef>
                <a:spcPts val="400"/>
              </a:spcBef>
              <a:spcAft>
                <a:spcPts val="0"/>
              </a:spcAft>
              <a:buSzPts val="1950"/>
              <a:buChar char="»"/>
              <a:defRPr sz="1950"/>
            </a:lvl5pPr>
            <a:lvl6pPr marL="2743200" lvl="5" indent="-352425" algn="ctr" rtl="0">
              <a:spcBef>
                <a:spcPts val="400"/>
              </a:spcBef>
              <a:spcAft>
                <a:spcPts val="0"/>
              </a:spcAft>
              <a:buSzPts val="1950"/>
              <a:buChar char="•"/>
              <a:defRPr sz="1950"/>
            </a:lvl6pPr>
            <a:lvl7pPr marL="3200400" lvl="6" indent="-352425" algn="ctr" rtl="0">
              <a:spcBef>
                <a:spcPts val="400"/>
              </a:spcBef>
              <a:spcAft>
                <a:spcPts val="0"/>
              </a:spcAft>
              <a:buSzPts val="1950"/>
              <a:buChar char="•"/>
              <a:defRPr sz="1950"/>
            </a:lvl7pPr>
            <a:lvl8pPr marL="3657600" lvl="7" indent="-352425" algn="ctr" rtl="0">
              <a:spcBef>
                <a:spcPts val="400"/>
              </a:spcBef>
              <a:spcAft>
                <a:spcPts val="0"/>
              </a:spcAft>
              <a:buSzPts val="1950"/>
              <a:buChar char="•"/>
              <a:defRPr sz="1950"/>
            </a:lvl8pPr>
            <a:lvl9pPr marL="4114800" lvl="8" indent="-352425" algn="ctr" rtl="0">
              <a:spcBef>
                <a:spcPts val="400"/>
              </a:spcBef>
              <a:spcAft>
                <a:spcPts val="0"/>
              </a:spcAft>
              <a:buSzPts val="1950"/>
              <a:buChar char="•"/>
              <a:defRPr sz="1950"/>
            </a:lvl9pPr>
          </a:lstStyle>
          <a:p>
            <a:endParaRPr/>
          </a:p>
        </p:txBody>
      </p:sp>
      <p:sp>
        <p:nvSpPr>
          <p:cNvPr id="129" name="Google Shape;129;p14"/>
          <p:cNvSpPr txBox="1">
            <a:spLocks noGrp="1"/>
          </p:cNvSpPr>
          <p:nvPr>
            <p:ph type="subTitle" idx="3"/>
          </p:nvPr>
        </p:nvSpPr>
        <p:spPr>
          <a:xfrm>
            <a:off x="2362350" y="4393975"/>
            <a:ext cx="3066300" cy="1566600"/>
          </a:xfrm>
          <a:prstGeom prst="rect">
            <a:avLst/>
          </a:prstGeom>
        </p:spPr>
        <p:txBody>
          <a:bodyPr spcFirstLastPara="1" wrap="square" lIns="91425" tIns="45700" rIns="91425" bIns="45700" anchor="t" anchorCtr="0">
            <a:normAutofit/>
          </a:bodyPr>
          <a:lstStyle>
            <a:lvl1pPr lvl="0" algn="ctr" rtl="0">
              <a:spcBef>
                <a:spcPts val="640"/>
              </a:spcBef>
              <a:spcAft>
                <a:spcPts val="0"/>
              </a:spcAft>
              <a:buClr>
                <a:srgbClr val="C1FF72"/>
              </a:buClr>
              <a:buSzPts val="2800"/>
              <a:buNone/>
              <a:defRPr sz="2800" b="1">
                <a:solidFill>
                  <a:srgbClr val="C1FF72"/>
                </a:solidFill>
              </a:defRPr>
            </a:lvl1pPr>
            <a:lvl2pPr lvl="1" algn="ctr" rtl="0">
              <a:spcBef>
                <a:spcPts val="560"/>
              </a:spcBef>
              <a:spcAft>
                <a:spcPts val="0"/>
              </a:spcAft>
              <a:buClr>
                <a:srgbClr val="C1FF72"/>
              </a:buClr>
              <a:buSzPts val="2400"/>
              <a:buFont typeface="Oswald"/>
              <a:buNone/>
              <a:defRPr>
                <a:solidFill>
                  <a:srgbClr val="C1FF72"/>
                </a:solidFill>
                <a:latin typeface="Oswald"/>
                <a:ea typeface="Oswald"/>
                <a:cs typeface="Oswald"/>
                <a:sym typeface="Oswald"/>
              </a:defRPr>
            </a:lvl2pPr>
            <a:lvl3pPr lvl="2" algn="ctr" rtl="0">
              <a:spcBef>
                <a:spcPts val="480"/>
              </a:spcBef>
              <a:spcAft>
                <a:spcPts val="0"/>
              </a:spcAft>
              <a:buClr>
                <a:srgbClr val="C1FF72"/>
              </a:buClr>
              <a:buSzPts val="2400"/>
              <a:buFont typeface="Oswald"/>
              <a:buNone/>
              <a:defRPr>
                <a:solidFill>
                  <a:srgbClr val="C1FF72"/>
                </a:solidFill>
                <a:latin typeface="Oswald"/>
                <a:ea typeface="Oswald"/>
                <a:cs typeface="Oswald"/>
                <a:sym typeface="Oswald"/>
              </a:defRPr>
            </a:lvl3pPr>
            <a:lvl4pPr lvl="3" algn="ctr" rtl="0">
              <a:spcBef>
                <a:spcPts val="400"/>
              </a:spcBef>
              <a:spcAft>
                <a:spcPts val="0"/>
              </a:spcAft>
              <a:buClr>
                <a:srgbClr val="C1FF72"/>
              </a:buClr>
              <a:buSzPts val="2400"/>
              <a:buFont typeface="Oswald"/>
              <a:buNone/>
              <a:defRPr>
                <a:solidFill>
                  <a:srgbClr val="C1FF72"/>
                </a:solidFill>
                <a:latin typeface="Oswald"/>
                <a:ea typeface="Oswald"/>
                <a:cs typeface="Oswald"/>
                <a:sym typeface="Oswald"/>
              </a:defRPr>
            </a:lvl4pPr>
            <a:lvl5pPr lvl="4" algn="ctr" rtl="0">
              <a:spcBef>
                <a:spcPts val="400"/>
              </a:spcBef>
              <a:spcAft>
                <a:spcPts val="0"/>
              </a:spcAft>
              <a:buClr>
                <a:srgbClr val="C1FF72"/>
              </a:buClr>
              <a:buSzPts val="2400"/>
              <a:buFont typeface="Oswald"/>
              <a:buNone/>
              <a:defRPr>
                <a:solidFill>
                  <a:srgbClr val="C1FF72"/>
                </a:solidFill>
                <a:latin typeface="Oswald"/>
                <a:ea typeface="Oswald"/>
                <a:cs typeface="Oswald"/>
                <a:sym typeface="Oswald"/>
              </a:defRPr>
            </a:lvl5pPr>
            <a:lvl6pPr lvl="5" algn="ctr" rtl="0">
              <a:spcBef>
                <a:spcPts val="400"/>
              </a:spcBef>
              <a:spcAft>
                <a:spcPts val="0"/>
              </a:spcAft>
              <a:buClr>
                <a:srgbClr val="C1FF72"/>
              </a:buClr>
              <a:buSzPts val="2400"/>
              <a:buFont typeface="Oswald"/>
              <a:buNone/>
              <a:defRPr>
                <a:solidFill>
                  <a:srgbClr val="C1FF72"/>
                </a:solidFill>
                <a:latin typeface="Oswald"/>
                <a:ea typeface="Oswald"/>
                <a:cs typeface="Oswald"/>
                <a:sym typeface="Oswald"/>
              </a:defRPr>
            </a:lvl6pPr>
            <a:lvl7pPr lvl="6" algn="ctr" rtl="0">
              <a:spcBef>
                <a:spcPts val="400"/>
              </a:spcBef>
              <a:spcAft>
                <a:spcPts val="0"/>
              </a:spcAft>
              <a:buClr>
                <a:srgbClr val="C1FF72"/>
              </a:buClr>
              <a:buSzPts val="2400"/>
              <a:buFont typeface="Oswald"/>
              <a:buNone/>
              <a:defRPr>
                <a:solidFill>
                  <a:srgbClr val="C1FF72"/>
                </a:solidFill>
                <a:latin typeface="Oswald"/>
                <a:ea typeface="Oswald"/>
                <a:cs typeface="Oswald"/>
                <a:sym typeface="Oswald"/>
              </a:defRPr>
            </a:lvl7pPr>
            <a:lvl8pPr lvl="7" algn="ctr" rtl="0">
              <a:spcBef>
                <a:spcPts val="400"/>
              </a:spcBef>
              <a:spcAft>
                <a:spcPts val="0"/>
              </a:spcAft>
              <a:buClr>
                <a:srgbClr val="C1FF72"/>
              </a:buClr>
              <a:buSzPts val="2400"/>
              <a:buFont typeface="Oswald"/>
              <a:buNone/>
              <a:defRPr>
                <a:solidFill>
                  <a:srgbClr val="C1FF72"/>
                </a:solidFill>
                <a:latin typeface="Oswald"/>
                <a:ea typeface="Oswald"/>
                <a:cs typeface="Oswald"/>
                <a:sym typeface="Oswald"/>
              </a:defRPr>
            </a:lvl8pPr>
            <a:lvl9pPr lvl="8" algn="ctr" rtl="0">
              <a:spcBef>
                <a:spcPts val="400"/>
              </a:spcBef>
              <a:spcAft>
                <a:spcPts val="0"/>
              </a:spcAft>
              <a:buClr>
                <a:srgbClr val="C1FF72"/>
              </a:buClr>
              <a:buSzPts val="2400"/>
              <a:buFont typeface="Oswald"/>
              <a:buNone/>
              <a:defRPr>
                <a:solidFill>
                  <a:srgbClr val="C1FF72"/>
                </a:solidFill>
                <a:latin typeface="Oswald"/>
                <a:ea typeface="Oswald"/>
                <a:cs typeface="Oswald"/>
                <a:sym typeface="Oswald"/>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32325"/>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90550" y="1303350"/>
            <a:ext cx="16344900" cy="11430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rgbClr val="D4D4D4"/>
              </a:buClr>
              <a:buSzPts val="10000"/>
              <a:buFont typeface="Oswald"/>
              <a:buNone/>
              <a:defRPr sz="10000" i="0" u="none" strike="noStrike" cap="none">
                <a:solidFill>
                  <a:srgbClr val="D4D4D4"/>
                </a:solidFill>
                <a:latin typeface="Oswald"/>
                <a:ea typeface="Oswald"/>
                <a:cs typeface="Oswald"/>
                <a:sym typeface="Oswald"/>
              </a:defRPr>
            </a:lvl1pPr>
            <a:lvl2pPr lvl="1">
              <a:spcBef>
                <a:spcPts val="0"/>
              </a:spcBef>
              <a:spcAft>
                <a:spcPts val="0"/>
              </a:spcAft>
              <a:buClr>
                <a:srgbClr val="D4D4D4"/>
              </a:buClr>
              <a:buSzPts val="10000"/>
              <a:buFont typeface="Oswald"/>
              <a:buNone/>
              <a:defRPr sz="10000">
                <a:solidFill>
                  <a:srgbClr val="D4D4D4"/>
                </a:solidFill>
                <a:latin typeface="Oswald"/>
                <a:ea typeface="Oswald"/>
                <a:cs typeface="Oswald"/>
                <a:sym typeface="Oswald"/>
              </a:defRPr>
            </a:lvl2pPr>
            <a:lvl3pPr lvl="2">
              <a:spcBef>
                <a:spcPts val="0"/>
              </a:spcBef>
              <a:spcAft>
                <a:spcPts val="0"/>
              </a:spcAft>
              <a:buClr>
                <a:srgbClr val="D4D4D4"/>
              </a:buClr>
              <a:buSzPts val="10000"/>
              <a:buFont typeface="Oswald"/>
              <a:buNone/>
              <a:defRPr sz="10000">
                <a:solidFill>
                  <a:srgbClr val="D4D4D4"/>
                </a:solidFill>
                <a:latin typeface="Oswald"/>
                <a:ea typeface="Oswald"/>
                <a:cs typeface="Oswald"/>
                <a:sym typeface="Oswald"/>
              </a:defRPr>
            </a:lvl3pPr>
            <a:lvl4pPr lvl="3">
              <a:spcBef>
                <a:spcPts val="0"/>
              </a:spcBef>
              <a:spcAft>
                <a:spcPts val="0"/>
              </a:spcAft>
              <a:buClr>
                <a:srgbClr val="D4D4D4"/>
              </a:buClr>
              <a:buSzPts val="10000"/>
              <a:buFont typeface="Oswald"/>
              <a:buNone/>
              <a:defRPr sz="10000">
                <a:solidFill>
                  <a:srgbClr val="D4D4D4"/>
                </a:solidFill>
                <a:latin typeface="Oswald"/>
                <a:ea typeface="Oswald"/>
                <a:cs typeface="Oswald"/>
                <a:sym typeface="Oswald"/>
              </a:defRPr>
            </a:lvl4pPr>
            <a:lvl5pPr lvl="4">
              <a:spcBef>
                <a:spcPts val="0"/>
              </a:spcBef>
              <a:spcAft>
                <a:spcPts val="0"/>
              </a:spcAft>
              <a:buClr>
                <a:srgbClr val="D4D4D4"/>
              </a:buClr>
              <a:buSzPts val="10000"/>
              <a:buFont typeface="Oswald"/>
              <a:buNone/>
              <a:defRPr sz="10000">
                <a:solidFill>
                  <a:srgbClr val="D4D4D4"/>
                </a:solidFill>
                <a:latin typeface="Oswald"/>
                <a:ea typeface="Oswald"/>
                <a:cs typeface="Oswald"/>
                <a:sym typeface="Oswald"/>
              </a:defRPr>
            </a:lvl5pPr>
            <a:lvl6pPr lvl="5">
              <a:spcBef>
                <a:spcPts val="0"/>
              </a:spcBef>
              <a:spcAft>
                <a:spcPts val="0"/>
              </a:spcAft>
              <a:buClr>
                <a:srgbClr val="D4D4D4"/>
              </a:buClr>
              <a:buSzPts val="10000"/>
              <a:buFont typeface="Oswald"/>
              <a:buNone/>
              <a:defRPr sz="10000">
                <a:solidFill>
                  <a:srgbClr val="D4D4D4"/>
                </a:solidFill>
                <a:latin typeface="Oswald"/>
                <a:ea typeface="Oswald"/>
                <a:cs typeface="Oswald"/>
                <a:sym typeface="Oswald"/>
              </a:defRPr>
            </a:lvl6pPr>
            <a:lvl7pPr lvl="6">
              <a:spcBef>
                <a:spcPts val="0"/>
              </a:spcBef>
              <a:spcAft>
                <a:spcPts val="0"/>
              </a:spcAft>
              <a:buClr>
                <a:srgbClr val="D4D4D4"/>
              </a:buClr>
              <a:buSzPts val="10000"/>
              <a:buFont typeface="Oswald"/>
              <a:buNone/>
              <a:defRPr sz="10000">
                <a:solidFill>
                  <a:srgbClr val="D4D4D4"/>
                </a:solidFill>
                <a:latin typeface="Oswald"/>
                <a:ea typeface="Oswald"/>
                <a:cs typeface="Oswald"/>
                <a:sym typeface="Oswald"/>
              </a:defRPr>
            </a:lvl7pPr>
            <a:lvl8pPr lvl="7">
              <a:spcBef>
                <a:spcPts val="0"/>
              </a:spcBef>
              <a:spcAft>
                <a:spcPts val="0"/>
              </a:spcAft>
              <a:buClr>
                <a:srgbClr val="D4D4D4"/>
              </a:buClr>
              <a:buSzPts val="10000"/>
              <a:buFont typeface="Oswald"/>
              <a:buNone/>
              <a:defRPr sz="10000">
                <a:solidFill>
                  <a:srgbClr val="D4D4D4"/>
                </a:solidFill>
                <a:latin typeface="Oswald"/>
                <a:ea typeface="Oswald"/>
                <a:cs typeface="Oswald"/>
                <a:sym typeface="Oswald"/>
              </a:defRPr>
            </a:lvl8pPr>
            <a:lvl9pPr lvl="8">
              <a:spcBef>
                <a:spcPts val="0"/>
              </a:spcBef>
              <a:spcAft>
                <a:spcPts val="0"/>
              </a:spcAft>
              <a:buClr>
                <a:srgbClr val="D4D4D4"/>
              </a:buClr>
              <a:buSzPts val="10000"/>
              <a:buFont typeface="Oswald"/>
              <a:buNone/>
              <a:defRPr sz="10000">
                <a:solidFill>
                  <a:srgbClr val="D4D4D4"/>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590550" y="3009900"/>
            <a:ext cx="8305800" cy="46482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640"/>
              </a:spcBef>
              <a:spcAft>
                <a:spcPts val="0"/>
              </a:spcAft>
              <a:buClr>
                <a:srgbClr val="D4D4D4"/>
              </a:buClr>
              <a:buSzPts val="2400"/>
              <a:buFont typeface="Titillium Web"/>
              <a:buChar char="•"/>
              <a:defRPr sz="2400" i="0" u="none" strike="noStrike" cap="none">
                <a:solidFill>
                  <a:srgbClr val="D4D4D4"/>
                </a:solidFill>
                <a:latin typeface="Titillium Web"/>
                <a:ea typeface="Titillium Web"/>
                <a:cs typeface="Titillium Web"/>
                <a:sym typeface="Titillium Web"/>
              </a:defRPr>
            </a:lvl1pPr>
            <a:lvl2pPr marL="914400" marR="0" lvl="1" indent="-381000" algn="l" rtl="0">
              <a:spcBef>
                <a:spcPts val="560"/>
              </a:spcBef>
              <a:spcAft>
                <a:spcPts val="0"/>
              </a:spcAft>
              <a:buClr>
                <a:srgbClr val="D4D4D4"/>
              </a:buClr>
              <a:buSzPts val="2400"/>
              <a:buFont typeface="Titillium Web"/>
              <a:buChar char="–"/>
              <a:defRPr sz="2400" i="0" u="none" strike="noStrike" cap="none">
                <a:solidFill>
                  <a:srgbClr val="D4D4D4"/>
                </a:solidFill>
                <a:latin typeface="Titillium Web"/>
                <a:ea typeface="Titillium Web"/>
                <a:cs typeface="Titillium Web"/>
                <a:sym typeface="Titillium Web"/>
              </a:defRPr>
            </a:lvl2pPr>
            <a:lvl3pPr marL="1371600" marR="0" lvl="2" indent="-381000" algn="l" rtl="0">
              <a:spcBef>
                <a:spcPts val="480"/>
              </a:spcBef>
              <a:spcAft>
                <a:spcPts val="0"/>
              </a:spcAft>
              <a:buClr>
                <a:srgbClr val="D4D4D4"/>
              </a:buClr>
              <a:buSzPts val="2400"/>
              <a:buFont typeface="Titillium Web"/>
              <a:buChar char="•"/>
              <a:defRPr sz="2400" i="0" u="none" strike="noStrike" cap="none">
                <a:solidFill>
                  <a:srgbClr val="D4D4D4"/>
                </a:solidFill>
                <a:latin typeface="Titillium Web"/>
                <a:ea typeface="Titillium Web"/>
                <a:cs typeface="Titillium Web"/>
                <a:sym typeface="Titillium Web"/>
              </a:defRPr>
            </a:lvl3pPr>
            <a:lvl4pPr marL="1828800" marR="0" lvl="3" indent="-381000" algn="l" rtl="0">
              <a:spcBef>
                <a:spcPts val="400"/>
              </a:spcBef>
              <a:spcAft>
                <a:spcPts val="0"/>
              </a:spcAft>
              <a:buClr>
                <a:srgbClr val="D4D4D4"/>
              </a:buClr>
              <a:buSzPts val="2400"/>
              <a:buFont typeface="Titillium Web"/>
              <a:buChar char="–"/>
              <a:defRPr sz="2400" i="0" u="none" strike="noStrike" cap="none">
                <a:solidFill>
                  <a:srgbClr val="D4D4D4"/>
                </a:solidFill>
                <a:latin typeface="Titillium Web"/>
                <a:ea typeface="Titillium Web"/>
                <a:cs typeface="Titillium Web"/>
                <a:sym typeface="Titillium Web"/>
              </a:defRPr>
            </a:lvl4pPr>
            <a:lvl5pPr marL="2286000" marR="0" lvl="4" indent="-381000" algn="l" rtl="0">
              <a:spcBef>
                <a:spcPts val="400"/>
              </a:spcBef>
              <a:spcAft>
                <a:spcPts val="0"/>
              </a:spcAft>
              <a:buClr>
                <a:srgbClr val="D4D4D4"/>
              </a:buClr>
              <a:buSzPts val="2400"/>
              <a:buFont typeface="Titillium Web"/>
              <a:buChar char="»"/>
              <a:defRPr sz="2400" i="0" u="none" strike="noStrike" cap="none">
                <a:solidFill>
                  <a:srgbClr val="D4D4D4"/>
                </a:solidFill>
                <a:latin typeface="Titillium Web"/>
                <a:ea typeface="Titillium Web"/>
                <a:cs typeface="Titillium Web"/>
                <a:sym typeface="Titillium Web"/>
              </a:defRPr>
            </a:lvl5pPr>
            <a:lvl6pPr marL="2743200" marR="0" lvl="5" indent="-381000" algn="l" rtl="0">
              <a:spcBef>
                <a:spcPts val="400"/>
              </a:spcBef>
              <a:spcAft>
                <a:spcPts val="0"/>
              </a:spcAft>
              <a:buClr>
                <a:srgbClr val="D4D4D4"/>
              </a:buClr>
              <a:buSzPts val="2400"/>
              <a:buFont typeface="Titillium Web"/>
              <a:buChar char="•"/>
              <a:defRPr sz="2400" i="0" u="none" strike="noStrike" cap="none">
                <a:solidFill>
                  <a:srgbClr val="D4D4D4"/>
                </a:solidFill>
                <a:latin typeface="Titillium Web"/>
                <a:ea typeface="Titillium Web"/>
                <a:cs typeface="Titillium Web"/>
                <a:sym typeface="Titillium Web"/>
              </a:defRPr>
            </a:lvl6pPr>
            <a:lvl7pPr marL="3200400" marR="0" lvl="6" indent="-381000" algn="l" rtl="0">
              <a:spcBef>
                <a:spcPts val="400"/>
              </a:spcBef>
              <a:spcAft>
                <a:spcPts val="0"/>
              </a:spcAft>
              <a:buClr>
                <a:srgbClr val="D4D4D4"/>
              </a:buClr>
              <a:buSzPts val="2400"/>
              <a:buFont typeface="Titillium Web"/>
              <a:buChar char="•"/>
              <a:defRPr sz="2400" i="0" u="none" strike="noStrike" cap="none">
                <a:solidFill>
                  <a:srgbClr val="D4D4D4"/>
                </a:solidFill>
                <a:latin typeface="Titillium Web"/>
                <a:ea typeface="Titillium Web"/>
                <a:cs typeface="Titillium Web"/>
                <a:sym typeface="Titillium Web"/>
              </a:defRPr>
            </a:lvl7pPr>
            <a:lvl8pPr marL="3657600" marR="0" lvl="7" indent="-381000" algn="l" rtl="0">
              <a:spcBef>
                <a:spcPts val="400"/>
              </a:spcBef>
              <a:spcAft>
                <a:spcPts val="0"/>
              </a:spcAft>
              <a:buClr>
                <a:srgbClr val="D4D4D4"/>
              </a:buClr>
              <a:buSzPts val="2400"/>
              <a:buFont typeface="Titillium Web"/>
              <a:buChar char="•"/>
              <a:defRPr sz="2400" i="0" u="none" strike="noStrike" cap="none">
                <a:solidFill>
                  <a:srgbClr val="D4D4D4"/>
                </a:solidFill>
                <a:latin typeface="Titillium Web"/>
                <a:ea typeface="Titillium Web"/>
                <a:cs typeface="Titillium Web"/>
                <a:sym typeface="Titillium Web"/>
              </a:defRPr>
            </a:lvl8pPr>
            <a:lvl9pPr marL="4114800" marR="0" lvl="8" indent="-381000" algn="l" rtl="0">
              <a:spcBef>
                <a:spcPts val="400"/>
              </a:spcBef>
              <a:spcAft>
                <a:spcPts val="0"/>
              </a:spcAft>
              <a:buClr>
                <a:srgbClr val="D4D4D4"/>
              </a:buClr>
              <a:buSzPts val="2400"/>
              <a:buFont typeface="Titillium Web"/>
              <a:buChar char="•"/>
              <a:defRPr sz="2400" i="0" u="none" strike="noStrike" cap="none">
                <a:solidFill>
                  <a:srgbClr val="D4D4D4"/>
                </a:solidFill>
                <a:latin typeface="Titillium Web"/>
                <a:ea typeface="Titillium Web"/>
                <a:cs typeface="Titillium Web"/>
                <a:sym typeface="Titillium Web"/>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32325"/>
        </a:solidFill>
        <a:effectLst/>
      </p:bgPr>
    </p:bg>
    <p:spTree>
      <p:nvGrpSpPr>
        <p:cNvPr id="1" name=""/>
        <p:cNvGrpSpPr/>
        <p:nvPr/>
      </p:nvGrpSpPr>
      <p:grpSpPr>
        <a:xfrm>
          <a:off x="0" y="0"/>
          <a:ext cx="0" cy="0"/>
          <a:chOff x="0" y="0"/>
          <a:chExt cx="0" cy="0"/>
        </a:xfrm>
      </p:grpSpPr>
      <p:pic>
        <p:nvPicPr>
          <p:cNvPr id="2" name="!!photo" descr="37709121-0.747-0.40-0.50.jpg"/>
          <p:cNvPicPr>
            <a:picLocks noChangeAspect="1"/>
          </p:cNvPicPr>
          <p:nvPr/>
        </p:nvPicPr>
        <p:blipFill>
          <a:blip r:embed="rId3"/>
          <a:stretch>
            <a:fillRect/>
          </a:stretch>
        </p:blipFill>
        <p:spPr>
          <a:xfrm>
            <a:off x="10607040" y="0"/>
            <a:ext cx="7680960" cy="10287000"/>
          </a:xfrm>
          <a:prstGeom prst="rect">
            <a:avLst/>
          </a:prstGeom>
          <a:effectLst>
            <a:outerShdw blurRad="279400" dist="114300" dir="2700000" algn="ctr" rotWithShape="0">
              <a:srgbClr val="0E0E10">
                <a:alpha val="70000"/>
              </a:srgbClr>
            </a:outerShdw>
          </a:effectLst>
        </p:spPr>
      </p:pic>
      <p:sp>
        <p:nvSpPr>
          <p:cNvPr id="3" name="Fade edge"/>
          <p:cNvSpPr/>
          <p:nvPr/>
        </p:nvSpPr>
        <p:spPr>
          <a:xfrm>
            <a:off x="10607040" y="0"/>
            <a:ext cx="1463040" cy="10287000"/>
          </a:xfrm>
          <a:prstGeom prst="rect">
            <a:avLst/>
          </a:prstGeom>
          <a:gradFill rotWithShape="1">
            <a:gsLst>
              <a:gs pos="0">
                <a:srgbClr val="232325"/>
              </a:gs>
              <a:gs pos="100000">
                <a:srgbClr val="232325">
                  <a:alpha val="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grpSp>
        <p:nvGrpSpPr>
          <p:cNvPr id="6" name="Title panel 1"/>
          <p:cNvGrpSpPr/>
          <p:nvPr/>
        </p:nvGrpSpPr>
        <p:grpSpPr>
          <a:xfrm>
            <a:off x="822960" y="2148840"/>
            <a:ext cx="10607040" cy="5120640"/>
            <a:chOff x="822960" y="2148840"/>
            <a:chExt cx="10607040" cy="5120640"/>
          </a:xfrm>
        </p:grpSpPr>
        <p:sp>
          <p:nvSpPr>
            <p:cNvPr id="4" name="Title panel light"/>
            <p:cNvSpPr/>
            <p:nvPr/>
          </p:nvSpPr>
          <p:spPr>
            <a:xfrm>
              <a:off x="822960" y="2148840"/>
              <a:ext cx="10607040" cy="5120640"/>
            </a:xfrm>
            <a:prstGeom prst="roundRect">
              <a:avLst>
                <a:gd name="adj" fmla="val 19642"/>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Title panel"/>
            <p:cNvSpPr/>
            <p:nvPr/>
          </p:nvSpPr>
          <p:spPr>
            <a:xfrm>
              <a:off x="822960" y="2148840"/>
              <a:ext cx="10607040" cy="5120640"/>
            </a:xfrm>
            <a:prstGeom prst="roundRect">
              <a:avLst>
                <a:gd name="adj" fmla="val 19642"/>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grpSp>
      <p:pic>
        <p:nvPicPr>
          <p:cNvPr id="7" name="Logo 2" descr="image2.png"/>
          <p:cNvPicPr>
            <a:picLocks noChangeAspect="1"/>
          </p:cNvPicPr>
          <p:nvPr/>
        </p:nvPicPr>
        <p:blipFill>
          <a:blip r:embed="rId4"/>
          <a:stretch>
            <a:fillRect/>
          </a:stretch>
        </p:blipFill>
        <p:spPr>
          <a:xfrm>
            <a:off x="868680" y="566928"/>
            <a:ext cx="1157600" cy="1051560"/>
          </a:xfrm>
          <a:prstGeom prst="rect">
            <a:avLst/>
          </a:prstGeom>
        </p:spPr>
      </p:pic>
      <p:sp>
        <p:nvSpPr>
          <p:cNvPr id="8" name="Institution 3"/>
          <p:cNvSpPr txBox="1"/>
          <p:nvPr/>
        </p:nvSpPr>
        <p:spPr>
          <a:xfrm>
            <a:off x="2057400" y="658368"/>
            <a:ext cx="7772400" cy="914400"/>
          </a:xfrm>
          <a:prstGeom prst="rect">
            <a:avLst/>
          </a:prstGeom>
          <a:noFill/>
        </p:spPr>
        <p:txBody>
          <a:bodyPr wrap="square" lIns="45720" rIns="45720" anchor="t"/>
          <a:lstStyle/>
          <a:p>
            <a:pPr algn="l">
              <a:lnSpc>
                <a:spcPct val="100000"/>
              </a:lnSpc>
              <a:spcAft>
                <a:spcPts val="100"/>
              </a:spcAft>
            </a:pPr>
            <a:r>
              <a:rPr sz="1900" b="1" i="0">
                <a:solidFill>
                  <a:srgbClr val="EDEDED"/>
                </a:solidFill>
                <a:latin typeface="Titillium Web"/>
              </a:rPr>
              <a:t>THE UNIVERSITY OF BAMENDA</a:t>
            </a:r>
          </a:p>
          <a:p>
            <a:pPr algn="l">
              <a:lnSpc>
                <a:spcPct val="100000"/>
              </a:lnSpc>
            </a:pPr>
            <a:r>
              <a:rPr sz="1600" b="0" i="0">
                <a:solidFill>
                  <a:srgbClr val="8E8E93"/>
                </a:solidFill>
                <a:latin typeface="Titillium Web"/>
              </a:rPr>
              <a:t>College of Technology  ·  Department of Computer Engineering</a:t>
            </a:r>
          </a:p>
        </p:txBody>
      </p:sp>
      <p:sp>
        <p:nvSpPr>
          <p:cNvPr id="9" name="Kicker 4"/>
          <p:cNvSpPr txBox="1"/>
          <p:nvPr/>
        </p:nvSpPr>
        <p:spPr>
          <a:xfrm>
            <a:off x="1508760" y="2606040"/>
            <a:ext cx="9326880" cy="411480"/>
          </a:xfrm>
          <a:prstGeom prst="rect">
            <a:avLst/>
          </a:prstGeom>
          <a:noFill/>
        </p:spPr>
        <p:txBody>
          <a:bodyPr wrap="square" lIns="45720" rIns="45720" anchor="t"/>
          <a:lstStyle/>
          <a:p>
            <a:pPr algn="l">
              <a:lnSpc>
                <a:spcPct val="100000"/>
              </a:lnSpc>
            </a:pPr>
            <a:r>
              <a:rPr sz="1700" b="1" i="0">
                <a:solidFill>
                  <a:srgbClr val="C1FF72"/>
                </a:solidFill>
                <a:latin typeface="Titillium Web"/>
              </a:rPr>
              <a:t>MASTER'S DISSERTATION DEFENCE</a:t>
            </a:r>
          </a:p>
        </p:txBody>
      </p:sp>
      <p:sp>
        <p:nvSpPr>
          <p:cNvPr id="10" name="Deck title 5"/>
          <p:cNvSpPr txBox="1"/>
          <p:nvPr/>
        </p:nvSpPr>
        <p:spPr>
          <a:xfrm>
            <a:off x="1417320" y="2971800"/>
            <a:ext cx="9509760" cy="1737360"/>
          </a:xfrm>
          <a:prstGeom prst="rect">
            <a:avLst/>
          </a:prstGeom>
          <a:noFill/>
        </p:spPr>
        <p:txBody>
          <a:bodyPr wrap="square" lIns="45720" rIns="45720" anchor="t"/>
          <a:lstStyle/>
          <a:p>
            <a:pPr algn="l">
              <a:lnSpc>
                <a:spcPct val="100000"/>
              </a:lnSpc>
            </a:pPr>
            <a:r>
              <a:rPr sz="11200" b="0" i="0">
                <a:solidFill>
                  <a:srgbClr val="EDEDED"/>
                </a:solidFill>
                <a:latin typeface="Oswald"/>
              </a:rPr>
              <a:t>CYBERFORGE</a:t>
            </a:r>
          </a:p>
        </p:txBody>
      </p:sp>
      <p:sp>
        <p:nvSpPr>
          <p:cNvPr id="11" name="Deck subtitle 6"/>
          <p:cNvSpPr txBox="1"/>
          <p:nvPr/>
        </p:nvSpPr>
        <p:spPr>
          <a:xfrm>
            <a:off x="1508760" y="4754880"/>
            <a:ext cx="9326880" cy="1188720"/>
          </a:xfrm>
          <a:prstGeom prst="rect">
            <a:avLst/>
          </a:prstGeom>
          <a:noFill/>
        </p:spPr>
        <p:txBody>
          <a:bodyPr wrap="square" lIns="45720" rIns="45720" anchor="t"/>
          <a:lstStyle/>
          <a:p>
            <a:pPr algn="l">
              <a:lnSpc>
                <a:spcPct val="100000"/>
              </a:lnSpc>
            </a:pPr>
            <a:r>
              <a:rPr sz="3000" b="0" i="0">
                <a:solidFill>
                  <a:srgbClr val="BDBDC1"/>
                </a:solidFill>
                <a:latin typeface="Oswald"/>
              </a:rPr>
              <a:t>A real-time </a:t>
            </a:r>
            <a:r>
              <a:rPr sz="3000" b="0" i="0">
                <a:solidFill>
                  <a:srgbClr val="C1FF72"/>
                </a:solidFill>
                <a:latin typeface="Oswald"/>
              </a:rPr>
              <a:t>agentic AI</a:t>
            </a:r>
            <a:r>
              <a:rPr sz="3000" b="0" i="0">
                <a:solidFill>
                  <a:srgbClr val="BDBDC1"/>
                </a:solidFill>
                <a:latin typeface="Oswald"/>
              </a:rPr>
              <a:t> system for web threat detection and user protection</a:t>
            </a:r>
          </a:p>
        </p:txBody>
      </p:sp>
      <p:sp>
        <p:nvSpPr>
          <p:cNvPr id="12" name="Rule 7"/>
          <p:cNvSpPr/>
          <p:nvPr/>
        </p:nvSpPr>
        <p:spPr>
          <a:xfrm>
            <a:off x="1508760" y="6172200"/>
            <a:ext cx="1097280" cy="82296"/>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3" name="Candidate 8"/>
          <p:cNvSpPr txBox="1"/>
          <p:nvPr/>
        </p:nvSpPr>
        <p:spPr>
          <a:xfrm>
            <a:off x="1508760" y="6355080"/>
            <a:ext cx="9144000" cy="548640"/>
          </a:xfrm>
          <a:prstGeom prst="rect">
            <a:avLst/>
          </a:prstGeom>
          <a:noFill/>
        </p:spPr>
        <p:txBody>
          <a:bodyPr wrap="square" lIns="45720" rIns="45720" anchor="t"/>
          <a:lstStyle/>
          <a:p>
            <a:pPr algn="l">
              <a:lnSpc>
                <a:spcPct val="100000"/>
              </a:lnSpc>
            </a:pPr>
            <a:r>
              <a:rPr sz="2200" b="0" i="0">
                <a:solidFill>
                  <a:srgbClr val="EDEDED"/>
                </a:solidFill>
                <a:latin typeface="Oswald"/>
              </a:rPr>
              <a:t>CHE HAGGAI NGHA KANG  ·  UBA24PP134</a:t>
            </a:r>
          </a:p>
        </p:txBody>
      </p:sp>
      <p:sp>
        <p:nvSpPr>
          <p:cNvPr id="14" name="Supervisor 9"/>
          <p:cNvSpPr txBox="1"/>
          <p:nvPr/>
        </p:nvSpPr>
        <p:spPr>
          <a:xfrm>
            <a:off x="868680" y="7726679"/>
            <a:ext cx="9875520" cy="1371600"/>
          </a:xfrm>
          <a:prstGeom prst="rect">
            <a:avLst/>
          </a:prstGeom>
          <a:noFill/>
        </p:spPr>
        <p:txBody>
          <a:bodyPr wrap="square" lIns="45720" rIns="45720" anchor="t"/>
          <a:lstStyle/>
          <a:p>
            <a:pPr algn="l">
              <a:lnSpc>
                <a:spcPct val="100000"/>
              </a:lnSpc>
              <a:spcAft>
                <a:spcPts val="400"/>
              </a:spcAft>
            </a:pPr>
            <a:r>
              <a:rPr sz="1900" b="0" i="0">
                <a:solidFill>
                  <a:srgbClr val="BDBDC1"/>
                </a:solidFill>
                <a:latin typeface="Titillium Web"/>
              </a:rPr>
              <a:t>Supervisor: Prof. Onabid Mathias Akong, Associate Professor</a:t>
            </a:r>
          </a:p>
          <a:p>
            <a:pPr algn="l">
              <a:lnSpc>
                <a:spcPct val="100000"/>
              </a:lnSpc>
            </a:pPr>
            <a:r>
              <a:rPr sz="1700" b="0" i="0">
                <a:solidFill>
                  <a:srgbClr val="8E8E93"/>
                </a:solidFill>
                <a:latin typeface="Titillium Web"/>
              </a:rPr>
              <a:t>Master's in Computer Engineering — Information Technology and Cyber Security  ·  June 2026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600" fill="hold"/>
                                        <p:tgtEl>
                                          <p:spTgt spid="6"/>
                                        </p:tgtEl>
                                        <p:attrNameLst>
                                          <p:attrName>ppt_w</p:attrName>
                                        </p:attrNameLst>
                                      </p:cBhvr>
                                      <p:tavLst>
                                        <p:tav tm="0">
                                          <p:val>
                                            <p:fltVal val="0"/>
                                          </p:val>
                                        </p:tav>
                                        <p:tav tm="100000">
                                          <p:val>
                                            <p:strVal val="#ppt_w"/>
                                          </p:val>
                                        </p:tav>
                                      </p:tavLst>
                                    </p:anim>
                                    <p:anim calcmode="lin" valueType="num">
                                      <p:cBhvr>
                                        <p:cTn id="8" dur="600" fill="hold"/>
                                        <p:tgtEl>
                                          <p:spTgt spid="6"/>
                                        </p:tgtEl>
                                        <p:attrNameLst>
                                          <p:attrName>ppt_h</p:attrName>
                                        </p:attrNameLst>
                                      </p:cBhvr>
                                      <p:tavLst>
                                        <p:tav tm="0">
                                          <p:val>
                                            <p:fltVal val="0"/>
                                          </p:val>
                                        </p:tav>
                                        <p:tav tm="100000">
                                          <p:val>
                                            <p:strVal val="#ppt_h"/>
                                          </p:val>
                                        </p:tav>
                                      </p:tavLst>
                                    </p:anim>
                                    <p:animEffect transition="in" filter="fade">
                                      <p:cBhvr>
                                        <p:cTn id="9" dur="600"/>
                                        <p:tgtEl>
                                          <p:spTgt spid="6"/>
                                        </p:tgtEl>
                                      </p:cBhvr>
                                    </p:animEffect>
                                  </p:childTnLst>
                                </p:cTn>
                              </p:par>
                              <p:par>
                                <p:cTn id="10" presetID="10"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15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650"/>
                            </p:stCondLst>
                            <p:childTnLst>
                              <p:par>
                                <p:cTn id="17" presetID="2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1150"/>
                            </p:stCondLst>
                            <p:childTnLst>
                              <p:par>
                                <p:cTn id="21" presetID="37" presetClass="entr" presetSubtype="0" fill="hold" grpId="0" nodeType="afterEffect">
                                  <p:stCondLst>
                                    <p:cond delay="0"/>
                                  </p:stCondLst>
                                  <p:iterate type="lt">
                                    <p:tmPct val="10000"/>
                                  </p:iterate>
                                  <p:childTnLst>
                                    <p:set>
                                      <p:cBhvr>
                                        <p:cTn id="22" dur="1" fill="hold">
                                          <p:stCondLst>
                                            <p:cond delay="0"/>
                                          </p:stCondLst>
                                        </p:cTn>
                                        <p:tgtEl>
                                          <p:spTgt spid="10"/>
                                        </p:tgtEl>
                                        <p:attrNameLst>
                                          <p:attrName>style.visibility</p:attrName>
                                        </p:attrNameLst>
                                      </p:cBhvr>
                                      <p:to>
                                        <p:strVal val="visible"/>
                                      </p:to>
                                    </p:set>
                                    <p:animEffect transition="in" filter="fade">
                                      <p:cBhvr>
                                        <p:cTn id="23" dur="700"/>
                                        <p:tgtEl>
                                          <p:spTgt spid="10"/>
                                        </p:tgtEl>
                                      </p:cBhvr>
                                    </p:animEffect>
                                    <p:anim calcmode="lin" valueType="num">
                                      <p:cBhvr>
                                        <p:cTn id="24" dur="700" fill="hold"/>
                                        <p:tgtEl>
                                          <p:spTgt spid="10"/>
                                        </p:tgtEl>
                                        <p:attrNameLst>
                                          <p:attrName>ppt_x</p:attrName>
                                        </p:attrNameLst>
                                      </p:cBhvr>
                                      <p:tavLst>
                                        <p:tav tm="0">
                                          <p:val>
                                            <p:strVal val="#ppt_x"/>
                                          </p:val>
                                        </p:tav>
                                        <p:tav tm="100000">
                                          <p:val>
                                            <p:strVal val="#ppt_x"/>
                                          </p:val>
                                        </p:tav>
                                      </p:tavLst>
                                    </p:anim>
                                    <p:anim calcmode="lin" valueType="num">
                                      <p:cBhvr>
                                        <p:cTn id="25" dur="630" decel="100000" fill="hold"/>
                                        <p:tgtEl>
                                          <p:spTgt spid="10"/>
                                        </p:tgtEl>
                                        <p:attrNameLst>
                                          <p:attrName>ppt_y</p:attrName>
                                        </p:attrNameLst>
                                      </p:cBhvr>
                                      <p:tavLst>
                                        <p:tav tm="0">
                                          <p:val>
                                            <p:strVal val="#ppt_y+1"/>
                                          </p:val>
                                        </p:tav>
                                        <p:tav tm="100000">
                                          <p:val>
                                            <p:strVal val="#ppt_y-.03"/>
                                          </p:val>
                                        </p:tav>
                                      </p:tavLst>
                                    </p:anim>
                                    <p:anim calcmode="lin" valueType="num">
                                      <p:cBhvr>
                                        <p:cTn id="26" dur="70" accel="100000" fill="hold">
                                          <p:stCondLst>
                                            <p:cond delay="630"/>
                                          </p:stCondLst>
                                        </p:cTn>
                                        <p:tgtEl>
                                          <p:spTgt spid="10"/>
                                        </p:tgtEl>
                                        <p:attrNameLst>
                                          <p:attrName>ppt_y</p:attrName>
                                        </p:attrNameLst>
                                      </p:cBhvr>
                                      <p:tavLst>
                                        <p:tav tm="0">
                                          <p:val>
                                            <p:strVal val="#ppt_y-.03"/>
                                          </p:val>
                                        </p:tav>
                                        <p:tav tm="100000">
                                          <p:val>
                                            <p:strVal val="#ppt_y"/>
                                          </p:val>
                                        </p:tav>
                                      </p:tavLst>
                                    </p:anim>
                                  </p:childTnLst>
                                </p:cTn>
                              </p:par>
                            </p:childTnLst>
                          </p:cTn>
                        </p:par>
                        <p:par>
                          <p:cTn id="27" fill="hold">
                            <p:stCondLst>
                              <p:cond delay="2480"/>
                            </p:stCondLst>
                            <p:childTnLst>
                              <p:par>
                                <p:cTn id="28" presetID="10" presetClass="entr" presetSubtype="0" fill="hold" grpId="0" nodeType="afterEffect">
                                  <p:stCondLst>
                                    <p:cond delay="0"/>
                                  </p:stCondLst>
                                  <p:iterate type="wd">
                                    <p:tmPct val="10000"/>
                                  </p:iterate>
                                  <p:childTnLst>
                                    <p:set>
                                      <p:cBhvr>
                                        <p:cTn id="29" dur="1" fill="hold">
                                          <p:stCondLst>
                                            <p:cond delay="0"/>
                                          </p:stCondLst>
                                        </p:cTn>
                                        <p:tgtEl>
                                          <p:spTgt spid="11"/>
                                        </p:tgtEl>
                                        <p:attrNameLst>
                                          <p:attrName>style.visibility</p:attrName>
                                        </p:attrNameLst>
                                      </p:cBhvr>
                                      <p:to>
                                        <p:strVal val="visible"/>
                                      </p:to>
                                    </p:set>
                                    <p:animEffect transition="in" filter="fade">
                                      <p:cBhvr>
                                        <p:cTn id="30" dur="700"/>
                                        <p:tgtEl>
                                          <p:spTgt spid="11"/>
                                        </p:tgtEl>
                                      </p:cBhvr>
                                    </p:animEffect>
                                  </p:childTnLst>
                                </p:cTn>
                              </p:par>
                            </p:childTnLst>
                          </p:cTn>
                        </p:par>
                        <p:par>
                          <p:cTn id="31" fill="hold">
                            <p:stCondLst>
                              <p:cond delay="3950"/>
                            </p:stCondLst>
                            <p:childTnLst>
                              <p:par>
                                <p:cTn id="32" presetID="22" presetClass="entr" presetSubtype="8"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childTnLst>
                          </p:cTn>
                        </p:par>
                        <p:par>
                          <p:cTn id="35" fill="hold">
                            <p:stCondLst>
                              <p:cond delay="4450"/>
                            </p:stCondLst>
                            <p:childTnLst>
                              <p:par>
                                <p:cTn id="36" presetID="37" presetClass="entr" presetSubtype="0" fill="hold" grpId="0"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00"/>
                                        <p:tgtEl>
                                          <p:spTgt spid="13"/>
                                        </p:tgtEl>
                                      </p:cBhvr>
                                    </p:animEffect>
                                    <p:anim calcmode="lin" valueType="num">
                                      <p:cBhvr>
                                        <p:cTn id="39" dur="400" fill="hold"/>
                                        <p:tgtEl>
                                          <p:spTgt spid="13"/>
                                        </p:tgtEl>
                                        <p:attrNameLst>
                                          <p:attrName>ppt_x</p:attrName>
                                        </p:attrNameLst>
                                      </p:cBhvr>
                                      <p:tavLst>
                                        <p:tav tm="0">
                                          <p:val>
                                            <p:strVal val="#ppt_x"/>
                                          </p:val>
                                        </p:tav>
                                        <p:tav tm="100000">
                                          <p:val>
                                            <p:strVal val="#ppt_x"/>
                                          </p:val>
                                        </p:tav>
                                      </p:tavLst>
                                    </p:anim>
                                    <p:anim calcmode="lin" valueType="num">
                                      <p:cBhvr>
                                        <p:cTn id="40" dur="360" decel="100000" fill="hold"/>
                                        <p:tgtEl>
                                          <p:spTgt spid="13"/>
                                        </p:tgtEl>
                                        <p:attrNameLst>
                                          <p:attrName>ppt_y</p:attrName>
                                        </p:attrNameLst>
                                      </p:cBhvr>
                                      <p:tavLst>
                                        <p:tav tm="0">
                                          <p:val>
                                            <p:strVal val="#ppt_y+1"/>
                                          </p:val>
                                        </p:tav>
                                        <p:tav tm="100000">
                                          <p:val>
                                            <p:strVal val="#ppt_y-.03"/>
                                          </p:val>
                                        </p:tav>
                                      </p:tavLst>
                                    </p:anim>
                                    <p:anim calcmode="lin" valueType="num">
                                      <p:cBhvr>
                                        <p:cTn id="41" dur="40" accel="100000" fill="hold">
                                          <p:stCondLst>
                                            <p:cond delay="360"/>
                                          </p:stCondLst>
                                        </p:cTn>
                                        <p:tgtEl>
                                          <p:spTgt spid="13"/>
                                        </p:tgtEl>
                                        <p:attrNameLst>
                                          <p:attrName>ppt_y</p:attrName>
                                        </p:attrNameLst>
                                      </p:cBhvr>
                                      <p:tavLst>
                                        <p:tav tm="0">
                                          <p:val>
                                            <p:strVal val="#ppt_y-.03"/>
                                          </p:val>
                                        </p:tav>
                                        <p:tav tm="100000">
                                          <p:val>
                                            <p:strVal val="#ppt_y"/>
                                          </p:val>
                                        </p:tav>
                                      </p:tavLst>
                                    </p:anim>
                                  </p:childTnLst>
                                </p:cTn>
                              </p:par>
                            </p:childTnLst>
                          </p:cTn>
                        </p:par>
                        <p:par>
                          <p:cTn id="42" fill="hold">
                            <p:stCondLst>
                              <p:cond delay="4850"/>
                            </p:stCondLst>
                            <p:childTnLst>
                              <p:par>
                                <p:cTn id="43" presetID="10" presetClass="entr" presetSubtype="0" fill="hold" grpId="0" nodeType="afterEffect">
                                  <p:stCondLst>
                                    <p:cond delay="0"/>
                                  </p:stCondLst>
                                  <p:childTnLst>
                                    <p:set>
                                      <p:cBhvr>
                                        <p:cTn id="44" dur="1" fill="hold">
                                          <p:stCondLst>
                                            <p:cond delay="0"/>
                                          </p:stCondLst>
                                        </p:cTn>
                                        <p:tgtEl>
                                          <p:spTgt spid="14">
                                            <p:txEl>
                                              <p:pRg st="0" end="0"/>
                                            </p:txEl>
                                          </p:spTgt>
                                        </p:tgtEl>
                                        <p:attrNameLst>
                                          <p:attrName>style.visibility</p:attrName>
                                        </p:attrNameLst>
                                      </p:cBhvr>
                                      <p:to>
                                        <p:strVal val="visible"/>
                                      </p:to>
                                    </p:set>
                                    <p:animEffect transition="in" filter="fade">
                                      <p:cBhvr>
                                        <p:cTn id="45" dur="400"/>
                                        <p:tgtEl>
                                          <p:spTgt spid="14">
                                            <p:txEl>
                                              <p:pRg st="0" end="0"/>
                                            </p:txEl>
                                          </p:spTgt>
                                        </p:tgtEl>
                                      </p:cBhvr>
                                    </p:animEffect>
                                  </p:childTnLst>
                                </p:cTn>
                              </p:par>
                            </p:childTnLst>
                          </p:cTn>
                        </p:par>
                        <p:par>
                          <p:cTn id="46" fill="hold">
                            <p:stCondLst>
                              <p:cond delay="5250"/>
                            </p:stCondLst>
                            <p:childTnLst>
                              <p:par>
                                <p:cTn id="47" presetID="10" presetClass="entr" presetSubtype="0" fill="hold" grpId="0" nodeType="afterEffect">
                                  <p:stCondLst>
                                    <p:cond delay="0"/>
                                  </p:stCondLst>
                                  <p:childTnLst>
                                    <p:set>
                                      <p:cBhvr>
                                        <p:cTn id="48" dur="1" fill="hold">
                                          <p:stCondLst>
                                            <p:cond delay="0"/>
                                          </p:stCondLst>
                                        </p:cTn>
                                        <p:tgtEl>
                                          <p:spTgt spid="14">
                                            <p:txEl>
                                              <p:pRg st="1" end="1"/>
                                            </p:txEl>
                                          </p:spTgt>
                                        </p:tgtEl>
                                        <p:attrNameLst>
                                          <p:attrName>style.visibility</p:attrName>
                                        </p:attrNameLst>
                                      </p:cBhvr>
                                      <p:to>
                                        <p:strVal val="visible"/>
                                      </p:to>
                                    </p:set>
                                    <p:animEffect transition="in" filter="fade">
                                      <p:cBhvr>
                                        <p:cTn id="49" dur="4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animBg="1"/>
      <p:bldP spid="13" grpId="0"/>
      <p:bldP spid="1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32325"/>
        </a:solidFill>
        <a:effectLst/>
      </p:bgPr>
    </p:bg>
    <p:spTree>
      <p:nvGrpSpPr>
        <p:cNvPr id="1" name=""/>
        <p:cNvGrpSpPr/>
        <p:nvPr/>
      </p:nvGrpSpPr>
      <p:grpSpPr>
        <a:xfrm>
          <a:off x="0" y="0"/>
          <a:ext cx="0" cy="0"/>
          <a:chOff x="0" y="0"/>
          <a:chExt cx="0" cy="0"/>
        </a:xfrm>
      </p:grpSpPr>
      <p:sp>
        <p:nvSpPr>
          <p:cNvPr id="2" name="!!seg8"/>
          <p:cNvSpPr/>
          <p:nvPr/>
        </p:nvSpPr>
        <p:spPr>
          <a:xfrm>
            <a:off x="16971264"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seg7"/>
          <p:cNvSpPr/>
          <p:nvPr/>
        </p:nvSpPr>
        <p:spPr>
          <a:xfrm>
            <a:off x="16568927"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seg6"/>
          <p:cNvSpPr/>
          <p:nvPr/>
        </p:nvSpPr>
        <p:spPr>
          <a:xfrm>
            <a:off x="16166591"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seg5"/>
          <p:cNvSpPr/>
          <p:nvPr/>
        </p:nvSpPr>
        <p:spPr>
          <a:xfrm>
            <a:off x="15764255"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seg4"/>
          <p:cNvSpPr/>
          <p:nvPr/>
        </p:nvSpPr>
        <p:spPr>
          <a:xfrm>
            <a:off x="15361919"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eg3"/>
          <p:cNvSpPr/>
          <p:nvPr/>
        </p:nvSpPr>
        <p:spPr>
          <a:xfrm>
            <a:off x="14959583"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eg2"/>
          <p:cNvSpPr/>
          <p:nvPr/>
        </p:nvSpPr>
        <p:spPr>
          <a:xfrm>
            <a:off x="14557247"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seg1"/>
          <p:cNvSpPr/>
          <p:nvPr/>
        </p:nvSpPr>
        <p:spPr>
          <a:xfrm>
            <a:off x="13368527" y="566928"/>
            <a:ext cx="1097280" cy="118872"/>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egno"/>
          <p:cNvSpPr txBox="1"/>
          <p:nvPr/>
        </p:nvSpPr>
        <p:spPr>
          <a:xfrm>
            <a:off x="10808207" y="429768"/>
            <a:ext cx="2423160" cy="384048"/>
          </a:xfrm>
          <a:prstGeom prst="rect">
            <a:avLst/>
          </a:prstGeom>
          <a:noFill/>
        </p:spPr>
        <p:txBody>
          <a:bodyPr wrap="square" lIns="45720" rIns="45720" anchor="t"/>
          <a:lstStyle/>
          <a:p>
            <a:pPr algn="r">
              <a:lnSpc>
                <a:spcPct val="100000"/>
              </a:lnSpc>
            </a:pPr>
            <a:r>
              <a:rPr sz="1500" b="0" i="0">
                <a:solidFill>
                  <a:srgbClr val="8E8E93"/>
                </a:solidFill>
                <a:latin typeface="Oswald"/>
              </a:rPr>
              <a:t>01 / 08</a:t>
            </a:r>
          </a:p>
        </p:txBody>
      </p:sp>
      <p:sp>
        <p:nvSpPr>
          <p:cNvPr id="11" name="Kicker 10"/>
          <p:cNvSpPr txBox="1"/>
          <p:nvPr/>
        </p:nvSpPr>
        <p:spPr>
          <a:xfrm>
            <a:off x="1005840" y="457200"/>
            <a:ext cx="8229600" cy="411480"/>
          </a:xfrm>
          <a:prstGeom prst="rect">
            <a:avLst/>
          </a:prstGeom>
          <a:noFill/>
        </p:spPr>
        <p:txBody>
          <a:bodyPr wrap="square" lIns="45720" rIns="45720" anchor="t"/>
          <a:lstStyle/>
          <a:p>
            <a:pPr algn="l">
              <a:lnSpc>
                <a:spcPct val="100000"/>
              </a:lnSpc>
            </a:pPr>
            <a:r>
              <a:rPr sz="1600" b="1" i="0">
                <a:solidFill>
                  <a:srgbClr val="C1FF72"/>
                </a:solidFill>
                <a:latin typeface="Titillium Web"/>
              </a:rPr>
              <a:t>01  ·  BRIEF INTRODUCTION</a:t>
            </a:r>
          </a:p>
        </p:txBody>
      </p:sp>
      <p:sp>
        <p:nvSpPr>
          <p:cNvPr id="12" name="Title 11"/>
          <p:cNvSpPr txBox="1"/>
          <p:nvPr/>
        </p:nvSpPr>
        <p:spPr>
          <a:xfrm>
            <a:off x="1005840" y="841248"/>
            <a:ext cx="10058400" cy="1051560"/>
          </a:xfrm>
          <a:prstGeom prst="rect">
            <a:avLst/>
          </a:prstGeom>
          <a:noFill/>
        </p:spPr>
        <p:txBody>
          <a:bodyPr wrap="square" lIns="45720" rIns="45720" anchor="t"/>
          <a:lstStyle/>
          <a:p>
            <a:pPr algn="l">
              <a:lnSpc>
                <a:spcPct val="100000"/>
              </a:lnSpc>
            </a:pPr>
            <a:r>
              <a:rPr sz="5400" b="0" i="0">
                <a:solidFill>
                  <a:srgbClr val="EDEDED"/>
                </a:solidFill>
                <a:latin typeface="Oswald"/>
              </a:rPr>
              <a:t>BRIEF INTRODUCTION</a:t>
            </a:r>
          </a:p>
        </p:txBody>
      </p:sp>
      <p:sp>
        <p:nvSpPr>
          <p:cNvPr id="13" name="Subtitle 12"/>
          <p:cNvSpPr txBox="1"/>
          <p:nvPr/>
        </p:nvSpPr>
        <p:spPr>
          <a:xfrm>
            <a:off x="1005840" y="1828800"/>
            <a:ext cx="10058400" cy="502920"/>
          </a:xfrm>
          <a:prstGeom prst="rect">
            <a:avLst/>
          </a:prstGeom>
          <a:noFill/>
        </p:spPr>
        <p:txBody>
          <a:bodyPr wrap="square" lIns="45720" rIns="45720" anchor="t"/>
          <a:lstStyle/>
          <a:p>
            <a:pPr algn="l">
              <a:lnSpc>
                <a:spcPct val="100000"/>
              </a:lnSpc>
            </a:pPr>
            <a:r>
              <a:rPr sz="2100" b="0" i="0">
                <a:solidFill>
                  <a:srgbClr val="8E8E93"/>
                </a:solidFill>
                <a:latin typeface="Titillium Web"/>
              </a:rPr>
              <a:t>Why web-threat detection needs more than one model</a:t>
            </a:r>
          </a:p>
        </p:txBody>
      </p:sp>
      <p:sp>
        <p:nvSpPr>
          <p:cNvPr id="14" name="Source"/>
          <p:cNvSpPr txBox="1"/>
          <p:nvPr/>
        </p:nvSpPr>
        <p:spPr>
          <a:xfrm>
            <a:off x="1005840" y="9710928"/>
            <a:ext cx="14447520" cy="347472"/>
          </a:xfrm>
          <a:prstGeom prst="rect">
            <a:avLst/>
          </a:prstGeom>
          <a:noFill/>
        </p:spPr>
        <p:txBody>
          <a:bodyPr wrap="square" lIns="45720" rIns="45720" anchor="t"/>
          <a:lstStyle/>
          <a:p>
            <a:pPr algn="l">
              <a:lnSpc>
                <a:spcPct val="100000"/>
              </a:lnSpc>
            </a:pPr>
            <a:r>
              <a:rPr sz="1300" b="0" i="0">
                <a:solidFill>
                  <a:srgbClr val="5C5C61"/>
                </a:solidFill>
                <a:latin typeface="Titillium Web"/>
              </a:rPr>
              <a:t>Thesis §1.1 Background of the Study</a:t>
            </a:r>
          </a:p>
        </p:txBody>
      </p:sp>
      <p:sp>
        <p:nvSpPr>
          <p:cNvPr id="15" name="Page"/>
          <p:cNvSpPr txBox="1"/>
          <p:nvPr/>
        </p:nvSpPr>
        <p:spPr>
          <a:xfrm>
            <a:off x="15453359" y="9710928"/>
            <a:ext cx="1828800" cy="347472"/>
          </a:xfrm>
          <a:prstGeom prst="rect">
            <a:avLst/>
          </a:prstGeom>
          <a:noFill/>
        </p:spPr>
        <p:txBody>
          <a:bodyPr wrap="square" lIns="45720" rIns="45720" anchor="t"/>
          <a:lstStyle/>
          <a:p>
            <a:pPr algn="r">
              <a:lnSpc>
                <a:spcPct val="100000"/>
              </a:lnSpc>
            </a:pPr>
            <a:r>
              <a:rPr sz="1300" b="0" i="0">
                <a:solidFill>
                  <a:srgbClr val="5C5C61"/>
                </a:solidFill>
                <a:latin typeface="Oswald"/>
              </a:rPr>
              <a:t>02</a:t>
            </a:r>
          </a:p>
        </p:txBody>
      </p:sp>
      <p:pic>
        <p:nvPicPr>
          <p:cNvPr id="16" name="!!photo" descr="5475752-1.447-0.55-0.50.jpg"/>
          <p:cNvPicPr>
            <a:picLocks noChangeAspect="1"/>
          </p:cNvPicPr>
          <p:nvPr/>
        </p:nvPicPr>
        <p:blipFill>
          <a:blip r:embed="rId3"/>
          <a:stretch>
            <a:fillRect/>
          </a:stretch>
        </p:blipFill>
        <p:spPr>
          <a:xfrm>
            <a:off x="11658600" y="1051560"/>
            <a:ext cx="5623560" cy="3886200"/>
          </a:xfrm>
          <a:prstGeom prst="roundRect">
            <a:avLst>
              <a:gd name="adj" fmla="val 8235"/>
            </a:avLst>
          </a:prstGeom>
          <a:effectLst>
            <a:outerShdw blurRad="279400" dist="114300" dir="2700000" algn="ctr" rotWithShape="0">
              <a:srgbClr val="0E0E10">
                <a:alpha val="70000"/>
              </a:srgbClr>
            </a:outerShdw>
          </a:effectLst>
        </p:spPr>
      </p:pic>
      <p:sp>
        <p:nvSpPr>
          <p:cNvPr id="17" name="Point n 13"/>
          <p:cNvSpPr txBox="1"/>
          <p:nvPr/>
        </p:nvSpPr>
        <p:spPr>
          <a:xfrm>
            <a:off x="1005840" y="2551176"/>
            <a:ext cx="914400" cy="731520"/>
          </a:xfrm>
          <a:prstGeom prst="rect">
            <a:avLst/>
          </a:prstGeom>
          <a:noFill/>
        </p:spPr>
        <p:txBody>
          <a:bodyPr wrap="square" lIns="45720" rIns="45720" anchor="t"/>
          <a:lstStyle/>
          <a:p>
            <a:pPr algn="l">
              <a:lnSpc>
                <a:spcPct val="100000"/>
              </a:lnSpc>
            </a:pPr>
            <a:r>
              <a:rPr sz="3400" b="0" i="0">
                <a:solidFill>
                  <a:srgbClr val="C1FF72"/>
                </a:solidFill>
                <a:latin typeface="Oswald"/>
              </a:rPr>
              <a:t>01</a:t>
            </a:r>
          </a:p>
        </p:txBody>
      </p:sp>
      <p:sp>
        <p:nvSpPr>
          <p:cNvPr id="18" name="Point 14"/>
          <p:cNvSpPr txBox="1"/>
          <p:nvPr/>
        </p:nvSpPr>
        <p:spPr>
          <a:xfrm>
            <a:off x="1965960" y="2606040"/>
            <a:ext cx="9052560" cy="1600200"/>
          </a:xfrm>
          <a:prstGeom prst="rect">
            <a:avLst/>
          </a:prstGeom>
          <a:noFill/>
        </p:spPr>
        <p:txBody>
          <a:bodyPr wrap="square" lIns="45720" rIns="45720" anchor="t"/>
          <a:lstStyle/>
          <a:p>
            <a:pPr algn="l">
              <a:lnSpc>
                <a:spcPct val="100000"/>
              </a:lnSpc>
              <a:spcAft>
                <a:spcPts val="200"/>
              </a:spcAft>
            </a:pPr>
            <a:r>
              <a:rPr sz="2500" b="0" i="0">
                <a:solidFill>
                  <a:srgbClr val="EDEDED"/>
                </a:solidFill>
                <a:latin typeface="Oswald"/>
              </a:rPr>
              <a:t>THE BROWSER IS THE ATTACK SURFACE</a:t>
            </a:r>
          </a:p>
          <a:p>
            <a:pPr algn="l">
              <a:lnSpc>
                <a:spcPct val="98000"/>
              </a:lnSpc>
            </a:pPr>
            <a:r>
              <a:rPr sz="1900" b="0" i="0">
                <a:solidFill>
                  <a:srgbClr val="BDBDC1"/>
                </a:solidFill>
                <a:latin typeface="Titillium Web"/>
              </a:rPr>
              <a:t>Phishing, drive-by downloads, credential theft and malicious ads, as the boundary moved from firewall to browser (Provos et al., 2007; Khonji et al., 2013).</a:t>
            </a:r>
          </a:p>
        </p:txBody>
      </p:sp>
      <p:sp>
        <p:nvSpPr>
          <p:cNvPr id="19" name="Point n 15"/>
          <p:cNvSpPr txBox="1"/>
          <p:nvPr/>
        </p:nvSpPr>
        <p:spPr>
          <a:xfrm>
            <a:off x="1005840" y="4251960"/>
            <a:ext cx="914400" cy="731520"/>
          </a:xfrm>
          <a:prstGeom prst="rect">
            <a:avLst/>
          </a:prstGeom>
          <a:noFill/>
        </p:spPr>
        <p:txBody>
          <a:bodyPr wrap="square" lIns="45720" rIns="45720" anchor="t"/>
          <a:lstStyle/>
          <a:p>
            <a:pPr algn="l">
              <a:lnSpc>
                <a:spcPct val="100000"/>
              </a:lnSpc>
            </a:pPr>
            <a:r>
              <a:rPr sz="3400" b="0" i="0">
                <a:solidFill>
                  <a:srgbClr val="C1FF72"/>
                </a:solidFill>
                <a:latin typeface="Oswald"/>
              </a:rPr>
              <a:t>02</a:t>
            </a:r>
          </a:p>
        </p:txBody>
      </p:sp>
      <p:sp>
        <p:nvSpPr>
          <p:cNvPr id="20" name="Point 16"/>
          <p:cNvSpPr txBox="1"/>
          <p:nvPr/>
        </p:nvSpPr>
        <p:spPr>
          <a:xfrm>
            <a:off x="1965960" y="4306824"/>
            <a:ext cx="9052560" cy="1600200"/>
          </a:xfrm>
          <a:prstGeom prst="rect">
            <a:avLst/>
          </a:prstGeom>
          <a:noFill/>
        </p:spPr>
        <p:txBody>
          <a:bodyPr wrap="square" lIns="45720" rIns="45720" anchor="t"/>
          <a:lstStyle/>
          <a:p>
            <a:pPr algn="l">
              <a:lnSpc>
                <a:spcPct val="100000"/>
              </a:lnSpc>
              <a:spcAft>
                <a:spcPts val="200"/>
              </a:spcAft>
            </a:pPr>
            <a:r>
              <a:rPr sz="2500" b="0" i="0">
                <a:solidFill>
                  <a:srgbClr val="EDEDED"/>
                </a:solidFill>
                <a:latin typeface="Oswald"/>
              </a:rPr>
              <a:t>SIGNATURES FALL BEHIND</a:t>
            </a:r>
          </a:p>
          <a:p>
            <a:pPr algn="l">
              <a:lnSpc>
                <a:spcPct val="98000"/>
              </a:lnSpc>
            </a:pPr>
            <a:r>
              <a:rPr sz="1900" b="0" i="0">
                <a:solidFill>
                  <a:srgbClr val="BDBDC1"/>
                </a:solidFill>
                <a:latin typeface="Titillium Web"/>
              </a:rPr>
              <a:t>Fast-changing domains, hidden payloads and short-lived infrastructure defeat signature-based tools.</a:t>
            </a:r>
          </a:p>
        </p:txBody>
      </p:sp>
      <p:sp>
        <p:nvSpPr>
          <p:cNvPr id="21" name="Point n 17"/>
          <p:cNvSpPr txBox="1"/>
          <p:nvPr/>
        </p:nvSpPr>
        <p:spPr>
          <a:xfrm>
            <a:off x="1005840" y="5952744"/>
            <a:ext cx="914400" cy="731520"/>
          </a:xfrm>
          <a:prstGeom prst="rect">
            <a:avLst/>
          </a:prstGeom>
          <a:noFill/>
        </p:spPr>
        <p:txBody>
          <a:bodyPr wrap="square" lIns="45720" rIns="45720" anchor="t"/>
          <a:lstStyle/>
          <a:p>
            <a:pPr algn="l">
              <a:lnSpc>
                <a:spcPct val="100000"/>
              </a:lnSpc>
            </a:pPr>
            <a:r>
              <a:rPr sz="3400" b="0" i="0">
                <a:solidFill>
                  <a:srgbClr val="C1FF72"/>
                </a:solidFill>
                <a:latin typeface="Oswald"/>
              </a:rPr>
              <a:t>03</a:t>
            </a:r>
          </a:p>
        </p:txBody>
      </p:sp>
      <p:sp>
        <p:nvSpPr>
          <p:cNvPr id="22" name="Point 18"/>
          <p:cNvSpPr txBox="1"/>
          <p:nvPr/>
        </p:nvSpPr>
        <p:spPr>
          <a:xfrm>
            <a:off x="1965960" y="6007608"/>
            <a:ext cx="9052560" cy="1600200"/>
          </a:xfrm>
          <a:prstGeom prst="rect">
            <a:avLst/>
          </a:prstGeom>
          <a:noFill/>
        </p:spPr>
        <p:txBody>
          <a:bodyPr wrap="square" lIns="45720" rIns="45720" anchor="t"/>
          <a:lstStyle/>
          <a:p>
            <a:pPr algn="l">
              <a:lnSpc>
                <a:spcPct val="100000"/>
              </a:lnSpc>
              <a:spcAft>
                <a:spcPts val="200"/>
              </a:spcAft>
            </a:pPr>
            <a:r>
              <a:rPr sz="2500" b="0" i="0">
                <a:solidFill>
                  <a:srgbClr val="EDEDED"/>
                </a:solidFill>
                <a:latin typeface="Oswald"/>
              </a:rPr>
              <a:t>DETECTION GREW SMARTER</a:t>
            </a:r>
          </a:p>
          <a:p>
            <a:pPr algn="l">
              <a:lnSpc>
                <a:spcPct val="98000"/>
              </a:lnSpc>
            </a:pPr>
            <a:r>
              <a:rPr sz="1900" b="0" i="0">
                <a:solidFill>
                  <a:srgbClr val="BDBDC1"/>
                </a:solidFill>
                <a:latin typeface="Titillium Web"/>
              </a:rPr>
              <a:t>Machine learning, then deep learning and Transformers that read URLs in context (Devlin et al., 2019).</a:t>
            </a:r>
          </a:p>
        </p:txBody>
      </p:sp>
      <p:sp>
        <p:nvSpPr>
          <p:cNvPr id="23" name="Point n 19"/>
          <p:cNvSpPr txBox="1"/>
          <p:nvPr/>
        </p:nvSpPr>
        <p:spPr>
          <a:xfrm>
            <a:off x="1005840" y="7653527"/>
            <a:ext cx="914400" cy="731520"/>
          </a:xfrm>
          <a:prstGeom prst="rect">
            <a:avLst/>
          </a:prstGeom>
          <a:noFill/>
        </p:spPr>
        <p:txBody>
          <a:bodyPr wrap="square" lIns="45720" rIns="45720" anchor="t"/>
          <a:lstStyle/>
          <a:p>
            <a:pPr algn="l">
              <a:lnSpc>
                <a:spcPct val="100000"/>
              </a:lnSpc>
            </a:pPr>
            <a:r>
              <a:rPr sz="3400" b="0" i="0">
                <a:solidFill>
                  <a:srgbClr val="C1FF72"/>
                </a:solidFill>
                <a:latin typeface="Oswald"/>
              </a:rPr>
              <a:t>04</a:t>
            </a:r>
          </a:p>
        </p:txBody>
      </p:sp>
      <p:sp>
        <p:nvSpPr>
          <p:cNvPr id="24" name="Point 20"/>
          <p:cNvSpPr txBox="1"/>
          <p:nvPr/>
        </p:nvSpPr>
        <p:spPr>
          <a:xfrm>
            <a:off x="1965960" y="7708392"/>
            <a:ext cx="9052560" cy="1600200"/>
          </a:xfrm>
          <a:prstGeom prst="rect">
            <a:avLst/>
          </a:prstGeom>
          <a:noFill/>
        </p:spPr>
        <p:txBody>
          <a:bodyPr wrap="square" lIns="45720" rIns="45720" anchor="t"/>
          <a:lstStyle/>
          <a:p>
            <a:pPr algn="l">
              <a:lnSpc>
                <a:spcPct val="100000"/>
              </a:lnSpc>
              <a:spcAft>
                <a:spcPts val="200"/>
              </a:spcAft>
            </a:pPr>
            <a:r>
              <a:rPr sz="2500" b="0" i="0">
                <a:solidFill>
                  <a:srgbClr val="EDEDED"/>
                </a:solidFill>
                <a:latin typeface="Oswald"/>
              </a:rPr>
              <a:t>FROM ONE MODEL TO AGENTS</a:t>
            </a:r>
          </a:p>
          <a:p>
            <a:pPr algn="l">
              <a:lnSpc>
                <a:spcPct val="98000"/>
              </a:lnSpc>
            </a:pPr>
            <a:r>
              <a:rPr sz="1900" b="0" i="0">
                <a:solidFill>
                  <a:srgbClr val="BDBDC1"/>
                </a:solidFill>
                <a:latin typeface="Titillium Web"/>
              </a:rPr>
              <a:t>Specialised agents for detection, extraction, analysis and reporting, reasoning step by step like analysts (Yao et al., 2023).</a:t>
            </a:r>
          </a:p>
        </p:txBody>
      </p:sp>
      <p:grpSp>
        <p:nvGrpSpPr>
          <p:cNvPr id="30" name="Study 21"/>
          <p:cNvGrpSpPr/>
          <p:nvPr/>
        </p:nvGrpSpPr>
        <p:grpSpPr>
          <a:xfrm>
            <a:off x="11658600" y="5257800"/>
            <a:ext cx="5623560" cy="4206240"/>
            <a:chOff x="11658600" y="5257800"/>
            <a:chExt cx="5623560" cy="4206240"/>
          </a:xfrm>
        </p:grpSpPr>
        <p:sp>
          <p:nvSpPr>
            <p:cNvPr id="25" name="Study light"/>
            <p:cNvSpPr/>
            <p:nvPr/>
          </p:nvSpPr>
          <p:spPr>
            <a:xfrm>
              <a:off x="11658600" y="5257800"/>
              <a:ext cx="5623560" cy="4206240"/>
            </a:xfrm>
            <a:prstGeom prst="roundRect">
              <a:avLst>
                <a:gd name="adj" fmla="val 8695"/>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6" name="Study"/>
            <p:cNvSpPr/>
            <p:nvPr/>
          </p:nvSpPr>
          <p:spPr>
            <a:xfrm>
              <a:off x="11658600" y="5257800"/>
              <a:ext cx="5623560" cy="4206240"/>
            </a:xfrm>
            <a:prstGeom prst="roundRect">
              <a:avLst>
                <a:gd name="adj" fmla="val 8695"/>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Study label"/>
            <p:cNvSpPr txBox="1"/>
            <p:nvPr/>
          </p:nvSpPr>
          <p:spPr>
            <a:xfrm>
              <a:off x="12024360" y="5486400"/>
              <a:ext cx="4937760" cy="384048"/>
            </a:xfrm>
            <a:prstGeom prst="rect">
              <a:avLst/>
            </a:prstGeom>
            <a:noFill/>
          </p:spPr>
          <p:txBody>
            <a:bodyPr wrap="square" lIns="45720" rIns="45720" anchor="t"/>
            <a:lstStyle/>
            <a:p>
              <a:pPr algn="l">
                <a:lnSpc>
                  <a:spcPct val="100000"/>
                </a:lnSpc>
              </a:pPr>
              <a:r>
                <a:rPr sz="1500" b="1" i="0">
                  <a:solidFill>
                    <a:srgbClr val="C1FF72"/>
                  </a:solidFill>
                  <a:latin typeface="Titillium Web"/>
                </a:rPr>
                <a:t>THE PRESENT STUDY</a:t>
              </a:r>
            </a:p>
          </p:txBody>
        </p:sp>
        <p:sp>
          <p:nvSpPr>
            <p:cNvPr id="28" name="Study title"/>
            <p:cNvSpPr txBox="1"/>
            <p:nvPr/>
          </p:nvSpPr>
          <p:spPr>
            <a:xfrm>
              <a:off x="12024360" y="5852160"/>
              <a:ext cx="4937760" cy="777240"/>
            </a:xfrm>
            <a:prstGeom prst="rect">
              <a:avLst/>
            </a:prstGeom>
            <a:noFill/>
          </p:spPr>
          <p:txBody>
            <a:bodyPr wrap="square" lIns="45720" rIns="45720" anchor="t"/>
            <a:lstStyle/>
            <a:p>
              <a:pPr algn="l">
                <a:lnSpc>
                  <a:spcPct val="100000"/>
                </a:lnSpc>
              </a:pPr>
              <a:r>
                <a:rPr sz="4000" b="0" i="0">
                  <a:solidFill>
                    <a:srgbClr val="EDEDED"/>
                  </a:solidFill>
                  <a:latin typeface="Oswald"/>
                </a:rPr>
                <a:t>CYBERFORGE</a:t>
              </a:r>
            </a:p>
          </p:txBody>
        </p:sp>
        <p:sp>
          <p:nvSpPr>
            <p:cNvPr id="29" name="Study body"/>
            <p:cNvSpPr txBox="1"/>
            <p:nvPr/>
          </p:nvSpPr>
          <p:spPr>
            <a:xfrm>
              <a:off x="12024360" y="6675120"/>
              <a:ext cx="4983480" cy="2651760"/>
            </a:xfrm>
            <a:prstGeom prst="rect">
              <a:avLst/>
            </a:prstGeom>
            <a:noFill/>
          </p:spPr>
          <p:txBody>
            <a:bodyPr wrap="square" lIns="45720" rIns="45720" anchor="t"/>
            <a:lstStyle/>
            <a:p>
              <a:pPr algn="l">
                <a:lnSpc>
                  <a:spcPct val="98000"/>
                </a:lnSpc>
              </a:pPr>
              <a:r>
                <a:rPr sz="1850" b="0" i="0">
                  <a:solidFill>
                    <a:srgbClr val="BDBDC1"/>
                  </a:solidFill>
                  <a:latin typeface="Titillium Web"/>
                </a:rPr>
                <a:t>A multi-platform, agent-based system that analyses URLs in real time and protects users while they browse. Specialised agents classify the URL, analyse the domain, inspect behaviour, look up threat intelligence and map attacker techniques, then agree one verdict.</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anim calcmode="lin" valueType="num">
                                      <p:cBhvr>
                                        <p:cTn id="11" dur="500" fill="hold"/>
                                        <p:tgtEl>
                                          <p:spTgt spid="12"/>
                                        </p:tgtEl>
                                        <p:attrNameLst>
                                          <p:attrName>ppt_x</p:attrName>
                                        </p:attrNameLst>
                                      </p:cBhvr>
                                      <p:tavLst>
                                        <p:tav tm="0">
                                          <p:val>
                                            <p:strVal val="#ppt_x"/>
                                          </p:val>
                                        </p:tav>
                                        <p:tav tm="100000">
                                          <p:val>
                                            <p:strVal val="#ppt_x"/>
                                          </p:val>
                                        </p:tav>
                                      </p:tavLst>
                                    </p:anim>
                                    <p:anim calcmode="lin" valueType="num">
                                      <p:cBhvr>
                                        <p:cTn id="12" dur="450" decel="100000" fill="hold"/>
                                        <p:tgtEl>
                                          <p:spTgt spid="12"/>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par>
                          <p:cTn id="14" fill="hold">
                            <p:stCondLst>
                              <p:cond delay="14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2250"/>
                            </p:stCondLst>
                            <p:childTnLst>
                              <p:par>
                                <p:cTn id="19" presetID="53" presetClass="entr" presetSubtype="16" fill="hold" grpId="0" nodeType="after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300" fill="hold"/>
                                        <p:tgtEl>
                                          <p:spTgt spid="17"/>
                                        </p:tgtEl>
                                        <p:attrNameLst>
                                          <p:attrName>ppt_w</p:attrName>
                                        </p:attrNameLst>
                                      </p:cBhvr>
                                      <p:tavLst>
                                        <p:tav tm="0">
                                          <p:val>
                                            <p:fltVal val="0"/>
                                          </p:val>
                                        </p:tav>
                                        <p:tav tm="100000">
                                          <p:val>
                                            <p:strVal val="#ppt_w"/>
                                          </p:val>
                                        </p:tav>
                                      </p:tavLst>
                                    </p:anim>
                                    <p:anim calcmode="lin" valueType="num">
                                      <p:cBhvr>
                                        <p:cTn id="22" dur="300" fill="hold"/>
                                        <p:tgtEl>
                                          <p:spTgt spid="17"/>
                                        </p:tgtEl>
                                        <p:attrNameLst>
                                          <p:attrName>ppt_h</p:attrName>
                                        </p:attrNameLst>
                                      </p:cBhvr>
                                      <p:tavLst>
                                        <p:tav tm="0">
                                          <p:val>
                                            <p:fltVal val="0"/>
                                          </p:val>
                                        </p:tav>
                                        <p:tav tm="100000">
                                          <p:val>
                                            <p:strVal val="#ppt_h"/>
                                          </p:val>
                                        </p:tav>
                                      </p:tavLst>
                                    </p:anim>
                                    <p:animEffect transition="in" filter="fade">
                                      <p:cBhvr>
                                        <p:cTn id="23" dur="300"/>
                                        <p:tgtEl>
                                          <p:spTgt spid="17"/>
                                        </p:tgtEl>
                                      </p:cBhvr>
                                    </p:animEffect>
                                  </p:childTnLst>
                                </p:cTn>
                              </p:par>
                              <p:par>
                                <p:cTn id="24" presetID="37" presetClass="entr" presetSubtype="0" fill="hold" grpId="0" nodeType="withEffect">
                                  <p:stCondLst>
                                    <p:cond delay="0"/>
                                  </p:stCondLst>
                                  <p:childTnLst>
                                    <p:set>
                                      <p:cBhvr>
                                        <p:cTn id="25" dur="1" fill="hold">
                                          <p:stCondLst>
                                            <p:cond delay="0"/>
                                          </p:stCondLst>
                                        </p:cTn>
                                        <p:tgtEl>
                                          <p:spTgt spid="18">
                                            <p:txEl>
                                              <p:pRg st="0" end="0"/>
                                            </p:txEl>
                                          </p:spTgt>
                                        </p:tgtEl>
                                        <p:attrNameLst>
                                          <p:attrName>style.visibility</p:attrName>
                                        </p:attrNameLst>
                                      </p:cBhvr>
                                      <p:to>
                                        <p:strVal val="visible"/>
                                      </p:to>
                                    </p:set>
                                    <p:animEffect transition="in" filter="fade">
                                      <p:cBhvr>
                                        <p:cTn id="26" dur="450"/>
                                        <p:tgtEl>
                                          <p:spTgt spid="18">
                                            <p:txEl>
                                              <p:pRg st="0" end="0"/>
                                            </p:txEl>
                                          </p:spTgt>
                                        </p:tgtEl>
                                      </p:cBhvr>
                                    </p:animEffect>
                                    <p:anim calcmode="lin" valueType="num">
                                      <p:cBhvr>
                                        <p:cTn id="27" dur="45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28" dur="405" decel="100000" fill="hold"/>
                                        <p:tgtEl>
                                          <p:spTgt spid="18">
                                            <p:txEl>
                                              <p:pRg st="0" end="0"/>
                                            </p:txEl>
                                          </p:spTgt>
                                        </p:tgtEl>
                                        <p:attrNameLst>
                                          <p:attrName>ppt_y</p:attrName>
                                        </p:attrNameLst>
                                      </p:cBhvr>
                                      <p:tavLst>
                                        <p:tav tm="0">
                                          <p:val>
                                            <p:strVal val="#ppt_y+1"/>
                                          </p:val>
                                        </p:tav>
                                        <p:tav tm="100000">
                                          <p:val>
                                            <p:strVal val="#ppt_y-.03"/>
                                          </p:val>
                                        </p:tav>
                                      </p:tavLst>
                                    </p:anim>
                                    <p:anim calcmode="lin" valueType="num">
                                      <p:cBhvr>
                                        <p:cTn id="29" dur="45" accel="100000" fill="hold">
                                          <p:stCondLst>
                                            <p:cond delay="405"/>
                                          </p:stCondLst>
                                        </p:cTn>
                                        <p:tgtEl>
                                          <p:spTgt spid="18">
                                            <p:txEl>
                                              <p:pRg st="0" end="0"/>
                                            </p:txEl>
                                          </p:spTgt>
                                        </p:tgtEl>
                                        <p:attrNameLst>
                                          <p:attrName>ppt_y</p:attrName>
                                        </p:attrNameLst>
                                      </p:cBhvr>
                                      <p:tavLst>
                                        <p:tav tm="0">
                                          <p:val>
                                            <p:strVal val="#ppt_y-.03"/>
                                          </p:val>
                                        </p:tav>
                                        <p:tav tm="100000">
                                          <p:val>
                                            <p:strVal val="#ppt_y"/>
                                          </p:val>
                                        </p:tav>
                                      </p:tavLst>
                                    </p:anim>
                                  </p:childTnLst>
                                </p:cTn>
                              </p:par>
                            </p:childTnLst>
                          </p:cTn>
                        </p:par>
                        <p:par>
                          <p:cTn id="30" fill="hold">
                            <p:stCondLst>
                              <p:cond delay="2700"/>
                            </p:stCondLst>
                            <p:childTnLst>
                              <p:par>
                                <p:cTn id="31" presetID="37" presetClass="entr" presetSubtype="0" fill="hold" grpId="0" nodeType="afterEffect">
                                  <p:stCondLst>
                                    <p:cond delay="0"/>
                                  </p:stCondLst>
                                  <p:childTnLst>
                                    <p:set>
                                      <p:cBhvr>
                                        <p:cTn id="32" dur="1" fill="hold">
                                          <p:stCondLst>
                                            <p:cond delay="0"/>
                                          </p:stCondLst>
                                        </p:cTn>
                                        <p:tgtEl>
                                          <p:spTgt spid="18">
                                            <p:txEl>
                                              <p:pRg st="1" end="1"/>
                                            </p:txEl>
                                          </p:spTgt>
                                        </p:tgtEl>
                                        <p:attrNameLst>
                                          <p:attrName>style.visibility</p:attrName>
                                        </p:attrNameLst>
                                      </p:cBhvr>
                                      <p:to>
                                        <p:strVal val="visible"/>
                                      </p:to>
                                    </p:set>
                                    <p:animEffect transition="in" filter="fade">
                                      <p:cBhvr>
                                        <p:cTn id="33" dur="450"/>
                                        <p:tgtEl>
                                          <p:spTgt spid="18">
                                            <p:txEl>
                                              <p:pRg st="1" end="1"/>
                                            </p:txEl>
                                          </p:spTgt>
                                        </p:tgtEl>
                                      </p:cBhvr>
                                    </p:animEffect>
                                    <p:anim calcmode="lin" valueType="num">
                                      <p:cBhvr>
                                        <p:cTn id="34" dur="450" fill="hold"/>
                                        <p:tgtEl>
                                          <p:spTgt spid="18">
                                            <p:txEl>
                                              <p:pRg st="1" end="1"/>
                                            </p:txEl>
                                          </p:spTgt>
                                        </p:tgtEl>
                                        <p:attrNameLst>
                                          <p:attrName>ppt_x</p:attrName>
                                        </p:attrNameLst>
                                      </p:cBhvr>
                                      <p:tavLst>
                                        <p:tav tm="0">
                                          <p:val>
                                            <p:strVal val="#ppt_x"/>
                                          </p:val>
                                        </p:tav>
                                        <p:tav tm="100000">
                                          <p:val>
                                            <p:strVal val="#ppt_x"/>
                                          </p:val>
                                        </p:tav>
                                      </p:tavLst>
                                    </p:anim>
                                    <p:anim calcmode="lin" valueType="num">
                                      <p:cBhvr>
                                        <p:cTn id="35" dur="405" decel="100000" fill="hold"/>
                                        <p:tgtEl>
                                          <p:spTgt spid="18">
                                            <p:txEl>
                                              <p:pRg st="1" end="1"/>
                                            </p:txEl>
                                          </p:spTgt>
                                        </p:tgtEl>
                                        <p:attrNameLst>
                                          <p:attrName>ppt_y</p:attrName>
                                        </p:attrNameLst>
                                      </p:cBhvr>
                                      <p:tavLst>
                                        <p:tav tm="0">
                                          <p:val>
                                            <p:strVal val="#ppt_y+1"/>
                                          </p:val>
                                        </p:tav>
                                        <p:tav tm="100000">
                                          <p:val>
                                            <p:strVal val="#ppt_y-.03"/>
                                          </p:val>
                                        </p:tav>
                                      </p:tavLst>
                                    </p:anim>
                                    <p:anim calcmode="lin" valueType="num">
                                      <p:cBhvr>
                                        <p:cTn id="36" dur="45" accel="100000" fill="hold">
                                          <p:stCondLst>
                                            <p:cond delay="405"/>
                                          </p:stCondLst>
                                        </p:cTn>
                                        <p:tgtEl>
                                          <p:spTgt spid="18">
                                            <p:txEl>
                                              <p:pRg st="1" end="1"/>
                                            </p:txEl>
                                          </p:spTgt>
                                        </p:tgtEl>
                                        <p:attrNameLst>
                                          <p:attrName>ppt_y</p:attrName>
                                        </p:attrNameLst>
                                      </p:cBhvr>
                                      <p:tavLst>
                                        <p:tav tm="0">
                                          <p:val>
                                            <p:strVal val="#ppt_y-.03"/>
                                          </p:val>
                                        </p:tav>
                                        <p:tav tm="100000">
                                          <p:val>
                                            <p:strVal val="#ppt_y"/>
                                          </p:val>
                                        </p:tav>
                                      </p:tavLst>
                                    </p:anim>
                                  </p:childTnLst>
                                </p:cTn>
                              </p:par>
                            </p:childTnLst>
                          </p:cTn>
                        </p:par>
                        <p:par>
                          <p:cTn id="37" fill="hold">
                            <p:stCondLst>
                              <p:cond delay="3150"/>
                            </p:stCondLst>
                            <p:childTnLst>
                              <p:par>
                                <p:cTn id="38" presetID="53" presetClass="entr" presetSubtype="16" fill="hold" grpId="0" nodeType="after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p:cTn id="40" dur="300" fill="hold"/>
                                        <p:tgtEl>
                                          <p:spTgt spid="19"/>
                                        </p:tgtEl>
                                        <p:attrNameLst>
                                          <p:attrName>ppt_w</p:attrName>
                                        </p:attrNameLst>
                                      </p:cBhvr>
                                      <p:tavLst>
                                        <p:tav tm="0">
                                          <p:val>
                                            <p:fltVal val="0"/>
                                          </p:val>
                                        </p:tav>
                                        <p:tav tm="100000">
                                          <p:val>
                                            <p:strVal val="#ppt_w"/>
                                          </p:val>
                                        </p:tav>
                                      </p:tavLst>
                                    </p:anim>
                                    <p:anim calcmode="lin" valueType="num">
                                      <p:cBhvr>
                                        <p:cTn id="41" dur="300" fill="hold"/>
                                        <p:tgtEl>
                                          <p:spTgt spid="19"/>
                                        </p:tgtEl>
                                        <p:attrNameLst>
                                          <p:attrName>ppt_h</p:attrName>
                                        </p:attrNameLst>
                                      </p:cBhvr>
                                      <p:tavLst>
                                        <p:tav tm="0">
                                          <p:val>
                                            <p:fltVal val="0"/>
                                          </p:val>
                                        </p:tav>
                                        <p:tav tm="100000">
                                          <p:val>
                                            <p:strVal val="#ppt_h"/>
                                          </p:val>
                                        </p:tav>
                                      </p:tavLst>
                                    </p:anim>
                                    <p:animEffect transition="in" filter="fade">
                                      <p:cBhvr>
                                        <p:cTn id="42" dur="300"/>
                                        <p:tgtEl>
                                          <p:spTgt spid="19"/>
                                        </p:tgtEl>
                                      </p:cBhvr>
                                    </p:animEffect>
                                  </p:childTnLst>
                                </p:cTn>
                              </p:par>
                              <p:par>
                                <p:cTn id="43" presetID="37" presetClass="entr" presetSubtype="0" fill="hold" grpId="0" nodeType="withEffect">
                                  <p:stCondLst>
                                    <p:cond delay="0"/>
                                  </p:stCondLst>
                                  <p:childTnLst>
                                    <p:set>
                                      <p:cBhvr>
                                        <p:cTn id="44" dur="1" fill="hold">
                                          <p:stCondLst>
                                            <p:cond delay="0"/>
                                          </p:stCondLst>
                                        </p:cTn>
                                        <p:tgtEl>
                                          <p:spTgt spid="20">
                                            <p:txEl>
                                              <p:pRg st="0" end="0"/>
                                            </p:txEl>
                                          </p:spTgt>
                                        </p:tgtEl>
                                        <p:attrNameLst>
                                          <p:attrName>style.visibility</p:attrName>
                                        </p:attrNameLst>
                                      </p:cBhvr>
                                      <p:to>
                                        <p:strVal val="visible"/>
                                      </p:to>
                                    </p:set>
                                    <p:animEffect transition="in" filter="fade">
                                      <p:cBhvr>
                                        <p:cTn id="45" dur="450"/>
                                        <p:tgtEl>
                                          <p:spTgt spid="20">
                                            <p:txEl>
                                              <p:pRg st="0" end="0"/>
                                            </p:txEl>
                                          </p:spTgt>
                                        </p:tgtEl>
                                      </p:cBhvr>
                                    </p:animEffect>
                                    <p:anim calcmode="lin" valueType="num">
                                      <p:cBhvr>
                                        <p:cTn id="46" dur="45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47" dur="405" decel="100000" fill="hold"/>
                                        <p:tgtEl>
                                          <p:spTgt spid="20">
                                            <p:txEl>
                                              <p:pRg st="0" end="0"/>
                                            </p:txEl>
                                          </p:spTgt>
                                        </p:tgtEl>
                                        <p:attrNameLst>
                                          <p:attrName>ppt_y</p:attrName>
                                        </p:attrNameLst>
                                      </p:cBhvr>
                                      <p:tavLst>
                                        <p:tav tm="0">
                                          <p:val>
                                            <p:strVal val="#ppt_y+1"/>
                                          </p:val>
                                        </p:tav>
                                        <p:tav tm="100000">
                                          <p:val>
                                            <p:strVal val="#ppt_y-.03"/>
                                          </p:val>
                                        </p:tav>
                                      </p:tavLst>
                                    </p:anim>
                                    <p:anim calcmode="lin" valueType="num">
                                      <p:cBhvr>
                                        <p:cTn id="48" dur="45" accel="100000" fill="hold">
                                          <p:stCondLst>
                                            <p:cond delay="405"/>
                                          </p:stCondLst>
                                        </p:cTn>
                                        <p:tgtEl>
                                          <p:spTgt spid="20">
                                            <p:txEl>
                                              <p:pRg st="0" end="0"/>
                                            </p:txEl>
                                          </p:spTgt>
                                        </p:tgtEl>
                                        <p:attrNameLst>
                                          <p:attrName>ppt_y</p:attrName>
                                        </p:attrNameLst>
                                      </p:cBhvr>
                                      <p:tavLst>
                                        <p:tav tm="0">
                                          <p:val>
                                            <p:strVal val="#ppt_y-.03"/>
                                          </p:val>
                                        </p:tav>
                                        <p:tav tm="100000">
                                          <p:val>
                                            <p:strVal val="#ppt_y"/>
                                          </p:val>
                                        </p:tav>
                                      </p:tavLst>
                                    </p:anim>
                                  </p:childTnLst>
                                </p:cTn>
                              </p:par>
                            </p:childTnLst>
                          </p:cTn>
                        </p:par>
                        <p:par>
                          <p:cTn id="49" fill="hold">
                            <p:stCondLst>
                              <p:cond delay="3600"/>
                            </p:stCondLst>
                            <p:childTnLst>
                              <p:par>
                                <p:cTn id="50" presetID="37" presetClass="entr" presetSubtype="0" fill="hold" grpId="0" nodeType="afterEffect">
                                  <p:stCondLst>
                                    <p:cond delay="0"/>
                                  </p:stCondLst>
                                  <p:childTnLst>
                                    <p:set>
                                      <p:cBhvr>
                                        <p:cTn id="51" dur="1" fill="hold">
                                          <p:stCondLst>
                                            <p:cond delay="0"/>
                                          </p:stCondLst>
                                        </p:cTn>
                                        <p:tgtEl>
                                          <p:spTgt spid="20">
                                            <p:txEl>
                                              <p:pRg st="1" end="1"/>
                                            </p:txEl>
                                          </p:spTgt>
                                        </p:tgtEl>
                                        <p:attrNameLst>
                                          <p:attrName>style.visibility</p:attrName>
                                        </p:attrNameLst>
                                      </p:cBhvr>
                                      <p:to>
                                        <p:strVal val="visible"/>
                                      </p:to>
                                    </p:set>
                                    <p:animEffect transition="in" filter="fade">
                                      <p:cBhvr>
                                        <p:cTn id="52" dur="450"/>
                                        <p:tgtEl>
                                          <p:spTgt spid="20">
                                            <p:txEl>
                                              <p:pRg st="1" end="1"/>
                                            </p:txEl>
                                          </p:spTgt>
                                        </p:tgtEl>
                                      </p:cBhvr>
                                    </p:animEffect>
                                    <p:anim calcmode="lin" valueType="num">
                                      <p:cBhvr>
                                        <p:cTn id="53" dur="450" fill="hold"/>
                                        <p:tgtEl>
                                          <p:spTgt spid="20">
                                            <p:txEl>
                                              <p:pRg st="1" end="1"/>
                                            </p:txEl>
                                          </p:spTgt>
                                        </p:tgtEl>
                                        <p:attrNameLst>
                                          <p:attrName>ppt_x</p:attrName>
                                        </p:attrNameLst>
                                      </p:cBhvr>
                                      <p:tavLst>
                                        <p:tav tm="0">
                                          <p:val>
                                            <p:strVal val="#ppt_x"/>
                                          </p:val>
                                        </p:tav>
                                        <p:tav tm="100000">
                                          <p:val>
                                            <p:strVal val="#ppt_x"/>
                                          </p:val>
                                        </p:tav>
                                      </p:tavLst>
                                    </p:anim>
                                    <p:anim calcmode="lin" valueType="num">
                                      <p:cBhvr>
                                        <p:cTn id="54" dur="405" decel="100000" fill="hold"/>
                                        <p:tgtEl>
                                          <p:spTgt spid="20">
                                            <p:txEl>
                                              <p:pRg st="1" end="1"/>
                                            </p:txEl>
                                          </p:spTgt>
                                        </p:tgtEl>
                                        <p:attrNameLst>
                                          <p:attrName>ppt_y</p:attrName>
                                        </p:attrNameLst>
                                      </p:cBhvr>
                                      <p:tavLst>
                                        <p:tav tm="0">
                                          <p:val>
                                            <p:strVal val="#ppt_y+1"/>
                                          </p:val>
                                        </p:tav>
                                        <p:tav tm="100000">
                                          <p:val>
                                            <p:strVal val="#ppt_y-.03"/>
                                          </p:val>
                                        </p:tav>
                                      </p:tavLst>
                                    </p:anim>
                                    <p:anim calcmode="lin" valueType="num">
                                      <p:cBhvr>
                                        <p:cTn id="55" dur="45" accel="100000" fill="hold">
                                          <p:stCondLst>
                                            <p:cond delay="405"/>
                                          </p:stCondLst>
                                        </p:cTn>
                                        <p:tgtEl>
                                          <p:spTgt spid="20">
                                            <p:txEl>
                                              <p:pRg st="1" end="1"/>
                                            </p:txEl>
                                          </p:spTgt>
                                        </p:tgtEl>
                                        <p:attrNameLst>
                                          <p:attrName>ppt_y</p:attrName>
                                        </p:attrNameLst>
                                      </p:cBhvr>
                                      <p:tavLst>
                                        <p:tav tm="0">
                                          <p:val>
                                            <p:strVal val="#ppt_y-.03"/>
                                          </p:val>
                                        </p:tav>
                                        <p:tav tm="100000">
                                          <p:val>
                                            <p:strVal val="#ppt_y"/>
                                          </p:val>
                                        </p:tav>
                                      </p:tavLst>
                                    </p:anim>
                                  </p:childTnLst>
                                </p:cTn>
                              </p:par>
                            </p:childTnLst>
                          </p:cTn>
                        </p:par>
                        <p:par>
                          <p:cTn id="56" fill="hold">
                            <p:stCondLst>
                              <p:cond delay="4050"/>
                            </p:stCondLst>
                            <p:childTnLst>
                              <p:par>
                                <p:cTn id="57" presetID="53" presetClass="entr" presetSubtype="16" fill="hold" grpId="0" nodeType="afterEffect">
                                  <p:stCondLst>
                                    <p:cond delay="0"/>
                                  </p:stCondLst>
                                  <p:childTnLst>
                                    <p:set>
                                      <p:cBhvr>
                                        <p:cTn id="58" dur="1" fill="hold">
                                          <p:stCondLst>
                                            <p:cond delay="0"/>
                                          </p:stCondLst>
                                        </p:cTn>
                                        <p:tgtEl>
                                          <p:spTgt spid="21"/>
                                        </p:tgtEl>
                                        <p:attrNameLst>
                                          <p:attrName>style.visibility</p:attrName>
                                        </p:attrNameLst>
                                      </p:cBhvr>
                                      <p:to>
                                        <p:strVal val="visible"/>
                                      </p:to>
                                    </p:set>
                                    <p:anim calcmode="lin" valueType="num">
                                      <p:cBhvr>
                                        <p:cTn id="59" dur="300" fill="hold"/>
                                        <p:tgtEl>
                                          <p:spTgt spid="21"/>
                                        </p:tgtEl>
                                        <p:attrNameLst>
                                          <p:attrName>ppt_w</p:attrName>
                                        </p:attrNameLst>
                                      </p:cBhvr>
                                      <p:tavLst>
                                        <p:tav tm="0">
                                          <p:val>
                                            <p:fltVal val="0"/>
                                          </p:val>
                                        </p:tav>
                                        <p:tav tm="100000">
                                          <p:val>
                                            <p:strVal val="#ppt_w"/>
                                          </p:val>
                                        </p:tav>
                                      </p:tavLst>
                                    </p:anim>
                                    <p:anim calcmode="lin" valueType="num">
                                      <p:cBhvr>
                                        <p:cTn id="60" dur="300" fill="hold"/>
                                        <p:tgtEl>
                                          <p:spTgt spid="21"/>
                                        </p:tgtEl>
                                        <p:attrNameLst>
                                          <p:attrName>ppt_h</p:attrName>
                                        </p:attrNameLst>
                                      </p:cBhvr>
                                      <p:tavLst>
                                        <p:tav tm="0">
                                          <p:val>
                                            <p:fltVal val="0"/>
                                          </p:val>
                                        </p:tav>
                                        <p:tav tm="100000">
                                          <p:val>
                                            <p:strVal val="#ppt_h"/>
                                          </p:val>
                                        </p:tav>
                                      </p:tavLst>
                                    </p:anim>
                                    <p:animEffect transition="in" filter="fade">
                                      <p:cBhvr>
                                        <p:cTn id="61" dur="300"/>
                                        <p:tgtEl>
                                          <p:spTgt spid="21"/>
                                        </p:tgtEl>
                                      </p:cBhvr>
                                    </p:animEffect>
                                  </p:childTnLst>
                                </p:cTn>
                              </p:par>
                              <p:par>
                                <p:cTn id="62" presetID="37" presetClass="entr" presetSubtype="0" fill="hold" grpId="0" nodeType="withEffect">
                                  <p:stCondLst>
                                    <p:cond delay="0"/>
                                  </p:stCondLst>
                                  <p:childTnLst>
                                    <p:set>
                                      <p:cBhvr>
                                        <p:cTn id="63" dur="1" fill="hold">
                                          <p:stCondLst>
                                            <p:cond delay="0"/>
                                          </p:stCondLst>
                                        </p:cTn>
                                        <p:tgtEl>
                                          <p:spTgt spid="22">
                                            <p:txEl>
                                              <p:pRg st="0" end="0"/>
                                            </p:txEl>
                                          </p:spTgt>
                                        </p:tgtEl>
                                        <p:attrNameLst>
                                          <p:attrName>style.visibility</p:attrName>
                                        </p:attrNameLst>
                                      </p:cBhvr>
                                      <p:to>
                                        <p:strVal val="visible"/>
                                      </p:to>
                                    </p:set>
                                    <p:animEffect transition="in" filter="fade">
                                      <p:cBhvr>
                                        <p:cTn id="64" dur="450"/>
                                        <p:tgtEl>
                                          <p:spTgt spid="22">
                                            <p:txEl>
                                              <p:pRg st="0" end="0"/>
                                            </p:txEl>
                                          </p:spTgt>
                                        </p:tgtEl>
                                      </p:cBhvr>
                                    </p:animEffect>
                                    <p:anim calcmode="lin" valueType="num">
                                      <p:cBhvr>
                                        <p:cTn id="65" dur="450" fill="hold"/>
                                        <p:tgtEl>
                                          <p:spTgt spid="22">
                                            <p:txEl>
                                              <p:pRg st="0" end="0"/>
                                            </p:txEl>
                                          </p:spTgt>
                                        </p:tgtEl>
                                        <p:attrNameLst>
                                          <p:attrName>ppt_x</p:attrName>
                                        </p:attrNameLst>
                                      </p:cBhvr>
                                      <p:tavLst>
                                        <p:tav tm="0">
                                          <p:val>
                                            <p:strVal val="#ppt_x"/>
                                          </p:val>
                                        </p:tav>
                                        <p:tav tm="100000">
                                          <p:val>
                                            <p:strVal val="#ppt_x"/>
                                          </p:val>
                                        </p:tav>
                                      </p:tavLst>
                                    </p:anim>
                                    <p:anim calcmode="lin" valueType="num">
                                      <p:cBhvr>
                                        <p:cTn id="66" dur="405" decel="100000" fill="hold"/>
                                        <p:tgtEl>
                                          <p:spTgt spid="22">
                                            <p:txEl>
                                              <p:pRg st="0" end="0"/>
                                            </p:txEl>
                                          </p:spTgt>
                                        </p:tgtEl>
                                        <p:attrNameLst>
                                          <p:attrName>ppt_y</p:attrName>
                                        </p:attrNameLst>
                                      </p:cBhvr>
                                      <p:tavLst>
                                        <p:tav tm="0">
                                          <p:val>
                                            <p:strVal val="#ppt_y+1"/>
                                          </p:val>
                                        </p:tav>
                                        <p:tav tm="100000">
                                          <p:val>
                                            <p:strVal val="#ppt_y-.03"/>
                                          </p:val>
                                        </p:tav>
                                      </p:tavLst>
                                    </p:anim>
                                    <p:anim calcmode="lin" valueType="num">
                                      <p:cBhvr>
                                        <p:cTn id="67" dur="45" accel="100000" fill="hold">
                                          <p:stCondLst>
                                            <p:cond delay="405"/>
                                          </p:stCondLst>
                                        </p:cTn>
                                        <p:tgtEl>
                                          <p:spTgt spid="22">
                                            <p:txEl>
                                              <p:pRg st="0" end="0"/>
                                            </p:txEl>
                                          </p:spTgt>
                                        </p:tgtEl>
                                        <p:attrNameLst>
                                          <p:attrName>ppt_y</p:attrName>
                                        </p:attrNameLst>
                                      </p:cBhvr>
                                      <p:tavLst>
                                        <p:tav tm="0">
                                          <p:val>
                                            <p:strVal val="#ppt_y-.03"/>
                                          </p:val>
                                        </p:tav>
                                        <p:tav tm="100000">
                                          <p:val>
                                            <p:strVal val="#ppt_y"/>
                                          </p:val>
                                        </p:tav>
                                      </p:tavLst>
                                    </p:anim>
                                  </p:childTnLst>
                                </p:cTn>
                              </p:par>
                            </p:childTnLst>
                          </p:cTn>
                        </p:par>
                        <p:par>
                          <p:cTn id="68" fill="hold">
                            <p:stCondLst>
                              <p:cond delay="4500"/>
                            </p:stCondLst>
                            <p:childTnLst>
                              <p:par>
                                <p:cTn id="69" presetID="37" presetClass="entr" presetSubtype="0" fill="hold" grpId="0" nodeType="afterEffect">
                                  <p:stCondLst>
                                    <p:cond delay="0"/>
                                  </p:stCondLst>
                                  <p:childTnLst>
                                    <p:set>
                                      <p:cBhvr>
                                        <p:cTn id="70" dur="1" fill="hold">
                                          <p:stCondLst>
                                            <p:cond delay="0"/>
                                          </p:stCondLst>
                                        </p:cTn>
                                        <p:tgtEl>
                                          <p:spTgt spid="22">
                                            <p:txEl>
                                              <p:pRg st="1" end="1"/>
                                            </p:txEl>
                                          </p:spTgt>
                                        </p:tgtEl>
                                        <p:attrNameLst>
                                          <p:attrName>style.visibility</p:attrName>
                                        </p:attrNameLst>
                                      </p:cBhvr>
                                      <p:to>
                                        <p:strVal val="visible"/>
                                      </p:to>
                                    </p:set>
                                    <p:animEffect transition="in" filter="fade">
                                      <p:cBhvr>
                                        <p:cTn id="71" dur="450"/>
                                        <p:tgtEl>
                                          <p:spTgt spid="22">
                                            <p:txEl>
                                              <p:pRg st="1" end="1"/>
                                            </p:txEl>
                                          </p:spTgt>
                                        </p:tgtEl>
                                      </p:cBhvr>
                                    </p:animEffect>
                                    <p:anim calcmode="lin" valueType="num">
                                      <p:cBhvr>
                                        <p:cTn id="72" dur="450" fill="hold"/>
                                        <p:tgtEl>
                                          <p:spTgt spid="22">
                                            <p:txEl>
                                              <p:pRg st="1" end="1"/>
                                            </p:txEl>
                                          </p:spTgt>
                                        </p:tgtEl>
                                        <p:attrNameLst>
                                          <p:attrName>ppt_x</p:attrName>
                                        </p:attrNameLst>
                                      </p:cBhvr>
                                      <p:tavLst>
                                        <p:tav tm="0">
                                          <p:val>
                                            <p:strVal val="#ppt_x"/>
                                          </p:val>
                                        </p:tav>
                                        <p:tav tm="100000">
                                          <p:val>
                                            <p:strVal val="#ppt_x"/>
                                          </p:val>
                                        </p:tav>
                                      </p:tavLst>
                                    </p:anim>
                                    <p:anim calcmode="lin" valueType="num">
                                      <p:cBhvr>
                                        <p:cTn id="73" dur="405" decel="100000" fill="hold"/>
                                        <p:tgtEl>
                                          <p:spTgt spid="22">
                                            <p:txEl>
                                              <p:pRg st="1" end="1"/>
                                            </p:txEl>
                                          </p:spTgt>
                                        </p:tgtEl>
                                        <p:attrNameLst>
                                          <p:attrName>ppt_y</p:attrName>
                                        </p:attrNameLst>
                                      </p:cBhvr>
                                      <p:tavLst>
                                        <p:tav tm="0">
                                          <p:val>
                                            <p:strVal val="#ppt_y+1"/>
                                          </p:val>
                                        </p:tav>
                                        <p:tav tm="100000">
                                          <p:val>
                                            <p:strVal val="#ppt_y-.03"/>
                                          </p:val>
                                        </p:tav>
                                      </p:tavLst>
                                    </p:anim>
                                    <p:anim calcmode="lin" valueType="num">
                                      <p:cBhvr>
                                        <p:cTn id="74" dur="45" accel="100000" fill="hold">
                                          <p:stCondLst>
                                            <p:cond delay="405"/>
                                          </p:stCondLst>
                                        </p:cTn>
                                        <p:tgtEl>
                                          <p:spTgt spid="22">
                                            <p:txEl>
                                              <p:pRg st="1" end="1"/>
                                            </p:txEl>
                                          </p:spTgt>
                                        </p:tgtEl>
                                        <p:attrNameLst>
                                          <p:attrName>ppt_y</p:attrName>
                                        </p:attrNameLst>
                                      </p:cBhvr>
                                      <p:tavLst>
                                        <p:tav tm="0">
                                          <p:val>
                                            <p:strVal val="#ppt_y-.03"/>
                                          </p:val>
                                        </p:tav>
                                        <p:tav tm="100000">
                                          <p:val>
                                            <p:strVal val="#ppt_y"/>
                                          </p:val>
                                        </p:tav>
                                      </p:tavLst>
                                    </p:anim>
                                  </p:childTnLst>
                                </p:cTn>
                              </p:par>
                            </p:childTnLst>
                          </p:cTn>
                        </p:par>
                        <p:par>
                          <p:cTn id="75" fill="hold">
                            <p:stCondLst>
                              <p:cond delay="4950"/>
                            </p:stCondLst>
                            <p:childTnLst>
                              <p:par>
                                <p:cTn id="76" presetID="53" presetClass="entr" presetSubtype="16" fill="hold" grpId="0" nodeType="afterEffect">
                                  <p:stCondLst>
                                    <p:cond delay="0"/>
                                  </p:stCondLst>
                                  <p:childTnLst>
                                    <p:set>
                                      <p:cBhvr>
                                        <p:cTn id="77" dur="1" fill="hold">
                                          <p:stCondLst>
                                            <p:cond delay="0"/>
                                          </p:stCondLst>
                                        </p:cTn>
                                        <p:tgtEl>
                                          <p:spTgt spid="23"/>
                                        </p:tgtEl>
                                        <p:attrNameLst>
                                          <p:attrName>style.visibility</p:attrName>
                                        </p:attrNameLst>
                                      </p:cBhvr>
                                      <p:to>
                                        <p:strVal val="visible"/>
                                      </p:to>
                                    </p:set>
                                    <p:anim calcmode="lin" valueType="num">
                                      <p:cBhvr>
                                        <p:cTn id="78" dur="300" fill="hold"/>
                                        <p:tgtEl>
                                          <p:spTgt spid="23"/>
                                        </p:tgtEl>
                                        <p:attrNameLst>
                                          <p:attrName>ppt_w</p:attrName>
                                        </p:attrNameLst>
                                      </p:cBhvr>
                                      <p:tavLst>
                                        <p:tav tm="0">
                                          <p:val>
                                            <p:fltVal val="0"/>
                                          </p:val>
                                        </p:tav>
                                        <p:tav tm="100000">
                                          <p:val>
                                            <p:strVal val="#ppt_w"/>
                                          </p:val>
                                        </p:tav>
                                      </p:tavLst>
                                    </p:anim>
                                    <p:anim calcmode="lin" valueType="num">
                                      <p:cBhvr>
                                        <p:cTn id="79" dur="300" fill="hold"/>
                                        <p:tgtEl>
                                          <p:spTgt spid="23"/>
                                        </p:tgtEl>
                                        <p:attrNameLst>
                                          <p:attrName>ppt_h</p:attrName>
                                        </p:attrNameLst>
                                      </p:cBhvr>
                                      <p:tavLst>
                                        <p:tav tm="0">
                                          <p:val>
                                            <p:fltVal val="0"/>
                                          </p:val>
                                        </p:tav>
                                        <p:tav tm="100000">
                                          <p:val>
                                            <p:strVal val="#ppt_h"/>
                                          </p:val>
                                        </p:tav>
                                      </p:tavLst>
                                    </p:anim>
                                    <p:animEffect transition="in" filter="fade">
                                      <p:cBhvr>
                                        <p:cTn id="80" dur="300"/>
                                        <p:tgtEl>
                                          <p:spTgt spid="23"/>
                                        </p:tgtEl>
                                      </p:cBhvr>
                                    </p:animEffect>
                                  </p:childTnLst>
                                </p:cTn>
                              </p:par>
                              <p:par>
                                <p:cTn id="81" presetID="37" presetClass="entr" presetSubtype="0" fill="hold" grpId="0" nodeType="withEffect">
                                  <p:stCondLst>
                                    <p:cond delay="0"/>
                                  </p:stCondLst>
                                  <p:childTnLst>
                                    <p:set>
                                      <p:cBhvr>
                                        <p:cTn id="82" dur="1" fill="hold">
                                          <p:stCondLst>
                                            <p:cond delay="0"/>
                                          </p:stCondLst>
                                        </p:cTn>
                                        <p:tgtEl>
                                          <p:spTgt spid="24">
                                            <p:txEl>
                                              <p:pRg st="0" end="0"/>
                                            </p:txEl>
                                          </p:spTgt>
                                        </p:tgtEl>
                                        <p:attrNameLst>
                                          <p:attrName>style.visibility</p:attrName>
                                        </p:attrNameLst>
                                      </p:cBhvr>
                                      <p:to>
                                        <p:strVal val="visible"/>
                                      </p:to>
                                    </p:set>
                                    <p:animEffect transition="in" filter="fade">
                                      <p:cBhvr>
                                        <p:cTn id="83" dur="450"/>
                                        <p:tgtEl>
                                          <p:spTgt spid="24">
                                            <p:txEl>
                                              <p:pRg st="0" end="0"/>
                                            </p:txEl>
                                          </p:spTgt>
                                        </p:tgtEl>
                                      </p:cBhvr>
                                    </p:animEffect>
                                    <p:anim calcmode="lin" valueType="num">
                                      <p:cBhvr>
                                        <p:cTn id="84" dur="450" fill="hold"/>
                                        <p:tgtEl>
                                          <p:spTgt spid="24">
                                            <p:txEl>
                                              <p:pRg st="0" end="0"/>
                                            </p:txEl>
                                          </p:spTgt>
                                        </p:tgtEl>
                                        <p:attrNameLst>
                                          <p:attrName>ppt_x</p:attrName>
                                        </p:attrNameLst>
                                      </p:cBhvr>
                                      <p:tavLst>
                                        <p:tav tm="0">
                                          <p:val>
                                            <p:strVal val="#ppt_x"/>
                                          </p:val>
                                        </p:tav>
                                        <p:tav tm="100000">
                                          <p:val>
                                            <p:strVal val="#ppt_x"/>
                                          </p:val>
                                        </p:tav>
                                      </p:tavLst>
                                    </p:anim>
                                    <p:anim calcmode="lin" valueType="num">
                                      <p:cBhvr>
                                        <p:cTn id="85" dur="405" decel="100000" fill="hold"/>
                                        <p:tgtEl>
                                          <p:spTgt spid="24">
                                            <p:txEl>
                                              <p:pRg st="0" end="0"/>
                                            </p:txEl>
                                          </p:spTgt>
                                        </p:tgtEl>
                                        <p:attrNameLst>
                                          <p:attrName>ppt_y</p:attrName>
                                        </p:attrNameLst>
                                      </p:cBhvr>
                                      <p:tavLst>
                                        <p:tav tm="0">
                                          <p:val>
                                            <p:strVal val="#ppt_y+1"/>
                                          </p:val>
                                        </p:tav>
                                        <p:tav tm="100000">
                                          <p:val>
                                            <p:strVal val="#ppt_y-.03"/>
                                          </p:val>
                                        </p:tav>
                                      </p:tavLst>
                                    </p:anim>
                                    <p:anim calcmode="lin" valueType="num">
                                      <p:cBhvr>
                                        <p:cTn id="86" dur="45" accel="100000" fill="hold">
                                          <p:stCondLst>
                                            <p:cond delay="405"/>
                                          </p:stCondLst>
                                        </p:cTn>
                                        <p:tgtEl>
                                          <p:spTgt spid="24">
                                            <p:txEl>
                                              <p:pRg st="0" end="0"/>
                                            </p:txEl>
                                          </p:spTgt>
                                        </p:tgtEl>
                                        <p:attrNameLst>
                                          <p:attrName>ppt_y</p:attrName>
                                        </p:attrNameLst>
                                      </p:cBhvr>
                                      <p:tavLst>
                                        <p:tav tm="0">
                                          <p:val>
                                            <p:strVal val="#ppt_y-.03"/>
                                          </p:val>
                                        </p:tav>
                                        <p:tav tm="100000">
                                          <p:val>
                                            <p:strVal val="#ppt_y"/>
                                          </p:val>
                                        </p:tav>
                                      </p:tavLst>
                                    </p:anim>
                                  </p:childTnLst>
                                </p:cTn>
                              </p:par>
                            </p:childTnLst>
                          </p:cTn>
                        </p:par>
                        <p:par>
                          <p:cTn id="87" fill="hold">
                            <p:stCondLst>
                              <p:cond delay="5400"/>
                            </p:stCondLst>
                            <p:childTnLst>
                              <p:par>
                                <p:cTn id="88" presetID="37" presetClass="entr" presetSubtype="0" fill="hold" grpId="0" nodeType="afterEffect">
                                  <p:stCondLst>
                                    <p:cond delay="0"/>
                                  </p:stCondLst>
                                  <p:childTnLst>
                                    <p:set>
                                      <p:cBhvr>
                                        <p:cTn id="89" dur="1" fill="hold">
                                          <p:stCondLst>
                                            <p:cond delay="0"/>
                                          </p:stCondLst>
                                        </p:cTn>
                                        <p:tgtEl>
                                          <p:spTgt spid="24">
                                            <p:txEl>
                                              <p:pRg st="1" end="1"/>
                                            </p:txEl>
                                          </p:spTgt>
                                        </p:tgtEl>
                                        <p:attrNameLst>
                                          <p:attrName>style.visibility</p:attrName>
                                        </p:attrNameLst>
                                      </p:cBhvr>
                                      <p:to>
                                        <p:strVal val="visible"/>
                                      </p:to>
                                    </p:set>
                                    <p:animEffect transition="in" filter="fade">
                                      <p:cBhvr>
                                        <p:cTn id="90" dur="450"/>
                                        <p:tgtEl>
                                          <p:spTgt spid="24">
                                            <p:txEl>
                                              <p:pRg st="1" end="1"/>
                                            </p:txEl>
                                          </p:spTgt>
                                        </p:tgtEl>
                                      </p:cBhvr>
                                    </p:animEffect>
                                    <p:anim calcmode="lin" valueType="num">
                                      <p:cBhvr>
                                        <p:cTn id="91" dur="450" fill="hold"/>
                                        <p:tgtEl>
                                          <p:spTgt spid="24">
                                            <p:txEl>
                                              <p:pRg st="1" end="1"/>
                                            </p:txEl>
                                          </p:spTgt>
                                        </p:tgtEl>
                                        <p:attrNameLst>
                                          <p:attrName>ppt_x</p:attrName>
                                        </p:attrNameLst>
                                      </p:cBhvr>
                                      <p:tavLst>
                                        <p:tav tm="0">
                                          <p:val>
                                            <p:strVal val="#ppt_x"/>
                                          </p:val>
                                        </p:tav>
                                        <p:tav tm="100000">
                                          <p:val>
                                            <p:strVal val="#ppt_x"/>
                                          </p:val>
                                        </p:tav>
                                      </p:tavLst>
                                    </p:anim>
                                    <p:anim calcmode="lin" valueType="num">
                                      <p:cBhvr>
                                        <p:cTn id="92" dur="405" decel="100000" fill="hold"/>
                                        <p:tgtEl>
                                          <p:spTgt spid="24">
                                            <p:txEl>
                                              <p:pRg st="1" end="1"/>
                                            </p:txEl>
                                          </p:spTgt>
                                        </p:tgtEl>
                                        <p:attrNameLst>
                                          <p:attrName>ppt_y</p:attrName>
                                        </p:attrNameLst>
                                      </p:cBhvr>
                                      <p:tavLst>
                                        <p:tav tm="0">
                                          <p:val>
                                            <p:strVal val="#ppt_y+1"/>
                                          </p:val>
                                        </p:tav>
                                        <p:tav tm="100000">
                                          <p:val>
                                            <p:strVal val="#ppt_y-.03"/>
                                          </p:val>
                                        </p:tav>
                                      </p:tavLst>
                                    </p:anim>
                                    <p:anim calcmode="lin" valueType="num">
                                      <p:cBhvr>
                                        <p:cTn id="93" dur="45" accel="100000" fill="hold">
                                          <p:stCondLst>
                                            <p:cond delay="405"/>
                                          </p:stCondLst>
                                        </p:cTn>
                                        <p:tgtEl>
                                          <p:spTgt spid="24">
                                            <p:txEl>
                                              <p:pRg st="1" end="1"/>
                                            </p:txEl>
                                          </p:spTgt>
                                        </p:tgtEl>
                                        <p:attrNameLst>
                                          <p:attrName>ppt_y</p:attrName>
                                        </p:attrNameLst>
                                      </p:cBhvr>
                                      <p:tavLst>
                                        <p:tav tm="0">
                                          <p:val>
                                            <p:strVal val="#ppt_y-.03"/>
                                          </p:val>
                                        </p:tav>
                                        <p:tav tm="100000">
                                          <p:val>
                                            <p:strVal val="#ppt_y"/>
                                          </p:val>
                                        </p:tav>
                                      </p:tavLst>
                                    </p:anim>
                                  </p:childTnLst>
                                </p:cTn>
                              </p:par>
                            </p:childTnLst>
                          </p:cTn>
                        </p:par>
                        <p:par>
                          <p:cTn id="94" fill="hold">
                            <p:stCondLst>
                              <p:cond delay="5850"/>
                            </p:stCondLst>
                            <p:childTnLst>
                              <p:par>
                                <p:cTn id="95" presetID="2" presetClass="entr" presetSubtype="2" fill="hold" nodeType="afterEffect">
                                  <p:stCondLst>
                                    <p:cond delay="0"/>
                                  </p:stCondLst>
                                  <p:childTnLst>
                                    <p:set>
                                      <p:cBhvr>
                                        <p:cTn id="96" dur="1" fill="hold">
                                          <p:stCondLst>
                                            <p:cond delay="0"/>
                                          </p:stCondLst>
                                        </p:cTn>
                                        <p:tgtEl>
                                          <p:spTgt spid="30"/>
                                        </p:tgtEl>
                                        <p:attrNameLst>
                                          <p:attrName>style.visibility</p:attrName>
                                        </p:attrNameLst>
                                      </p:cBhvr>
                                      <p:to>
                                        <p:strVal val="visible"/>
                                      </p:to>
                                    </p:set>
                                    <p:anim calcmode="lin" valueType="num">
                                      <p:cBhvr additive="base">
                                        <p:cTn id="97" dur="500" fill="hold"/>
                                        <p:tgtEl>
                                          <p:spTgt spid="30"/>
                                        </p:tgtEl>
                                        <p:attrNameLst>
                                          <p:attrName>ppt_x</p:attrName>
                                        </p:attrNameLst>
                                      </p:cBhvr>
                                      <p:tavLst>
                                        <p:tav tm="0">
                                          <p:val>
                                            <p:strVal val="1+#ppt_w/2"/>
                                          </p:val>
                                        </p:tav>
                                        <p:tav tm="100000">
                                          <p:val>
                                            <p:strVal val="#ppt_x"/>
                                          </p:val>
                                        </p:tav>
                                      </p:tavLst>
                                    </p:anim>
                                    <p:anim calcmode="lin" valueType="num">
                                      <p:cBhvr additive="base">
                                        <p:cTn id="98"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7" grpId="0"/>
      <p:bldP spid="18" grpId="0" build="p"/>
      <p:bldP spid="19" grpId="0"/>
      <p:bldP spid="20" grpId="0" build="p"/>
      <p:bldP spid="21" grpId="0"/>
      <p:bldP spid="22" grpId="0" build="p"/>
      <p:bldP spid="23" grpId="0"/>
      <p:bldP spid="2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32325"/>
        </a:solidFill>
        <a:effectLst/>
      </p:bgPr>
    </p:bg>
    <p:spTree>
      <p:nvGrpSpPr>
        <p:cNvPr id="1" name=""/>
        <p:cNvGrpSpPr/>
        <p:nvPr/>
      </p:nvGrpSpPr>
      <p:grpSpPr>
        <a:xfrm>
          <a:off x="0" y="0"/>
          <a:ext cx="0" cy="0"/>
          <a:chOff x="0" y="0"/>
          <a:chExt cx="0" cy="0"/>
        </a:xfrm>
      </p:grpSpPr>
      <p:sp>
        <p:nvSpPr>
          <p:cNvPr id="2" name="!!seg8"/>
          <p:cNvSpPr/>
          <p:nvPr/>
        </p:nvSpPr>
        <p:spPr>
          <a:xfrm>
            <a:off x="16971264"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seg7"/>
          <p:cNvSpPr/>
          <p:nvPr/>
        </p:nvSpPr>
        <p:spPr>
          <a:xfrm>
            <a:off x="16568927"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seg6"/>
          <p:cNvSpPr/>
          <p:nvPr/>
        </p:nvSpPr>
        <p:spPr>
          <a:xfrm>
            <a:off x="16166591"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seg5"/>
          <p:cNvSpPr/>
          <p:nvPr/>
        </p:nvSpPr>
        <p:spPr>
          <a:xfrm>
            <a:off x="15764255"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seg4"/>
          <p:cNvSpPr/>
          <p:nvPr/>
        </p:nvSpPr>
        <p:spPr>
          <a:xfrm>
            <a:off x="15361919"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eg3"/>
          <p:cNvSpPr/>
          <p:nvPr/>
        </p:nvSpPr>
        <p:spPr>
          <a:xfrm>
            <a:off x="14959583"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eg2"/>
          <p:cNvSpPr/>
          <p:nvPr/>
        </p:nvSpPr>
        <p:spPr>
          <a:xfrm>
            <a:off x="13770863" y="566928"/>
            <a:ext cx="1097280" cy="118872"/>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seg1"/>
          <p:cNvSpPr/>
          <p:nvPr/>
        </p:nvSpPr>
        <p:spPr>
          <a:xfrm>
            <a:off x="1336852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egno"/>
          <p:cNvSpPr txBox="1"/>
          <p:nvPr/>
        </p:nvSpPr>
        <p:spPr>
          <a:xfrm>
            <a:off x="10808207" y="429768"/>
            <a:ext cx="2423160" cy="384048"/>
          </a:xfrm>
          <a:prstGeom prst="rect">
            <a:avLst/>
          </a:prstGeom>
          <a:noFill/>
        </p:spPr>
        <p:txBody>
          <a:bodyPr wrap="square" lIns="45720" rIns="45720" anchor="t"/>
          <a:lstStyle/>
          <a:p>
            <a:pPr algn="r">
              <a:lnSpc>
                <a:spcPct val="100000"/>
              </a:lnSpc>
            </a:pPr>
            <a:r>
              <a:rPr sz="1500" b="0" i="0">
                <a:solidFill>
                  <a:srgbClr val="8E8E93"/>
                </a:solidFill>
                <a:latin typeface="Oswald"/>
              </a:rPr>
              <a:t>02 / 08</a:t>
            </a:r>
          </a:p>
        </p:txBody>
      </p:sp>
      <p:sp>
        <p:nvSpPr>
          <p:cNvPr id="11" name="Kicker 22"/>
          <p:cNvSpPr txBox="1"/>
          <p:nvPr/>
        </p:nvSpPr>
        <p:spPr>
          <a:xfrm>
            <a:off x="1005840" y="457200"/>
            <a:ext cx="8229600" cy="411480"/>
          </a:xfrm>
          <a:prstGeom prst="rect">
            <a:avLst/>
          </a:prstGeom>
          <a:noFill/>
        </p:spPr>
        <p:txBody>
          <a:bodyPr wrap="square" lIns="45720" rIns="45720" anchor="t"/>
          <a:lstStyle/>
          <a:p>
            <a:pPr algn="l">
              <a:lnSpc>
                <a:spcPct val="100000"/>
              </a:lnSpc>
            </a:pPr>
            <a:r>
              <a:rPr sz="1600" b="1" i="0">
                <a:solidFill>
                  <a:srgbClr val="C1FF72"/>
                </a:solidFill>
                <a:latin typeface="Titillium Web"/>
              </a:rPr>
              <a:t>02  ·  PROBLEM STATEMENT</a:t>
            </a:r>
          </a:p>
        </p:txBody>
      </p:sp>
      <p:sp>
        <p:nvSpPr>
          <p:cNvPr id="12" name="Title 23"/>
          <p:cNvSpPr txBox="1"/>
          <p:nvPr/>
        </p:nvSpPr>
        <p:spPr>
          <a:xfrm>
            <a:off x="1005840" y="841248"/>
            <a:ext cx="16276320" cy="1051560"/>
          </a:xfrm>
          <a:prstGeom prst="rect">
            <a:avLst/>
          </a:prstGeom>
          <a:noFill/>
        </p:spPr>
        <p:txBody>
          <a:bodyPr wrap="square" lIns="45720" rIns="45720" anchor="t"/>
          <a:lstStyle/>
          <a:p>
            <a:pPr algn="l">
              <a:lnSpc>
                <a:spcPct val="100000"/>
              </a:lnSpc>
            </a:pPr>
            <a:r>
              <a:rPr sz="5400" b="0" i="0">
                <a:solidFill>
                  <a:srgbClr val="EDEDED"/>
                </a:solidFill>
                <a:latin typeface="Oswald"/>
              </a:rPr>
              <a:t>PROBLEM STATEMENT</a:t>
            </a:r>
          </a:p>
        </p:txBody>
      </p:sp>
      <p:sp>
        <p:nvSpPr>
          <p:cNvPr id="13" name="Subtitle 24"/>
          <p:cNvSpPr txBox="1"/>
          <p:nvPr/>
        </p:nvSpPr>
        <p:spPr>
          <a:xfrm>
            <a:off x="1005840" y="1828800"/>
            <a:ext cx="16276320" cy="502920"/>
          </a:xfrm>
          <a:prstGeom prst="rect">
            <a:avLst/>
          </a:prstGeom>
          <a:noFill/>
        </p:spPr>
        <p:txBody>
          <a:bodyPr wrap="square" lIns="45720" rIns="45720" anchor="t"/>
          <a:lstStyle/>
          <a:p>
            <a:pPr algn="l">
              <a:lnSpc>
                <a:spcPct val="100000"/>
              </a:lnSpc>
            </a:pPr>
            <a:r>
              <a:rPr sz="2100" b="0" i="0">
                <a:solidFill>
                  <a:srgbClr val="8E8E93"/>
                </a:solidFill>
                <a:latin typeface="Titillium Web"/>
              </a:rPr>
              <a:t>Three persistent problems limit AI threat detection for ordinary users and small teams</a:t>
            </a:r>
          </a:p>
        </p:txBody>
      </p:sp>
      <p:sp>
        <p:nvSpPr>
          <p:cNvPr id="14" name="Source"/>
          <p:cNvSpPr txBox="1"/>
          <p:nvPr/>
        </p:nvSpPr>
        <p:spPr>
          <a:xfrm>
            <a:off x="1005840" y="9710928"/>
            <a:ext cx="14447520" cy="347472"/>
          </a:xfrm>
          <a:prstGeom prst="rect">
            <a:avLst/>
          </a:prstGeom>
          <a:noFill/>
        </p:spPr>
        <p:txBody>
          <a:bodyPr wrap="square" lIns="45720" rIns="45720" anchor="t"/>
          <a:lstStyle/>
          <a:p>
            <a:pPr algn="l">
              <a:lnSpc>
                <a:spcPct val="100000"/>
              </a:lnSpc>
            </a:pPr>
            <a:r>
              <a:rPr sz="1300" b="0" i="0">
                <a:solidFill>
                  <a:srgbClr val="5C5C61"/>
                </a:solidFill>
                <a:latin typeface="Titillium Web"/>
              </a:rPr>
              <a:t>Thesis §1.2 Problem Statement</a:t>
            </a:r>
          </a:p>
        </p:txBody>
      </p:sp>
      <p:sp>
        <p:nvSpPr>
          <p:cNvPr id="15" name="Page"/>
          <p:cNvSpPr txBox="1"/>
          <p:nvPr/>
        </p:nvSpPr>
        <p:spPr>
          <a:xfrm>
            <a:off x="15453359" y="9710928"/>
            <a:ext cx="1828800" cy="347472"/>
          </a:xfrm>
          <a:prstGeom prst="rect">
            <a:avLst/>
          </a:prstGeom>
          <a:noFill/>
        </p:spPr>
        <p:txBody>
          <a:bodyPr wrap="square" lIns="45720" rIns="45720" anchor="t"/>
          <a:lstStyle/>
          <a:p>
            <a:pPr algn="r">
              <a:lnSpc>
                <a:spcPct val="100000"/>
              </a:lnSpc>
            </a:pPr>
            <a:r>
              <a:rPr sz="1300" b="0" i="0">
                <a:solidFill>
                  <a:srgbClr val="5C5C61"/>
                </a:solidFill>
                <a:latin typeface="Oswald"/>
              </a:rPr>
              <a:t>03</a:t>
            </a:r>
          </a:p>
        </p:txBody>
      </p:sp>
      <p:pic>
        <p:nvPicPr>
          <p:cNvPr id="16" name="!!photo" descr="2036656-0.777-0.50-0.42.jpg"/>
          <p:cNvPicPr>
            <a:picLocks noChangeAspect="1"/>
          </p:cNvPicPr>
          <p:nvPr/>
        </p:nvPicPr>
        <p:blipFill>
          <a:blip r:embed="rId3"/>
          <a:stretch>
            <a:fillRect/>
          </a:stretch>
        </p:blipFill>
        <p:spPr>
          <a:xfrm>
            <a:off x="13304520" y="2606040"/>
            <a:ext cx="3977639" cy="5120640"/>
          </a:xfrm>
          <a:prstGeom prst="roundRect">
            <a:avLst>
              <a:gd name="adj" fmla="val 8045"/>
            </a:avLst>
          </a:prstGeom>
          <a:effectLst>
            <a:outerShdw blurRad="279400" dist="114300" dir="2700000" algn="ctr" rotWithShape="0">
              <a:srgbClr val="0E0E10">
                <a:alpha val="70000"/>
              </a:srgbClr>
            </a:outerShdw>
          </a:effectLst>
        </p:spPr>
      </p:pic>
      <p:grpSp>
        <p:nvGrpSpPr>
          <p:cNvPr id="22" name="Card 25"/>
          <p:cNvGrpSpPr/>
          <p:nvPr/>
        </p:nvGrpSpPr>
        <p:grpSpPr>
          <a:xfrm>
            <a:off x="1005840" y="2606040"/>
            <a:ext cx="3794760" cy="5120640"/>
            <a:chOff x="1005840" y="2606040"/>
            <a:chExt cx="3794760" cy="5120640"/>
          </a:xfrm>
        </p:grpSpPr>
        <p:sp>
          <p:nvSpPr>
            <p:cNvPr id="17" name="Card light"/>
            <p:cNvSpPr/>
            <p:nvPr/>
          </p:nvSpPr>
          <p:spPr>
            <a:xfrm>
              <a:off x="1005840" y="2606040"/>
              <a:ext cx="3794760" cy="5120640"/>
            </a:xfrm>
            <a:prstGeom prst="roundRect">
              <a:avLst>
                <a:gd name="adj" fmla="val 6746"/>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Card"/>
            <p:cNvSpPr/>
            <p:nvPr/>
          </p:nvSpPr>
          <p:spPr>
            <a:xfrm>
              <a:off x="1005840" y="2606040"/>
              <a:ext cx="3794760" cy="5120640"/>
            </a:xfrm>
            <a:prstGeom prst="roundRect">
              <a:avLst>
                <a:gd name="adj" fmla="val 6746"/>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Card num"/>
            <p:cNvSpPr txBox="1"/>
            <p:nvPr/>
          </p:nvSpPr>
          <p:spPr>
            <a:xfrm>
              <a:off x="1298448" y="2807208"/>
              <a:ext cx="3209544" cy="731520"/>
            </a:xfrm>
            <a:prstGeom prst="rect">
              <a:avLst/>
            </a:prstGeom>
            <a:noFill/>
          </p:spPr>
          <p:txBody>
            <a:bodyPr wrap="square" lIns="45720" rIns="45720" anchor="t"/>
            <a:lstStyle/>
            <a:p>
              <a:pPr algn="l">
                <a:lnSpc>
                  <a:spcPct val="100000"/>
                </a:lnSpc>
              </a:pPr>
              <a:r>
                <a:rPr sz="3600" b="0" i="0">
                  <a:solidFill>
                    <a:srgbClr val="C1FF72"/>
                  </a:solidFill>
                  <a:latin typeface="Oswald"/>
                </a:rPr>
                <a:t>01</a:t>
              </a:r>
            </a:p>
          </p:txBody>
        </p:sp>
        <p:sp>
          <p:nvSpPr>
            <p:cNvPr id="20" name="Card title"/>
            <p:cNvSpPr txBox="1"/>
            <p:nvPr/>
          </p:nvSpPr>
          <p:spPr>
            <a:xfrm>
              <a:off x="1298448" y="3538728"/>
              <a:ext cx="3209544" cy="910336"/>
            </a:xfrm>
            <a:prstGeom prst="rect">
              <a:avLst/>
            </a:prstGeom>
            <a:noFill/>
          </p:spPr>
          <p:txBody>
            <a:bodyPr wrap="square" lIns="45720" rIns="45720" anchor="t"/>
            <a:lstStyle/>
            <a:p>
              <a:pPr algn="l">
                <a:lnSpc>
                  <a:spcPct val="100000"/>
                </a:lnSpc>
              </a:pPr>
              <a:r>
                <a:rPr sz="2600" b="0" i="0">
                  <a:solidFill>
                    <a:srgbClr val="EDEDED"/>
                  </a:solidFill>
                  <a:latin typeface="Oswald"/>
                </a:rPr>
                <a:t>TOO MANY FALSE ALARMS</a:t>
              </a:r>
            </a:p>
          </p:txBody>
        </p:sp>
        <p:sp>
          <p:nvSpPr>
            <p:cNvPr id="21" name="Card body"/>
            <p:cNvSpPr txBox="1"/>
            <p:nvPr/>
          </p:nvSpPr>
          <p:spPr>
            <a:xfrm>
              <a:off x="1298448" y="4485640"/>
              <a:ext cx="3209544" cy="3003296"/>
            </a:xfrm>
            <a:prstGeom prst="rect">
              <a:avLst/>
            </a:prstGeom>
            <a:noFill/>
          </p:spPr>
          <p:txBody>
            <a:bodyPr wrap="square" lIns="45720" rIns="45720" anchor="t"/>
            <a:lstStyle/>
            <a:p>
              <a:pPr algn="l">
                <a:lnSpc>
                  <a:spcPct val="98000"/>
                </a:lnSpc>
              </a:pPr>
              <a:r>
                <a:rPr sz="1850" b="0" i="0">
                  <a:solidFill>
                    <a:srgbClr val="BDBDC1"/>
                  </a:solidFill>
                  <a:latin typeface="Titillium Web"/>
                </a:rPr>
                <a:t>Single-model URL classifiers are prone to false positives. An early CyberForge heuristic rated every URL, google.com included, "medium risk" because of a +0.5 offset. Alert fatigue makes users ignore real threats.</a:t>
              </a:r>
            </a:p>
          </p:txBody>
        </p:sp>
      </p:grpSp>
      <p:grpSp>
        <p:nvGrpSpPr>
          <p:cNvPr id="28" name="Card 26"/>
          <p:cNvGrpSpPr/>
          <p:nvPr/>
        </p:nvGrpSpPr>
        <p:grpSpPr>
          <a:xfrm>
            <a:off x="5074920" y="2606040"/>
            <a:ext cx="3794760" cy="5120640"/>
            <a:chOff x="5074920" y="2606040"/>
            <a:chExt cx="3794760" cy="5120640"/>
          </a:xfrm>
        </p:grpSpPr>
        <p:sp>
          <p:nvSpPr>
            <p:cNvPr id="23" name="Card light"/>
            <p:cNvSpPr/>
            <p:nvPr/>
          </p:nvSpPr>
          <p:spPr>
            <a:xfrm>
              <a:off x="5074920" y="2606040"/>
              <a:ext cx="3794760" cy="5120640"/>
            </a:xfrm>
            <a:prstGeom prst="roundRect">
              <a:avLst>
                <a:gd name="adj" fmla="val 6746"/>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Card"/>
            <p:cNvSpPr/>
            <p:nvPr/>
          </p:nvSpPr>
          <p:spPr>
            <a:xfrm>
              <a:off x="5074920" y="2606040"/>
              <a:ext cx="3794760" cy="5120640"/>
            </a:xfrm>
            <a:prstGeom prst="roundRect">
              <a:avLst>
                <a:gd name="adj" fmla="val 6746"/>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Card num"/>
            <p:cNvSpPr txBox="1"/>
            <p:nvPr/>
          </p:nvSpPr>
          <p:spPr>
            <a:xfrm>
              <a:off x="5367528" y="2807208"/>
              <a:ext cx="3209544" cy="731520"/>
            </a:xfrm>
            <a:prstGeom prst="rect">
              <a:avLst/>
            </a:prstGeom>
            <a:noFill/>
          </p:spPr>
          <p:txBody>
            <a:bodyPr wrap="square" lIns="45720" rIns="45720" anchor="t"/>
            <a:lstStyle/>
            <a:p>
              <a:pPr algn="l">
                <a:lnSpc>
                  <a:spcPct val="100000"/>
                </a:lnSpc>
              </a:pPr>
              <a:r>
                <a:rPr sz="3600" b="0" i="0">
                  <a:solidFill>
                    <a:srgbClr val="C1FF72"/>
                  </a:solidFill>
                  <a:latin typeface="Oswald"/>
                </a:rPr>
                <a:t>02</a:t>
              </a:r>
            </a:p>
          </p:txBody>
        </p:sp>
        <p:sp>
          <p:nvSpPr>
            <p:cNvPr id="26" name="Card title"/>
            <p:cNvSpPr txBox="1"/>
            <p:nvPr/>
          </p:nvSpPr>
          <p:spPr>
            <a:xfrm>
              <a:off x="5367528" y="3538728"/>
              <a:ext cx="3209544" cy="910336"/>
            </a:xfrm>
            <a:prstGeom prst="rect">
              <a:avLst/>
            </a:prstGeom>
            <a:noFill/>
          </p:spPr>
          <p:txBody>
            <a:bodyPr wrap="square" lIns="45720" rIns="45720" anchor="t"/>
            <a:lstStyle/>
            <a:p>
              <a:pPr algn="l">
                <a:lnSpc>
                  <a:spcPct val="100000"/>
                </a:lnSpc>
              </a:pPr>
              <a:r>
                <a:rPr sz="2600" b="0" i="0">
                  <a:solidFill>
                    <a:srgbClr val="EDEDED"/>
                  </a:solidFill>
                  <a:latin typeface="Oswald"/>
                </a:rPr>
                <a:t>A NUMBER, NOT A STORY</a:t>
              </a:r>
            </a:p>
          </p:txBody>
        </p:sp>
        <p:sp>
          <p:nvSpPr>
            <p:cNvPr id="27" name="Card body"/>
            <p:cNvSpPr txBox="1"/>
            <p:nvPr/>
          </p:nvSpPr>
          <p:spPr>
            <a:xfrm>
              <a:off x="5367528" y="4485640"/>
              <a:ext cx="3209544" cy="3003296"/>
            </a:xfrm>
            <a:prstGeom prst="rect">
              <a:avLst/>
            </a:prstGeom>
            <a:noFill/>
          </p:spPr>
          <p:txBody>
            <a:bodyPr wrap="square" lIns="45720" rIns="45720" anchor="t"/>
            <a:lstStyle/>
            <a:p>
              <a:pPr algn="l">
                <a:lnSpc>
                  <a:spcPct val="98000"/>
                </a:lnSpc>
              </a:pPr>
              <a:r>
                <a:rPr sz="1850" b="0" i="0">
                  <a:solidFill>
                    <a:srgbClr val="BDBDC1"/>
                  </a:solidFill>
                  <a:latin typeface="Titillium Web"/>
                </a:rPr>
                <a:t>A classifier gives a probability, but cannot list the indicators of compromise on the page, map script activity to a MITRE technique, or link the domain to earlier threat reports.</a:t>
              </a:r>
            </a:p>
          </p:txBody>
        </p:sp>
      </p:grpSp>
      <p:grpSp>
        <p:nvGrpSpPr>
          <p:cNvPr id="34" name="Card 27"/>
          <p:cNvGrpSpPr/>
          <p:nvPr/>
        </p:nvGrpSpPr>
        <p:grpSpPr>
          <a:xfrm>
            <a:off x="9144000" y="2606040"/>
            <a:ext cx="3794760" cy="5120640"/>
            <a:chOff x="9144000" y="2606040"/>
            <a:chExt cx="3794760" cy="5120640"/>
          </a:xfrm>
        </p:grpSpPr>
        <p:sp>
          <p:nvSpPr>
            <p:cNvPr id="29" name="Card light"/>
            <p:cNvSpPr/>
            <p:nvPr/>
          </p:nvSpPr>
          <p:spPr>
            <a:xfrm>
              <a:off x="9144000" y="2606040"/>
              <a:ext cx="3794760" cy="5120640"/>
            </a:xfrm>
            <a:prstGeom prst="roundRect">
              <a:avLst>
                <a:gd name="adj" fmla="val 6746"/>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0" name="Card"/>
            <p:cNvSpPr/>
            <p:nvPr/>
          </p:nvSpPr>
          <p:spPr>
            <a:xfrm>
              <a:off x="9144000" y="2606040"/>
              <a:ext cx="3794760" cy="5120640"/>
            </a:xfrm>
            <a:prstGeom prst="roundRect">
              <a:avLst>
                <a:gd name="adj" fmla="val 6746"/>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Card num"/>
            <p:cNvSpPr txBox="1"/>
            <p:nvPr/>
          </p:nvSpPr>
          <p:spPr>
            <a:xfrm>
              <a:off x="9436608" y="2807208"/>
              <a:ext cx="3209544" cy="731520"/>
            </a:xfrm>
            <a:prstGeom prst="rect">
              <a:avLst/>
            </a:prstGeom>
            <a:noFill/>
          </p:spPr>
          <p:txBody>
            <a:bodyPr wrap="square" lIns="45720" rIns="45720" anchor="t"/>
            <a:lstStyle/>
            <a:p>
              <a:pPr algn="l">
                <a:lnSpc>
                  <a:spcPct val="100000"/>
                </a:lnSpc>
              </a:pPr>
              <a:r>
                <a:rPr sz="3600" b="0" i="0">
                  <a:solidFill>
                    <a:srgbClr val="C1FF72"/>
                  </a:solidFill>
                  <a:latin typeface="Oswald"/>
                </a:rPr>
                <a:t>03</a:t>
              </a:r>
            </a:p>
          </p:txBody>
        </p:sp>
        <p:sp>
          <p:nvSpPr>
            <p:cNvPr id="32" name="Card title"/>
            <p:cNvSpPr txBox="1"/>
            <p:nvPr/>
          </p:nvSpPr>
          <p:spPr>
            <a:xfrm>
              <a:off x="9436608" y="3538728"/>
              <a:ext cx="3209544" cy="910336"/>
            </a:xfrm>
            <a:prstGeom prst="rect">
              <a:avLst/>
            </a:prstGeom>
            <a:noFill/>
          </p:spPr>
          <p:txBody>
            <a:bodyPr wrap="square" lIns="45720" rIns="45720" anchor="t"/>
            <a:lstStyle/>
            <a:p>
              <a:pPr algn="l">
                <a:lnSpc>
                  <a:spcPct val="100000"/>
                </a:lnSpc>
              </a:pPr>
              <a:r>
                <a:rPr sz="2600" b="0" i="0">
                  <a:solidFill>
                    <a:srgbClr val="EDEDED"/>
                  </a:solidFill>
                  <a:latin typeface="Oswald"/>
                </a:rPr>
                <a:t>NO OPEN, CONNECTED SYSTEM</a:t>
              </a:r>
            </a:p>
          </p:txBody>
        </p:sp>
        <p:sp>
          <p:nvSpPr>
            <p:cNvPr id="33" name="Card body"/>
            <p:cNvSpPr txBox="1"/>
            <p:nvPr/>
          </p:nvSpPr>
          <p:spPr>
            <a:xfrm>
              <a:off x="9436608" y="4485640"/>
              <a:ext cx="3209544" cy="3003296"/>
            </a:xfrm>
            <a:prstGeom prst="rect">
              <a:avLst/>
            </a:prstGeom>
            <a:noFill/>
          </p:spPr>
          <p:txBody>
            <a:bodyPr wrap="square" lIns="45720" rIns="45720" anchor="t"/>
            <a:lstStyle/>
            <a:p>
              <a:pPr algn="l">
                <a:lnSpc>
                  <a:spcPct val="98000"/>
                </a:lnSpc>
              </a:pPr>
              <a:r>
                <a:rPr sz="1850" b="0" i="0">
                  <a:solidFill>
                    <a:srgbClr val="BDBDC1"/>
                  </a:solidFill>
                  <a:latin typeface="Titillium Web"/>
                </a:rPr>
                <a:t>No widely deployed open system fans one browser event out to specialised analysers, keeps the result, reuses past visits and shows it on desktop and mobile. SOAR does, at enterprise cost.</a:t>
              </a:r>
            </a:p>
          </p:txBody>
        </p:sp>
      </p:grpSp>
      <p:grpSp>
        <p:nvGrpSpPr>
          <p:cNvPr id="38" name="Answer 28"/>
          <p:cNvGrpSpPr/>
          <p:nvPr/>
        </p:nvGrpSpPr>
        <p:grpSpPr>
          <a:xfrm>
            <a:off x="1005840" y="8046720"/>
            <a:ext cx="16276320" cy="1325880"/>
            <a:chOff x="1005840" y="8046720"/>
            <a:chExt cx="16276320" cy="1325880"/>
          </a:xfrm>
        </p:grpSpPr>
        <p:sp>
          <p:nvSpPr>
            <p:cNvPr id="35" name="Answer light"/>
            <p:cNvSpPr/>
            <p:nvPr/>
          </p:nvSpPr>
          <p:spPr>
            <a:xfrm>
              <a:off x="1005840" y="8046720"/>
              <a:ext cx="16276320" cy="1325880"/>
            </a:xfrm>
            <a:prstGeom prst="roundRect">
              <a:avLst>
                <a:gd name="adj" fmla="val 49655"/>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Answer"/>
            <p:cNvSpPr/>
            <p:nvPr/>
          </p:nvSpPr>
          <p:spPr>
            <a:xfrm>
              <a:off x="1005840" y="8046720"/>
              <a:ext cx="16276320" cy="1325880"/>
            </a:xfrm>
            <a:prstGeom prst="roundRect">
              <a:avLst>
                <a:gd name="adj" fmla="val 49655"/>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Answer text"/>
            <p:cNvSpPr txBox="1"/>
            <p:nvPr/>
          </p:nvSpPr>
          <p:spPr>
            <a:xfrm>
              <a:off x="1554480" y="8046720"/>
              <a:ext cx="15179040" cy="1325880"/>
            </a:xfrm>
            <a:prstGeom prst="rect">
              <a:avLst/>
            </a:prstGeom>
            <a:noFill/>
          </p:spPr>
          <p:txBody>
            <a:bodyPr wrap="square" lIns="45720" rIns="45720" anchor="ctr"/>
            <a:lstStyle/>
            <a:p>
              <a:pPr algn="ctr">
                <a:lnSpc>
                  <a:spcPct val="100000"/>
                </a:lnSpc>
              </a:pPr>
              <a:r>
                <a:rPr sz="2700" b="0" i="0">
                  <a:solidFill>
                    <a:srgbClr val="EDEDED"/>
                  </a:solidFill>
                  <a:latin typeface="Oswald"/>
                </a:rPr>
                <a:t>CyberForge answers with </a:t>
              </a:r>
              <a:r>
                <a:rPr sz="2700" b="0" i="0">
                  <a:solidFill>
                    <a:srgbClr val="C1FF72"/>
                  </a:solidFill>
                  <a:latin typeface="Oswald"/>
                </a:rPr>
                <a:t>specialist analysis</a:t>
              </a:r>
              <a:r>
                <a:rPr sz="2700" b="0" i="0">
                  <a:solidFill>
                    <a:srgbClr val="EDEDED"/>
                  </a:solidFill>
                  <a:latin typeface="Oswald"/>
                </a:rPr>
                <a:t>, </a:t>
              </a:r>
              <a:r>
                <a:rPr sz="2700" b="0" i="0">
                  <a:solidFill>
                    <a:srgbClr val="C1FF72"/>
                  </a:solidFill>
                  <a:latin typeface="Oswald"/>
                </a:rPr>
                <a:t>inspectable evidence</a:t>
              </a:r>
              <a:r>
                <a:rPr sz="2700" b="0" i="0">
                  <a:solidFill>
                    <a:srgbClr val="EDEDED"/>
                  </a:solidFill>
                  <a:latin typeface="Oswald"/>
                </a:rPr>
                <a:t> and </a:t>
              </a:r>
              <a:r>
                <a:rPr sz="2700" b="0" i="0">
                  <a:solidFill>
                    <a:srgbClr val="C1FF72"/>
                  </a:solidFill>
                  <a:latin typeface="Oswald"/>
                </a:rPr>
                <a:t>controlled sharing of results</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anim calcmode="lin" valueType="num">
                                      <p:cBhvr>
                                        <p:cTn id="11" dur="500" fill="hold"/>
                                        <p:tgtEl>
                                          <p:spTgt spid="12"/>
                                        </p:tgtEl>
                                        <p:attrNameLst>
                                          <p:attrName>ppt_x</p:attrName>
                                        </p:attrNameLst>
                                      </p:cBhvr>
                                      <p:tavLst>
                                        <p:tav tm="0">
                                          <p:val>
                                            <p:strVal val="#ppt_x"/>
                                          </p:val>
                                        </p:tav>
                                        <p:tav tm="100000">
                                          <p:val>
                                            <p:strVal val="#ppt_x"/>
                                          </p:val>
                                        </p:tav>
                                      </p:tavLst>
                                    </p:anim>
                                    <p:anim calcmode="lin" valueType="num">
                                      <p:cBhvr>
                                        <p:cTn id="12" dur="450" decel="100000" fill="hold"/>
                                        <p:tgtEl>
                                          <p:spTgt spid="12"/>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par>
                          <p:cTn id="14" fill="hold">
                            <p:stCondLst>
                              <p:cond delay="135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2450"/>
                            </p:stCondLst>
                            <p:childTnLst>
                              <p:par>
                                <p:cTn id="19" presetID="2" presetClass="entr" presetSubtype="4" fill="hold" nodeType="after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additive="base">
                                        <p:cTn id="21" dur="500" fill="hold"/>
                                        <p:tgtEl>
                                          <p:spTgt spid="22"/>
                                        </p:tgtEl>
                                        <p:attrNameLst>
                                          <p:attrName>ppt_x</p:attrName>
                                        </p:attrNameLst>
                                      </p:cBhvr>
                                      <p:tavLst>
                                        <p:tav tm="0">
                                          <p:val>
                                            <p:strVal val="#ppt_x"/>
                                          </p:val>
                                        </p:tav>
                                        <p:tav tm="100000">
                                          <p:val>
                                            <p:strVal val="#ppt_x"/>
                                          </p:val>
                                        </p:tav>
                                      </p:tavLst>
                                    </p:anim>
                                    <p:anim calcmode="lin" valueType="num">
                                      <p:cBhvr additive="base">
                                        <p:cTn id="22" dur="500" fill="hold"/>
                                        <p:tgtEl>
                                          <p:spTgt spid="22"/>
                                        </p:tgtEl>
                                        <p:attrNameLst>
                                          <p:attrName>ppt_y</p:attrName>
                                        </p:attrNameLst>
                                      </p:cBhvr>
                                      <p:tavLst>
                                        <p:tav tm="0">
                                          <p:val>
                                            <p:strVal val="1+#ppt_h/2"/>
                                          </p:val>
                                        </p:tav>
                                        <p:tav tm="100000">
                                          <p:val>
                                            <p:strVal val="#ppt_y"/>
                                          </p:val>
                                        </p:tav>
                                      </p:tavLst>
                                    </p:anim>
                                  </p:childTnLst>
                                </p:cTn>
                              </p:par>
                            </p:childTnLst>
                          </p:cTn>
                        </p:par>
                        <p:par>
                          <p:cTn id="23" fill="hold">
                            <p:stCondLst>
                              <p:cond delay="2950"/>
                            </p:stCondLst>
                            <p:childTnLst>
                              <p:par>
                                <p:cTn id="24" presetID="2" presetClass="entr" presetSubtype="4" fill="hold" nodeType="afterEffect">
                                  <p:stCondLst>
                                    <p:cond delay="0"/>
                                  </p:stCondLst>
                                  <p:childTnLst>
                                    <p:set>
                                      <p:cBhvr>
                                        <p:cTn id="25" dur="1" fill="hold">
                                          <p:stCondLst>
                                            <p:cond delay="0"/>
                                          </p:stCondLst>
                                        </p:cTn>
                                        <p:tgtEl>
                                          <p:spTgt spid="28"/>
                                        </p:tgtEl>
                                        <p:attrNameLst>
                                          <p:attrName>style.visibility</p:attrName>
                                        </p:attrNameLst>
                                      </p:cBhvr>
                                      <p:to>
                                        <p:strVal val="visible"/>
                                      </p:to>
                                    </p:set>
                                    <p:anim calcmode="lin" valueType="num">
                                      <p:cBhvr additive="base">
                                        <p:cTn id="26" dur="500" fill="hold"/>
                                        <p:tgtEl>
                                          <p:spTgt spid="28"/>
                                        </p:tgtEl>
                                        <p:attrNameLst>
                                          <p:attrName>ppt_x</p:attrName>
                                        </p:attrNameLst>
                                      </p:cBhvr>
                                      <p:tavLst>
                                        <p:tav tm="0">
                                          <p:val>
                                            <p:strVal val="#ppt_x"/>
                                          </p:val>
                                        </p:tav>
                                        <p:tav tm="100000">
                                          <p:val>
                                            <p:strVal val="#ppt_x"/>
                                          </p:val>
                                        </p:tav>
                                      </p:tavLst>
                                    </p:anim>
                                    <p:anim calcmode="lin" valueType="num">
                                      <p:cBhvr additive="base">
                                        <p:cTn id="27" dur="500" fill="hold"/>
                                        <p:tgtEl>
                                          <p:spTgt spid="28"/>
                                        </p:tgtEl>
                                        <p:attrNameLst>
                                          <p:attrName>ppt_y</p:attrName>
                                        </p:attrNameLst>
                                      </p:cBhvr>
                                      <p:tavLst>
                                        <p:tav tm="0">
                                          <p:val>
                                            <p:strVal val="1+#ppt_h/2"/>
                                          </p:val>
                                        </p:tav>
                                        <p:tav tm="100000">
                                          <p:val>
                                            <p:strVal val="#ppt_y"/>
                                          </p:val>
                                        </p:tav>
                                      </p:tavLst>
                                    </p:anim>
                                  </p:childTnLst>
                                </p:cTn>
                              </p:par>
                            </p:childTnLst>
                          </p:cTn>
                        </p:par>
                        <p:par>
                          <p:cTn id="28" fill="hold">
                            <p:stCondLst>
                              <p:cond delay="3450"/>
                            </p:stCondLst>
                            <p:childTnLst>
                              <p:par>
                                <p:cTn id="29" presetID="2" presetClass="entr" presetSubtype="4" fill="hold" nodeType="after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additive="base">
                                        <p:cTn id="31" dur="500" fill="hold"/>
                                        <p:tgtEl>
                                          <p:spTgt spid="34"/>
                                        </p:tgtEl>
                                        <p:attrNameLst>
                                          <p:attrName>ppt_x</p:attrName>
                                        </p:attrNameLst>
                                      </p:cBhvr>
                                      <p:tavLst>
                                        <p:tav tm="0">
                                          <p:val>
                                            <p:strVal val="#ppt_x"/>
                                          </p:val>
                                        </p:tav>
                                        <p:tav tm="100000">
                                          <p:val>
                                            <p:strVal val="#ppt_x"/>
                                          </p:val>
                                        </p:tav>
                                      </p:tavLst>
                                    </p:anim>
                                    <p:anim calcmode="lin" valueType="num">
                                      <p:cBhvr additive="base">
                                        <p:cTn id="32" dur="500" fill="hold"/>
                                        <p:tgtEl>
                                          <p:spTgt spid="34"/>
                                        </p:tgtEl>
                                        <p:attrNameLst>
                                          <p:attrName>ppt_y</p:attrName>
                                        </p:attrNameLst>
                                      </p:cBhvr>
                                      <p:tavLst>
                                        <p:tav tm="0">
                                          <p:val>
                                            <p:strVal val="1+#ppt_h/2"/>
                                          </p:val>
                                        </p:tav>
                                        <p:tav tm="100000">
                                          <p:val>
                                            <p:strVal val="#ppt_y"/>
                                          </p:val>
                                        </p:tav>
                                      </p:tavLst>
                                    </p:anim>
                                  </p:childTnLst>
                                </p:cTn>
                              </p:par>
                            </p:childTnLst>
                          </p:cTn>
                        </p:par>
                        <p:par>
                          <p:cTn id="33" fill="hold">
                            <p:stCondLst>
                              <p:cond delay="3950"/>
                            </p:stCondLst>
                            <p:childTnLst>
                              <p:par>
                                <p:cTn id="34" presetID="37" presetClass="entr" presetSubtype="0" fill="hold" nodeType="after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500"/>
                                        <p:tgtEl>
                                          <p:spTgt spid="38"/>
                                        </p:tgtEl>
                                      </p:cBhvr>
                                    </p:animEffect>
                                    <p:anim calcmode="lin" valueType="num">
                                      <p:cBhvr>
                                        <p:cTn id="37" dur="500" fill="hold"/>
                                        <p:tgtEl>
                                          <p:spTgt spid="38"/>
                                        </p:tgtEl>
                                        <p:attrNameLst>
                                          <p:attrName>ppt_x</p:attrName>
                                        </p:attrNameLst>
                                      </p:cBhvr>
                                      <p:tavLst>
                                        <p:tav tm="0">
                                          <p:val>
                                            <p:strVal val="#ppt_x"/>
                                          </p:val>
                                        </p:tav>
                                        <p:tav tm="100000">
                                          <p:val>
                                            <p:strVal val="#ppt_x"/>
                                          </p:val>
                                        </p:tav>
                                      </p:tavLst>
                                    </p:anim>
                                    <p:anim calcmode="lin" valueType="num">
                                      <p:cBhvr>
                                        <p:cTn id="38" dur="450" decel="100000" fill="hold"/>
                                        <p:tgtEl>
                                          <p:spTgt spid="38"/>
                                        </p:tgtEl>
                                        <p:attrNameLst>
                                          <p:attrName>ppt_y</p:attrName>
                                        </p:attrNameLst>
                                      </p:cBhvr>
                                      <p:tavLst>
                                        <p:tav tm="0">
                                          <p:val>
                                            <p:strVal val="#ppt_y+1"/>
                                          </p:val>
                                        </p:tav>
                                        <p:tav tm="100000">
                                          <p:val>
                                            <p:strVal val="#ppt_y-.03"/>
                                          </p:val>
                                        </p:tav>
                                      </p:tavLst>
                                    </p:anim>
                                    <p:anim calcmode="lin" valueType="num">
                                      <p:cBhvr>
                                        <p:cTn id="39" dur="50" accel="100000" fill="hold">
                                          <p:stCondLst>
                                            <p:cond delay="450"/>
                                          </p:stCondLst>
                                        </p:cTn>
                                        <p:tgtEl>
                                          <p:spTgt spid="38"/>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32325"/>
        </a:solidFill>
        <a:effectLst/>
      </p:bgPr>
    </p:bg>
    <p:spTree>
      <p:nvGrpSpPr>
        <p:cNvPr id="1" name=""/>
        <p:cNvGrpSpPr/>
        <p:nvPr/>
      </p:nvGrpSpPr>
      <p:grpSpPr>
        <a:xfrm>
          <a:off x="0" y="0"/>
          <a:ext cx="0" cy="0"/>
          <a:chOff x="0" y="0"/>
          <a:chExt cx="0" cy="0"/>
        </a:xfrm>
      </p:grpSpPr>
      <p:sp>
        <p:nvSpPr>
          <p:cNvPr id="2" name="!!seg8"/>
          <p:cNvSpPr/>
          <p:nvPr/>
        </p:nvSpPr>
        <p:spPr>
          <a:xfrm>
            <a:off x="16971264"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seg7"/>
          <p:cNvSpPr/>
          <p:nvPr/>
        </p:nvSpPr>
        <p:spPr>
          <a:xfrm>
            <a:off x="16568927"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seg6"/>
          <p:cNvSpPr/>
          <p:nvPr/>
        </p:nvSpPr>
        <p:spPr>
          <a:xfrm>
            <a:off x="16166591"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seg5"/>
          <p:cNvSpPr/>
          <p:nvPr/>
        </p:nvSpPr>
        <p:spPr>
          <a:xfrm>
            <a:off x="15764255"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seg4"/>
          <p:cNvSpPr/>
          <p:nvPr/>
        </p:nvSpPr>
        <p:spPr>
          <a:xfrm>
            <a:off x="15361919"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eg3"/>
          <p:cNvSpPr/>
          <p:nvPr/>
        </p:nvSpPr>
        <p:spPr>
          <a:xfrm>
            <a:off x="14173199" y="566928"/>
            <a:ext cx="1097280" cy="118872"/>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eg2"/>
          <p:cNvSpPr/>
          <p:nvPr/>
        </p:nvSpPr>
        <p:spPr>
          <a:xfrm>
            <a:off x="13770863"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seg1"/>
          <p:cNvSpPr/>
          <p:nvPr/>
        </p:nvSpPr>
        <p:spPr>
          <a:xfrm>
            <a:off x="1336852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egno"/>
          <p:cNvSpPr txBox="1"/>
          <p:nvPr/>
        </p:nvSpPr>
        <p:spPr>
          <a:xfrm>
            <a:off x="10808207" y="429768"/>
            <a:ext cx="2423160" cy="384048"/>
          </a:xfrm>
          <a:prstGeom prst="rect">
            <a:avLst/>
          </a:prstGeom>
          <a:noFill/>
        </p:spPr>
        <p:txBody>
          <a:bodyPr wrap="square" lIns="45720" rIns="45720" anchor="t"/>
          <a:lstStyle/>
          <a:p>
            <a:pPr algn="r">
              <a:lnSpc>
                <a:spcPct val="100000"/>
              </a:lnSpc>
            </a:pPr>
            <a:r>
              <a:rPr sz="1500" b="0" i="0">
                <a:solidFill>
                  <a:srgbClr val="8E8E93"/>
                </a:solidFill>
                <a:latin typeface="Oswald"/>
              </a:rPr>
              <a:t>03 / 08</a:t>
            </a:r>
          </a:p>
        </p:txBody>
      </p:sp>
      <p:sp>
        <p:nvSpPr>
          <p:cNvPr id="11" name="Kicker 29"/>
          <p:cNvSpPr txBox="1"/>
          <p:nvPr/>
        </p:nvSpPr>
        <p:spPr>
          <a:xfrm>
            <a:off x="1005840" y="457200"/>
            <a:ext cx="8229600" cy="411480"/>
          </a:xfrm>
          <a:prstGeom prst="rect">
            <a:avLst/>
          </a:prstGeom>
          <a:noFill/>
        </p:spPr>
        <p:txBody>
          <a:bodyPr wrap="square" lIns="45720" rIns="45720" anchor="t"/>
          <a:lstStyle/>
          <a:p>
            <a:pPr algn="l">
              <a:lnSpc>
                <a:spcPct val="100000"/>
              </a:lnSpc>
            </a:pPr>
            <a:r>
              <a:rPr sz="1600" b="1" i="0">
                <a:solidFill>
                  <a:srgbClr val="C1FF72"/>
                </a:solidFill>
                <a:latin typeface="Titillium Web"/>
              </a:rPr>
              <a:t>03  ·  RESEARCH QUESTIONS</a:t>
            </a:r>
          </a:p>
        </p:txBody>
      </p:sp>
      <p:sp>
        <p:nvSpPr>
          <p:cNvPr id="12" name="Title 30"/>
          <p:cNvSpPr txBox="1"/>
          <p:nvPr/>
        </p:nvSpPr>
        <p:spPr>
          <a:xfrm>
            <a:off x="1005840" y="841248"/>
            <a:ext cx="16276320" cy="1051560"/>
          </a:xfrm>
          <a:prstGeom prst="rect">
            <a:avLst/>
          </a:prstGeom>
          <a:noFill/>
        </p:spPr>
        <p:txBody>
          <a:bodyPr wrap="square" lIns="45720" rIns="45720" anchor="t"/>
          <a:lstStyle/>
          <a:p>
            <a:pPr algn="l">
              <a:lnSpc>
                <a:spcPct val="100000"/>
              </a:lnSpc>
            </a:pPr>
            <a:r>
              <a:rPr sz="5400" b="0" i="0">
                <a:solidFill>
                  <a:srgbClr val="EDEDED"/>
                </a:solidFill>
                <a:latin typeface="Oswald"/>
              </a:rPr>
              <a:t>RESEARCH QUESTIONS</a:t>
            </a:r>
          </a:p>
        </p:txBody>
      </p:sp>
      <p:sp>
        <p:nvSpPr>
          <p:cNvPr id="13" name="Source"/>
          <p:cNvSpPr txBox="1"/>
          <p:nvPr/>
        </p:nvSpPr>
        <p:spPr>
          <a:xfrm>
            <a:off x="1005840" y="9710928"/>
            <a:ext cx="14447520" cy="347472"/>
          </a:xfrm>
          <a:prstGeom prst="rect">
            <a:avLst/>
          </a:prstGeom>
          <a:noFill/>
        </p:spPr>
        <p:txBody>
          <a:bodyPr wrap="square" lIns="45720" rIns="45720" anchor="t"/>
          <a:lstStyle/>
          <a:p>
            <a:pPr algn="l">
              <a:lnSpc>
                <a:spcPct val="100000"/>
              </a:lnSpc>
            </a:pPr>
            <a:r>
              <a:rPr sz="1300" b="0" i="0">
                <a:solidFill>
                  <a:srgbClr val="5C5C61"/>
                </a:solidFill>
                <a:latin typeface="Titillium Web"/>
              </a:rPr>
              <a:t>Thesis §1.3 Research Questions</a:t>
            </a:r>
          </a:p>
        </p:txBody>
      </p:sp>
      <p:sp>
        <p:nvSpPr>
          <p:cNvPr id="14" name="Page"/>
          <p:cNvSpPr txBox="1"/>
          <p:nvPr/>
        </p:nvSpPr>
        <p:spPr>
          <a:xfrm>
            <a:off x="15453359" y="9710928"/>
            <a:ext cx="1828800" cy="347472"/>
          </a:xfrm>
          <a:prstGeom prst="rect">
            <a:avLst/>
          </a:prstGeom>
          <a:noFill/>
        </p:spPr>
        <p:txBody>
          <a:bodyPr wrap="square" lIns="45720" rIns="45720" anchor="t"/>
          <a:lstStyle/>
          <a:p>
            <a:pPr algn="r">
              <a:lnSpc>
                <a:spcPct val="100000"/>
              </a:lnSpc>
            </a:pPr>
            <a:r>
              <a:rPr sz="1300" b="0" i="0">
                <a:solidFill>
                  <a:srgbClr val="5C5C61"/>
                </a:solidFill>
                <a:latin typeface="Oswald"/>
              </a:rPr>
              <a:t>04</a:t>
            </a:r>
          </a:p>
        </p:txBody>
      </p:sp>
      <p:pic>
        <p:nvPicPr>
          <p:cNvPr id="15" name="!!photo" descr="8386437-0.575-0.50-0.50.jpg"/>
          <p:cNvPicPr>
            <a:picLocks noChangeAspect="1"/>
          </p:cNvPicPr>
          <p:nvPr/>
        </p:nvPicPr>
        <p:blipFill>
          <a:blip r:embed="rId3"/>
          <a:stretch>
            <a:fillRect/>
          </a:stretch>
        </p:blipFill>
        <p:spPr>
          <a:xfrm>
            <a:off x="1005840" y="2103120"/>
            <a:ext cx="4206240" cy="7315200"/>
          </a:xfrm>
          <a:prstGeom prst="roundRect">
            <a:avLst>
              <a:gd name="adj" fmla="val 7608"/>
            </a:avLst>
          </a:prstGeom>
          <a:effectLst>
            <a:outerShdw blurRad="279400" dist="114300" dir="2700000" algn="ctr" rotWithShape="0">
              <a:srgbClr val="0E0E10">
                <a:alpha val="70000"/>
              </a:srgbClr>
            </a:outerShdw>
          </a:effectLst>
        </p:spPr>
      </p:pic>
      <p:grpSp>
        <p:nvGrpSpPr>
          <p:cNvPr id="20" name="GRQ 31"/>
          <p:cNvGrpSpPr/>
          <p:nvPr/>
        </p:nvGrpSpPr>
        <p:grpSpPr>
          <a:xfrm>
            <a:off x="5577840" y="2103120"/>
            <a:ext cx="11704320" cy="2240280"/>
            <a:chOff x="5577840" y="2103120"/>
            <a:chExt cx="11704320" cy="2240280"/>
          </a:xfrm>
        </p:grpSpPr>
        <p:sp>
          <p:nvSpPr>
            <p:cNvPr id="16" name="GRQ light"/>
            <p:cNvSpPr/>
            <p:nvPr/>
          </p:nvSpPr>
          <p:spPr>
            <a:xfrm>
              <a:off x="5577840" y="2103120"/>
              <a:ext cx="11704320" cy="2240280"/>
            </a:xfrm>
            <a:prstGeom prst="roundRect">
              <a:avLst>
                <a:gd name="adj" fmla="val 16326"/>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7" name="GRQ"/>
            <p:cNvSpPr/>
            <p:nvPr/>
          </p:nvSpPr>
          <p:spPr>
            <a:xfrm>
              <a:off x="5577840" y="2103120"/>
              <a:ext cx="11704320" cy="2240280"/>
            </a:xfrm>
            <a:prstGeom prst="roundRect">
              <a:avLst>
                <a:gd name="adj" fmla="val 16326"/>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GRQ label"/>
            <p:cNvSpPr txBox="1"/>
            <p:nvPr/>
          </p:nvSpPr>
          <p:spPr>
            <a:xfrm>
              <a:off x="5989320" y="2304288"/>
              <a:ext cx="5486400" cy="365760"/>
            </a:xfrm>
            <a:prstGeom prst="rect">
              <a:avLst/>
            </a:prstGeom>
            <a:noFill/>
          </p:spPr>
          <p:txBody>
            <a:bodyPr wrap="square" lIns="45720" rIns="45720" anchor="t"/>
            <a:lstStyle/>
            <a:p>
              <a:pPr algn="l">
                <a:lnSpc>
                  <a:spcPct val="100000"/>
                </a:lnSpc>
              </a:pPr>
              <a:r>
                <a:rPr sz="1500" b="1" i="0">
                  <a:solidFill>
                    <a:srgbClr val="C1FF72"/>
                  </a:solidFill>
                  <a:latin typeface="Titillium Web"/>
                </a:rPr>
                <a:t>GENERAL QUESTION</a:t>
              </a:r>
            </a:p>
          </p:txBody>
        </p:sp>
        <p:sp>
          <p:nvSpPr>
            <p:cNvPr id="19" name="GRQ text"/>
            <p:cNvSpPr txBox="1"/>
            <p:nvPr/>
          </p:nvSpPr>
          <p:spPr>
            <a:xfrm>
              <a:off x="5989320" y="2670048"/>
              <a:ext cx="10881360" cy="1600200"/>
            </a:xfrm>
            <a:prstGeom prst="rect">
              <a:avLst/>
            </a:prstGeom>
            <a:noFill/>
          </p:spPr>
          <p:txBody>
            <a:bodyPr wrap="square" lIns="45720" rIns="45720" anchor="t"/>
            <a:lstStyle/>
            <a:p>
              <a:pPr algn="l">
                <a:lnSpc>
                  <a:spcPct val="98000"/>
                </a:lnSpc>
              </a:pPr>
              <a:r>
                <a:rPr sz="2100" b="0" i="0">
                  <a:solidFill>
                    <a:srgbClr val="EDEDED"/>
                  </a:solidFill>
                  <a:latin typeface="Titillium Web"/>
                </a:rPr>
                <a:t>How can a multi-agent AI system, organised as a network of specialised analysers, be designed to provide real-time and explainable threat intelligence and protection for URLs and web resources across different platforms?</a:t>
              </a:r>
            </a:p>
          </p:txBody>
        </p:sp>
      </p:grpSp>
      <p:sp>
        <p:nvSpPr>
          <p:cNvPr id="21" name="RQ n 32"/>
          <p:cNvSpPr txBox="1"/>
          <p:nvPr/>
        </p:nvSpPr>
        <p:spPr>
          <a:xfrm>
            <a:off x="5577840" y="4617720"/>
            <a:ext cx="1188720" cy="822960"/>
          </a:xfrm>
          <a:prstGeom prst="rect">
            <a:avLst/>
          </a:prstGeom>
          <a:noFill/>
        </p:spPr>
        <p:txBody>
          <a:bodyPr wrap="square" lIns="45720" rIns="45720" anchor="t"/>
          <a:lstStyle/>
          <a:p>
            <a:pPr algn="l">
              <a:lnSpc>
                <a:spcPct val="100000"/>
              </a:lnSpc>
            </a:pPr>
            <a:r>
              <a:rPr sz="3400" b="0" i="0">
                <a:solidFill>
                  <a:srgbClr val="C1FF72"/>
                </a:solidFill>
                <a:latin typeface="Oswald"/>
              </a:rPr>
              <a:t>RQ1</a:t>
            </a:r>
          </a:p>
        </p:txBody>
      </p:sp>
      <p:sp>
        <p:nvSpPr>
          <p:cNvPr id="22" name="RQ key 33"/>
          <p:cNvSpPr txBox="1"/>
          <p:nvPr/>
        </p:nvSpPr>
        <p:spPr>
          <a:xfrm>
            <a:off x="6812279" y="4663440"/>
            <a:ext cx="2743200" cy="640080"/>
          </a:xfrm>
          <a:prstGeom prst="rect">
            <a:avLst/>
          </a:prstGeom>
          <a:noFill/>
        </p:spPr>
        <p:txBody>
          <a:bodyPr wrap="square" lIns="45720" rIns="45720" anchor="t"/>
          <a:lstStyle/>
          <a:p>
            <a:pPr algn="l">
              <a:lnSpc>
                <a:spcPct val="100000"/>
              </a:lnSpc>
            </a:pPr>
            <a:r>
              <a:rPr sz="2300" b="0" i="0">
                <a:solidFill>
                  <a:srgbClr val="EDEDED"/>
                </a:solidFill>
                <a:latin typeface="Oswald"/>
              </a:rPr>
              <a:t>DECOMPOSITION</a:t>
            </a:r>
          </a:p>
        </p:txBody>
      </p:sp>
      <p:sp>
        <p:nvSpPr>
          <p:cNvPr id="23" name="RQ text 34"/>
          <p:cNvSpPr txBox="1"/>
          <p:nvPr/>
        </p:nvSpPr>
        <p:spPr>
          <a:xfrm>
            <a:off x="9646920" y="4636007"/>
            <a:ext cx="7635240" cy="1143000"/>
          </a:xfrm>
          <a:prstGeom prst="rect">
            <a:avLst/>
          </a:prstGeom>
          <a:noFill/>
        </p:spPr>
        <p:txBody>
          <a:bodyPr wrap="square" lIns="45720" rIns="45720" anchor="t"/>
          <a:lstStyle/>
          <a:p>
            <a:pPr algn="l">
              <a:lnSpc>
                <a:spcPct val="98000"/>
              </a:lnSpc>
            </a:pPr>
            <a:r>
              <a:rPr sz="1850" b="0" i="0">
                <a:solidFill>
                  <a:srgbClr val="BDBDC1"/>
                </a:solidFill>
                <a:latin typeface="Titillium Web"/>
              </a:rPr>
              <a:t>How can URL analysis be divided among different AI agents, and what is the smallest set of agents needed for a reliable threat assessment?</a:t>
            </a:r>
          </a:p>
        </p:txBody>
      </p:sp>
      <p:cxnSp>
        <p:nvCxnSpPr>
          <p:cNvPr id="24" name="RQ rule 35"/>
          <p:cNvCxnSpPr/>
          <p:nvPr/>
        </p:nvCxnSpPr>
        <p:spPr>
          <a:xfrm>
            <a:off x="5577840" y="5779008"/>
            <a:ext cx="11704320" cy="0"/>
          </a:xfrm>
          <a:prstGeom prst="line">
            <a:avLst/>
          </a:prstGeom>
          <a:ln w="12700">
            <a:solidFill>
              <a:srgbClr val="38383C"/>
            </a:solidFill>
          </a:ln>
        </p:spPr>
        <p:style>
          <a:lnRef idx="2">
            <a:schemeClr val="accent1"/>
          </a:lnRef>
          <a:fillRef idx="0">
            <a:schemeClr val="accent1"/>
          </a:fillRef>
          <a:effectRef idx="1">
            <a:schemeClr val="accent1"/>
          </a:effectRef>
          <a:fontRef idx="minor">
            <a:schemeClr val="tx1"/>
          </a:fontRef>
        </p:style>
      </p:cxnSp>
      <p:sp>
        <p:nvSpPr>
          <p:cNvPr id="25" name="RQ n 36"/>
          <p:cNvSpPr txBox="1"/>
          <p:nvPr/>
        </p:nvSpPr>
        <p:spPr>
          <a:xfrm>
            <a:off x="5577840" y="5861304"/>
            <a:ext cx="1188720" cy="822960"/>
          </a:xfrm>
          <a:prstGeom prst="rect">
            <a:avLst/>
          </a:prstGeom>
          <a:noFill/>
        </p:spPr>
        <p:txBody>
          <a:bodyPr wrap="square" lIns="45720" rIns="45720" anchor="t"/>
          <a:lstStyle/>
          <a:p>
            <a:pPr algn="l">
              <a:lnSpc>
                <a:spcPct val="100000"/>
              </a:lnSpc>
            </a:pPr>
            <a:r>
              <a:rPr sz="3400" b="0" i="0">
                <a:solidFill>
                  <a:srgbClr val="C1FF72"/>
                </a:solidFill>
                <a:latin typeface="Oswald"/>
              </a:rPr>
              <a:t>RQ2</a:t>
            </a:r>
          </a:p>
        </p:txBody>
      </p:sp>
      <p:sp>
        <p:nvSpPr>
          <p:cNvPr id="26" name="RQ key 37"/>
          <p:cNvSpPr txBox="1"/>
          <p:nvPr/>
        </p:nvSpPr>
        <p:spPr>
          <a:xfrm>
            <a:off x="6812279" y="5907024"/>
            <a:ext cx="2743200" cy="640080"/>
          </a:xfrm>
          <a:prstGeom prst="rect">
            <a:avLst/>
          </a:prstGeom>
          <a:noFill/>
        </p:spPr>
        <p:txBody>
          <a:bodyPr wrap="square" lIns="45720" rIns="45720" anchor="t"/>
          <a:lstStyle/>
          <a:p>
            <a:pPr algn="l">
              <a:lnSpc>
                <a:spcPct val="100000"/>
              </a:lnSpc>
            </a:pPr>
            <a:r>
              <a:rPr sz="2300" b="0" i="0">
                <a:solidFill>
                  <a:srgbClr val="EDEDED"/>
                </a:solidFill>
                <a:latin typeface="Oswald"/>
              </a:rPr>
              <a:t>INTEGRATION</a:t>
            </a:r>
          </a:p>
        </p:txBody>
      </p:sp>
      <p:sp>
        <p:nvSpPr>
          <p:cNvPr id="27" name="RQ text 38"/>
          <p:cNvSpPr txBox="1"/>
          <p:nvPr/>
        </p:nvSpPr>
        <p:spPr>
          <a:xfrm>
            <a:off x="9646920" y="5879592"/>
            <a:ext cx="7635240" cy="1143000"/>
          </a:xfrm>
          <a:prstGeom prst="rect">
            <a:avLst/>
          </a:prstGeom>
          <a:noFill/>
        </p:spPr>
        <p:txBody>
          <a:bodyPr wrap="square" lIns="45720" rIns="45720" anchor="t"/>
          <a:lstStyle/>
          <a:p>
            <a:pPr algn="l">
              <a:lnSpc>
                <a:spcPct val="98000"/>
              </a:lnSpc>
            </a:pPr>
            <a:r>
              <a:rPr sz="1850" b="0" i="0">
                <a:solidFill>
                  <a:srgbClr val="BDBDC1"/>
                </a:solidFill>
                <a:latin typeface="Titillium Web"/>
              </a:rPr>
              <a:t>How can URL classification, behavioural analysis, IOC extraction, MITRE ATT&amp;CK mapping and threat-intelligence lookup be combined into one consistent, accurate system?</a:t>
            </a:r>
          </a:p>
        </p:txBody>
      </p:sp>
      <p:cxnSp>
        <p:nvCxnSpPr>
          <p:cNvPr id="28" name="RQ rule 39"/>
          <p:cNvCxnSpPr/>
          <p:nvPr/>
        </p:nvCxnSpPr>
        <p:spPr>
          <a:xfrm>
            <a:off x="5577840" y="7022592"/>
            <a:ext cx="11704320" cy="0"/>
          </a:xfrm>
          <a:prstGeom prst="line">
            <a:avLst/>
          </a:prstGeom>
          <a:ln w="12700">
            <a:solidFill>
              <a:srgbClr val="38383C"/>
            </a:solidFill>
          </a:ln>
        </p:spPr>
        <p:style>
          <a:lnRef idx="2">
            <a:schemeClr val="accent1"/>
          </a:lnRef>
          <a:fillRef idx="0">
            <a:schemeClr val="accent1"/>
          </a:fillRef>
          <a:effectRef idx="1">
            <a:schemeClr val="accent1"/>
          </a:effectRef>
          <a:fontRef idx="minor">
            <a:schemeClr val="tx1"/>
          </a:fontRef>
        </p:style>
      </p:cxnSp>
      <p:sp>
        <p:nvSpPr>
          <p:cNvPr id="29" name="RQ n 40"/>
          <p:cNvSpPr txBox="1"/>
          <p:nvPr/>
        </p:nvSpPr>
        <p:spPr>
          <a:xfrm>
            <a:off x="5577840" y="7104888"/>
            <a:ext cx="1188720" cy="822960"/>
          </a:xfrm>
          <a:prstGeom prst="rect">
            <a:avLst/>
          </a:prstGeom>
          <a:noFill/>
        </p:spPr>
        <p:txBody>
          <a:bodyPr wrap="square" lIns="45720" rIns="45720" anchor="t"/>
          <a:lstStyle/>
          <a:p>
            <a:pPr algn="l">
              <a:lnSpc>
                <a:spcPct val="100000"/>
              </a:lnSpc>
            </a:pPr>
            <a:r>
              <a:rPr sz="3400" b="0" i="0">
                <a:solidFill>
                  <a:srgbClr val="C1FF72"/>
                </a:solidFill>
                <a:latin typeface="Oswald"/>
              </a:rPr>
              <a:t>RQ3</a:t>
            </a:r>
          </a:p>
        </p:txBody>
      </p:sp>
      <p:sp>
        <p:nvSpPr>
          <p:cNvPr id="30" name="RQ key 41"/>
          <p:cNvSpPr txBox="1"/>
          <p:nvPr/>
        </p:nvSpPr>
        <p:spPr>
          <a:xfrm>
            <a:off x="6812279" y="7150608"/>
            <a:ext cx="2743200" cy="640080"/>
          </a:xfrm>
          <a:prstGeom prst="rect">
            <a:avLst/>
          </a:prstGeom>
          <a:noFill/>
        </p:spPr>
        <p:txBody>
          <a:bodyPr wrap="square" lIns="45720" rIns="45720" anchor="t"/>
          <a:lstStyle/>
          <a:p>
            <a:pPr algn="l">
              <a:lnSpc>
                <a:spcPct val="100000"/>
              </a:lnSpc>
            </a:pPr>
            <a:r>
              <a:rPr sz="2300" b="0" i="0">
                <a:solidFill>
                  <a:srgbClr val="EDEDED"/>
                </a:solidFill>
                <a:latin typeface="Oswald"/>
              </a:rPr>
              <a:t>AGGREGATION</a:t>
            </a:r>
          </a:p>
        </p:txBody>
      </p:sp>
      <p:sp>
        <p:nvSpPr>
          <p:cNvPr id="31" name="RQ text 42"/>
          <p:cNvSpPr txBox="1"/>
          <p:nvPr/>
        </p:nvSpPr>
        <p:spPr>
          <a:xfrm>
            <a:off x="9646920" y="7123176"/>
            <a:ext cx="7635240" cy="1143000"/>
          </a:xfrm>
          <a:prstGeom prst="rect">
            <a:avLst/>
          </a:prstGeom>
          <a:noFill/>
        </p:spPr>
        <p:txBody>
          <a:bodyPr wrap="square" lIns="45720" rIns="45720" anchor="t"/>
          <a:lstStyle/>
          <a:p>
            <a:pPr algn="l">
              <a:lnSpc>
                <a:spcPct val="98000"/>
              </a:lnSpc>
            </a:pPr>
            <a:r>
              <a:rPr sz="1850" b="0" i="0">
                <a:solidFill>
                  <a:srgbClr val="BDBDC1"/>
                </a:solidFill>
                <a:latin typeface="Titillium Web"/>
              </a:rPr>
              <a:t>What method can combine the agents' results to reduce false alarms while still identifying serious threats when strong evidence is available?</a:t>
            </a:r>
          </a:p>
        </p:txBody>
      </p:sp>
      <p:cxnSp>
        <p:nvCxnSpPr>
          <p:cNvPr id="32" name="RQ rule 43"/>
          <p:cNvCxnSpPr/>
          <p:nvPr/>
        </p:nvCxnSpPr>
        <p:spPr>
          <a:xfrm>
            <a:off x="5577840" y="8266176"/>
            <a:ext cx="11704320" cy="0"/>
          </a:xfrm>
          <a:prstGeom prst="line">
            <a:avLst/>
          </a:prstGeom>
          <a:ln w="12700">
            <a:solidFill>
              <a:srgbClr val="38383C"/>
            </a:solidFill>
          </a:ln>
        </p:spPr>
        <p:style>
          <a:lnRef idx="2">
            <a:schemeClr val="accent1"/>
          </a:lnRef>
          <a:fillRef idx="0">
            <a:schemeClr val="accent1"/>
          </a:fillRef>
          <a:effectRef idx="1">
            <a:schemeClr val="accent1"/>
          </a:effectRef>
          <a:fontRef idx="minor">
            <a:schemeClr val="tx1"/>
          </a:fontRef>
        </p:style>
      </p:cxnSp>
      <p:sp>
        <p:nvSpPr>
          <p:cNvPr id="33" name="RQ n 44"/>
          <p:cNvSpPr txBox="1"/>
          <p:nvPr/>
        </p:nvSpPr>
        <p:spPr>
          <a:xfrm>
            <a:off x="5577840" y="8348472"/>
            <a:ext cx="1188720" cy="822960"/>
          </a:xfrm>
          <a:prstGeom prst="rect">
            <a:avLst/>
          </a:prstGeom>
          <a:noFill/>
        </p:spPr>
        <p:txBody>
          <a:bodyPr wrap="square" lIns="45720" rIns="45720" anchor="t"/>
          <a:lstStyle/>
          <a:p>
            <a:pPr algn="l">
              <a:lnSpc>
                <a:spcPct val="100000"/>
              </a:lnSpc>
            </a:pPr>
            <a:r>
              <a:rPr sz="3400" b="0" i="0">
                <a:solidFill>
                  <a:srgbClr val="C1FF72"/>
                </a:solidFill>
                <a:latin typeface="Oswald"/>
              </a:rPr>
              <a:t>RQ4</a:t>
            </a:r>
          </a:p>
        </p:txBody>
      </p:sp>
      <p:sp>
        <p:nvSpPr>
          <p:cNvPr id="34" name="RQ key 45"/>
          <p:cNvSpPr txBox="1"/>
          <p:nvPr/>
        </p:nvSpPr>
        <p:spPr>
          <a:xfrm>
            <a:off x="6812279" y="8394192"/>
            <a:ext cx="2743200" cy="640080"/>
          </a:xfrm>
          <a:prstGeom prst="rect">
            <a:avLst/>
          </a:prstGeom>
          <a:noFill/>
        </p:spPr>
        <p:txBody>
          <a:bodyPr wrap="square" lIns="45720" rIns="45720" anchor="t"/>
          <a:lstStyle/>
          <a:p>
            <a:pPr algn="l">
              <a:lnSpc>
                <a:spcPct val="100000"/>
              </a:lnSpc>
            </a:pPr>
            <a:r>
              <a:rPr sz="2300" b="0" i="0">
                <a:solidFill>
                  <a:srgbClr val="EDEDED"/>
                </a:solidFill>
                <a:latin typeface="Oswald"/>
              </a:rPr>
              <a:t>HISTORICAL CONTEXT</a:t>
            </a:r>
          </a:p>
        </p:txBody>
      </p:sp>
      <p:sp>
        <p:nvSpPr>
          <p:cNvPr id="35" name="RQ text 46"/>
          <p:cNvSpPr txBox="1"/>
          <p:nvPr/>
        </p:nvSpPr>
        <p:spPr>
          <a:xfrm>
            <a:off x="9646920" y="8366760"/>
            <a:ext cx="7635240" cy="1143000"/>
          </a:xfrm>
          <a:prstGeom prst="rect">
            <a:avLst/>
          </a:prstGeom>
          <a:noFill/>
        </p:spPr>
        <p:txBody>
          <a:bodyPr wrap="square" lIns="45720" rIns="45720" anchor="t"/>
          <a:lstStyle/>
          <a:p>
            <a:pPr algn="l">
              <a:lnSpc>
                <a:spcPct val="98000"/>
              </a:lnSpc>
            </a:pPr>
            <a:r>
              <a:rPr sz="1850" b="0" i="0">
                <a:solidFill>
                  <a:srgbClr val="BDBDC1"/>
                </a:solidFill>
                <a:latin typeface="Titillium Web"/>
              </a:rPr>
              <a:t>How can historical browsing information improve detection, identify recurring malicious activity and strengthen protection over time?</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anim calcmode="lin" valueType="num">
                                      <p:cBhvr>
                                        <p:cTn id="11" dur="500" fill="hold"/>
                                        <p:tgtEl>
                                          <p:spTgt spid="12"/>
                                        </p:tgtEl>
                                        <p:attrNameLst>
                                          <p:attrName>ppt_x</p:attrName>
                                        </p:attrNameLst>
                                      </p:cBhvr>
                                      <p:tavLst>
                                        <p:tav tm="0">
                                          <p:val>
                                            <p:strVal val="#ppt_x"/>
                                          </p:val>
                                        </p:tav>
                                        <p:tav tm="100000">
                                          <p:val>
                                            <p:strVal val="#ppt_x"/>
                                          </p:val>
                                        </p:tav>
                                      </p:tavLst>
                                    </p:anim>
                                    <p:anim calcmode="lin" valueType="num">
                                      <p:cBhvr>
                                        <p:cTn id="12" dur="450" decel="100000" fill="hold"/>
                                        <p:tgtEl>
                                          <p:spTgt spid="12"/>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par>
                          <p:cTn id="14" fill="hold">
                            <p:stCondLst>
                              <p:cond delay="1400"/>
                            </p:stCondLst>
                            <p:childTnLst>
                              <p:par>
                                <p:cTn id="15" presetID="53" presetClass="entr" presetSubtype="16" fill="hold"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500" fill="hold"/>
                                        <p:tgtEl>
                                          <p:spTgt spid="20"/>
                                        </p:tgtEl>
                                        <p:attrNameLst>
                                          <p:attrName>ppt_w</p:attrName>
                                        </p:attrNameLst>
                                      </p:cBhvr>
                                      <p:tavLst>
                                        <p:tav tm="0">
                                          <p:val>
                                            <p:fltVal val="0"/>
                                          </p:val>
                                        </p:tav>
                                        <p:tav tm="100000">
                                          <p:val>
                                            <p:strVal val="#ppt_w"/>
                                          </p:val>
                                        </p:tav>
                                      </p:tavLst>
                                    </p:anim>
                                    <p:anim calcmode="lin" valueType="num">
                                      <p:cBhvr>
                                        <p:cTn id="18" dur="500" fill="hold"/>
                                        <p:tgtEl>
                                          <p:spTgt spid="20"/>
                                        </p:tgtEl>
                                        <p:attrNameLst>
                                          <p:attrName>ppt_h</p:attrName>
                                        </p:attrNameLst>
                                      </p:cBhvr>
                                      <p:tavLst>
                                        <p:tav tm="0">
                                          <p:val>
                                            <p:fltVal val="0"/>
                                          </p:val>
                                        </p:tav>
                                        <p:tav tm="100000">
                                          <p:val>
                                            <p:strVal val="#ppt_h"/>
                                          </p:val>
                                        </p:tav>
                                      </p:tavLst>
                                    </p:anim>
                                    <p:animEffect transition="in" filter="fade">
                                      <p:cBhvr>
                                        <p:cTn id="19" dur="500"/>
                                        <p:tgtEl>
                                          <p:spTgt spid="20"/>
                                        </p:tgtEl>
                                      </p:cBhvr>
                                    </p:animEffect>
                                  </p:childTnLst>
                                </p:cTn>
                              </p:par>
                            </p:childTnLst>
                          </p:cTn>
                        </p:par>
                        <p:par>
                          <p:cTn id="20" fill="hold">
                            <p:stCondLst>
                              <p:cond delay="1900"/>
                            </p:stCondLst>
                            <p:childTnLst>
                              <p:par>
                                <p:cTn id="21" presetID="53" presetClass="entr" presetSubtype="16"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p:cTn id="23" dur="300" fill="hold"/>
                                        <p:tgtEl>
                                          <p:spTgt spid="21"/>
                                        </p:tgtEl>
                                        <p:attrNameLst>
                                          <p:attrName>ppt_w</p:attrName>
                                        </p:attrNameLst>
                                      </p:cBhvr>
                                      <p:tavLst>
                                        <p:tav tm="0">
                                          <p:val>
                                            <p:fltVal val="0"/>
                                          </p:val>
                                        </p:tav>
                                        <p:tav tm="100000">
                                          <p:val>
                                            <p:strVal val="#ppt_w"/>
                                          </p:val>
                                        </p:tav>
                                      </p:tavLst>
                                    </p:anim>
                                    <p:anim calcmode="lin" valueType="num">
                                      <p:cBhvr>
                                        <p:cTn id="24" dur="300" fill="hold"/>
                                        <p:tgtEl>
                                          <p:spTgt spid="21"/>
                                        </p:tgtEl>
                                        <p:attrNameLst>
                                          <p:attrName>ppt_h</p:attrName>
                                        </p:attrNameLst>
                                      </p:cBhvr>
                                      <p:tavLst>
                                        <p:tav tm="0">
                                          <p:val>
                                            <p:fltVal val="0"/>
                                          </p:val>
                                        </p:tav>
                                        <p:tav tm="100000">
                                          <p:val>
                                            <p:strVal val="#ppt_h"/>
                                          </p:val>
                                        </p:tav>
                                      </p:tavLst>
                                    </p:anim>
                                    <p:animEffect transition="in" filter="fade">
                                      <p:cBhvr>
                                        <p:cTn id="25" dur="300"/>
                                        <p:tgtEl>
                                          <p:spTgt spid="21"/>
                                        </p:tgtEl>
                                      </p:cBhvr>
                                    </p:animEffect>
                                  </p:childTnLst>
                                </p:cTn>
                              </p:par>
                              <p:par>
                                <p:cTn id="26" presetID="37" presetClass="entr" presetSubtype="0" fill="hold" grpId="0" nodeType="withEffect">
                                  <p:stCondLst>
                                    <p:cond delay="0"/>
                                  </p:stCondLst>
                                  <p:iterate type="lt">
                                    <p:tmPct val="10000"/>
                                  </p:iterate>
                                  <p:childTnLst>
                                    <p:set>
                                      <p:cBhvr>
                                        <p:cTn id="27" dur="1" fill="hold">
                                          <p:stCondLst>
                                            <p:cond delay="0"/>
                                          </p:stCondLst>
                                        </p:cTn>
                                        <p:tgtEl>
                                          <p:spTgt spid="22"/>
                                        </p:tgtEl>
                                        <p:attrNameLst>
                                          <p:attrName>style.visibility</p:attrName>
                                        </p:attrNameLst>
                                      </p:cBhvr>
                                      <p:to>
                                        <p:strVal val="visible"/>
                                      </p:to>
                                    </p:set>
                                    <p:animEffect transition="in" filter="fade">
                                      <p:cBhvr>
                                        <p:cTn id="28" dur="350"/>
                                        <p:tgtEl>
                                          <p:spTgt spid="22"/>
                                        </p:tgtEl>
                                      </p:cBhvr>
                                    </p:animEffect>
                                    <p:anim calcmode="lin" valueType="num">
                                      <p:cBhvr>
                                        <p:cTn id="29" dur="350" fill="hold"/>
                                        <p:tgtEl>
                                          <p:spTgt spid="22"/>
                                        </p:tgtEl>
                                        <p:attrNameLst>
                                          <p:attrName>ppt_x</p:attrName>
                                        </p:attrNameLst>
                                      </p:cBhvr>
                                      <p:tavLst>
                                        <p:tav tm="0">
                                          <p:val>
                                            <p:strVal val="#ppt_x"/>
                                          </p:val>
                                        </p:tav>
                                        <p:tav tm="100000">
                                          <p:val>
                                            <p:strVal val="#ppt_x"/>
                                          </p:val>
                                        </p:tav>
                                      </p:tavLst>
                                    </p:anim>
                                    <p:anim calcmode="lin" valueType="num">
                                      <p:cBhvr>
                                        <p:cTn id="30" dur="315" decel="100000" fill="hold"/>
                                        <p:tgtEl>
                                          <p:spTgt spid="22"/>
                                        </p:tgtEl>
                                        <p:attrNameLst>
                                          <p:attrName>ppt_y</p:attrName>
                                        </p:attrNameLst>
                                      </p:cBhvr>
                                      <p:tavLst>
                                        <p:tav tm="0">
                                          <p:val>
                                            <p:strVal val="#ppt_y+1"/>
                                          </p:val>
                                        </p:tav>
                                        <p:tav tm="100000">
                                          <p:val>
                                            <p:strVal val="#ppt_y-.03"/>
                                          </p:val>
                                        </p:tav>
                                      </p:tavLst>
                                    </p:anim>
                                    <p:anim calcmode="lin" valueType="num">
                                      <p:cBhvr>
                                        <p:cTn id="31" dur="35" accel="100000" fill="hold">
                                          <p:stCondLst>
                                            <p:cond delay="315"/>
                                          </p:stCondLst>
                                        </p:cTn>
                                        <p:tgtEl>
                                          <p:spTgt spid="22"/>
                                        </p:tgtEl>
                                        <p:attrNameLst>
                                          <p:attrName>ppt_y</p:attrName>
                                        </p:attrNameLst>
                                      </p:cBhvr>
                                      <p:tavLst>
                                        <p:tav tm="0">
                                          <p:val>
                                            <p:strVal val="#ppt_y-.03"/>
                                          </p:val>
                                        </p:tav>
                                        <p:tav tm="100000">
                                          <p:val>
                                            <p:strVal val="#ppt_y"/>
                                          </p:val>
                                        </p:tav>
                                      </p:tavLst>
                                    </p:anim>
                                  </p:childTnLst>
                                </p:cTn>
                              </p:par>
                              <p:par>
                                <p:cTn id="32" presetID="10" presetClass="entr" presetSubtype="0" fill="hold" grpId="0" nodeType="withEffect">
                                  <p:stCondLst>
                                    <p:cond delay="100"/>
                                  </p:stCondLst>
                                  <p:iterate type="wd">
                                    <p:tmPct val="10000"/>
                                  </p:iterate>
                                  <p:childTnLst>
                                    <p:set>
                                      <p:cBhvr>
                                        <p:cTn id="33" dur="1" fill="hold">
                                          <p:stCondLst>
                                            <p:cond delay="0"/>
                                          </p:stCondLst>
                                        </p:cTn>
                                        <p:tgtEl>
                                          <p:spTgt spid="23"/>
                                        </p:tgtEl>
                                        <p:attrNameLst>
                                          <p:attrName>style.visibility</p:attrName>
                                        </p:attrNameLst>
                                      </p:cBhvr>
                                      <p:to>
                                        <p:strVal val="visible"/>
                                      </p:to>
                                    </p:set>
                                    <p:animEffect transition="in" filter="fade">
                                      <p:cBhvr>
                                        <p:cTn id="34" dur="600"/>
                                        <p:tgtEl>
                                          <p:spTgt spid="23"/>
                                        </p:tgtEl>
                                      </p:cBhvr>
                                    </p:animEffect>
                                  </p:childTnLst>
                                </p:cTn>
                              </p:par>
                            </p:childTnLst>
                          </p:cTn>
                        </p:par>
                        <p:par>
                          <p:cTn id="35" fill="hold">
                            <p:stCondLst>
                              <p:cond delay="4100"/>
                            </p:stCondLst>
                            <p:childTnLst>
                              <p:par>
                                <p:cTn id="36" presetID="22" presetClass="entr" presetSubtype="8" fill="hold" nodeType="after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wipe(left)">
                                      <p:cBhvr>
                                        <p:cTn id="38" dur="500"/>
                                        <p:tgtEl>
                                          <p:spTgt spid="24"/>
                                        </p:tgtEl>
                                      </p:cBhvr>
                                    </p:animEffect>
                                  </p:childTnLst>
                                </p:cTn>
                              </p:par>
                            </p:childTnLst>
                          </p:cTn>
                        </p:par>
                        <p:par>
                          <p:cTn id="39" fill="hold">
                            <p:stCondLst>
                              <p:cond delay="4600"/>
                            </p:stCondLst>
                            <p:childTnLst>
                              <p:par>
                                <p:cTn id="40" presetID="53" presetClass="entr" presetSubtype="16" fill="hold" grpId="0" nodeType="after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300" fill="hold"/>
                                        <p:tgtEl>
                                          <p:spTgt spid="25"/>
                                        </p:tgtEl>
                                        <p:attrNameLst>
                                          <p:attrName>ppt_w</p:attrName>
                                        </p:attrNameLst>
                                      </p:cBhvr>
                                      <p:tavLst>
                                        <p:tav tm="0">
                                          <p:val>
                                            <p:fltVal val="0"/>
                                          </p:val>
                                        </p:tav>
                                        <p:tav tm="100000">
                                          <p:val>
                                            <p:strVal val="#ppt_w"/>
                                          </p:val>
                                        </p:tav>
                                      </p:tavLst>
                                    </p:anim>
                                    <p:anim calcmode="lin" valueType="num">
                                      <p:cBhvr>
                                        <p:cTn id="43" dur="300" fill="hold"/>
                                        <p:tgtEl>
                                          <p:spTgt spid="25"/>
                                        </p:tgtEl>
                                        <p:attrNameLst>
                                          <p:attrName>ppt_h</p:attrName>
                                        </p:attrNameLst>
                                      </p:cBhvr>
                                      <p:tavLst>
                                        <p:tav tm="0">
                                          <p:val>
                                            <p:fltVal val="0"/>
                                          </p:val>
                                        </p:tav>
                                        <p:tav tm="100000">
                                          <p:val>
                                            <p:strVal val="#ppt_h"/>
                                          </p:val>
                                        </p:tav>
                                      </p:tavLst>
                                    </p:anim>
                                    <p:animEffect transition="in" filter="fade">
                                      <p:cBhvr>
                                        <p:cTn id="44" dur="300"/>
                                        <p:tgtEl>
                                          <p:spTgt spid="25"/>
                                        </p:tgtEl>
                                      </p:cBhvr>
                                    </p:animEffect>
                                  </p:childTnLst>
                                </p:cTn>
                              </p:par>
                              <p:par>
                                <p:cTn id="45" presetID="37" presetClass="entr" presetSubtype="0" fill="hold" grpId="0" nodeType="withEffect">
                                  <p:stCondLst>
                                    <p:cond delay="0"/>
                                  </p:stCondLst>
                                  <p:iterate type="lt">
                                    <p:tmPct val="10000"/>
                                  </p:iterate>
                                  <p:childTnLst>
                                    <p:set>
                                      <p:cBhvr>
                                        <p:cTn id="46" dur="1" fill="hold">
                                          <p:stCondLst>
                                            <p:cond delay="0"/>
                                          </p:stCondLst>
                                        </p:cTn>
                                        <p:tgtEl>
                                          <p:spTgt spid="26"/>
                                        </p:tgtEl>
                                        <p:attrNameLst>
                                          <p:attrName>style.visibility</p:attrName>
                                        </p:attrNameLst>
                                      </p:cBhvr>
                                      <p:to>
                                        <p:strVal val="visible"/>
                                      </p:to>
                                    </p:set>
                                    <p:animEffect transition="in" filter="fade">
                                      <p:cBhvr>
                                        <p:cTn id="47" dur="350"/>
                                        <p:tgtEl>
                                          <p:spTgt spid="26"/>
                                        </p:tgtEl>
                                      </p:cBhvr>
                                    </p:animEffect>
                                    <p:anim calcmode="lin" valueType="num">
                                      <p:cBhvr>
                                        <p:cTn id="48" dur="350" fill="hold"/>
                                        <p:tgtEl>
                                          <p:spTgt spid="26"/>
                                        </p:tgtEl>
                                        <p:attrNameLst>
                                          <p:attrName>ppt_x</p:attrName>
                                        </p:attrNameLst>
                                      </p:cBhvr>
                                      <p:tavLst>
                                        <p:tav tm="0">
                                          <p:val>
                                            <p:strVal val="#ppt_x"/>
                                          </p:val>
                                        </p:tav>
                                        <p:tav tm="100000">
                                          <p:val>
                                            <p:strVal val="#ppt_x"/>
                                          </p:val>
                                        </p:tav>
                                      </p:tavLst>
                                    </p:anim>
                                    <p:anim calcmode="lin" valueType="num">
                                      <p:cBhvr>
                                        <p:cTn id="49" dur="315" decel="100000" fill="hold"/>
                                        <p:tgtEl>
                                          <p:spTgt spid="26"/>
                                        </p:tgtEl>
                                        <p:attrNameLst>
                                          <p:attrName>ppt_y</p:attrName>
                                        </p:attrNameLst>
                                      </p:cBhvr>
                                      <p:tavLst>
                                        <p:tav tm="0">
                                          <p:val>
                                            <p:strVal val="#ppt_y+1"/>
                                          </p:val>
                                        </p:tav>
                                        <p:tav tm="100000">
                                          <p:val>
                                            <p:strVal val="#ppt_y-.03"/>
                                          </p:val>
                                        </p:tav>
                                      </p:tavLst>
                                    </p:anim>
                                    <p:anim calcmode="lin" valueType="num">
                                      <p:cBhvr>
                                        <p:cTn id="50" dur="35" accel="100000" fill="hold">
                                          <p:stCondLst>
                                            <p:cond delay="315"/>
                                          </p:stCondLst>
                                        </p:cTn>
                                        <p:tgtEl>
                                          <p:spTgt spid="26"/>
                                        </p:tgtEl>
                                        <p:attrNameLst>
                                          <p:attrName>ppt_y</p:attrName>
                                        </p:attrNameLst>
                                      </p:cBhvr>
                                      <p:tavLst>
                                        <p:tav tm="0">
                                          <p:val>
                                            <p:strVal val="#ppt_y-.03"/>
                                          </p:val>
                                        </p:tav>
                                        <p:tav tm="100000">
                                          <p:val>
                                            <p:strVal val="#ppt_y"/>
                                          </p:val>
                                        </p:tav>
                                      </p:tavLst>
                                    </p:anim>
                                  </p:childTnLst>
                                </p:cTn>
                              </p:par>
                              <p:par>
                                <p:cTn id="51" presetID="10" presetClass="entr" presetSubtype="0" fill="hold" grpId="0" nodeType="withEffect">
                                  <p:stCondLst>
                                    <p:cond delay="100"/>
                                  </p:stCondLst>
                                  <p:iterate type="wd">
                                    <p:tmPct val="10000"/>
                                  </p:iterate>
                                  <p:childTnLst>
                                    <p:set>
                                      <p:cBhvr>
                                        <p:cTn id="52" dur="1" fill="hold">
                                          <p:stCondLst>
                                            <p:cond delay="0"/>
                                          </p:stCondLst>
                                        </p:cTn>
                                        <p:tgtEl>
                                          <p:spTgt spid="27"/>
                                        </p:tgtEl>
                                        <p:attrNameLst>
                                          <p:attrName>style.visibility</p:attrName>
                                        </p:attrNameLst>
                                      </p:cBhvr>
                                      <p:to>
                                        <p:strVal val="visible"/>
                                      </p:to>
                                    </p:set>
                                    <p:animEffect transition="in" filter="fade">
                                      <p:cBhvr>
                                        <p:cTn id="53" dur="600"/>
                                        <p:tgtEl>
                                          <p:spTgt spid="27"/>
                                        </p:tgtEl>
                                      </p:cBhvr>
                                    </p:animEffect>
                                  </p:childTnLst>
                                </p:cTn>
                              </p:par>
                            </p:childTnLst>
                          </p:cTn>
                        </p:par>
                        <p:par>
                          <p:cTn id="54" fill="hold">
                            <p:stCondLst>
                              <p:cond delay="6920"/>
                            </p:stCondLst>
                            <p:childTnLst>
                              <p:par>
                                <p:cTn id="55" presetID="22" presetClass="entr" presetSubtype="8" fill="hold" nodeType="after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wipe(left)">
                                      <p:cBhvr>
                                        <p:cTn id="57" dur="500"/>
                                        <p:tgtEl>
                                          <p:spTgt spid="28"/>
                                        </p:tgtEl>
                                      </p:cBhvr>
                                    </p:animEffect>
                                  </p:childTnLst>
                                </p:cTn>
                              </p:par>
                            </p:childTnLst>
                          </p:cTn>
                        </p:par>
                        <p:par>
                          <p:cTn id="58" fill="hold">
                            <p:stCondLst>
                              <p:cond delay="7420"/>
                            </p:stCondLst>
                            <p:childTnLst>
                              <p:par>
                                <p:cTn id="59" presetID="53" presetClass="entr" presetSubtype="16" fill="hold" grpId="0" nodeType="afterEffect">
                                  <p:stCondLst>
                                    <p:cond delay="0"/>
                                  </p:stCondLst>
                                  <p:childTnLst>
                                    <p:set>
                                      <p:cBhvr>
                                        <p:cTn id="60" dur="1" fill="hold">
                                          <p:stCondLst>
                                            <p:cond delay="0"/>
                                          </p:stCondLst>
                                        </p:cTn>
                                        <p:tgtEl>
                                          <p:spTgt spid="29"/>
                                        </p:tgtEl>
                                        <p:attrNameLst>
                                          <p:attrName>style.visibility</p:attrName>
                                        </p:attrNameLst>
                                      </p:cBhvr>
                                      <p:to>
                                        <p:strVal val="visible"/>
                                      </p:to>
                                    </p:set>
                                    <p:anim calcmode="lin" valueType="num">
                                      <p:cBhvr>
                                        <p:cTn id="61" dur="300" fill="hold"/>
                                        <p:tgtEl>
                                          <p:spTgt spid="29"/>
                                        </p:tgtEl>
                                        <p:attrNameLst>
                                          <p:attrName>ppt_w</p:attrName>
                                        </p:attrNameLst>
                                      </p:cBhvr>
                                      <p:tavLst>
                                        <p:tav tm="0">
                                          <p:val>
                                            <p:fltVal val="0"/>
                                          </p:val>
                                        </p:tav>
                                        <p:tav tm="100000">
                                          <p:val>
                                            <p:strVal val="#ppt_w"/>
                                          </p:val>
                                        </p:tav>
                                      </p:tavLst>
                                    </p:anim>
                                    <p:anim calcmode="lin" valueType="num">
                                      <p:cBhvr>
                                        <p:cTn id="62" dur="300" fill="hold"/>
                                        <p:tgtEl>
                                          <p:spTgt spid="29"/>
                                        </p:tgtEl>
                                        <p:attrNameLst>
                                          <p:attrName>ppt_h</p:attrName>
                                        </p:attrNameLst>
                                      </p:cBhvr>
                                      <p:tavLst>
                                        <p:tav tm="0">
                                          <p:val>
                                            <p:fltVal val="0"/>
                                          </p:val>
                                        </p:tav>
                                        <p:tav tm="100000">
                                          <p:val>
                                            <p:strVal val="#ppt_h"/>
                                          </p:val>
                                        </p:tav>
                                      </p:tavLst>
                                    </p:anim>
                                    <p:animEffect transition="in" filter="fade">
                                      <p:cBhvr>
                                        <p:cTn id="63" dur="300"/>
                                        <p:tgtEl>
                                          <p:spTgt spid="29"/>
                                        </p:tgtEl>
                                      </p:cBhvr>
                                    </p:animEffect>
                                  </p:childTnLst>
                                </p:cTn>
                              </p:par>
                              <p:par>
                                <p:cTn id="64" presetID="37" presetClass="entr" presetSubtype="0" fill="hold" grpId="0" nodeType="withEffect">
                                  <p:stCondLst>
                                    <p:cond delay="0"/>
                                  </p:stCondLst>
                                  <p:iterate type="lt">
                                    <p:tmPct val="10000"/>
                                  </p:iterate>
                                  <p:childTnLst>
                                    <p:set>
                                      <p:cBhvr>
                                        <p:cTn id="65" dur="1" fill="hold">
                                          <p:stCondLst>
                                            <p:cond delay="0"/>
                                          </p:stCondLst>
                                        </p:cTn>
                                        <p:tgtEl>
                                          <p:spTgt spid="30"/>
                                        </p:tgtEl>
                                        <p:attrNameLst>
                                          <p:attrName>style.visibility</p:attrName>
                                        </p:attrNameLst>
                                      </p:cBhvr>
                                      <p:to>
                                        <p:strVal val="visible"/>
                                      </p:to>
                                    </p:set>
                                    <p:animEffect transition="in" filter="fade">
                                      <p:cBhvr>
                                        <p:cTn id="66" dur="350"/>
                                        <p:tgtEl>
                                          <p:spTgt spid="30"/>
                                        </p:tgtEl>
                                      </p:cBhvr>
                                    </p:animEffect>
                                    <p:anim calcmode="lin" valueType="num">
                                      <p:cBhvr>
                                        <p:cTn id="67" dur="350" fill="hold"/>
                                        <p:tgtEl>
                                          <p:spTgt spid="30"/>
                                        </p:tgtEl>
                                        <p:attrNameLst>
                                          <p:attrName>ppt_x</p:attrName>
                                        </p:attrNameLst>
                                      </p:cBhvr>
                                      <p:tavLst>
                                        <p:tav tm="0">
                                          <p:val>
                                            <p:strVal val="#ppt_x"/>
                                          </p:val>
                                        </p:tav>
                                        <p:tav tm="100000">
                                          <p:val>
                                            <p:strVal val="#ppt_x"/>
                                          </p:val>
                                        </p:tav>
                                      </p:tavLst>
                                    </p:anim>
                                    <p:anim calcmode="lin" valueType="num">
                                      <p:cBhvr>
                                        <p:cTn id="68" dur="315" decel="100000" fill="hold"/>
                                        <p:tgtEl>
                                          <p:spTgt spid="30"/>
                                        </p:tgtEl>
                                        <p:attrNameLst>
                                          <p:attrName>ppt_y</p:attrName>
                                        </p:attrNameLst>
                                      </p:cBhvr>
                                      <p:tavLst>
                                        <p:tav tm="0">
                                          <p:val>
                                            <p:strVal val="#ppt_y+1"/>
                                          </p:val>
                                        </p:tav>
                                        <p:tav tm="100000">
                                          <p:val>
                                            <p:strVal val="#ppt_y-.03"/>
                                          </p:val>
                                        </p:tav>
                                      </p:tavLst>
                                    </p:anim>
                                    <p:anim calcmode="lin" valueType="num">
                                      <p:cBhvr>
                                        <p:cTn id="69" dur="35" accel="100000" fill="hold">
                                          <p:stCondLst>
                                            <p:cond delay="315"/>
                                          </p:stCondLst>
                                        </p:cTn>
                                        <p:tgtEl>
                                          <p:spTgt spid="30"/>
                                        </p:tgtEl>
                                        <p:attrNameLst>
                                          <p:attrName>ppt_y</p:attrName>
                                        </p:attrNameLst>
                                      </p:cBhvr>
                                      <p:tavLst>
                                        <p:tav tm="0">
                                          <p:val>
                                            <p:strVal val="#ppt_y-.03"/>
                                          </p:val>
                                        </p:tav>
                                        <p:tav tm="100000">
                                          <p:val>
                                            <p:strVal val="#ppt_y"/>
                                          </p:val>
                                        </p:tav>
                                      </p:tavLst>
                                    </p:anim>
                                  </p:childTnLst>
                                </p:cTn>
                              </p:par>
                              <p:par>
                                <p:cTn id="70" presetID="10" presetClass="entr" presetSubtype="0" fill="hold" grpId="0" nodeType="withEffect">
                                  <p:stCondLst>
                                    <p:cond delay="100"/>
                                  </p:stCondLst>
                                  <p:iterate type="wd">
                                    <p:tmPct val="10000"/>
                                  </p:iterate>
                                  <p:childTnLst>
                                    <p:set>
                                      <p:cBhvr>
                                        <p:cTn id="71" dur="1" fill="hold">
                                          <p:stCondLst>
                                            <p:cond delay="0"/>
                                          </p:stCondLst>
                                        </p:cTn>
                                        <p:tgtEl>
                                          <p:spTgt spid="31"/>
                                        </p:tgtEl>
                                        <p:attrNameLst>
                                          <p:attrName>style.visibility</p:attrName>
                                        </p:attrNameLst>
                                      </p:cBhvr>
                                      <p:to>
                                        <p:strVal val="visible"/>
                                      </p:to>
                                    </p:set>
                                    <p:animEffect transition="in" filter="fade">
                                      <p:cBhvr>
                                        <p:cTn id="72" dur="600"/>
                                        <p:tgtEl>
                                          <p:spTgt spid="31"/>
                                        </p:tgtEl>
                                      </p:cBhvr>
                                    </p:animEffect>
                                  </p:childTnLst>
                                </p:cTn>
                              </p:par>
                            </p:childTnLst>
                          </p:cTn>
                        </p:par>
                        <p:par>
                          <p:cTn id="73" fill="hold">
                            <p:stCondLst>
                              <p:cond delay="9440"/>
                            </p:stCondLst>
                            <p:childTnLst>
                              <p:par>
                                <p:cTn id="74" presetID="22" presetClass="entr" presetSubtype="8" fill="hold" nodeType="after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wipe(left)">
                                      <p:cBhvr>
                                        <p:cTn id="76" dur="500"/>
                                        <p:tgtEl>
                                          <p:spTgt spid="32"/>
                                        </p:tgtEl>
                                      </p:cBhvr>
                                    </p:animEffect>
                                  </p:childTnLst>
                                </p:cTn>
                              </p:par>
                            </p:childTnLst>
                          </p:cTn>
                        </p:par>
                        <p:par>
                          <p:cTn id="77" fill="hold">
                            <p:stCondLst>
                              <p:cond delay="9940"/>
                            </p:stCondLst>
                            <p:childTnLst>
                              <p:par>
                                <p:cTn id="78" presetID="53" presetClass="entr" presetSubtype="16" fill="hold" grpId="0" nodeType="afterEffect">
                                  <p:stCondLst>
                                    <p:cond delay="0"/>
                                  </p:stCondLst>
                                  <p:childTnLst>
                                    <p:set>
                                      <p:cBhvr>
                                        <p:cTn id="79" dur="1" fill="hold">
                                          <p:stCondLst>
                                            <p:cond delay="0"/>
                                          </p:stCondLst>
                                        </p:cTn>
                                        <p:tgtEl>
                                          <p:spTgt spid="33"/>
                                        </p:tgtEl>
                                        <p:attrNameLst>
                                          <p:attrName>style.visibility</p:attrName>
                                        </p:attrNameLst>
                                      </p:cBhvr>
                                      <p:to>
                                        <p:strVal val="visible"/>
                                      </p:to>
                                    </p:set>
                                    <p:anim calcmode="lin" valueType="num">
                                      <p:cBhvr>
                                        <p:cTn id="80" dur="300" fill="hold"/>
                                        <p:tgtEl>
                                          <p:spTgt spid="33"/>
                                        </p:tgtEl>
                                        <p:attrNameLst>
                                          <p:attrName>ppt_w</p:attrName>
                                        </p:attrNameLst>
                                      </p:cBhvr>
                                      <p:tavLst>
                                        <p:tav tm="0">
                                          <p:val>
                                            <p:fltVal val="0"/>
                                          </p:val>
                                        </p:tav>
                                        <p:tav tm="100000">
                                          <p:val>
                                            <p:strVal val="#ppt_w"/>
                                          </p:val>
                                        </p:tav>
                                      </p:tavLst>
                                    </p:anim>
                                    <p:anim calcmode="lin" valueType="num">
                                      <p:cBhvr>
                                        <p:cTn id="81" dur="300" fill="hold"/>
                                        <p:tgtEl>
                                          <p:spTgt spid="33"/>
                                        </p:tgtEl>
                                        <p:attrNameLst>
                                          <p:attrName>ppt_h</p:attrName>
                                        </p:attrNameLst>
                                      </p:cBhvr>
                                      <p:tavLst>
                                        <p:tav tm="0">
                                          <p:val>
                                            <p:fltVal val="0"/>
                                          </p:val>
                                        </p:tav>
                                        <p:tav tm="100000">
                                          <p:val>
                                            <p:strVal val="#ppt_h"/>
                                          </p:val>
                                        </p:tav>
                                      </p:tavLst>
                                    </p:anim>
                                    <p:animEffect transition="in" filter="fade">
                                      <p:cBhvr>
                                        <p:cTn id="82" dur="300"/>
                                        <p:tgtEl>
                                          <p:spTgt spid="33"/>
                                        </p:tgtEl>
                                      </p:cBhvr>
                                    </p:animEffect>
                                  </p:childTnLst>
                                </p:cTn>
                              </p:par>
                              <p:par>
                                <p:cTn id="83" presetID="37" presetClass="entr" presetSubtype="0" fill="hold" grpId="0" nodeType="withEffect">
                                  <p:stCondLst>
                                    <p:cond delay="0"/>
                                  </p:stCondLst>
                                  <p:iterate type="lt">
                                    <p:tmPct val="10000"/>
                                  </p:iterate>
                                  <p:childTnLst>
                                    <p:set>
                                      <p:cBhvr>
                                        <p:cTn id="84" dur="1" fill="hold">
                                          <p:stCondLst>
                                            <p:cond delay="0"/>
                                          </p:stCondLst>
                                        </p:cTn>
                                        <p:tgtEl>
                                          <p:spTgt spid="34"/>
                                        </p:tgtEl>
                                        <p:attrNameLst>
                                          <p:attrName>style.visibility</p:attrName>
                                        </p:attrNameLst>
                                      </p:cBhvr>
                                      <p:to>
                                        <p:strVal val="visible"/>
                                      </p:to>
                                    </p:set>
                                    <p:animEffect transition="in" filter="fade">
                                      <p:cBhvr>
                                        <p:cTn id="85" dur="350"/>
                                        <p:tgtEl>
                                          <p:spTgt spid="34"/>
                                        </p:tgtEl>
                                      </p:cBhvr>
                                    </p:animEffect>
                                    <p:anim calcmode="lin" valueType="num">
                                      <p:cBhvr>
                                        <p:cTn id="86" dur="350" fill="hold"/>
                                        <p:tgtEl>
                                          <p:spTgt spid="34"/>
                                        </p:tgtEl>
                                        <p:attrNameLst>
                                          <p:attrName>ppt_x</p:attrName>
                                        </p:attrNameLst>
                                      </p:cBhvr>
                                      <p:tavLst>
                                        <p:tav tm="0">
                                          <p:val>
                                            <p:strVal val="#ppt_x"/>
                                          </p:val>
                                        </p:tav>
                                        <p:tav tm="100000">
                                          <p:val>
                                            <p:strVal val="#ppt_x"/>
                                          </p:val>
                                        </p:tav>
                                      </p:tavLst>
                                    </p:anim>
                                    <p:anim calcmode="lin" valueType="num">
                                      <p:cBhvr>
                                        <p:cTn id="87" dur="315" decel="100000" fill="hold"/>
                                        <p:tgtEl>
                                          <p:spTgt spid="34"/>
                                        </p:tgtEl>
                                        <p:attrNameLst>
                                          <p:attrName>ppt_y</p:attrName>
                                        </p:attrNameLst>
                                      </p:cBhvr>
                                      <p:tavLst>
                                        <p:tav tm="0">
                                          <p:val>
                                            <p:strVal val="#ppt_y+1"/>
                                          </p:val>
                                        </p:tav>
                                        <p:tav tm="100000">
                                          <p:val>
                                            <p:strVal val="#ppt_y-.03"/>
                                          </p:val>
                                        </p:tav>
                                      </p:tavLst>
                                    </p:anim>
                                    <p:anim calcmode="lin" valueType="num">
                                      <p:cBhvr>
                                        <p:cTn id="88" dur="35" accel="100000" fill="hold">
                                          <p:stCondLst>
                                            <p:cond delay="315"/>
                                          </p:stCondLst>
                                        </p:cTn>
                                        <p:tgtEl>
                                          <p:spTgt spid="34"/>
                                        </p:tgtEl>
                                        <p:attrNameLst>
                                          <p:attrName>ppt_y</p:attrName>
                                        </p:attrNameLst>
                                      </p:cBhvr>
                                      <p:tavLst>
                                        <p:tav tm="0">
                                          <p:val>
                                            <p:strVal val="#ppt_y-.03"/>
                                          </p:val>
                                        </p:tav>
                                        <p:tav tm="100000">
                                          <p:val>
                                            <p:strVal val="#ppt_y"/>
                                          </p:val>
                                        </p:tav>
                                      </p:tavLst>
                                    </p:anim>
                                  </p:childTnLst>
                                </p:cTn>
                              </p:par>
                              <p:par>
                                <p:cTn id="89" presetID="10" presetClass="entr" presetSubtype="0" fill="hold" grpId="0" nodeType="withEffect">
                                  <p:stCondLst>
                                    <p:cond delay="100"/>
                                  </p:stCondLst>
                                  <p:iterate type="wd">
                                    <p:tmPct val="10000"/>
                                  </p:iterate>
                                  <p:childTnLst>
                                    <p:set>
                                      <p:cBhvr>
                                        <p:cTn id="90" dur="1" fill="hold">
                                          <p:stCondLst>
                                            <p:cond delay="0"/>
                                          </p:stCondLst>
                                        </p:cTn>
                                        <p:tgtEl>
                                          <p:spTgt spid="35"/>
                                        </p:tgtEl>
                                        <p:attrNameLst>
                                          <p:attrName>style.visibility</p:attrName>
                                        </p:attrNameLst>
                                      </p:cBhvr>
                                      <p:to>
                                        <p:strVal val="visible"/>
                                      </p:to>
                                    </p:set>
                                    <p:animEffect transition="in" filter="fade">
                                      <p:cBhvr>
                                        <p:cTn id="91" dur="6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21" grpId="0"/>
      <p:bldP spid="22" grpId="0"/>
      <p:bldP spid="23" grpId="0"/>
      <p:bldP spid="25" grpId="0"/>
      <p:bldP spid="26" grpId="0"/>
      <p:bldP spid="27" grpId="0"/>
      <p:bldP spid="29" grpId="0"/>
      <p:bldP spid="30" grpId="0"/>
      <p:bldP spid="31" grpId="0"/>
      <p:bldP spid="33" grpId="0"/>
      <p:bldP spid="34" grpId="0"/>
      <p:bldP spid="3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32325"/>
        </a:solidFill>
        <a:effectLst/>
      </p:bgPr>
    </p:bg>
    <p:spTree>
      <p:nvGrpSpPr>
        <p:cNvPr id="1" name=""/>
        <p:cNvGrpSpPr/>
        <p:nvPr/>
      </p:nvGrpSpPr>
      <p:grpSpPr>
        <a:xfrm>
          <a:off x="0" y="0"/>
          <a:ext cx="0" cy="0"/>
          <a:chOff x="0" y="0"/>
          <a:chExt cx="0" cy="0"/>
        </a:xfrm>
      </p:grpSpPr>
      <p:sp>
        <p:nvSpPr>
          <p:cNvPr id="2" name="!!seg8"/>
          <p:cNvSpPr/>
          <p:nvPr/>
        </p:nvSpPr>
        <p:spPr>
          <a:xfrm>
            <a:off x="16971264"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seg7"/>
          <p:cNvSpPr/>
          <p:nvPr/>
        </p:nvSpPr>
        <p:spPr>
          <a:xfrm>
            <a:off x="16568927"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seg6"/>
          <p:cNvSpPr/>
          <p:nvPr/>
        </p:nvSpPr>
        <p:spPr>
          <a:xfrm>
            <a:off x="16166591"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seg5"/>
          <p:cNvSpPr/>
          <p:nvPr/>
        </p:nvSpPr>
        <p:spPr>
          <a:xfrm>
            <a:off x="15764255"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seg4"/>
          <p:cNvSpPr/>
          <p:nvPr/>
        </p:nvSpPr>
        <p:spPr>
          <a:xfrm>
            <a:off x="14575535" y="566928"/>
            <a:ext cx="1097280" cy="118872"/>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eg3"/>
          <p:cNvSpPr/>
          <p:nvPr/>
        </p:nvSpPr>
        <p:spPr>
          <a:xfrm>
            <a:off x="14173199"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eg2"/>
          <p:cNvSpPr/>
          <p:nvPr/>
        </p:nvSpPr>
        <p:spPr>
          <a:xfrm>
            <a:off x="13770863"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seg1"/>
          <p:cNvSpPr/>
          <p:nvPr/>
        </p:nvSpPr>
        <p:spPr>
          <a:xfrm>
            <a:off x="1336852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egno"/>
          <p:cNvSpPr txBox="1"/>
          <p:nvPr/>
        </p:nvSpPr>
        <p:spPr>
          <a:xfrm>
            <a:off x="10808207" y="429768"/>
            <a:ext cx="2423160" cy="384048"/>
          </a:xfrm>
          <a:prstGeom prst="rect">
            <a:avLst/>
          </a:prstGeom>
          <a:noFill/>
        </p:spPr>
        <p:txBody>
          <a:bodyPr wrap="square" lIns="45720" rIns="45720" anchor="t"/>
          <a:lstStyle/>
          <a:p>
            <a:pPr algn="r">
              <a:lnSpc>
                <a:spcPct val="100000"/>
              </a:lnSpc>
            </a:pPr>
            <a:r>
              <a:rPr sz="1500" b="0" i="0">
                <a:solidFill>
                  <a:srgbClr val="8E8E93"/>
                </a:solidFill>
                <a:latin typeface="Oswald"/>
              </a:rPr>
              <a:t>04 / 08</a:t>
            </a:r>
          </a:p>
        </p:txBody>
      </p:sp>
      <p:sp>
        <p:nvSpPr>
          <p:cNvPr id="11" name="Kicker 47"/>
          <p:cNvSpPr txBox="1"/>
          <p:nvPr/>
        </p:nvSpPr>
        <p:spPr>
          <a:xfrm>
            <a:off x="1005840" y="457200"/>
            <a:ext cx="8229600" cy="411480"/>
          </a:xfrm>
          <a:prstGeom prst="rect">
            <a:avLst/>
          </a:prstGeom>
          <a:noFill/>
        </p:spPr>
        <p:txBody>
          <a:bodyPr wrap="square" lIns="45720" rIns="45720" anchor="t"/>
          <a:lstStyle/>
          <a:p>
            <a:pPr algn="l">
              <a:lnSpc>
                <a:spcPct val="100000"/>
              </a:lnSpc>
            </a:pPr>
            <a:r>
              <a:rPr sz="1600" b="1" i="0">
                <a:solidFill>
                  <a:srgbClr val="C1FF72"/>
                </a:solidFill>
                <a:latin typeface="Titillium Web"/>
              </a:rPr>
              <a:t>04  ·  RESEARCH OBJECTIVES</a:t>
            </a:r>
          </a:p>
        </p:txBody>
      </p:sp>
      <p:sp>
        <p:nvSpPr>
          <p:cNvPr id="12" name="Title 48"/>
          <p:cNvSpPr txBox="1"/>
          <p:nvPr/>
        </p:nvSpPr>
        <p:spPr>
          <a:xfrm>
            <a:off x="1005840" y="841248"/>
            <a:ext cx="10972800" cy="1051560"/>
          </a:xfrm>
          <a:prstGeom prst="rect">
            <a:avLst/>
          </a:prstGeom>
          <a:noFill/>
        </p:spPr>
        <p:txBody>
          <a:bodyPr wrap="square" lIns="45720" rIns="45720" anchor="t"/>
          <a:lstStyle/>
          <a:p>
            <a:pPr algn="l">
              <a:lnSpc>
                <a:spcPct val="100000"/>
              </a:lnSpc>
            </a:pPr>
            <a:r>
              <a:rPr sz="5400" b="0" i="0">
                <a:solidFill>
                  <a:srgbClr val="EDEDED"/>
                </a:solidFill>
                <a:latin typeface="Oswald"/>
              </a:rPr>
              <a:t>RESEARCH OBJECTIVES</a:t>
            </a:r>
          </a:p>
        </p:txBody>
      </p:sp>
      <p:sp>
        <p:nvSpPr>
          <p:cNvPr id="13" name="Source"/>
          <p:cNvSpPr txBox="1"/>
          <p:nvPr/>
        </p:nvSpPr>
        <p:spPr>
          <a:xfrm>
            <a:off x="1005840" y="9710928"/>
            <a:ext cx="14447520" cy="347472"/>
          </a:xfrm>
          <a:prstGeom prst="rect">
            <a:avLst/>
          </a:prstGeom>
          <a:noFill/>
        </p:spPr>
        <p:txBody>
          <a:bodyPr wrap="square" lIns="45720" rIns="45720" anchor="t"/>
          <a:lstStyle/>
          <a:p>
            <a:pPr algn="l">
              <a:lnSpc>
                <a:spcPct val="100000"/>
              </a:lnSpc>
            </a:pPr>
            <a:r>
              <a:rPr sz="1300" b="0" i="0">
                <a:solidFill>
                  <a:srgbClr val="5C5C61"/>
                </a:solidFill>
                <a:latin typeface="Titillium Web"/>
              </a:rPr>
              <a:t>Thesis §1.4 Objectives of the Study</a:t>
            </a:r>
          </a:p>
        </p:txBody>
      </p:sp>
      <p:sp>
        <p:nvSpPr>
          <p:cNvPr id="14" name="Page"/>
          <p:cNvSpPr txBox="1"/>
          <p:nvPr/>
        </p:nvSpPr>
        <p:spPr>
          <a:xfrm>
            <a:off x="15453359" y="9710928"/>
            <a:ext cx="1828800" cy="347472"/>
          </a:xfrm>
          <a:prstGeom prst="rect">
            <a:avLst/>
          </a:prstGeom>
          <a:noFill/>
        </p:spPr>
        <p:txBody>
          <a:bodyPr wrap="square" lIns="45720" rIns="45720" anchor="t"/>
          <a:lstStyle/>
          <a:p>
            <a:pPr algn="r">
              <a:lnSpc>
                <a:spcPct val="100000"/>
              </a:lnSpc>
            </a:pPr>
            <a:r>
              <a:rPr sz="1300" b="0" i="0">
                <a:solidFill>
                  <a:srgbClr val="5C5C61"/>
                </a:solidFill>
                <a:latin typeface="Oswald"/>
              </a:rPr>
              <a:t>05</a:t>
            </a:r>
          </a:p>
        </p:txBody>
      </p:sp>
      <p:pic>
        <p:nvPicPr>
          <p:cNvPr id="15" name="!!photo" descr="9783348-0.585-0.50-0.40.jpg"/>
          <p:cNvPicPr>
            <a:picLocks noChangeAspect="1"/>
          </p:cNvPicPr>
          <p:nvPr/>
        </p:nvPicPr>
        <p:blipFill>
          <a:blip r:embed="rId3"/>
          <a:stretch>
            <a:fillRect/>
          </a:stretch>
        </p:blipFill>
        <p:spPr>
          <a:xfrm>
            <a:off x="12390120" y="1051560"/>
            <a:ext cx="4892040" cy="8366760"/>
          </a:xfrm>
          <a:prstGeom prst="roundRect">
            <a:avLst>
              <a:gd name="adj" fmla="val 6542"/>
            </a:avLst>
          </a:prstGeom>
          <a:effectLst>
            <a:outerShdw blurRad="279400" dist="114300" dir="2700000" algn="ctr" rotWithShape="0">
              <a:srgbClr val="0E0E10">
                <a:alpha val="70000"/>
              </a:srgbClr>
            </a:outerShdw>
          </a:effectLst>
        </p:spPr>
      </p:pic>
      <p:grpSp>
        <p:nvGrpSpPr>
          <p:cNvPr id="20" name="GO 49"/>
          <p:cNvGrpSpPr/>
          <p:nvPr/>
        </p:nvGrpSpPr>
        <p:grpSpPr>
          <a:xfrm>
            <a:off x="1005840" y="2103120"/>
            <a:ext cx="11018520" cy="2194560"/>
            <a:chOff x="1005840" y="2103120"/>
            <a:chExt cx="11018520" cy="2194560"/>
          </a:xfrm>
        </p:grpSpPr>
        <p:sp>
          <p:nvSpPr>
            <p:cNvPr id="16" name="GO light"/>
            <p:cNvSpPr/>
            <p:nvPr/>
          </p:nvSpPr>
          <p:spPr>
            <a:xfrm>
              <a:off x="1005840" y="2103120"/>
              <a:ext cx="11018520" cy="2194560"/>
            </a:xfrm>
            <a:prstGeom prst="roundRect">
              <a:avLst>
                <a:gd name="adj" fmla="val 16666"/>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7" name="GO"/>
            <p:cNvSpPr/>
            <p:nvPr/>
          </p:nvSpPr>
          <p:spPr>
            <a:xfrm>
              <a:off x="1005840" y="2103120"/>
              <a:ext cx="11018520" cy="2194560"/>
            </a:xfrm>
            <a:prstGeom prst="roundRect">
              <a:avLst>
                <a:gd name="adj" fmla="val 16666"/>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GO label"/>
            <p:cNvSpPr txBox="1"/>
            <p:nvPr/>
          </p:nvSpPr>
          <p:spPr>
            <a:xfrm>
              <a:off x="1417320" y="2286000"/>
              <a:ext cx="5486400" cy="365760"/>
            </a:xfrm>
            <a:prstGeom prst="rect">
              <a:avLst/>
            </a:prstGeom>
            <a:noFill/>
          </p:spPr>
          <p:txBody>
            <a:bodyPr wrap="square" lIns="45720" rIns="45720" anchor="t"/>
            <a:lstStyle/>
            <a:p>
              <a:pPr algn="l">
                <a:lnSpc>
                  <a:spcPct val="100000"/>
                </a:lnSpc>
              </a:pPr>
              <a:r>
                <a:rPr sz="1500" b="1" i="0">
                  <a:solidFill>
                    <a:srgbClr val="C1FF72"/>
                  </a:solidFill>
                  <a:latin typeface="Titillium Web"/>
                </a:rPr>
                <a:t>GENERAL OBJECTIVE</a:t>
              </a:r>
            </a:p>
          </p:txBody>
        </p:sp>
        <p:sp>
          <p:nvSpPr>
            <p:cNvPr id="19" name="GO text"/>
            <p:cNvSpPr txBox="1"/>
            <p:nvPr/>
          </p:nvSpPr>
          <p:spPr>
            <a:xfrm>
              <a:off x="1417320" y="2651760"/>
              <a:ext cx="10241280" cy="1600200"/>
            </a:xfrm>
            <a:prstGeom prst="rect">
              <a:avLst/>
            </a:prstGeom>
            <a:noFill/>
          </p:spPr>
          <p:txBody>
            <a:bodyPr wrap="square" lIns="45720" rIns="45720" anchor="t"/>
            <a:lstStyle/>
            <a:p>
              <a:pPr algn="l">
                <a:lnSpc>
                  <a:spcPct val="98000"/>
                </a:lnSpc>
              </a:pPr>
              <a:r>
                <a:rPr sz="2000" b="0" i="0">
                  <a:solidFill>
                    <a:srgbClr val="EDEDED"/>
                  </a:solidFill>
                  <a:latin typeface="Titillium Web"/>
                </a:rPr>
                <a:t>Design, implement and evaluate a multi-platform AI-driven system that monitors URLs in real time, detects and explains threats with cooperating agents, and gives timely alerts and protective feedback while keeping historical context and threat records.</a:t>
              </a:r>
            </a:p>
          </p:txBody>
        </p:sp>
      </p:grpSp>
      <p:grpSp>
        <p:nvGrpSpPr>
          <p:cNvPr id="26" name="Card 50"/>
          <p:cNvGrpSpPr/>
          <p:nvPr/>
        </p:nvGrpSpPr>
        <p:grpSpPr>
          <a:xfrm>
            <a:off x="1005840" y="4572000"/>
            <a:ext cx="5349240" cy="2286000"/>
            <a:chOff x="1005840" y="4572000"/>
            <a:chExt cx="5349240" cy="2286000"/>
          </a:xfrm>
        </p:grpSpPr>
        <p:sp>
          <p:nvSpPr>
            <p:cNvPr id="21" name="Card light"/>
            <p:cNvSpPr/>
            <p:nvPr/>
          </p:nvSpPr>
          <p:spPr>
            <a:xfrm>
              <a:off x="1005840" y="4572000"/>
              <a:ext cx="5349240" cy="2286000"/>
            </a:xfrm>
            <a:prstGeom prst="roundRect">
              <a:avLst>
                <a:gd name="adj" fmla="val 1120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Card"/>
            <p:cNvSpPr/>
            <p:nvPr/>
          </p:nvSpPr>
          <p:spPr>
            <a:xfrm>
              <a:off x="1005840" y="4572000"/>
              <a:ext cx="5349240" cy="2286000"/>
            </a:xfrm>
            <a:prstGeom prst="roundRect">
              <a:avLst>
                <a:gd name="adj" fmla="val 1120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3" name="Card label"/>
            <p:cNvSpPr txBox="1"/>
            <p:nvPr/>
          </p:nvSpPr>
          <p:spPr>
            <a:xfrm>
              <a:off x="1298448" y="4846320"/>
              <a:ext cx="4764024" cy="347472"/>
            </a:xfrm>
            <a:prstGeom prst="rect">
              <a:avLst/>
            </a:prstGeom>
            <a:noFill/>
          </p:spPr>
          <p:txBody>
            <a:bodyPr wrap="square" lIns="45720" rIns="45720" anchor="t"/>
            <a:lstStyle/>
            <a:p>
              <a:pPr algn="l">
                <a:lnSpc>
                  <a:spcPct val="100000"/>
                </a:lnSpc>
              </a:pPr>
              <a:r>
                <a:rPr sz="1400" b="1" i="0">
                  <a:solidFill>
                    <a:srgbClr val="C1FF72"/>
                  </a:solidFill>
                  <a:latin typeface="Titillium Web"/>
                </a:rPr>
                <a:t>OBJECTIVE 1  →  RQ1</a:t>
              </a:r>
            </a:p>
          </p:txBody>
        </p:sp>
        <p:sp>
          <p:nvSpPr>
            <p:cNvPr id="24" name="Card title"/>
            <p:cNvSpPr txBox="1"/>
            <p:nvPr/>
          </p:nvSpPr>
          <p:spPr>
            <a:xfrm>
              <a:off x="1298448" y="5230368"/>
              <a:ext cx="4764024" cy="453643"/>
            </a:xfrm>
            <a:prstGeom prst="rect">
              <a:avLst/>
            </a:prstGeom>
            <a:noFill/>
          </p:spPr>
          <p:txBody>
            <a:bodyPr wrap="square" lIns="45720" rIns="45720" anchor="t"/>
            <a:lstStyle/>
            <a:p>
              <a:pPr algn="l">
                <a:lnSpc>
                  <a:spcPct val="100000"/>
                </a:lnSpc>
              </a:pPr>
              <a:r>
                <a:rPr sz="2300" b="0" i="0">
                  <a:solidFill>
                    <a:srgbClr val="EDEDED"/>
                  </a:solidFill>
                  <a:latin typeface="Oswald"/>
                </a:rPr>
                <a:t>MULTI-AGENT FRAMEWORK</a:t>
              </a:r>
            </a:p>
          </p:txBody>
        </p:sp>
        <p:sp>
          <p:nvSpPr>
            <p:cNvPr id="25" name="Card body"/>
            <p:cNvSpPr txBox="1"/>
            <p:nvPr/>
          </p:nvSpPr>
          <p:spPr>
            <a:xfrm>
              <a:off x="1298448" y="5720588"/>
              <a:ext cx="4764024" cy="899668"/>
            </a:xfrm>
            <a:prstGeom prst="rect">
              <a:avLst/>
            </a:prstGeom>
            <a:noFill/>
          </p:spPr>
          <p:txBody>
            <a:bodyPr wrap="square" lIns="45720" rIns="45720" anchor="t"/>
            <a:lstStyle/>
            <a:p>
              <a:pPr algn="l">
                <a:lnSpc>
                  <a:spcPct val="98000"/>
                </a:lnSpc>
              </a:pPr>
              <a:r>
                <a:rPr sz="1800" b="0" i="0">
                  <a:solidFill>
                    <a:srgbClr val="BDBDC1"/>
                  </a:solidFill>
                  <a:latin typeface="Titillium Web"/>
                </a:rPr>
                <a:t>Decompose URL analysis into coordinated tasks for reliable real-time assessments.</a:t>
              </a:r>
            </a:p>
          </p:txBody>
        </p:sp>
      </p:grpSp>
      <p:grpSp>
        <p:nvGrpSpPr>
          <p:cNvPr id="32" name="Card 51"/>
          <p:cNvGrpSpPr/>
          <p:nvPr/>
        </p:nvGrpSpPr>
        <p:grpSpPr>
          <a:xfrm>
            <a:off x="6675120" y="4572000"/>
            <a:ext cx="5349240" cy="2286000"/>
            <a:chOff x="6675120" y="4572000"/>
            <a:chExt cx="5349240" cy="2286000"/>
          </a:xfrm>
        </p:grpSpPr>
        <p:sp>
          <p:nvSpPr>
            <p:cNvPr id="27" name="Card light"/>
            <p:cNvSpPr/>
            <p:nvPr/>
          </p:nvSpPr>
          <p:spPr>
            <a:xfrm>
              <a:off x="6675120" y="4572000"/>
              <a:ext cx="5349240" cy="2286000"/>
            </a:xfrm>
            <a:prstGeom prst="roundRect">
              <a:avLst>
                <a:gd name="adj" fmla="val 1120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Card"/>
            <p:cNvSpPr/>
            <p:nvPr/>
          </p:nvSpPr>
          <p:spPr>
            <a:xfrm>
              <a:off x="6675120" y="4572000"/>
              <a:ext cx="5349240" cy="2286000"/>
            </a:xfrm>
            <a:prstGeom prst="roundRect">
              <a:avLst>
                <a:gd name="adj" fmla="val 1120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9" name="Card label"/>
            <p:cNvSpPr txBox="1"/>
            <p:nvPr/>
          </p:nvSpPr>
          <p:spPr>
            <a:xfrm>
              <a:off x="6967728" y="4846320"/>
              <a:ext cx="4764024" cy="347472"/>
            </a:xfrm>
            <a:prstGeom prst="rect">
              <a:avLst/>
            </a:prstGeom>
            <a:noFill/>
          </p:spPr>
          <p:txBody>
            <a:bodyPr wrap="square" lIns="45720" rIns="45720" anchor="t"/>
            <a:lstStyle/>
            <a:p>
              <a:pPr algn="l">
                <a:lnSpc>
                  <a:spcPct val="100000"/>
                </a:lnSpc>
              </a:pPr>
              <a:r>
                <a:rPr sz="1400" b="1" i="0">
                  <a:solidFill>
                    <a:srgbClr val="C1FF72"/>
                  </a:solidFill>
                  <a:latin typeface="Titillium Web"/>
                </a:rPr>
                <a:t>OBJECTIVE 2  →  RQ2</a:t>
              </a:r>
            </a:p>
          </p:txBody>
        </p:sp>
        <p:sp>
          <p:nvSpPr>
            <p:cNvPr id="30" name="Card title"/>
            <p:cNvSpPr txBox="1"/>
            <p:nvPr/>
          </p:nvSpPr>
          <p:spPr>
            <a:xfrm>
              <a:off x="6967728" y="5230368"/>
              <a:ext cx="4764024" cy="453643"/>
            </a:xfrm>
            <a:prstGeom prst="rect">
              <a:avLst/>
            </a:prstGeom>
            <a:noFill/>
          </p:spPr>
          <p:txBody>
            <a:bodyPr wrap="square" lIns="45720" rIns="45720" anchor="t"/>
            <a:lstStyle/>
            <a:p>
              <a:pPr algn="l">
                <a:lnSpc>
                  <a:spcPct val="100000"/>
                </a:lnSpc>
              </a:pPr>
              <a:r>
                <a:rPr sz="2300" b="0" i="0">
                  <a:solidFill>
                    <a:srgbClr val="EDEDED"/>
                  </a:solidFill>
                  <a:latin typeface="Oswald"/>
                </a:rPr>
                <a:t>UNIFIED DETECTION</a:t>
              </a:r>
            </a:p>
          </p:txBody>
        </p:sp>
        <p:sp>
          <p:nvSpPr>
            <p:cNvPr id="31" name="Card body"/>
            <p:cNvSpPr txBox="1"/>
            <p:nvPr/>
          </p:nvSpPr>
          <p:spPr>
            <a:xfrm>
              <a:off x="6967728" y="5720588"/>
              <a:ext cx="4764024" cy="899668"/>
            </a:xfrm>
            <a:prstGeom prst="rect">
              <a:avLst/>
            </a:prstGeom>
            <a:noFill/>
          </p:spPr>
          <p:txBody>
            <a:bodyPr wrap="square" lIns="45720" rIns="45720" anchor="t"/>
            <a:lstStyle/>
            <a:p>
              <a:pPr algn="l">
                <a:lnSpc>
                  <a:spcPct val="98000"/>
                </a:lnSpc>
              </a:pPr>
              <a:r>
                <a:rPr sz="1800" b="0" i="0">
                  <a:solidFill>
                    <a:srgbClr val="BDBDC1"/>
                  </a:solidFill>
                  <a:latin typeface="Titillium Web"/>
                </a:rPr>
                <a:t>Combine content, behaviour, structure and threat intelligence for accuracy and consistency.</a:t>
              </a:r>
            </a:p>
          </p:txBody>
        </p:sp>
      </p:grpSp>
      <p:grpSp>
        <p:nvGrpSpPr>
          <p:cNvPr id="38" name="Card 52"/>
          <p:cNvGrpSpPr/>
          <p:nvPr/>
        </p:nvGrpSpPr>
        <p:grpSpPr>
          <a:xfrm>
            <a:off x="1005840" y="7059168"/>
            <a:ext cx="5349240" cy="2286000"/>
            <a:chOff x="1005840" y="7059168"/>
            <a:chExt cx="5349240" cy="2286000"/>
          </a:xfrm>
        </p:grpSpPr>
        <p:sp>
          <p:nvSpPr>
            <p:cNvPr id="33" name="Card light"/>
            <p:cNvSpPr/>
            <p:nvPr/>
          </p:nvSpPr>
          <p:spPr>
            <a:xfrm>
              <a:off x="1005840" y="7059168"/>
              <a:ext cx="5349240" cy="2286000"/>
            </a:xfrm>
            <a:prstGeom prst="roundRect">
              <a:avLst>
                <a:gd name="adj" fmla="val 1120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4" name="Card"/>
            <p:cNvSpPr/>
            <p:nvPr/>
          </p:nvSpPr>
          <p:spPr>
            <a:xfrm>
              <a:off x="1005840" y="7059168"/>
              <a:ext cx="5349240" cy="2286000"/>
            </a:xfrm>
            <a:prstGeom prst="roundRect">
              <a:avLst>
                <a:gd name="adj" fmla="val 1120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5" name="Card label"/>
            <p:cNvSpPr txBox="1"/>
            <p:nvPr/>
          </p:nvSpPr>
          <p:spPr>
            <a:xfrm>
              <a:off x="1298448" y="7333488"/>
              <a:ext cx="4764024" cy="347472"/>
            </a:xfrm>
            <a:prstGeom prst="rect">
              <a:avLst/>
            </a:prstGeom>
            <a:noFill/>
          </p:spPr>
          <p:txBody>
            <a:bodyPr wrap="square" lIns="45720" rIns="45720" anchor="t"/>
            <a:lstStyle/>
            <a:p>
              <a:pPr algn="l">
                <a:lnSpc>
                  <a:spcPct val="100000"/>
                </a:lnSpc>
              </a:pPr>
              <a:r>
                <a:rPr sz="1400" b="1" i="0">
                  <a:solidFill>
                    <a:srgbClr val="C1FF72"/>
                  </a:solidFill>
                  <a:latin typeface="Titillium Web"/>
                </a:rPr>
                <a:t>OBJECTIVE 3  →  RQ3</a:t>
              </a:r>
            </a:p>
          </p:txBody>
        </p:sp>
        <p:sp>
          <p:nvSpPr>
            <p:cNvPr id="36" name="Card title"/>
            <p:cNvSpPr txBox="1"/>
            <p:nvPr/>
          </p:nvSpPr>
          <p:spPr>
            <a:xfrm>
              <a:off x="1298448" y="7717536"/>
              <a:ext cx="4764024" cy="453643"/>
            </a:xfrm>
            <a:prstGeom prst="rect">
              <a:avLst/>
            </a:prstGeom>
            <a:noFill/>
          </p:spPr>
          <p:txBody>
            <a:bodyPr wrap="square" lIns="45720" rIns="45720" anchor="t"/>
            <a:lstStyle/>
            <a:p>
              <a:pPr algn="l">
                <a:lnSpc>
                  <a:spcPct val="100000"/>
                </a:lnSpc>
              </a:pPr>
              <a:r>
                <a:rPr sz="2300" b="0" i="0">
                  <a:solidFill>
                    <a:srgbClr val="EDEDED"/>
                  </a:solidFill>
                  <a:latin typeface="Oswald"/>
                </a:rPr>
                <a:t>DECISION AGGREGATION</a:t>
              </a:r>
            </a:p>
          </p:txBody>
        </p:sp>
        <p:sp>
          <p:nvSpPr>
            <p:cNvPr id="37" name="Card body"/>
            <p:cNvSpPr txBox="1"/>
            <p:nvPr/>
          </p:nvSpPr>
          <p:spPr>
            <a:xfrm>
              <a:off x="1298448" y="8207756"/>
              <a:ext cx="4764024" cy="899667"/>
            </a:xfrm>
            <a:prstGeom prst="rect">
              <a:avLst/>
            </a:prstGeom>
            <a:noFill/>
          </p:spPr>
          <p:txBody>
            <a:bodyPr wrap="square" lIns="45720" rIns="45720" anchor="t"/>
            <a:lstStyle/>
            <a:p>
              <a:pPr algn="l">
                <a:lnSpc>
                  <a:spcPct val="98000"/>
                </a:lnSpc>
              </a:pPr>
              <a:r>
                <a:rPr sz="1800" b="0" i="0">
                  <a:solidFill>
                    <a:srgbClr val="BDBDC1"/>
                  </a:solidFill>
                  <a:latin typeface="Titillium Web"/>
                </a:rPr>
                <a:t>Cut false alerts while strong malicious indicators still trigger immediate warnings.</a:t>
              </a:r>
            </a:p>
          </p:txBody>
        </p:sp>
      </p:grpSp>
      <p:grpSp>
        <p:nvGrpSpPr>
          <p:cNvPr id="44" name="Card 53"/>
          <p:cNvGrpSpPr/>
          <p:nvPr/>
        </p:nvGrpSpPr>
        <p:grpSpPr>
          <a:xfrm>
            <a:off x="6675120" y="7059168"/>
            <a:ext cx="5349240" cy="2286000"/>
            <a:chOff x="6675120" y="7059168"/>
            <a:chExt cx="5349240" cy="2286000"/>
          </a:xfrm>
        </p:grpSpPr>
        <p:sp>
          <p:nvSpPr>
            <p:cNvPr id="39" name="Card light"/>
            <p:cNvSpPr/>
            <p:nvPr/>
          </p:nvSpPr>
          <p:spPr>
            <a:xfrm>
              <a:off x="6675120" y="7059168"/>
              <a:ext cx="5349240" cy="2286000"/>
            </a:xfrm>
            <a:prstGeom prst="roundRect">
              <a:avLst>
                <a:gd name="adj" fmla="val 1120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0" name="Card"/>
            <p:cNvSpPr/>
            <p:nvPr/>
          </p:nvSpPr>
          <p:spPr>
            <a:xfrm>
              <a:off x="6675120" y="7059168"/>
              <a:ext cx="5349240" cy="2286000"/>
            </a:xfrm>
            <a:prstGeom prst="roundRect">
              <a:avLst>
                <a:gd name="adj" fmla="val 1120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1" name="Card label"/>
            <p:cNvSpPr txBox="1"/>
            <p:nvPr/>
          </p:nvSpPr>
          <p:spPr>
            <a:xfrm>
              <a:off x="6967728" y="7333488"/>
              <a:ext cx="4764024" cy="347472"/>
            </a:xfrm>
            <a:prstGeom prst="rect">
              <a:avLst/>
            </a:prstGeom>
            <a:noFill/>
          </p:spPr>
          <p:txBody>
            <a:bodyPr wrap="square" lIns="45720" rIns="45720" anchor="t"/>
            <a:lstStyle/>
            <a:p>
              <a:pPr algn="l">
                <a:lnSpc>
                  <a:spcPct val="100000"/>
                </a:lnSpc>
              </a:pPr>
              <a:r>
                <a:rPr sz="1400" b="1" i="0">
                  <a:solidFill>
                    <a:srgbClr val="C1FF72"/>
                  </a:solidFill>
                  <a:latin typeface="Titillium Web"/>
                </a:rPr>
                <a:t>OBJECTIVE 4  →  RQ4</a:t>
              </a:r>
            </a:p>
          </p:txBody>
        </p:sp>
        <p:sp>
          <p:nvSpPr>
            <p:cNvPr id="42" name="Card title"/>
            <p:cNvSpPr txBox="1"/>
            <p:nvPr/>
          </p:nvSpPr>
          <p:spPr>
            <a:xfrm>
              <a:off x="6967728" y="7717536"/>
              <a:ext cx="4764024" cy="453643"/>
            </a:xfrm>
            <a:prstGeom prst="rect">
              <a:avLst/>
            </a:prstGeom>
            <a:noFill/>
          </p:spPr>
          <p:txBody>
            <a:bodyPr wrap="square" lIns="45720" rIns="45720" anchor="t"/>
            <a:lstStyle/>
            <a:p>
              <a:pPr algn="l">
                <a:lnSpc>
                  <a:spcPct val="100000"/>
                </a:lnSpc>
              </a:pPr>
              <a:r>
                <a:rPr sz="2300" b="0" i="0">
                  <a:solidFill>
                    <a:srgbClr val="EDEDED"/>
                  </a:solidFill>
                  <a:latin typeface="Oswald"/>
                </a:rPr>
                <a:t>CONTEXTUAL INTELLIGENCE</a:t>
              </a:r>
            </a:p>
          </p:txBody>
        </p:sp>
        <p:sp>
          <p:nvSpPr>
            <p:cNvPr id="43" name="Card body"/>
            <p:cNvSpPr txBox="1"/>
            <p:nvPr/>
          </p:nvSpPr>
          <p:spPr>
            <a:xfrm>
              <a:off x="6967728" y="8207756"/>
              <a:ext cx="4764024" cy="899667"/>
            </a:xfrm>
            <a:prstGeom prst="rect">
              <a:avLst/>
            </a:prstGeom>
            <a:noFill/>
          </p:spPr>
          <p:txBody>
            <a:bodyPr wrap="square" lIns="45720" rIns="45720" anchor="t"/>
            <a:lstStyle/>
            <a:p>
              <a:pPr algn="l">
                <a:lnSpc>
                  <a:spcPct val="98000"/>
                </a:lnSpc>
              </a:pPr>
              <a:r>
                <a:rPr sz="1800" b="0" i="0">
                  <a:solidFill>
                    <a:srgbClr val="BDBDC1"/>
                  </a:solidFill>
                  <a:latin typeface="Titillium Web"/>
                </a:rPr>
                <a:t>Link current URL behaviour with known attack patterns and external threat databases.</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anim calcmode="lin" valueType="num">
                                      <p:cBhvr>
                                        <p:cTn id="11" dur="500" fill="hold"/>
                                        <p:tgtEl>
                                          <p:spTgt spid="12"/>
                                        </p:tgtEl>
                                        <p:attrNameLst>
                                          <p:attrName>ppt_x</p:attrName>
                                        </p:attrNameLst>
                                      </p:cBhvr>
                                      <p:tavLst>
                                        <p:tav tm="0">
                                          <p:val>
                                            <p:strVal val="#ppt_x"/>
                                          </p:val>
                                        </p:tav>
                                        <p:tav tm="100000">
                                          <p:val>
                                            <p:strVal val="#ppt_x"/>
                                          </p:val>
                                        </p:tav>
                                      </p:tavLst>
                                    </p:anim>
                                    <p:anim calcmode="lin" valueType="num">
                                      <p:cBhvr>
                                        <p:cTn id="12" dur="450" decel="100000" fill="hold"/>
                                        <p:tgtEl>
                                          <p:spTgt spid="12"/>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par>
                          <p:cTn id="14" fill="hold">
                            <p:stCondLst>
                              <p:cond delay="1450"/>
                            </p:stCondLst>
                            <p:childTnLst>
                              <p:par>
                                <p:cTn id="15" presetID="53" presetClass="entr" presetSubtype="16" fill="hold" nodeType="after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500" fill="hold"/>
                                        <p:tgtEl>
                                          <p:spTgt spid="20"/>
                                        </p:tgtEl>
                                        <p:attrNameLst>
                                          <p:attrName>ppt_w</p:attrName>
                                        </p:attrNameLst>
                                      </p:cBhvr>
                                      <p:tavLst>
                                        <p:tav tm="0">
                                          <p:val>
                                            <p:fltVal val="0"/>
                                          </p:val>
                                        </p:tav>
                                        <p:tav tm="100000">
                                          <p:val>
                                            <p:strVal val="#ppt_w"/>
                                          </p:val>
                                        </p:tav>
                                      </p:tavLst>
                                    </p:anim>
                                    <p:anim calcmode="lin" valueType="num">
                                      <p:cBhvr>
                                        <p:cTn id="18" dur="500" fill="hold"/>
                                        <p:tgtEl>
                                          <p:spTgt spid="20"/>
                                        </p:tgtEl>
                                        <p:attrNameLst>
                                          <p:attrName>ppt_h</p:attrName>
                                        </p:attrNameLst>
                                      </p:cBhvr>
                                      <p:tavLst>
                                        <p:tav tm="0">
                                          <p:val>
                                            <p:fltVal val="0"/>
                                          </p:val>
                                        </p:tav>
                                        <p:tav tm="100000">
                                          <p:val>
                                            <p:strVal val="#ppt_h"/>
                                          </p:val>
                                        </p:tav>
                                      </p:tavLst>
                                    </p:anim>
                                    <p:animEffect transition="in" filter="fade">
                                      <p:cBhvr>
                                        <p:cTn id="19" dur="500"/>
                                        <p:tgtEl>
                                          <p:spTgt spid="20"/>
                                        </p:tgtEl>
                                      </p:cBhvr>
                                    </p:animEffect>
                                  </p:childTnLst>
                                </p:cTn>
                              </p:par>
                            </p:childTnLst>
                          </p:cTn>
                        </p:par>
                        <p:par>
                          <p:cTn id="20" fill="hold">
                            <p:stCondLst>
                              <p:cond delay="1950"/>
                            </p:stCondLst>
                            <p:childTnLst>
                              <p:par>
                                <p:cTn id="21" presetID="2" presetClass="entr" presetSubtype="4" fill="hold" nodeType="afterEffect">
                                  <p:stCondLst>
                                    <p:cond delay="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500" fill="hold"/>
                                        <p:tgtEl>
                                          <p:spTgt spid="26"/>
                                        </p:tgtEl>
                                        <p:attrNameLst>
                                          <p:attrName>ppt_x</p:attrName>
                                        </p:attrNameLst>
                                      </p:cBhvr>
                                      <p:tavLst>
                                        <p:tav tm="0">
                                          <p:val>
                                            <p:strVal val="#ppt_x"/>
                                          </p:val>
                                        </p:tav>
                                        <p:tav tm="100000">
                                          <p:val>
                                            <p:strVal val="#ppt_x"/>
                                          </p:val>
                                        </p:tav>
                                      </p:tavLst>
                                    </p:anim>
                                    <p:anim calcmode="lin" valueType="num">
                                      <p:cBhvr additive="base">
                                        <p:cTn id="24" dur="500" fill="hold"/>
                                        <p:tgtEl>
                                          <p:spTgt spid="26"/>
                                        </p:tgtEl>
                                        <p:attrNameLst>
                                          <p:attrName>ppt_y</p:attrName>
                                        </p:attrNameLst>
                                      </p:cBhvr>
                                      <p:tavLst>
                                        <p:tav tm="0">
                                          <p:val>
                                            <p:strVal val="1+#ppt_h/2"/>
                                          </p:val>
                                        </p:tav>
                                        <p:tav tm="100000">
                                          <p:val>
                                            <p:strVal val="#ppt_y"/>
                                          </p:val>
                                        </p:tav>
                                      </p:tavLst>
                                    </p:anim>
                                  </p:childTnLst>
                                </p:cTn>
                              </p:par>
                            </p:childTnLst>
                          </p:cTn>
                        </p:par>
                        <p:par>
                          <p:cTn id="25" fill="hold">
                            <p:stCondLst>
                              <p:cond delay="2450"/>
                            </p:stCondLst>
                            <p:childTnLst>
                              <p:par>
                                <p:cTn id="26" presetID="2" presetClass="entr" presetSubtype="4" fill="hold" nodeType="afterEffect">
                                  <p:stCondLst>
                                    <p:cond delay="0"/>
                                  </p:stCondLst>
                                  <p:childTnLst>
                                    <p:set>
                                      <p:cBhvr>
                                        <p:cTn id="27" dur="1" fill="hold">
                                          <p:stCondLst>
                                            <p:cond delay="0"/>
                                          </p:stCondLst>
                                        </p:cTn>
                                        <p:tgtEl>
                                          <p:spTgt spid="32"/>
                                        </p:tgtEl>
                                        <p:attrNameLst>
                                          <p:attrName>style.visibility</p:attrName>
                                        </p:attrNameLst>
                                      </p:cBhvr>
                                      <p:to>
                                        <p:strVal val="visible"/>
                                      </p:to>
                                    </p:set>
                                    <p:anim calcmode="lin" valueType="num">
                                      <p:cBhvr additive="base">
                                        <p:cTn id="28" dur="500" fill="hold"/>
                                        <p:tgtEl>
                                          <p:spTgt spid="32"/>
                                        </p:tgtEl>
                                        <p:attrNameLst>
                                          <p:attrName>ppt_x</p:attrName>
                                        </p:attrNameLst>
                                      </p:cBhvr>
                                      <p:tavLst>
                                        <p:tav tm="0">
                                          <p:val>
                                            <p:strVal val="#ppt_x"/>
                                          </p:val>
                                        </p:tav>
                                        <p:tav tm="100000">
                                          <p:val>
                                            <p:strVal val="#ppt_x"/>
                                          </p:val>
                                        </p:tav>
                                      </p:tavLst>
                                    </p:anim>
                                    <p:anim calcmode="lin" valueType="num">
                                      <p:cBhvr additive="base">
                                        <p:cTn id="29" dur="500" fill="hold"/>
                                        <p:tgtEl>
                                          <p:spTgt spid="32"/>
                                        </p:tgtEl>
                                        <p:attrNameLst>
                                          <p:attrName>ppt_y</p:attrName>
                                        </p:attrNameLst>
                                      </p:cBhvr>
                                      <p:tavLst>
                                        <p:tav tm="0">
                                          <p:val>
                                            <p:strVal val="1+#ppt_h/2"/>
                                          </p:val>
                                        </p:tav>
                                        <p:tav tm="100000">
                                          <p:val>
                                            <p:strVal val="#ppt_y"/>
                                          </p:val>
                                        </p:tav>
                                      </p:tavLst>
                                    </p:anim>
                                  </p:childTnLst>
                                </p:cTn>
                              </p:par>
                            </p:childTnLst>
                          </p:cTn>
                        </p:par>
                        <p:par>
                          <p:cTn id="30" fill="hold">
                            <p:stCondLst>
                              <p:cond delay="2950"/>
                            </p:stCondLst>
                            <p:childTnLst>
                              <p:par>
                                <p:cTn id="31" presetID="2" presetClass="entr" presetSubtype="4" fill="hold" nodeType="afterEffect">
                                  <p:stCondLst>
                                    <p:cond delay="0"/>
                                  </p:stCondLst>
                                  <p:childTnLst>
                                    <p:set>
                                      <p:cBhvr>
                                        <p:cTn id="32" dur="1" fill="hold">
                                          <p:stCondLst>
                                            <p:cond delay="0"/>
                                          </p:stCondLst>
                                        </p:cTn>
                                        <p:tgtEl>
                                          <p:spTgt spid="38"/>
                                        </p:tgtEl>
                                        <p:attrNameLst>
                                          <p:attrName>style.visibility</p:attrName>
                                        </p:attrNameLst>
                                      </p:cBhvr>
                                      <p:to>
                                        <p:strVal val="visible"/>
                                      </p:to>
                                    </p:set>
                                    <p:anim calcmode="lin" valueType="num">
                                      <p:cBhvr additive="base">
                                        <p:cTn id="33" dur="500" fill="hold"/>
                                        <p:tgtEl>
                                          <p:spTgt spid="38"/>
                                        </p:tgtEl>
                                        <p:attrNameLst>
                                          <p:attrName>ppt_x</p:attrName>
                                        </p:attrNameLst>
                                      </p:cBhvr>
                                      <p:tavLst>
                                        <p:tav tm="0">
                                          <p:val>
                                            <p:strVal val="#ppt_x"/>
                                          </p:val>
                                        </p:tav>
                                        <p:tav tm="100000">
                                          <p:val>
                                            <p:strVal val="#ppt_x"/>
                                          </p:val>
                                        </p:tav>
                                      </p:tavLst>
                                    </p:anim>
                                    <p:anim calcmode="lin" valueType="num">
                                      <p:cBhvr additive="base">
                                        <p:cTn id="34" dur="500" fill="hold"/>
                                        <p:tgtEl>
                                          <p:spTgt spid="38"/>
                                        </p:tgtEl>
                                        <p:attrNameLst>
                                          <p:attrName>ppt_y</p:attrName>
                                        </p:attrNameLst>
                                      </p:cBhvr>
                                      <p:tavLst>
                                        <p:tav tm="0">
                                          <p:val>
                                            <p:strVal val="1+#ppt_h/2"/>
                                          </p:val>
                                        </p:tav>
                                        <p:tav tm="100000">
                                          <p:val>
                                            <p:strVal val="#ppt_y"/>
                                          </p:val>
                                        </p:tav>
                                      </p:tavLst>
                                    </p:anim>
                                  </p:childTnLst>
                                </p:cTn>
                              </p:par>
                            </p:childTnLst>
                          </p:cTn>
                        </p:par>
                        <p:par>
                          <p:cTn id="35" fill="hold">
                            <p:stCondLst>
                              <p:cond delay="3450"/>
                            </p:stCondLst>
                            <p:childTnLst>
                              <p:par>
                                <p:cTn id="36" presetID="2" presetClass="entr" presetSubtype="4" fill="hold" nodeType="afterEffect">
                                  <p:stCondLst>
                                    <p:cond delay="0"/>
                                  </p:stCondLst>
                                  <p:childTnLst>
                                    <p:set>
                                      <p:cBhvr>
                                        <p:cTn id="37" dur="1" fill="hold">
                                          <p:stCondLst>
                                            <p:cond delay="0"/>
                                          </p:stCondLst>
                                        </p:cTn>
                                        <p:tgtEl>
                                          <p:spTgt spid="44"/>
                                        </p:tgtEl>
                                        <p:attrNameLst>
                                          <p:attrName>style.visibility</p:attrName>
                                        </p:attrNameLst>
                                      </p:cBhvr>
                                      <p:to>
                                        <p:strVal val="visible"/>
                                      </p:to>
                                    </p:set>
                                    <p:anim calcmode="lin" valueType="num">
                                      <p:cBhvr additive="base">
                                        <p:cTn id="38" dur="500" fill="hold"/>
                                        <p:tgtEl>
                                          <p:spTgt spid="44"/>
                                        </p:tgtEl>
                                        <p:attrNameLst>
                                          <p:attrName>ppt_x</p:attrName>
                                        </p:attrNameLst>
                                      </p:cBhvr>
                                      <p:tavLst>
                                        <p:tav tm="0">
                                          <p:val>
                                            <p:strVal val="#ppt_x"/>
                                          </p:val>
                                        </p:tav>
                                        <p:tav tm="100000">
                                          <p:val>
                                            <p:strVal val="#ppt_x"/>
                                          </p:val>
                                        </p:tav>
                                      </p:tavLst>
                                    </p:anim>
                                    <p:anim calcmode="lin" valueType="num">
                                      <p:cBhvr additive="base">
                                        <p:cTn id="39"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32325"/>
        </a:solidFill>
        <a:effectLst/>
      </p:bgPr>
    </p:bg>
    <p:spTree>
      <p:nvGrpSpPr>
        <p:cNvPr id="1" name=""/>
        <p:cNvGrpSpPr/>
        <p:nvPr/>
      </p:nvGrpSpPr>
      <p:grpSpPr>
        <a:xfrm>
          <a:off x="0" y="0"/>
          <a:ext cx="0" cy="0"/>
          <a:chOff x="0" y="0"/>
          <a:chExt cx="0" cy="0"/>
        </a:xfrm>
      </p:grpSpPr>
      <p:sp>
        <p:nvSpPr>
          <p:cNvPr id="14" name="Source"/>
          <p:cNvSpPr txBox="1"/>
          <p:nvPr/>
        </p:nvSpPr>
        <p:spPr>
          <a:xfrm>
            <a:off x="1005840" y="9710928"/>
            <a:ext cx="14447520" cy="347472"/>
          </a:xfrm>
          <a:prstGeom prst="rect">
            <a:avLst/>
          </a:prstGeom>
          <a:noFill/>
        </p:spPr>
        <p:txBody>
          <a:bodyPr wrap="square" lIns="45720" rIns="45720" anchor="t"/>
          <a:lstStyle/>
          <a:p>
            <a:pPr algn="l">
              <a:lnSpc>
                <a:spcPct val="100000"/>
              </a:lnSpc>
            </a:pPr>
            <a:r>
              <a:rPr sz="1300" b="0" i="0">
                <a:solidFill>
                  <a:srgbClr val="5C5C61"/>
                </a:solidFill>
                <a:latin typeface="Titillium Web"/>
              </a:rPr>
              <a:t>Thesis Chapter 2 (§2.2–2.9); full references on the final slide</a:t>
            </a:r>
          </a:p>
        </p:txBody>
      </p:sp>
      <p:sp>
        <p:nvSpPr>
          <p:cNvPr id="15" name="Page"/>
          <p:cNvSpPr txBox="1"/>
          <p:nvPr/>
        </p:nvSpPr>
        <p:spPr>
          <a:xfrm>
            <a:off x="15453359" y="9710928"/>
            <a:ext cx="1828800" cy="347472"/>
          </a:xfrm>
          <a:prstGeom prst="rect">
            <a:avLst/>
          </a:prstGeom>
          <a:noFill/>
        </p:spPr>
        <p:txBody>
          <a:bodyPr wrap="square" lIns="45720" rIns="45720" anchor="t"/>
          <a:lstStyle/>
          <a:p>
            <a:pPr algn="r">
              <a:lnSpc>
                <a:spcPct val="100000"/>
              </a:lnSpc>
            </a:pPr>
            <a:r>
              <a:rPr sz="1300" b="0" i="0">
                <a:solidFill>
                  <a:srgbClr val="5C5C61"/>
                </a:solidFill>
                <a:latin typeface="Oswald"/>
              </a:rPr>
              <a:t>06</a:t>
            </a:r>
          </a:p>
        </p:txBody>
      </p:sp>
      <p:grpSp>
        <p:nvGrpSpPr>
          <p:cNvPr id="21" name="Stage 57"/>
          <p:cNvGrpSpPr/>
          <p:nvPr/>
        </p:nvGrpSpPr>
        <p:grpSpPr>
          <a:xfrm>
            <a:off x="1005840" y="3977639"/>
            <a:ext cx="3863340" cy="1051560"/>
            <a:chOff x="1005840" y="3977639"/>
            <a:chExt cx="3863340" cy="1051560"/>
          </a:xfrm>
        </p:grpSpPr>
        <p:sp>
          <p:nvSpPr>
            <p:cNvPr id="17" name="Stage light"/>
            <p:cNvSpPr/>
            <p:nvPr/>
          </p:nvSpPr>
          <p:spPr>
            <a:xfrm>
              <a:off x="1005840" y="3977639"/>
              <a:ext cx="3863340" cy="1051560"/>
            </a:xfrm>
            <a:prstGeom prst="roundRect">
              <a:avLst>
                <a:gd name="adj" fmla="val 49565"/>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Stage"/>
            <p:cNvSpPr/>
            <p:nvPr/>
          </p:nvSpPr>
          <p:spPr>
            <a:xfrm>
              <a:off x="1005840" y="3977639"/>
              <a:ext cx="3863340" cy="1051560"/>
            </a:xfrm>
            <a:prstGeom prst="roundRect">
              <a:avLst>
                <a:gd name="adj" fmla="val 49565"/>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Stage title"/>
            <p:cNvSpPr txBox="1"/>
            <p:nvPr/>
          </p:nvSpPr>
          <p:spPr>
            <a:xfrm>
              <a:off x="1188720" y="4023360"/>
              <a:ext cx="3497580" cy="548640"/>
            </a:xfrm>
            <a:prstGeom prst="rect">
              <a:avLst/>
            </a:prstGeom>
            <a:noFill/>
          </p:spPr>
          <p:txBody>
            <a:bodyPr wrap="square" lIns="45720" rIns="45720" anchor="t"/>
            <a:lstStyle/>
            <a:p>
              <a:pPr algn="ctr">
                <a:lnSpc>
                  <a:spcPct val="100000"/>
                </a:lnSpc>
              </a:pPr>
              <a:r>
                <a:rPr sz="2200" b="0" i="0">
                  <a:solidFill>
                    <a:srgbClr val="EDEDED"/>
                  </a:solidFill>
                  <a:latin typeface="Oswald"/>
                </a:rPr>
                <a:t>RULES &amp; FEATURES</a:t>
              </a:r>
            </a:p>
          </p:txBody>
        </p:sp>
        <p:sp>
          <p:nvSpPr>
            <p:cNvPr id="20" name="Stage ref"/>
            <p:cNvSpPr txBox="1"/>
            <p:nvPr/>
          </p:nvSpPr>
          <p:spPr>
            <a:xfrm>
              <a:off x="1188720" y="4535424"/>
              <a:ext cx="3497580" cy="411480"/>
            </a:xfrm>
            <a:prstGeom prst="rect">
              <a:avLst/>
            </a:prstGeom>
            <a:noFill/>
          </p:spPr>
          <p:txBody>
            <a:bodyPr wrap="square" lIns="45720" rIns="45720" anchor="t"/>
            <a:lstStyle/>
            <a:p>
              <a:pPr algn="ctr">
                <a:lnSpc>
                  <a:spcPct val="100000"/>
                </a:lnSpc>
              </a:pPr>
              <a:r>
                <a:rPr sz="1400" b="0" i="0">
                  <a:solidFill>
                    <a:srgbClr val="8E8E93"/>
                  </a:solidFill>
                  <a:latin typeface="Titillium Web"/>
                </a:rPr>
                <a:t>Mohammad et al., 2014</a:t>
              </a:r>
            </a:p>
          </p:txBody>
        </p:sp>
      </p:grpSp>
      <p:grpSp>
        <p:nvGrpSpPr>
          <p:cNvPr id="26" name="Stage 58"/>
          <p:cNvGrpSpPr/>
          <p:nvPr/>
        </p:nvGrpSpPr>
        <p:grpSpPr>
          <a:xfrm>
            <a:off x="5143500" y="3977639"/>
            <a:ext cx="3863340" cy="1051560"/>
            <a:chOff x="5143500" y="3977639"/>
            <a:chExt cx="3863340" cy="1051560"/>
          </a:xfrm>
        </p:grpSpPr>
        <p:sp>
          <p:nvSpPr>
            <p:cNvPr id="22" name="Stage light"/>
            <p:cNvSpPr/>
            <p:nvPr/>
          </p:nvSpPr>
          <p:spPr>
            <a:xfrm>
              <a:off x="5143500" y="3977639"/>
              <a:ext cx="3863340" cy="1051560"/>
            </a:xfrm>
            <a:prstGeom prst="roundRect">
              <a:avLst>
                <a:gd name="adj" fmla="val 49565"/>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3" name="Stage"/>
            <p:cNvSpPr/>
            <p:nvPr/>
          </p:nvSpPr>
          <p:spPr>
            <a:xfrm>
              <a:off x="5143500" y="3977639"/>
              <a:ext cx="3863340" cy="1051560"/>
            </a:xfrm>
            <a:prstGeom prst="roundRect">
              <a:avLst>
                <a:gd name="adj" fmla="val 49565"/>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Stage title"/>
            <p:cNvSpPr txBox="1"/>
            <p:nvPr/>
          </p:nvSpPr>
          <p:spPr>
            <a:xfrm>
              <a:off x="5326380" y="4023360"/>
              <a:ext cx="3497580" cy="548640"/>
            </a:xfrm>
            <a:prstGeom prst="rect">
              <a:avLst/>
            </a:prstGeom>
            <a:noFill/>
          </p:spPr>
          <p:txBody>
            <a:bodyPr wrap="square" lIns="45720" rIns="45720" anchor="t"/>
            <a:lstStyle/>
            <a:p>
              <a:pPr algn="ctr">
                <a:lnSpc>
                  <a:spcPct val="100000"/>
                </a:lnSpc>
              </a:pPr>
              <a:r>
                <a:rPr sz="2200" b="0" i="0">
                  <a:solidFill>
                    <a:srgbClr val="EDEDED"/>
                  </a:solidFill>
                  <a:latin typeface="Oswald"/>
                </a:rPr>
                <a:t>CLASSICAL ML</a:t>
              </a:r>
            </a:p>
          </p:txBody>
        </p:sp>
        <p:sp>
          <p:nvSpPr>
            <p:cNvPr id="25" name="Stage ref"/>
            <p:cNvSpPr txBox="1"/>
            <p:nvPr/>
          </p:nvSpPr>
          <p:spPr>
            <a:xfrm>
              <a:off x="5326380" y="4535424"/>
              <a:ext cx="3497580" cy="411480"/>
            </a:xfrm>
            <a:prstGeom prst="rect">
              <a:avLst/>
            </a:prstGeom>
            <a:noFill/>
          </p:spPr>
          <p:txBody>
            <a:bodyPr wrap="square" lIns="45720" rIns="45720" anchor="t"/>
            <a:lstStyle/>
            <a:p>
              <a:pPr algn="ctr">
                <a:lnSpc>
                  <a:spcPct val="100000"/>
                </a:lnSpc>
              </a:pPr>
              <a:r>
                <a:rPr sz="1400" b="0" i="0">
                  <a:solidFill>
                    <a:srgbClr val="8E8E93"/>
                  </a:solidFill>
                  <a:latin typeface="Titillium Web"/>
                </a:rPr>
                <a:t>Sahingoz et al., 2019</a:t>
              </a:r>
            </a:p>
          </p:txBody>
        </p:sp>
      </p:grpSp>
      <p:grpSp>
        <p:nvGrpSpPr>
          <p:cNvPr id="31" name="Stage 59"/>
          <p:cNvGrpSpPr/>
          <p:nvPr/>
        </p:nvGrpSpPr>
        <p:grpSpPr>
          <a:xfrm>
            <a:off x="9281160" y="3977639"/>
            <a:ext cx="3863340" cy="1051560"/>
            <a:chOff x="9281160" y="3977639"/>
            <a:chExt cx="3863340" cy="1051560"/>
          </a:xfrm>
        </p:grpSpPr>
        <p:sp>
          <p:nvSpPr>
            <p:cNvPr id="27" name="Stage light"/>
            <p:cNvSpPr/>
            <p:nvPr/>
          </p:nvSpPr>
          <p:spPr>
            <a:xfrm>
              <a:off x="9281160" y="3977639"/>
              <a:ext cx="3863340" cy="1051560"/>
            </a:xfrm>
            <a:prstGeom prst="roundRect">
              <a:avLst>
                <a:gd name="adj" fmla="val 49565"/>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Stage"/>
            <p:cNvSpPr/>
            <p:nvPr/>
          </p:nvSpPr>
          <p:spPr>
            <a:xfrm>
              <a:off x="9281160" y="3977639"/>
              <a:ext cx="3863340" cy="1051560"/>
            </a:xfrm>
            <a:prstGeom prst="roundRect">
              <a:avLst>
                <a:gd name="adj" fmla="val 49565"/>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9" name="Stage title"/>
            <p:cNvSpPr txBox="1"/>
            <p:nvPr/>
          </p:nvSpPr>
          <p:spPr>
            <a:xfrm>
              <a:off x="9464040" y="4023360"/>
              <a:ext cx="3497580" cy="548640"/>
            </a:xfrm>
            <a:prstGeom prst="rect">
              <a:avLst/>
            </a:prstGeom>
            <a:noFill/>
          </p:spPr>
          <p:txBody>
            <a:bodyPr wrap="square" lIns="45720" rIns="45720" anchor="t"/>
            <a:lstStyle/>
            <a:p>
              <a:pPr algn="ctr">
                <a:lnSpc>
                  <a:spcPct val="100000"/>
                </a:lnSpc>
              </a:pPr>
              <a:r>
                <a:rPr sz="2200" b="0" i="0">
                  <a:solidFill>
                    <a:srgbClr val="EDEDED"/>
                  </a:solidFill>
                  <a:latin typeface="Oswald"/>
                </a:rPr>
                <a:t>DEEP LEARNING</a:t>
              </a:r>
            </a:p>
          </p:txBody>
        </p:sp>
        <p:sp>
          <p:nvSpPr>
            <p:cNvPr id="30" name="Stage ref"/>
            <p:cNvSpPr txBox="1"/>
            <p:nvPr/>
          </p:nvSpPr>
          <p:spPr>
            <a:xfrm>
              <a:off x="9464040" y="4535424"/>
              <a:ext cx="3497580" cy="411480"/>
            </a:xfrm>
            <a:prstGeom prst="rect">
              <a:avLst/>
            </a:prstGeom>
            <a:noFill/>
          </p:spPr>
          <p:txBody>
            <a:bodyPr wrap="square" lIns="45720" rIns="45720" anchor="t"/>
            <a:lstStyle/>
            <a:p>
              <a:pPr algn="ctr">
                <a:lnSpc>
                  <a:spcPct val="100000"/>
                </a:lnSpc>
              </a:pPr>
              <a:r>
                <a:rPr sz="1400" b="0" i="0">
                  <a:solidFill>
                    <a:srgbClr val="8E8E93"/>
                  </a:solidFill>
                  <a:latin typeface="Titillium Web"/>
                </a:rPr>
                <a:t>Le et al., 2018; Devlin et al., 2019</a:t>
              </a:r>
            </a:p>
          </p:txBody>
        </p:sp>
      </p:grpSp>
      <p:grpSp>
        <p:nvGrpSpPr>
          <p:cNvPr id="36" name="Stage 60"/>
          <p:cNvGrpSpPr/>
          <p:nvPr/>
        </p:nvGrpSpPr>
        <p:grpSpPr>
          <a:xfrm>
            <a:off x="13418820" y="3977639"/>
            <a:ext cx="3863340" cy="1051560"/>
            <a:chOff x="13418820" y="3977639"/>
            <a:chExt cx="3863340" cy="1051560"/>
          </a:xfrm>
        </p:grpSpPr>
        <p:sp>
          <p:nvSpPr>
            <p:cNvPr id="32" name="Stage light"/>
            <p:cNvSpPr/>
            <p:nvPr/>
          </p:nvSpPr>
          <p:spPr>
            <a:xfrm>
              <a:off x="13418820" y="3977639"/>
              <a:ext cx="3863340" cy="1051560"/>
            </a:xfrm>
            <a:prstGeom prst="roundRect">
              <a:avLst>
                <a:gd name="adj" fmla="val 49565"/>
              </a:avLst>
            </a:prstGeom>
            <a:solidFill>
              <a:srgbClr val="33402A"/>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Stage"/>
            <p:cNvSpPr/>
            <p:nvPr/>
          </p:nvSpPr>
          <p:spPr>
            <a:xfrm>
              <a:off x="13418820" y="3977639"/>
              <a:ext cx="3863340" cy="1051560"/>
            </a:xfrm>
            <a:prstGeom prst="roundRect">
              <a:avLst>
                <a:gd name="adj" fmla="val 49565"/>
              </a:avLst>
            </a:prstGeom>
            <a:solidFill>
              <a:srgbClr val="33402A"/>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4" name="Stage title"/>
            <p:cNvSpPr txBox="1"/>
            <p:nvPr/>
          </p:nvSpPr>
          <p:spPr>
            <a:xfrm>
              <a:off x="13601700" y="4023360"/>
              <a:ext cx="3497580" cy="548640"/>
            </a:xfrm>
            <a:prstGeom prst="rect">
              <a:avLst/>
            </a:prstGeom>
            <a:noFill/>
          </p:spPr>
          <p:txBody>
            <a:bodyPr wrap="square" lIns="45720" rIns="45720" anchor="t"/>
            <a:lstStyle/>
            <a:p>
              <a:pPr algn="ctr">
                <a:lnSpc>
                  <a:spcPct val="100000"/>
                </a:lnSpc>
              </a:pPr>
              <a:r>
                <a:rPr sz="2200" b="0" i="0">
                  <a:solidFill>
                    <a:srgbClr val="C1FF72"/>
                  </a:solidFill>
                  <a:latin typeface="Oswald"/>
                </a:rPr>
                <a:t>HYBRID + AGENTS</a:t>
              </a:r>
            </a:p>
          </p:txBody>
        </p:sp>
        <p:sp>
          <p:nvSpPr>
            <p:cNvPr id="35" name="Stage ref"/>
            <p:cNvSpPr txBox="1"/>
            <p:nvPr/>
          </p:nvSpPr>
          <p:spPr>
            <a:xfrm>
              <a:off x="13601700" y="4535424"/>
              <a:ext cx="3497580" cy="411480"/>
            </a:xfrm>
            <a:prstGeom prst="rect">
              <a:avLst/>
            </a:prstGeom>
            <a:noFill/>
          </p:spPr>
          <p:txBody>
            <a:bodyPr wrap="square" lIns="45720" rIns="45720" anchor="t"/>
            <a:lstStyle/>
            <a:p>
              <a:pPr algn="ctr">
                <a:lnSpc>
                  <a:spcPct val="100000"/>
                </a:lnSpc>
              </a:pPr>
              <a:r>
                <a:rPr sz="1400" b="0" i="0">
                  <a:solidFill>
                    <a:srgbClr val="8E8E93"/>
                  </a:solidFill>
                  <a:latin typeface="Titillium Web"/>
                </a:rPr>
                <a:t>Khonji et al., 2013; Yao et al., 2023</a:t>
              </a:r>
            </a:p>
          </p:txBody>
        </p:sp>
      </p:grpSp>
      <p:grpSp>
        <p:nvGrpSpPr>
          <p:cNvPr id="98" name="Timeline strip 61"/>
          <p:cNvGrpSpPr/>
          <p:nvPr/>
        </p:nvGrpSpPr>
        <p:grpSpPr>
          <a:xfrm>
            <a:off x="1005840" y="5669280"/>
            <a:ext cx="35844480" cy="3794760"/>
            <a:chOff x="1005840" y="5669280"/>
            <a:chExt cx="35844480" cy="3794760"/>
          </a:xfrm>
        </p:grpSpPr>
        <p:cxnSp>
          <p:nvCxnSpPr>
            <p:cNvPr id="37" name="Timeline"/>
            <p:cNvCxnSpPr/>
            <p:nvPr/>
          </p:nvCxnSpPr>
          <p:spPr>
            <a:xfrm>
              <a:off x="1005840" y="6007608"/>
              <a:ext cx="35844480" cy="0"/>
            </a:xfrm>
            <a:prstGeom prst="line">
              <a:avLst/>
            </a:prstGeom>
            <a:ln w="25400">
              <a:solidFill>
                <a:srgbClr val="9BD14F"/>
              </a:solidFill>
            </a:ln>
          </p:spPr>
          <p:style>
            <a:lnRef idx="2">
              <a:schemeClr val="accent1"/>
            </a:lnRef>
            <a:fillRef idx="0">
              <a:schemeClr val="accent1"/>
            </a:fillRef>
            <a:effectRef idx="1">
              <a:schemeClr val="accent1"/>
            </a:effectRef>
            <a:fontRef idx="minor">
              <a:schemeClr val="tx1"/>
            </a:fontRef>
          </p:style>
        </p:cxnSp>
        <p:sp>
          <p:nvSpPr>
            <p:cNvPr id="38" name="Year dot"/>
            <p:cNvSpPr/>
            <p:nvPr/>
          </p:nvSpPr>
          <p:spPr>
            <a:xfrm>
              <a:off x="1005840" y="5897880"/>
              <a:ext cx="228600" cy="228600"/>
            </a:xfrm>
            <a:prstGeom prst="ellipse">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9" name="Year"/>
            <p:cNvSpPr txBox="1"/>
            <p:nvPr/>
          </p:nvSpPr>
          <p:spPr>
            <a:xfrm>
              <a:off x="1353312" y="5669280"/>
              <a:ext cx="1463040" cy="548640"/>
            </a:xfrm>
            <a:prstGeom prst="rect">
              <a:avLst/>
            </a:prstGeom>
            <a:noFill/>
          </p:spPr>
          <p:txBody>
            <a:bodyPr wrap="square" lIns="45720" rIns="45720" anchor="t"/>
            <a:lstStyle/>
            <a:p>
              <a:pPr algn="l">
                <a:lnSpc>
                  <a:spcPct val="100000"/>
                </a:lnSpc>
              </a:pPr>
              <a:r>
                <a:rPr sz="2600" b="0" i="0">
                  <a:solidFill>
                    <a:srgbClr val="C1FF72"/>
                  </a:solidFill>
                  <a:latin typeface="Oswald"/>
                </a:rPr>
                <a:t>2007</a:t>
              </a:r>
            </a:p>
          </p:txBody>
        </p:sp>
        <p:sp>
          <p:nvSpPr>
            <p:cNvPr id="40" name="Work light"/>
            <p:cNvSpPr/>
            <p:nvPr/>
          </p:nvSpPr>
          <p:spPr>
            <a:xfrm>
              <a:off x="1005840" y="6446520"/>
              <a:ext cx="3291840" cy="3017520"/>
            </a:xfrm>
            <a:prstGeom prst="roundRect">
              <a:avLst>
                <a:gd name="adj" fmla="val 909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1" name="Work"/>
            <p:cNvSpPr/>
            <p:nvPr/>
          </p:nvSpPr>
          <p:spPr>
            <a:xfrm>
              <a:off x="1005840" y="6446520"/>
              <a:ext cx="3291840" cy="3017520"/>
            </a:xfrm>
            <a:prstGeom prst="roundRect">
              <a:avLst>
                <a:gd name="adj" fmla="val 909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2" name="Work author"/>
            <p:cNvSpPr txBox="1"/>
            <p:nvPr/>
          </p:nvSpPr>
          <p:spPr>
            <a:xfrm>
              <a:off x="1280160" y="6647688"/>
              <a:ext cx="2743200" cy="548640"/>
            </a:xfrm>
            <a:prstGeom prst="rect">
              <a:avLst/>
            </a:prstGeom>
            <a:noFill/>
          </p:spPr>
          <p:txBody>
            <a:bodyPr wrap="square" lIns="45720" rIns="45720" anchor="t"/>
            <a:lstStyle/>
            <a:p>
              <a:pPr algn="l">
                <a:lnSpc>
                  <a:spcPct val="100000"/>
                </a:lnSpc>
              </a:pPr>
              <a:r>
                <a:rPr sz="2200" b="0" i="0">
                  <a:solidFill>
                    <a:srgbClr val="EDEDED"/>
                  </a:solidFill>
                  <a:latin typeface="Oswald"/>
                </a:rPr>
                <a:t>PROVOS ET AL.</a:t>
              </a:r>
            </a:p>
          </p:txBody>
        </p:sp>
        <p:sp>
          <p:nvSpPr>
            <p:cNvPr id="43" name="Work finding"/>
            <p:cNvSpPr txBox="1"/>
            <p:nvPr/>
          </p:nvSpPr>
          <p:spPr>
            <a:xfrm>
              <a:off x="1280160" y="7196328"/>
              <a:ext cx="2743200" cy="2148840"/>
            </a:xfrm>
            <a:prstGeom prst="rect">
              <a:avLst/>
            </a:prstGeom>
            <a:noFill/>
          </p:spPr>
          <p:txBody>
            <a:bodyPr wrap="square" lIns="45720" rIns="45720" anchor="t"/>
            <a:lstStyle/>
            <a:p>
              <a:pPr algn="l">
                <a:lnSpc>
                  <a:spcPct val="98000"/>
                </a:lnSpc>
              </a:pPr>
              <a:r>
                <a:rPr sz="1750" b="0" i="0">
                  <a:solidFill>
                    <a:srgbClr val="BDBDC1"/>
                  </a:solidFill>
                  <a:latin typeface="Titillium Web"/>
                </a:rPr>
                <a:t>Drive-by downloads on 1.3% of sampled pages; predicted short-lived domains and polymorphic scripts.</a:t>
              </a:r>
            </a:p>
          </p:txBody>
        </p:sp>
        <p:sp>
          <p:nvSpPr>
            <p:cNvPr id="44" name="Year dot"/>
            <p:cNvSpPr/>
            <p:nvPr/>
          </p:nvSpPr>
          <p:spPr>
            <a:xfrm>
              <a:off x="4590288" y="5897880"/>
              <a:ext cx="228600" cy="228600"/>
            </a:xfrm>
            <a:prstGeom prst="ellipse">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5" name="Year"/>
            <p:cNvSpPr txBox="1"/>
            <p:nvPr/>
          </p:nvSpPr>
          <p:spPr>
            <a:xfrm>
              <a:off x="4937759" y="5669280"/>
              <a:ext cx="1463040" cy="548640"/>
            </a:xfrm>
            <a:prstGeom prst="rect">
              <a:avLst/>
            </a:prstGeom>
            <a:noFill/>
          </p:spPr>
          <p:txBody>
            <a:bodyPr wrap="square" lIns="45720" rIns="45720" anchor="t"/>
            <a:lstStyle/>
            <a:p>
              <a:pPr algn="l">
                <a:lnSpc>
                  <a:spcPct val="100000"/>
                </a:lnSpc>
              </a:pPr>
              <a:r>
                <a:rPr sz="2600" b="0" i="0">
                  <a:solidFill>
                    <a:srgbClr val="C1FF72"/>
                  </a:solidFill>
                  <a:latin typeface="Oswald"/>
                </a:rPr>
                <a:t>2010</a:t>
              </a:r>
            </a:p>
          </p:txBody>
        </p:sp>
        <p:sp>
          <p:nvSpPr>
            <p:cNvPr id="46" name="Work light"/>
            <p:cNvSpPr/>
            <p:nvPr/>
          </p:nvSpPr>
          <p:spPr>
            <a:xfrm>
              <a:off x="4590288" y="6446520"/>
              <a:ext cx="3291840" cy="3017520"/>
            </a:xfrm>
            <a:prstGeom prst="roundRect">
              <a:avLst>
                <a:gd name="adj" fmla="val 909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7" name="Work"/>
            <p:cNvSpPr/>
            <p:nvPr/>
          </p:nvSpPr>
          <p:spPr>
            <a:xfrm>
              <a:off x="4590288" y="6446520"/>
              <a:ext cx="3291840" cy="3017520"/>
            </a:xfrm>
            <a:prstGeom prst="roundRect">
              <a:avLst>
                <a:gd name="adj" fmla="val 909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8" name="Work author"/>
            <p:cNvSpPr txBox="1"/>
            <p:nvPr/>
          </p:nvSpPr>
          <p:spPr>
            <a:xfrm>
              <a:off x="4864607" y="6647688"/>
              <a:ext cx="2743200" cy="548640"/>
            </a:xfrm>
            <a:prstGeom prst="rect">
              <a:avLst/>
            </a:prstGeom>
            <a:noFill/>
          </p:spPr>
          <p:txBody>
            <a:bodyPr wrap="square" lIns="45720" rIns="45720" anchor="t"/>
            <a:lstStyle/>
            <a:p>
              <a:pPr algn="l">
                <a:lnSpc>
                  <a:spcPct val="100000"/>
                </a:lnSpc>
              </a:pPr>
              <a:r>
                <a:rPr sz="2200" b="0" i="0">
                  <a:solidFill>
                    <a:srgbClr val="EDEDED"/>
                  </a:solidFill>
                  <a:latin typeface="Oswald"/>
                </a:rPr>
                <a:t>SOMMER &amp; PAXSON</a:t>
              </a:r>
            </a:p>
          </p:txBody>
        </p:sp>
        <p:sp>
          <p:nvSpPr>
            <p:cNvPr id="49" name="Work finding"/>
            <p:cNvSpPr txBox="1"/>
            <p:nvPr/>
          </p:nvSpPr>
          <p:spPr>
            <a:xfrm>
              <a:off x="4864607" y="7196328"/>
              <a:ext cx="2743200" cy="2148840"/>
            </a:xfrm>
            <a:prstGeom prst="rect">
              <a:avLst/>
            </a:prstGeom>
            <a:noFill/>
          </p:spPr>
          <p:txBody>
            <a:bodyPr wrap="square" lIns="45720" rIns="45720" anchor="t"/>
            <a:lstStyle/>
            <a:p>
              <a:pPr algn="l">
                <a:lnSpc>
                  <a:spcPct val="98000"/>
                </a:lnSpc>
              </a:pPr>
              <a:r>
                <a:rPr sz="1750" b="0" i="0">
                  <a:solidFill>
                    <a:srgbClr val="BDBDC1"/>
                  </a:solidFill>
                  <a:latin typeface="Titillium Web"/>
                </a:rPr>
                <a:t>ML for intrusion detection must handle costly errors and be interpretable.</a:t>
              </a:r>
            </a:p>
          </p:txBody>
        </p:sp>
        <p:sp>
          <p:nvSpPr>
            <p:cNvPr id="50" name="Year dot"/>
            <p:cNvSpPr/>
            <p:nvPr/>
          </p:nvSpPr>
          <p:spPr>
            <a:xfrm>
              <a:off x="8174736" y="5897880"/>
              <a:ext cx="228600" cy="228600"/>
            </a:xfrm>
            <a:prstGeom prst="ellipse">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1" name="Year"/>
            <p:cNvSpPr txBox="1"/>
            <p:nvPr/>
          </p:nvSpPr>
          <p:spPr>
            <a:xfrm>
              <a:off x="8522208" y="5669280"/>
              <a:ext cx="1463040" cy="548640"/>
            </a:xfrm>
            <a:prstGeom prst="rect">
              <a:avLst/>
            </a:prstGeom>
            <a:noFill/>
          </p:spPr>
          <p:txBody>
            <a:bodyPr wrap="square" lIns="45720" rIns="45720" anchor="t"/>
            <a:lstStyle/>
            <a:p>
              <a:pPr algn="l">
                <a:lnSpc>
                  <a:spcPct val="100000"/>
                </a:lnSpc>
              </a:pPr>
              <a:r>
                <a:rPr sz="2600" b="0" i="0">
                  <a:solidFill>
                    <a:srgbClr val="C1FF72"/>
                  </a:solidFill>
                  <a:latin typeface="Oswald"/>
                </a:rPr>
                <a:t>2012</a:t>
              </a:r>
            </a:p>
          </p:txBody>
        </p:sp>
        <p:sp>
          <p:nvSpPr>
            <p:cNvPr id="52" name="Work light"/>
            <p:cNvSpPr/>
            <p:nvPr/>
          </p:nvSpPr>
          <p:spPr>
            <a:xfrm>
              <a:off x="8174736" y="6446520"/>
              <a:ext cx="3291840" cy="3017520"/>
            </a:xfrm>
            <a:prstGeom prst="roundRect">
              <a:avLst>
                <a:gd name="adj" fmla="val 909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3" name="Work"/>
            <p:cNvSpPr/>
            <p:nvPr/>
          </p:nvSpPr>
          <p:spPr>
            <a:xfrm>
              <a:off x="8174736" y="6446520"/>
              <a:ext cx="3291840" cy="3017520"/>
            </a:xfrm>
            <a:prstGeom prst="roundRect">
              <a:avLst>
                <a:gd name="adj" fmla="val 909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4" name="Work author"/>
            <p:cNvSpPr txBox="1"/>
            <p:nvPr/>
          </p:nvSpPr>
          <p:spPr>
            <a:xfrm>
              <a:off x="8449056" y="6647688"/>
              <a:ext cx="2743200" cy="548640"/>
            </a:xfrm>
            <a:prstGeom prst="rect">
              <a:avLst/>
            </a:prstGeom>
            <a:noFill/>
          </p:spPr>
          <p:txBody>
            <a:bodyPr wrap="square" lIns="45720" rIns="45720" anchor="t"/>
            <a:lstStyle/>
            <a:p>
              <a:pPr algn="l">
                <a:lnSpc>
                  <a:spcPct val="100000"/>
                </a:lnSpc>
              </a:pPr>
              <a:r>
                <a:rPr sz="2200" b="0" i="0">
                  <a:solidFill>
                    <a:srgbClr val="EDEDED"/>
                  </a:solidFill>
                  <a:latin typeface="Oswald"/>
                </a:rPr>
                <a:t>ANTONAKAKIS ET AL.</a:t>
              </a:r>
            </a:p>
          </p:txBody>
        </p:sp>
        <p:sp>
          <p:nvSpPr>
            <p:cNvPr id="55" name="Work finding"/>
            <p:cNvSpPr txBox="1"/>
            <p:nvPr/>
          </p:nvSpPr>
          <p:spPr>
            <a:xfrm>
              <a:off x="8449056" y="7196328"/>
              <a:ext cx="2743200" cy="2148840"/>
            </a:xfrm>
            <a:prstGeom prst="rect">
              <a:avLst/>
            </a:prstGeom>
            <a:noFill/>
          </p:spPr>
          <p:txBody>
            <a:bodyPr wrap="square" lIns="45720" rIns="45720" anchor="t"/>
            <a:lstStyle/>
            <a:p>
              <a:pPr algn="l">
                <a:lnSpc>
                  <a:spcPct val="98000"/>
                </a:lnSpc>
              </a:pPr>
              <a:r>
                <a:rPr sz="1750" b="0" i="0">
                  <a:solidFill>
                    <a:srgbClr val="BDBDC1"/>
                  </a:solidFill>
                  <a:latin typeface="Titillium Web"/>
                </a:rPr>
                <a:t>DGA domains look random: high entropy, few vowels, digit mixing.</a:t>
              </a:r>
            </a:p>
          </p:txBody>
        </p:sp>
        <p:sp>
          <p:nvSpPr>
            <p:cNvPr id="56" name="Year dot"/>
            <p:cNvSpPr/>
            <p:nvPr/>
          </p:nvSpPr>
          <p:spPr>
            <a:xfrm>
              <a:off x="11759184" y="5897880"/>
              <a:ext cx="228600" cy="228600"/>
            </a:xfrm>
            <a:prstGeom prst="ellipse">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7" name="Year"/>
            <p:cNvSpPr txBox="1"/>
            <p:nvPr/>
          </p:nvSpPr>
          <p:spPr>
            <a:xfrm>
              <a:off x="12106656" y="5669280"/>
              <a:ext cx="1463040" cy="548640"/>
            </a:xfrm>
            <a:prstGeom prst="rect">
              <a:avLst/>
            </a:prstGeom>
            <a:noFill/>
          </p:spPr>
          <p:txBody>
            <a:bodyPr wrap="square" lIns="45720" rIns="45720" anchor="t"/>
            <a:lstStyle/>
            <a:p>
              <a:pPr algn="l">
                <a:lnSpc>
                  <a:spcPct val="100000"/>
                </a:lnSpc>
              </a:pPr>
              <a:r>
                <a:rPr sz="2600" b="0" i="0">
                  <a:solidFill>
                    <a:srgbClr val="C1FF72"/>
                  </a:solidFill>
                  <a:latin typeface="Oswald"/>
                </a:rPr>
                <a:t>2013</a:t>
              </a:r>
            </a:p>
          </p:txBody>
        </p:sp>
        <p:sp>
          <p:nvSpPr>
            <p:cNvPr id="58" name="Work light"/>
            <p:cNvSpPr/>
            <p:nvPr/>
          </p:nvSpPr>
          <p:spPr>
            <a:xfrm>
              <a:off x="11759184" y="6446520"/>
              <a:ext cx="3291840" cy="3017520"/>
            </a:xfrm>
            <a:prstGeom prst="roundRect">
              <a:avLst>
                <a:gd name="adj" fmla="val 909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9" name="Work"/>
            <p:cNvSpPr/>
            <p:nvPr/>
          </p:nvSpPr>
          <p:spPr>
            <a:xfrm>
              <a:off x="11759184" y="6446520"/>
              <a:ext cx="3291840" cy="3017520"/>
            </a:xfrm>
            <a:prstGeom prst="roundRect">
              <a:avLst>
                <a:gd name="adj" fmla="val 909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0" name="Work author"/>
            <p:cNvSpPr txBox="1"/>
            <p:nvPr/>
          </p:nvSpPr>
          <p:spPr>
            <a:xfrm>
              <a:off x="12033504" y="6647688"/>
              <a:ext cx="2743200" cy="548640"/>
            </a:xfrm>
            <a:prstGeom prst="rect">
              <a:avLst/>
            </a:prstGeom>
            <a:noFill/>
          </p:spPr>
          <p:txBody>
            <a:bodyPr wrap="square" lIns="45720" rIns="45720" anchor="t"/>
            <a:lstStyle/>
            <a:p>
              <a:pPr algn="l">
                <a:lnSpc>
                  <a:spcPct val="100000"/>
                </a:lnSpc>
              </a:pPr>
              <a:r>
                <a:rPr sz="2200" b="0" i="0">
                  <a:solidFill>
                    <a:srgbClr val="EDEDED"/>
                  </a:solidFill>
                  <a:latin typeface="Oswald"/>
                </a:rPr>
                <a:t>KHONJI ET AL.</a:t>
              </a:r>
            </a:p>
          </p:txBody>
        </p:sp>
        <p:sp>
          <p:nvSpPr>
            <p:cNvPr id="61" name="Work finding"/>
            <p:cNvSpPr txBox="1"/>
            <p:nvPr/>
          </p:nvSpPr>
          <p:spPr>
            <a:xfrm>
              <a:off x="12033504" y="7196328"/>
              <a:ext cx="2743200" cy="2148840"/>
            </a:xfrm>
            <a:prstGeom prst="rect">
              <a:avLst/>
            </a:prstGeom>
            <a:noFill/>
          </p:spPr>
          <p:txBody>
            <a:bodyPr wrap="square" lIns="45720" rIns="45720" anchor="t"/>
            <a:lstStyle/>
            <a:p>
              <a:pPr algn="l">
                <a:lnSpc>
                  <a:spcPct val="98000"/>
                </a:lnSpc>
              </a:pPr>
              <a:r>
                <a:rPr sz="1750" b="0" i="0">
                  <a:solidFill>
                    <a:srgbClr val="BDBDC1"/>
                  </a:solidFill>
                  <a:latin typeface="Titillium Web"/>
                </a:rPr>
                <a:t>Survey of 70+ phishing works: combine lexical, content and reputation features.</a:t>
              </a:r>
            </a:p>
          </p:txBody>
        </p:sp>
        <p:sp>
          <p:nvSpPr>
            <p:cNvPr id="62" name="Year dot"/>
            <p:cNvSpPr/>
            <p:nvPr/>
          </p:nvSpPr>
          <p:spPr>
            <a:xfrm>
              <a:off x="15343632" y="5897880"/>
              <a:ext cx="228600" cy="228600"/>
            </a:xfrm>
            <a:prstGeom prst="ellipse">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3" name="Year"/>
            <p:cNvSpPr txBox="1"/>
            <p:nvPr/>
          </p:nvSpPr>
          <p:spPr>
            <a:xfrm>
              <a:off x="15691104" y="5669280"/>
              <a:ext cx="1463040" cy="548640"/>
            </a:xfrm>
            <a:prstGeom prst="rect">
              <a:avLst/>
            </a:prstGeom>
            <a:noFill/>
          </p:spPr>
          <p:txBody>
            <a:bodyPr wrap="square" lIns="45720" rIns="45720" anchor="t"/>
            <a:lstStyle/>
            <a:p>
              <a:pPr algn="l">
                <a:lnSpc>
                  <a:spcPct val="100000"/>
                </a:lnSpc>
              </a:pPr>
              <a:r>
                <a:rPr sz="2600" b="0" i="0">
                  <a:solidFill>
                    <a:srgbClr val="C1FF72"/>
                  </a:solidFill>
                  <a:latin typeface="Oswald"/>
                </a:rPr>
                <a:t>2016</a:t>
              </a:r>
            </a:p>
          </p:txBody>
        </p:sp>
        <p:sp>
          <p:nvSpPr>
            <p:cNvPr id="64" name="Work light"/>
            <p:cNvSpPr/>
            <p:nvPr/>
          </p:nvSpPr>
          <p:spPr>
            <a:xfrm>
              <a:off x="15343632" y="6446520"/>
              <a:ext cx="3291840" cy="3017520"/>
            </a:xfrm>
            <a:prstGeom prst="roundRect">
              <a:avLst>
                <a:gd name="adj" fmla="val 909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5" name="Work"/>
            <p:cNvSpPr/>
            <p:nvPr/>
          </p:nvSpPr>
          <p:spPr>
            <a:xfrm>
              <a:off x="15343632" y="6446520"/>
              <a:ext cx="3291840" cy="3017520"/>
            </a:xfrm>
            <a:prstGeom prst="roundRect">
              <a:avLst>
                <a:gd name="adj" fmla="val 909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6" name="Work author"/>
            <p:cNvSpPr txBox="1"/>
            <p:nvPr/>
          </p:nvSpPr>
          <p:spPr>
            <a:xfrm>
              <a:off x="15617952" y="6647688"/>
              <a:ext cx="2743200" cy="548640"/>
            </a:xfrm>
            <a:prstGeom prst="rect">
              <a:avLst/>
            </a:prstGeom>
            <a:noFill/>
          </p:spPr>
          <p:txBody>
            <a:bodyPr wrap="square" lIns="45720" rIns="45720" anchor="t"/>
            <a:lstStyle/>
            <a:p>
              <a:pPr algn="l">
                <a:lnSpc>
                  <a:spcPct val="100000"/>
                </a:lnSpc>
              </a:pPr>
              <a:r>
                <a:rPr sz="2200" b="0" i="0">
                  <a:solidFill>
                    <a:srgbClr val="EDEDED"/>
                  </a:solidFill>
                  <a:latin typeface="Oswald"/>
                </a:rPr>
                <a:t>LIAO ET AL.</a:t>
              </a:r>
            </a:p>
          </p:txBody>
        </p:sp>
        <p:sp>
          <p:nvSpPr>
            <p:cNvPr id="67" name="Work finding"/>
            <p:cNvSpPr txBox="1"/>
            <p:nvPr/>
          </p:nvSpPr>
          <p:spPr>
            <a:xfrm>
              <a:off x="15617952" y="7196328"/>
              <a:ext cx="2743200" cy="2148840"/>
            </a:xfrm>
            <a:prstGeom prst="rect">
              <a:avLst/>
            </a:prstGeom>
            <a:noFill/>
          </p:spPr>
          <p:txBody>
            <a:bodyPr wrap="square" lIns="45720" rIns="45720" anchor="t"/>
            <a:lstStyle/>
            <a:p>
              <a:pPr algn="l">
                <a:lnSpc>
                  <a:spcPct val="98000"/>
                </a:lnSpc>
              </a:pPr>
              <a:r>
                <a:rPr sz="1750" b="0" i="0">
                  <a:solidFill>
                    <a:srgbClr val="BDBDC1"/>
                  </a:solidFill>
                  <a:latin typeface="Titillium Web"/>
                </a:rPr>
                <a:t>Automatic IOC discovery from open threat reports; STIX/TAXII sharing.</a:t>
              </a:r>
            </a:p>
          </p:txBody>
        </p:sp>
        <p:sp>
          <p:nvSpPr>
            <p:cNvPr id="68" name="Year dot"/>
            <p:cNvSpPr/>
            <p:nvPr/>
          </p:nvSpPr>
          <p:spPr>
            <a:xfrm>
              <a:off x="18928080" y="5897880"/>
              <a:ext cx="228600" cy="228600"/>
            </a:xfrm>
            <a:prstGeom prst="ellipse">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9" name="Year"/>
            <p:cNvSpPr txBox="1"/>
            <p:nvPr/>
          </p:nvSpPr>
          <p:spPr>
            <a:xfrm>
              <a:off x="19275552" y="5669280"/>
              <a:ext cx="1463040" cy="548640"/>
            </a:xfrm>
            <a:prstGeom prst="rect">
              <a:avLst/>
            </a:prstGeom>
            <a:noFill/>
          </p:spPr>
          <p:txBody>
            <a:bodyPr wrap="square" lIns="45720" rIns="45720" anchor="t"/>
            <a:lstStyle/>
            <a:p>
              <a:pPr algn="l">
                <a:lnSpc>
                  <a:spcPct val="100000"/>
                </a:lnSpc>
              </a:pPr>
              <a:r>
                <a:rPr sz="2600" b="0" i="0">
                  <a:solidFill>
                    <a:srgbClr val="C1FF72"/>
                  </a:solidFill>
                  <a:latin typeface="Oswald"/>
                </a:rPr>
                <a:t>2018</a:t>
              </a:r>
            </a:p>
          </p:txBody>
        </p:sp>
        <p:sp>
          <p:nvSpPr>
            <p:cNvPr id="70" name="Work light"/>
            <p:cNvSpPr/>
            <p:nvPr/>
          </p:nvSpPr>
          <p:spPr>
            <a:xfrm>
              <a:off x="18928080" y="6446520"/>
              <a:ext cx="3291840" cy="3017520"/>
            </a:xfrm>
            <a:prstGeom prst="roundRect">
              <a:avLst>
                <a:gd name="adj" fmla="val 909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1" name="Work"/>
            <p:cNvSpPr/>
            <p:nvPr/>
          </p:nvSpPr>
          <p:spPr>
            <a:xfrm>
              <a:off x="18928080" y="6446520"/>
              <a:ext cx="3291840" cy="3017520"/>
            </a:xfrm>
            <a:prstGeom prst="roundRect">
              <a:avLst>
                <a:gd name="adj" fmla="val 909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2" name="Work author"/>
            <p:cNvSpPr txBox="1"/>
            <p:nvPr/>
          </p:nvSpPr>
          <p:spPr>
            <a:xfrm>
              <a:off x="19202400" y="6647688"/>
              <a:ext cx="2743200" cy="548640"/>
            </a:xfrm>
            <a:prstGeom prst="rect">
              <a:avLst/>
            </a:prstGeom>
            <a:noFill/>
          </p:spPr>
          <p:txBody>
            <a:bodyPr wrap="square" lIns="45720" rIns="45720" anchor="t"/>
            <a:lstStyle/>
            <a:p>
              <a:pPr algn="l">
                <a:lnSpc>
                  <a:spcPct val="100000"/>
                </a:lnSpc>
              </a:pPr>
              <a:r>
                <a:rPr sz="2200" b="0" i="0">
                  <a:solidFill>
                    <a:srgbClr val="EDEDED"/>
                  </a:solidFill>
                  <a:latin typeface="Oswald"/>
                </a:rPr>
                <a:t>STROM ET AL.</a:t>
              </a:r>
            </a:p>
          </p:txBody>
        </p:sp>
        <p:sp>
          <p:nvSpPr>
            <p:cNvPr id="73" name="Work finding"/>
            <p:cNvSpPr txBox="1"/>
            <p:nvPr/>
          </p:nvSpPr>
          <p:spPr>
            <a:xfrm>
              <a:off x="19202400" y="7196328"/>
              <a:ext cx="2743200" cy="2148840"/>
            </a:xfrm>
            <a:prstGeom prst="rect">
              <a:avLst/>
            </a:prstGeom>
            <a:noFill/>
          </p:spPr>
          <p:txBody>
            <a:bodyPr wrap="square" lIns="45720" rIns="45720" anchor="t"/>
            <a:lstStyle/>
            <a:p>
              <a:pPr algn="l">
                <a:lnSpc>
                  <a:spcPct val="98000"/>
                </a:lnSpc>
              </a:pPr>
              <a:r>
                <a:rPr sz="1750" b="0" i="0">
                  <a:solidFill>
                    <a:srgbClr val="BDBDC1"/>
                  </a:solidFill>
                  <a:latin typeface="Titillium Web"/>
                </a:rPr>
                <a:t>MITRE ATT&amp;CK: a shared language for attacker tactics and techniques.</a:t>
              </a:r>
            </a:p>
          </p:txBody>
        </p:sp>
        <p:sp>
          <p:nvSpPr>
            <p:cNvPr id="74" name="Year dot"/>
            <p:cNvSpPr/>
            <p:nvPr/>
          </p:nvSpPr>
          <p:spPr>
            <a:xfrm>
              <a:off x="22512528" y="5897880"/>
              <a:ext cx="228600" cy="228600"/>
            </a:xfrm>
            <a:prstGeom prst="ellipse">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5" name="Year"/>
            <p:cNvSpPr txBox="1"/>
            <p:nvPr/>
          </p:nvSpPr>
          <p:spPr>
            <a:xfrm>
              <a:off x="22860000" y="5669280"/>
              <a:ext cx="1463040" cy="548640"/>
            </a:xfrm>
            <a:prstGeom prst="rect">
              <a:avLst/>
            </a:prstGeom>
            <a:noFill/>
          </p:spPr>
          <p:txBody>
            <a:bodyPr wrap="square" lIns="45720" rIns="45720" anchor="t"/>
            <a:lstStyle/>
            <a:p>
              <a:pPr algn="l">
                <a:lnSpc>
                  <a:spcPct val="100000"/>
                </a:lnSpc>
              </a:pPr>
              <a:r>
                <a:rPr sz="2600" b="0" i="0">
                  <a:solidFill>
                    <a:srgbClr val="C1FF72"/>
                  </a:solidFill>
                  <a:latin typeface="Oswald"/>
                </a:rPr>
                <a:t>2018</a:t>
              </a:r>
            </a:p>
          </p:txBody>
        </p:sp>
        <p:sp>
          <p:nvSpPr>
            <p:cNvPr id="76" name="Work light"/>
            <p:cNvSpPr/>
            <p:nvPr/>
          </p:nvSpPr>
          <p:spPr>
            <a:xfrm>
              <a:off x="22512528" y="6446520"/>
              <a:ext cx="3291840" cy="3017520"/>
            </a:xfrm>
            <a:prstGeom prst="roundRect">
              <a:avLst>
                <a:gd name="adj" fmla="val 909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7" name="Work"/>
            <p:cNvSpPr/>
            <p:nvPr/>
          </p:nvSpPr>
          <p:spPr>
            <a:xfrm>
              <a:off x="22512528" y="6446520"/>
              <a:ext cx="3291840" cy="3017520"/>
            </a:xfrm>
            <a:prstGeom prst="roundRect">
              <a:avLst>
                <a:gd name="adj" fmla="val 909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8" name="Work author"/>
            <p:cNvSpPr txBox="1"/>
            <p:nvPr/>
          </p:nvSpPr>
          <p:spPr>
            <a:xfrm>
              <a:off x="22786848" y="6647688"/>
              <a:ext cx="2743200" cy="548640"/>
            </a:xfrm>
            <a:prstGeom prst="rect">
              <a:avLst/>
            </a:prstGeom>
            <a:noFill/>
          </p:spPr>
          <p:txBody>
            <a:bodyPr wrap="square" lIns="45720" rIns="45720" anchor="t"/>
            <a:lstStyle/>
            <a:p>
              <a:pPr algn="l">
                <a:lnSpc>
                  <a:spcPct val="100000"/>
                </a:lnSpc>
              </a:pPr>
              <a:r>
                <a:rPr sz="2200" b="0" i="0">
                  <a:solidFill>
                    <a:srgbClr val="EDEDED"/>
                  </a:solidFill>
                  <a:latin typeface="Oswald"/>
                </a:rPr>
                <a:t>LE ET AL.</a:t>
              </a:r>
            </a:p>
          </p:txBody>
        </p:sp>
        <p:sp>
          <p:nvSpPr>
            <p:cNvPr id="79" name="Work finding"/>
            <p:cNvSpPr txBox="1"/>
            <p:nvPr/>
          </p:nvSpPr>
          <p:spPr>
            <a:xfrm>
              <a:off x="22786848" y="7196328"/>
              <a:ext cx="2743200" cy="2148840"/>
            </a:xfrm>
            <a:prstGeom prst="rect">
              <a:avLst/>
            </a:prstGeom>
            <a:noFill/>
          </p:spPr>
          <p:txBody>
            <a:bodyPr wrap="square" lIns="45720" rIns="45720" anchor="t"/>
            <a:lstStyle/>
            <a:p>
              <a:pPr algn="l">
                <a:lnSpc>
                  <a:spcPct val="98000"/>
                </a:lnSpc>
              </a:pPr>
              <a:r>
                <a:rPr sz="1750" b="0" i="0">
                  <a:solidFill>
                    <a:srgbClr val="BDBDC1"/>
                  </a:solidFill>
                  <a:latin typeface="Titillium Web"/>
                </a:rPr>
                <a:t>URLNet learns URL representations directly from raw text.</a:t>
              </a:r>
            </a:p>
          </p:txBody>
        </p:sp>
        <p:sp>
          <p:nvSpPr>
            <p:cNvPr id="80" name="Year dot"/>
            <p:cNvSpPr/>
            <p:nvPr/>
          </p:nvSpPr>
          <p:spPr>
            <a:xfrm>
              <a:off x="26096976" y="5897880"/>
              <a:ext cx="228600" cy="228600"/>
            </a:xfrm>
            <a:prstGeom prst="ellipse">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1" name="Year"/>
            <p:cNvSpPr txBox="1"/>
            <p:nvPr/>
          </p:nvSpPr>
          <p:spPr>
            <a:xfrm>
              <a:off x="26444448" y="5669280"/>
              <a:ext cx="1463040" cy="548640"/>
            </a:xfrm>
            <a:prstGeom prst="rect">
              <a:avLst/>
            </a:prstGeom>
            <a:noFill/>
          </p:spPr>
          <p:txBody>
            <a:bodyPr wrap="square" lIns="45720" rIns="45720" anchor="t"/>
            <a:lstStyle/>
            <a:p>
              <a:pPr algn="l">
                <a:lnSpc>
                  <a:spcPct val="100000"/>
                </a:lnSpc>
              </a:pPr>
              <a:r>
                <a:rPr sz="2600" b="0" i="0">
                  <a:solidFill>
                    <a:srgbClr val="C1FF72"/>
                  </a:solidFill>
                  <a:latin typeface="Oswald"/>
                </a:rPr>
                <a:t>2019</a:t>
              </a:r>
            </a:p>
          </p:txBody>
        </p:sp>
        <p:sp>
          <p:nvSpPr>
            <p:cNvPr id="82" name="Work light"/>
            <p:cNvSpPr/>
            <p:nvPr/>
          </p:nvSpPr>
          <p:spPr>
            <a:xfrm>
              <a:off x="26096976" y="6446520"/>
              <a:ext cx="3291840" cy="3017520"/>
            </a:xfrm>
            <a:prstGeom prst="roundRect">
              <a:avLst>
                <a:gd name="adj" fmla="val 909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3" name="Work"/>
            <p:cNvSpPr/>
            <p:nvPr/>
          </p:nvSpPr>
          <p:spPr>
            <a:xfrm>
              <a:off x="26096976" y="6446520"/>
              <a:ext cx="3291840" cy="3017520"/>
            </a:xfrm>
            <a:prstGeom prst="roundRect">
              <a:avLst>
                <a:gd name="adj" fmla="val 909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4" name="Work author"/>
            <p:cNvSpPr txBox="1"/>
            <p:nvPr/>
          </p:nvSpPr>
          <p:spPr>
            <a:xfrm>
              <a:off x="26371296" y="6647688"/>
              <a:ext cx="2743200" cy="548640"/>
            </a:xfrm>
            <a:prstGeom prst="rect">
              <a:avLst/>
            </a:prstGeom>
            <a:noFill/>
          </p:spPr>
          <p:txBody>
            <a:bodyPr wrap="square" lIns="45720" rIns="45720" anchor="t"/>
            <a:lstStyle/>
            <a:p>
              <a:pPr algn="l">
                <a:lnSpc>
                  <a:spcPct val="100000"/>
                </a:lnSpc>
              </a:pPr>
              <a:r>
                <a:rPr sz="2200" b="0" i="0">
                  <a:solidFill>
                    <a:srgbClr val="EDEDED"/>
                  </a:solidFill>
                  <a:latin typeface="Oswald"/>
                </a:rPr>
                <a:t>DEVLIN ET AL.</a:t>
              </a:r>
            </a:p>
          </p:txBody>
        </p:sp>
        <p:sp>
          <p:nvSpPr>
            <p:cNvPr id="85" name="Work finding"/>
            <p:cNvSpPr txBox="1"/>
            <p:nvPr/>
          </p:nvSpPr>
          <p:spPr>
            <a:xfrm>
              <a:off x="26371296" y="7196328"/>
              <a:ext cx="2743200" cy="2148840"/>
            </a:xfrm>
            <a:prstGeom prst="rect">
              <a:avLst/>
            </a:prstGeom>
            <a:noFill/>
          </p:spPr>
          <p:txBody>
            <a:bodyPr wrap="square" lIns="45720" rIns="45720" anchor="t"/>
            <a:lstStyle/>
            <a:p>
              <a:pPr algn="l">
                <a:lnSpc>
                  <a:spcPct val="98000"/>
                </a:lnSpc>
              </a:pPr>
              <a:r>
                <a:rPr sz="1750" b="0" i="0">
                  <a:solidFill>
                    <a:srgbClr val="BDBDC1"/>
                  </a:solidFill>
                  <a:latin typeface="Titillium Web"/>
                </a:rPr>
                <a:t>BERT: pre-train, then fine-tune; security-adapted variants followed.</a:t>
              </a:r>
            </a:p>
          </p:txBody>
        </p:sp>
        <p:sp>
          <p:nvSpPr>
            <p:cNvPr id="86" name="Year dot"/>
            <p:cNvSpPr/>
            <p:nvPr/>
          </p:nvSpPr>
          <p:spPr>
            <a:xfrm>
              <a:off x="29681424" y="5897880"/>
              <a:ext cx="228600" cy="228600"/>
            </a:xfrm>
            <a:prstGeom prst="ellipse">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7" name="Year"/>
            <p:cNvSpPr txBox="1"/>
            <p:nvPr/>
          </p:nvSpPr>
          <p:spPr>
            <a:xfrm>
              <a:off x="30028896" y="5669280"/>
              <a:ext cx="1463040" cy="548640"/>
            </a:xfrm>
            <a:prstGeom prst="rect">
              <a:avLst/>
            </a:prstGeom>
            <a:noFill/>
          </p:spPr>
          <p:txBody>
            <a:bodyPr wrap="square" lIns="45720" rIns="45720" anchor="t"/>
            <a:lstStyle/>
            <a:p>
              <a:pPr algn="l">
                <a:lnSpc>
                  <a:spcPct val="100000"/>
                </a:lnSpc>
              </a:pPr>
              <a:r>
                <a:rPr sz="2600" b="0" i="0">
                  <a:solidFill>
                    <a:srgbClr val="C1FF72"/>
                  </a:solidFill>
                  <a:latin typeface="Oswald"/>
                </a:rPr>
                <a:t>2023</a:t>
              </a:r>
            </a:p>
          </p:txBody>
        </p:sp>
        <p:sp>
          <p:nvSpPr>
            <p:cNvPr id="88" name="Work light"/>
            <p:cNvSpPr/>
            <p:nvPr/>
          </p:nvSpPr>
          <p:spPr>
            <a:xfrm>
              <a:off x="29681424" y="6446520"/>
              <a:ext cx="3291840" cy="3017520"/>
            </a:xfrm>
            <a:prstGeom prst="roundRect">
              <a:avLst>
                <a:gd name="adj" fmla="val 909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9" name="Work"/>
            <p:cNvSpPr/>
            <p:nvPr/>
          </p:nvSpPr>
          <p:spPr>
            <a:xfrm>
              <a:off x="29681424" y="6446520"/>
              <a:ext cx="3291840" cy="3017520"/>
            </a:xfrm>
            <a:prstGeom prst="roundRect">
              <a:avLst>
                <a:gd name="adj" fmla="val 909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0" name="Work author"/>
            <p:cNvSpPr txBox="1"/>
            <p:nvPr/>
          </p:nvSpPr>
          <p:spPr>
            <a:xfrm>
              <a:off x="29955744" y="6647688"/>
              <a:ext cx="2743200" cy="548640"/>
            </a:xfrm>
            <a:prstGeom prst="rect">
              <a:avLst/>
            </a:prstGeom>
            <a:noFill/>
          </p:spPr>
          <p:txBody>
            <a:bodyPr wrap="square" lIns="45720" rIns="45720" anchor="t"/>
            <a:lstStyle/>
            <a:p>
              <a:pPr algn="l">
                <a:lnSpc>
                  <a:spcPct val="100000"/>
                </a:lnSpc>
              </a:pPr>
              <a:r>
                <a:rPr sz="2200" b="0" i="0">
                  <a:solidFill>
                    <a:srgbClr val="EDEDED"/>
                  </a:solidFill>
                  <a:latin typeface="Oswald"/>
                </a:rPr>
                <a:t>YAO ET AL.</a:t>
              </a:r>
            </a:p>
          </p:txBody>
        </p:sp>
        <p:sp>
          <p:nvSpPr>
            <p:cNvPr id="91" name="Work finding"/>
            <p:cNvSpPr txBox="1"/>
            <p:nvPr/>
          </p:nvSpPr>
          <p:spPr>
            <a:xfrm>
              <a:off x="29955744" y="7196328"/>
              <a:ext cx="2743200" cy="2148840"/>
            </a:xfrm>
            <a:prstGeom prst="rect">
              <a:avLst/>
            </a:prstGeom>
            <a:noFill/>
          </p:spPr>
          <p:txBody>
            <a:bodyPr wrap="square" lIns="45720" rIns="45720" anchor="t"/>
            <a:lstStyle/>
            <a:p>
              <a:pPr algn="l">
                <a:lnSpc>
                  <a:spcPct val="98000"/>
                </a:lnSpc>
              </a:pPr>
              <a:r>
                <a:rPr sz="1750" b="0" i="0">
                  <a:solidFill>
                    <a:srgbClr val="BDBDC1"/>
                  </a:solidFill>
                  <a:latin typeface="Titillium Web"/>
                </a:rPr>
                <a:t>ReAct: reason, act, observe, repeat — the loop behind agents.</a:t>
              </a:r>
            </a:p>
          </p:txBody>
        </p:sp>
        <p:sp>
          <p:nvSpPr>
            <p:cNvPr id="92" name="Year dot"/>
            <p:cNvSpPr/>
            <p:nvPr/>
          </p:nvSpPr>
          <p:spPr>
            <a:xfrm>
              <a:off x="33265872" y="5897880"/>
              <a:ext cx="228600" cy="228600"/>
            </a:xfrm>
            <a:prstGeom prst="ellipse">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3" name="Year"/>
            <p:cNvSpPr txBox="1"/>
            <p:nvPr/>
          </p:nvSpPr>
          <p:spPr>
            <a:xfrm>
              <a:off x="33613344" y="5669280"/>
              <a:ext cx="1463040" cy="548640"/>
            </a:xfrm>
            <a:prstGeom prst="rect">
              <a:avLst/>
            </a:prstGeom>
            <a:noFill/>
          </p:spPr>
          <p:txBody>
            <a:bodyPr wrap="square" lIns="45720" rIns="45720" anchor="t"/>
            <a:lstStyle/>
            <a:p>
              <a:pPr algn="l">
                <a:lnSpc>
                  <a:spcPct val="100000"/>
                </a:lnSpc>
              </a:pPr>
              <a:r>
                <a:rPr sz="2600" b="0" i="0">
                  <a:solidFill>
                    <a:srgbClr val="C1FF72"/>
                  </a:solidFill>
                  <a:latin typeface="Oswald"/>
                </a:rPr>
                <a:t>2023</a:t>
              </a:r>
            </a:p>
          </p:txBody>
        </p:sp>
        <p:sp>
          <p:nvSpPr>
            <p:cNvPr id="94" name="Work light"/>
            <p:cNvSpPr/>
            <p:nvPr/>
          </p:nvSpPr>
          <p:spPr>
            <a:xfrm>
              <a:off x="33265872" y="6446520"/>
              <a:ext cx="3291840" cy="3017520"/>
            </a:xfrm>
            <a:prstGeom prst="roundRect">
              <a:avLst>
                <a:gd name="adj" fmla="val 909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5" name="Work"/>
            <p:cNvSpPr/>
            <p:nvPr/>
          </p:nvSpPr>
          <p:spPr>
            <a:xfrm>
              <a:off x="33265872" y="6446520"/>
              <a:ext cx="3291840" cy="3017520"/>
            </a:xfrm>
            <a:prstGeom prst="roundRect">
              <a:avLst>
                <a:gd name="adj" fmla="val 909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6" name="Work author"/>
            <p:cNvSpPr txBox="1"/>
            <p:nvPr/>
          </p:nvSpPr>
          <p:spPr>
            <a:xfrm>
              <a:off x="33540192" y="6647688"/>
              <a:ext cx="2743200" cy="548640"/>
            </a:xfrm>
            <a:prstGeom prst="rect">
              <a:avLst/>
            </a:prstGeom>
            <a:noFill/>
          </p:spPr>
          <p:txBody>
            <a:bodyPr wrap="square" lIns="45720" rIns="45720" anchor="t"/>
            <a:lstStyle/>
            <a:p>
              <a:pPr algn="l">
                <a:lnSpc>
                  <a:spcPct val="100000"/>
                </a:lnSpc>
              </a:pPr>
              <a:r>
                <a:rPr sz="2200" b="0" i="0">
                  <a:solidFill>
                    <a:srgbClr val="EDEDED"/>
                  </a:solidFill>
                  <a:latin typeface="Oswald"/>
                </a:rPr>
                <a:t>PARK ET AL.</a:t>
              </a:r>
            </a:p>
          </p:txBody>
        </p:sp>
        <p:sp>
          <p:nvSpPr>
            <p:cNvPr id="97" name="Work finding"/>
            <p:cNvSpPr txBox="1"/>
            <p:nvPr/>
          </p:nvSpPr>
          <p:spPr>
            <a:xfrm>
              <a:off x="33540192" y="7196328"/>
              <a:ext cx="2743200" cy="2148840"/>
            </a:xfrm>
            <a:prstGeom prst="rect">
              <a:avLst/>
            </a:prstGeom>
            <a:noFill/>
          </p:spPr>
          <p:txBody>
            <a:bodyPr wrap="square" lIns="45720" rIns="45720" anchor="t"/>
            <a:lstStyle/>
            <a:p>
              <a:pPr algn="l">
                <a:lnSpc>
                  <a:spcPct val="98000"/>
                </a:lnSpc>
              </a:pPr>
              <a:r>
                <a:rPr sz="1750" b="0" i="0">
                  <a:solidFill>
                    <a:srgbClr val="BDBDC1"/>
                  </a:solidFill>
                  <a:latin typeface="Titillium Web"/>
                </a:rPr>
                <a:t>Generative Agents: memory keeps agents consistent over time.</a:t>
              </a:r>
            </a:p>
          </p:txBody>
        </p:sp>
      </p:grpSp>
      <p:sp>
        <p:nvSpPr>
          <p:cNvPr id="2" name="!!seg8"/>
          <p:cNvSpPr/>
          <p:nvPr/>
        </p:nvSpPr>
        <p:spPr>
          <a:xfrm>
            <a:off x="16971264"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seg7"/>
          <p:cNvSpPr/>
          <p:nvPr/>
        </p:nvSpPr>
        <p:spPr>
          <a:xfrm>
            <a:off x="16568927"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seg6"/>
          <p:cNvSpPr/>
          <p:nvPr/>
        </p:nvSpPr>
        <p:spPr>
          <a:xfrm>
            <a:off x="16166591"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seg5"/>
          <p:cNvSpPr/>
          <p:nvPr/>
        </p:nvSpPr>
        <p:spPr>
          <a:xfrm>
            <a:off x="14977871" y="566928"/>
            <a:ext cx="1097280" cy="118872"/>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seg4"/>
          <p:cNvSpPr/>
          <p:nvPr/>
        </p:nvSpPr>
        <p:spPr>
          <a:xfrm>
            <a:off x="14575535"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eg3"/>
          <p:cNvSpPr/>
          <p:nvPr/>
        </p:nvSpPr>
        <p:spPr>
          <a:xfrm>
            <a:off x="14173199"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eg2"/>
          <p:cNvSpPr/>
          <p:nvPr/>
        </p:nvSpPr>
        <p:spPr>
          <a:xfrm>
            <a:off x="13770863"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seg1"/>
          <p:cNvSpPr/>
          <p:nvPr/>
        </p:nvSpPr>
        <p:spPr>
          <a:xfrm>
            <a:off x="1336852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egno"/>
          <p:cNvSpPr txBox="1"/>
          <p:nvPr/>
        </p:nvSpPr>
        <p:spPr>
          <a:xfrm>
            <a:off x="10808207" y="429768"/>
            <a:ext cx="2423160" cy="384048"/>
          </a:xfrm>
          <a:prstGeom prst="rect">
            <a:avLst/>
          </a:prstGeom>
          <a:noFill/>
        </p:spPr>
        <p:txBody>
          <a:bodyPr wrap="square" lIns="45720" rIns="45720" anchor="t"/>
          <a:lstStyle/>
          <a:p>
            <a:pPr algn="r">
              <a:lnSpc>
                <a:spcPct val="100000"/>
              </a:lnSpc>
            </a:pPr>
            <a:r>
              <a:rPr sz="1500" b="0" i="0">
                <a:solidFill>
                  <a:srgbClr val="8E8E93"/>
                </a:solidFill>
                <a:latin typeface="Oswald"/>
              </a:rPr>
              <a:t>05 / 08</a:t>
            </a:r>
          </a:p>
        </p:txBody>
      </p:sp>
      <p:sp>
        <p:nvSpPr>
          <p:cNvPr id="11" name="Kicker 54"/>
          <p:cNvSpPr txBox="1"/>
          <p:nvPr/>
        </p:nvSpPr>
        <p:spPr>
          <a:xfrm>
            <a:off x="1005840" y="457200"/>
            <a:ext cx="8229600" cy="411480"/>
          </a:xfrm>
          <a:prstGeom prst="rect">
            <a:avLst/>
          </a:prstGeom>
          <a:noFill/>
        </p:spPr>
        <p:txBody>
          <a:bodyPr wrap="square" lIns="45720" rIns="45720" anchor="t"/>
          <a:lstStyle/>
          <a:p>
            <a:pPr algn="l">
              <a:lnSpc>
                <a:spcPct val="100000"/>
              </a:lnSpc>
            </a:pPr>
            <a:r>
              <a:rPr sz="1600" b="1" i="0">
                <a:solidFill>
                  <a:srgbClr val="C1FF72"/>
                </a:solidFill>
                <a:latin typeface="Titillium Web"/>
              </a:rPr>
              <a:t>05  ·  BRIEF LITERATURE REVIEW  ·  1 OF 2</a:t>
            </a:r>
          </a:p>
        </p:txBody>
      </p:sp>
      <p:sp>
        <p:nvSpPr>
          <p:cNvPr id="12" name="Title 55"/>
          <p:cNvSpPr txBox="1"/>
          <p:nvPr/>
        </p:nvSpPr>
        <p:spPr>
          <a:xfrm>
            <a:off x="1005840" y="841248"/>
            <a:ext cx="11887200" cy="1051560"/>
          </a:xfrm>
          <a:prstGeom prst="rect">
            <a:avLst/>
          </a:prstGeom>
          <a:noFill/>
        </p:spPr>
        <p:txBody>
          <a:bodyPr wrap="square" lIns="45720" rIns="45720" anchor="t"/>
          <a:lstStyle/>
          <a:p>
            <a:pPr algn="l">
              <a:lnSpc>
                <a:spcPct val="100000"/>
              </a:lnSpc>
            </a:pPr>
            <a:r>
              <a:rPr sz="5400" b="0" i="0">
                <a:solidFill>
                  <a:srgbClr val="EDEDED"/>
                </a:solidFill>
                <a:latin typeface="Oswald"/>
              </a:rPr>
              <a:t>BRIEF LITERATURE REVIEW</a:t>
            </a:r>
          </a:p>
        </p:txBody>
      </p:sp>
      <p:sp>
        <p:nvSpPr>
          <p:cNvPr id="13" name="Subtitle 56"/>
          <p:cNvSpPr txBox="1"/>
          <p:nvPr/>
        </p:nvSpPr>
        <p:spPr>
          <a:xfrm>
            <a:off x="1005840" y="1828800"/>
            <a:ext cx="11887200" cy="502920"/>
          </a:xfrm>
          <a:prstGeom prst="rect">
            <a:avLst/>
          </a:prstGeom>
          <a:noFill/>
        </p:spPr>
        <p:txBody>
          <a:bodyPr wrap="square" lIns="45720" rIns="45720" anchor="t"/>
          <a:lstStyle/>
          <a:p>
            <a:pPr algn="l">
              <a:lnSpc>
                <a:spcPct val="100000"/>
              </a:lnSpc>
            </a:pPr>
            <a:r>
              <a:rPr sz="2100" b="0" i="0">
                <a:solidFill>
                  <a:srgbClr val="8E8E93"/>
                </a:solidFill>
                <a:latin typeface="Titillium Web"/>
              </a:rPr>
              <a:t>From rules to learning to cooperating agents</a:t>
            </a:r>
          </a:p>
        </p:txBody>
      </p:sp>
      <p:pic>
        <p:nvPicPr>
          <p:cNvPr id="16" name="!!photo" descr="13695499-1.561-0.50-0.50.jpg"/>
          <p:cNvPicPr>
            <a:picLocks noChangeAspect="1"/>
          </p:cNvPicPr>
          <p:nvPr/>
        </p:nvPicPr>
        <p:blipFill>
          <a:blip r:embed="rId3"/>
          <a:stretch>
            <a:fillRect/>
          </a:stretch>
        </p:blipFill>
        <p:spPr>
          <a:xfrm>
            <a:off x="13213080" y="1051560"/>
            <a:ext cx="4069080" cy="2606040"/>
          </a:xfrm>
          <a:prstGeom prst="roundRect">
            <a:avLst>
              <a:gd name="adj" fmla="val 12280"/>
            </a:avLst>
          </a:prstGeom>
          <a:effectLst>
            <a:outerShdw blurRad="279400" dist="114300" dir="2700000" algn="ctr" rotWithShape="0">
              <a:srgbClr val="0E0E10">
                <a:alpha val="70000"/>
              </a:srgbClr>
            </a:outerShdw>
          </a:effectLst>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26"/>
                                        </p:tgtEl>
                                        <p:attrNameLst>
                                          <p:attrName>style.visibility</p:attrName>
                                        </p:attrNameLst>
                                      </p:cBhvr>
                                      <p:to>
                                        <p:strVal val="visible"/>
                                      </p:to>
                                    </p:set>
                                    <p:anim calcmode="lin" valueType="num">
                                      <p:cBhvr additive="base">
                                        <p:cTn id="12" dur="500" fill="hold"/>
                                        <p:tgtEl>
                                          <p:spTgt spid="26"/>
                                        </p:tgtEl>
                                        <p:attrNameLst>
                                          <p:attrName>ppt_x</p:attrName>
                                        </p:attrNameLst>
                                      </p:cBhvr>
                                      <p:tavLst>
                                        <p:tav tm="0">
                                          <p:val>
                                            <p:strVal val="0-#ppt_w/2"/>
                                          </p:val>
                                        </p:tav>
                                        <p:tav tm="100000">
                                          <p:val>
                                            <p:strVal val="#ppt_x"/>
                                          </p:val>
                                        </p:tav>
                                      </p:tavLst>
                                    </p:anim>
                                    <p:anim calcmode="lin" valueType="num">
                                      <p:cBhvr additive="base">
                                        <p:cTn id="13" dur="500" fill="hold"/>
                                        <p:tgtEl>
                                          <p:spTgt spid="2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31"/>
                                        </p:tgtEl>
                                        <p:attrNameLst>
                                          <p:attrName>style.visibility</p:attrName>
                                        </p:attrNameLst>
                                      </p:cBhvr>
                                      <p:to>
                                        <p:strVal val="visible"/>
                                      </p:to>
                                    </p:set>
                                    <p:anim calcmode="lin" valueType="num">
                                      <p:cBhvr additive="base">
                                        <p:cTn id="17" dur="500" fill="hold"/>
                                        <p:tgtEl>
                                          <p:spTgt spid="31"/>
                                        </p:tgtEl>
                                        <p:attrNameLst>
                                          <p:attrName>ppt_x</p:attrName>
                                        </p:attrNameLst>
                                      </p:cBhvr>
                                      <p:tavLst>
                                        <p:tav tm="0">
                                          <p:val>
                                            <p:strVal val="0-#ppt_w/2"/>
                                          </p:val>
                                        </p:tav>
                                        <p:tav tm="100000">
                                          <p:val>
                                            <p:strVal val="#ppt_x"/>
                                          </p:val>
                                        </p:tav>
                                      </p:tavLst>
                                    </p:anim>
                                    <p:anim calcmode="lin" valueType="num">
                                      <p:cBhvr additive="base">
                                        <p:cTn id="18" dur="500" fill="hold"/>
                                        <p:tgtEl>
                                          <p:spTgt spid="31"/>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nodeType="afterEffect">
                                  <p:stCondLst>
                                    <p:cond delay="0"/>
                                  </p:stCondLst>
                                  <p:childTnLst>
                                    <p:set>
                                      <p:cBhvr>
                                        <p:cTn id="21" dur="1" fill="hold">
                                          <p:stCondLst>
                                            <p:cond delay="0"/>
                                          </p:stCondLst>
                                        </p:cTn>
                                        <p:tgtEl>
                                          <p:spTgt spid="36"/>
                                        </p:tgtEl>
                                        <p:attrNameLst>
                                          <p:attrName>style.visibility</p:attrName>
                                        </p:attrNameLst>
                                      </p:cBhvr>
                                      <p:to>
                                        <p:strVal val="visible"/>
                                      </p:to>
                                    </p:set>
                                    <p:anim calcmode="lin" valueType="num">
                                      <p:cBhvr additive="base">
                                        <p:cTn id="22" dur="500" fill="hold"/>
                                        <p:tgtEl>
                                          <p:spTgt spid="36"/>
                                        </p:tgtEl>
                                        <p:attrNameLst>
                                          <p:attrName>ppt_x</p:attrName>
                                        </p:attrNameLst>
                                      </p:cBhvr>
                                      <p:tavLst>
                                        <p:tav tm="0">
                                          <p:val>
                                            <p:strVal val="0-#ppt_w/2"/>
                                          </p:val>
                                        </p:tav>
                                        <p:tav tm="100000">
                                          <p:val>
                                            <p:strVal val="#ppt_x"/>
                                          </p:val>
                                        </p:tav>
                                      </p:tavLst>
                                    </p:anim>
                                    <p:anim calcmode="lin" valueType="num">
                                      <p:cBhvr additive="base">
                                        <p:cTn id="23" dur="500" fill="hold"/>
                                        <p:tgtEl>
                                          <p:spTgt spid="36"/>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10" presetClass="entr" presetSubtype="0" fill="hold" nodeType="afterEffect">
                                  <p:stCondLst>
                                    <p:cond delay="0"/>
                                  </p:stCondLst>
                                  <p:childTnLst>
                                    <p:set>
                                      <p:cBhvr>
                                        <p:cTn id="26" dur="1" fill="hold">
                                          <p:stCondLst>
                                            <p:cond delay="0"/>
                                          </p:stCondLst>
                                        </p:cTn>
                                        <p:tgtEl>
                                          <p:spTgt spid="98"/>
                                        </p:tgtEl>
                                        <p:attrNameLst>
                                          <p:attrName>style.visibility</p:attrName>
                                        </p:attrNameLst>
                                      </p:cBhvr>
                                      <p:to>
                                        <p:strVal val="visible"/>
                                      </p:to>
                                    </p:set>
                                    <p:animEffect transition="in" filter="fade">
                                      <p:cBhvr>
                                        <p:cTn id="27" dur="500"/>
                                        <p:tgtEl>
                                          <p:spTgt spid="98"/>
                                        </p:tgtEl>
                                      </p:cBhvr>
                                    </p:animEffect>
                                  </p:childTnLst>
                                </p:cTn>
                              </p:par>
                            </p:childTnLst>
                          </p:cTn>
                        </p:par>
                        <p:par>
                          <p:cTn id="28" fill="hold">
                            <p:stCondLst>
                              <p:cond delay="2500"/>
                            </p:stCondLst>
                            <p:childTnLst>
                              <p:par>
                                <p:cTn id="29" presetID="35" presetClass="path" presetSubtype="0" accel="50000" decel="50000" fill="hold" nodeType="afterEffect">
                                  <p:stCondLst>
                                    <p:cond delay="800"/>
                                  </p:stCondLst>
                                  <p:childTnLst>
                                    <p:animMotion origin="layout" path="M 0 0 L -1.0700 0 E" pathEditMode="relative" ptsTypes="">
                                      <p:cBhvr>
                                        <p:cTn id="30" dur="8000" fill="hold"/>
                                        <p:tgtEl>
                                          <p:spTgt spid="98"/>
                                        </p:tgtEl>
                                        <p:attrNameLst>
                                          <p:attrName>ppt_x</p:attrName>
                                          <p:attrName>ppt_y</p:attrName>
                                        </p:attrNameLst>
                                      </p:cBhvr>
                                    </p:animMotion>
                                  </p:childTnLst>
                                </p:cTn>
                              </p:par>
                            </p:childTnLst>
                          </p:cTn>
                        </p:par>
                        <p:par>
                          <p:cTn id="31" fill="hold">
                            <p:stCondLst>
                              <p:cond delay="11300"/>
                            </p:stCondLst>
                            <p:childTnLst>
                              <p:par>
                                <p:cTn id="32" presetID="22" presetClass="entr" presetSubtype="8"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left)">
                                      <p:cBhvr>
                                        <p:cTn id="34" dur="500"/>
                                        <p:tgtEl>
                                          <p:spTgt spid="11"/>
                                        </p:tgtEl>
                                      </p:cBhvr>
                                    </p:animEffect>
                                  </p:childTnLst>
                                </p:cTn>
                              </p:par>
                              <p:par>
                                <p:cTn id="35" presetID="37" presetClass="entr" presetSubtype="0" fill="hold" grpId="0" nodeType="withEffect">
                                  <p:stCondLst>
                                    <p:cond delay="100"/>
                                  </p:stCondLst>
                                  <p:iterate type="lt">
                                    <p:tmPct val="10000"/>
                                  </p:iterate>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anim calcmode="lin" valueType="num">
                                      <p:cBhvr>
                                        <p:cTn id="38" dur="500" fill="hold"/>
                                        <p:tgtEl>
                                          <p:spTgt spid="12"/>
                                        </p:tgtEl>
                                        <p:attrNameLst>
                                          <p:attrName>ppt_x</p:attrName>
                                        </p:attrNameLst>
                                      </p:cBhvr>
                                      <p:tavLst>
                                        <p:tav tm="0">
                                          <p:val>
                                            <p:strVal val="#ppt_x"/>
                                          </p:val>
                                        </p:tav>
                                        <p:tav tm="100000">
                                          <p:val>
                                            <p:strVal val="#ppt_x"/>
                                          </p:val>
                                        </p:tav>
                                      </p:tavLst>
                                    </p:anim>
                                    <p:anim calcmode="lin" valueType="num">
                                      <p:cBhvr>
                                        <p:cTn id="39" dur="450" decel="100000" fill="hold"/>
                                        <p:tgtEl>
                                          <p:spTgt spid="12"/>
                                        </p:tgtEl>
                                        <p:attrNameLst>
                                          <p:attrName>ppt_y</p:attrName>
                                        </p:attrNameLst>
                                      </p:cBhvr>
                                      <p:tavLst>
                                        <p:tav tm="0">
                                          <p:val>
                                            <p:strVal val="#ppt_y+1"/>
                                          </p:val>
                                        </p:tav>
                                        <p:tav tm="100000">
                                          <p:val>
                                            <p:strVal val="#ppt_y-.03"/>
                                          </p:val>
                                        </p:tav>
                                      </p:tavLst>
                                    </p:anim>
                                    <p:anim calcmode="lin" valueType="num">
                                      <p:cBhvr>
                                        <p:cTn id="40"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par>
                          <p:cTn id="41" fill="hold">
                            <p:stCondLst>
                              <p:cond delay="12900"/>
                            </p:stCondLst>
                            <p:childTnLst>
                              <p:par>
                                <p:cTn id="42" presetID="10" presetClass="entr" presetSubtype="0" fill="hold" grpId="0" nodeType="afterEffect">
                                  <p:stCondLst>
                                    <p:cond delay="0"/>
                                  </p:stCondLst>
                                  <p:iterate type="wd">
                                    <p:tmPct val="10000"/>
                                  </p:iterate>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32325"/>
        </a:solidFill>
        <a:effectLst/>
      </p:bgPr>
    </p:bg>
    <p:spTree>
      <p:nvGrpSpPr>
        <p:cNvPr id="1" name=""/>
        <p:cNvGrpSpPr/>
        <p:nvPr/>
      </p:nvGrpSpPr>
      <p:grpSpPr>
        <a:xfrm>
          <a:off x="0" y="0"/>
          <a:ext cx="0" cy="0"/>
          <a:chOff x="0" y="0"/>
          <a:chExt cx="0" cy="0"/>
        </a:xfrm>
      </p:grpSpPr>
      <p:sp>
        <p:nvSpPr>
          <p:cNvPr id="2" name="!!seg8"/>
          <p:cNvSpPr/>
          <p:nvPr/>
        </p:nvSpPr>
        <p:spPr>
          <a:xfrm>
            <a:off x="16971264"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seg7"/>
          <p:cNvSpPr/>
          <p:nvPr/>
        </p:nvSpPr>
        <p:spPr>
          <a:xfrm>
            <a:off x="16568927"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seg6"/>
          <p:cNvSpPr/>
          <p:nvPr/>
        </p:nvSpPr>
        <p:spPr>
          <a:xfrm>
            <a:off x="16166591"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seg5"/>
          <p:cNvSpPr/>
          <p:nvPr/>
        </p:nvSpPr>
        <p:spPr>
          <a:xfrm>
            <a:off x="14977871" y="566928"/>
            <a:ext cx="1097280" cy="118872"/>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seg4"/>
          <p:cNvSpPr/>
          <p:nvPr/>
        </p:nvSpPr>
        <p:spPr>
          <a:xfrm>
            <a:off x="14575535"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eg3"/>
          <p:cNvSpPr/>
          <p:nvPr/>
        </p:nvSpPr>
        <p:spPr>
          <a:xfrm>
            <a:off x="14173199"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eg2"/>
          <p:cNvSpPr/>
          <p:nvPr/>
        </p:nvSpPr>
        <p:spPr>
          <a:xfrm>
            <a:off x="13770863"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seg1"/>
          <p:cNvSpPr/>
          <p:nvPr/>
        </p:nvSpPr>
        <p:spPr>
          <a:xfrm>
            <a:off x="1336852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egno"/>
          <p:cNvSpPr txBox="1"/>
          <p:nvPr/>
        </p:nvSpPr>
        <p:spPr>
          <a:xfrm>
            <a:off x="10808207" y="429768"/>
            <a:ext cx="2423160" cy="384048"/>
          </a:xfrm>
          <a:prstGeom prst="rect">
            <a:avLst/>
          </a:prstGeom>
          <a:noFill/>
        </p:spPr>
        <p:txBody>
          <a:bodyPr wrap="square" lIns="45720" rIns="45720" anchor="t"/>
          <a:lstStyle/>
          <a:p>
            <a:pPr algn="r">
              <a:lnSpc>
                <a:spcPct val="100000"/>
              </a:lnSpc>
            </a:pPr>
            <a:r>
              <a:rPr sz="1500" b="0" i="0">
                <a:solidFill>
                  <a:srgbClr val="8E8E93"/>
                </a:solidFill>
                <a:latin typeface="Oswald"/>
              </a:rPr>
              <a:t>05 / 08</a:t>
            </a:r>
          </a:p>
        </p:txBody>
      </p:sp>
      <p:sp>
        <p:nvSpPr>
          <p:cNvPr id="11" name="Kicker 62"/>
          <p:cNvSpPr txBox="1"/>
          <p:nvPr/>
        </p:nvSpPr>
        <p:spPr>
          <a:xfrm>
            <a:off x="1005840" y="457200"/>
            <a:ext cx="8229600" cy="411480"/>
          </a:xfrm>
          <a:prstGeom prst="rect">
            <a:avLst/>
          </a:prstGeom>
          <a:noFill/>
        </p:spPr>
        <p:txBody>
          <a:bodyPr wrap="square" lIns="45720" rIns="45720" anchor="t"/>
          <a:lstStyle/>
          <a:p>
            <a:pPr algn="l">
              <a:lnSpc>
                <a:spcPct val="100000"/>
              </a:lnSpc>
            </a:pPr>
            <a:r>
              <a:rPr sz="1600" b="1" i="0">
                <a:solidFill>
                  <a:srgbClr val="C1FF72"/>
                </a:solidFill>
                <a:latin typeface="Titillium Web"/>
              </a:rPr>
              <a:t>05  ·  BRIEF LITERATURE REVIEW  ·  2 OF 2</a:t>
            </a:r>
          </a:p>
        </p:txBody>
      </p:sp>
      <p:sp>
        <p:nvSpPr>
          <p:cNvPr id="12" name="Title 63"/>
          <p:cNvSpPr txBox="1"/>
          <p:nvPr/>
        </p:nvSpPr>
        <p:spPr>
          <a:xfrm>
            <a:off x="1005840" y="841248"/>
            <a:ext cx="10972800" cy="1051560"/>
          </a:xfrm>
          <a:prstGeom prst="rect">
            <a:avLst/>
          </a:prstGeom>
          <a:noFill/>
        </p:spPr>
        <p:txBody>
          <a:bodyPr wrap="square" lIns="45720" rIns="45720" anchor="t"/>
          <a:lstStyle/>
          <a:p>
            <a:pPr algn="l">
              <a:lnSpc>
                <a:spcPct val="100000"/>
              </a:lnSpc>
            </a:pPr>
            <a:r>
              <a:rPr sz="5400" b="0" i="0">
                <a:solidFill>
                  <a:srgbClr val="EDEDED"/>
                </a:solidFill>
                <a:latin typeface="Oswald"/>
              </a:rPr>
              <a:t>RESEARCH GAPS</a:t>
            </a:r>
          </a:p>
        </p:txBody>
      </p:sp>
      <p:sp>
        <p:nvSpPr>
          <p:cNvPr id="13" name="Subtitle 64"/>
          <p:cNvSpPr txBox="1"/>
          <p:nvPr/>
        </p:nvSpPr>
        <p:spPr>
          <a:xfrm>
            <a:off x="1005840" y="1828800"/>
            <a:ext cx="10972800" cy="502920"/>
          </a:xfrm>
          <a:prstGeom prst="rect">
            <a:avLst/>
          </a:prstGeom>
          <a:noFill/>
        </p:spPr>
        <p:txBody>
          <a:bodyPr wrap="square" lIns="45720" rIns="45720" anchor="t"/>
          <a:lstStyle/>
          <a:p>
            <a:pPr algn="l">
              <a:lnSpc>
                <a:spcPct val="100000"/>
              </a:lnSpc>
            </a:pPr>
            <a:r>
              <a:rPr sz="2100" b="0" i="0">
                <a:solidFill>
                  <a:srgbClr val="8E8E93"/>
                </a:solidFill>
                <a:latin typeface="Titillium Web"/>
              </a:rPr>
              <a:t>Five gaps between research ideas and working systems</a:t>
            </a:r>
          </a:p>
        </p:txBody>
      </p:sp>
      <p:sp>
        <p:nvSpPr>
          <p:cNvPr id="14" name="Source"/>
          <p:cNvSpPr txBox="1"/>
          <p:nvPr/>
        </p:nvSpPr>
        <p:spPr>
          <a:xfrm>
            <a:off x="1005840" y="9710928"/>
            <a:ext cx="14447520" cy="347472"/>
          </a:xfrm>
          <a:prstGeom prst="rect">
            <a:avLst/>
          </a:prstGeom>
          <a:noFill/>
        </p:spPr>
        <p:txBody>
          <a:bodyPr wrap="square" lIns="45720" rIns="45720" anchor="t"/>
          <a:lstStyle/>
          <a:p>
            <a:pPr algn="l">
              <a:lnSpc>
                <a:spcPct val="100000"/>
              </a:lnSpc>
            </a:pPr>
            <a:r>
              <a:rPr sz="1300" b="0" i="0">
                <a:solidFill>
                  <a:srgbClr val="5C5C61"/>
                </a:solidFill>
                <a:latin typeface="Titillium Web"/>
              </a:rPr>
              <a:t>Thesis §2.10 Research Gaps</a:t>
            </a:r>
          </a:p>
        </p:txBody>
      </p:sp>
      <p:sp>
        <p:nvSpPr>
          <p:cNvPr id="15" name="Page"/>
          <p:cNvSpPr txBox="1"/>
          <p:nvPr/>
        </p:nvSpPr>
        <p:spPr>
          <a:xfrm>
            <a:off x="15453359" y="9710928"/>
            <a:ext cx="1828800" cy="347472"/>
          </a:xfrm>
          <a:prstGeom prst="rect">
            <a:avLst/>
          </a:prstGeom>
          <a:noFill/>
        </p:spPr>
        <p:txBody>
          <a:bodyPr wrap="square" lIns="45720" rIns="45720" anchor="t"/>
          <a:lstStyle/>
          <a:p>
            <a:pPr algn="r">
              <a:lnSpc>
                <a:spcPct val="100000"/>
              </a:lnSpc>
            </a:pPr>
            <a:r>
              <a:rPr sz="1300" b="0" i="0">
                <a:solidFill>
                  <a:srgbClr val="5C5C61"/>
                </a:solidFill>
                <a:latin typeface="Oswald"/>
              </a:rPr>
              <a:t>07</a:t>
            </a:r>
          </a:p>
        </p:txBody>
      </p:sp>
      <p:pic>
        <p:nvPicPr>
          <p:cNvPr id="16" name="!!photo" descr="5483240-0.536-0.50-0.50.jpg"/>
          <p:cNvPicPr>
            <a:picLocks noChangeAspect="1"/>
          </p:cNvPicPr>
          <p:nvPr/>
        </p:nvPicPr>
        <p:blipFill>
          <a:blip r:embed="rId3"/>
          <a:stretch>
            <a:fillRect/>
          </a:stretch>
        </p:blipFill>
        <p:spPr>
          <a:xfrm>
            <a:off x="12801600" y="1051560"/>
            <a:ext cx="4480560" cy="8366760"/>
          </a:xfrm>
          <a:prstGeom prst="roundRect">
            <a:avLst>
              <a:gd name="adj" fmla="val 7142"/>
            </a:avLst>
          </a:prstGeom>
          <a:effectLst>
            <a:outerShdw blurRad="279400" dist="114300" dir="2700000" algn="ctr" rotWithShape="0">
              <a:srgbClr val="0E0E10">
                <a:alpha val="70000"/>
              </a:srgbClr>
            </a:outerShdw>
          </a:effectLst>
        </p:spPr>
      </p:pic>
      <p:sp>
        <p:nvSpPr>
          <p:cNvPr id="17" name="Gap n 65"/>
          <p:cNvSpPr txBox="1"/>
          <p:nvPr/>
        </p:nvSpPr>
        <p:spPr>
          <a:xfrm>
            <a:off x="1005840" y="2606040"/>
            <a:ext cx="914400" cy="731520"/>
          </a:xfrm>
          <a:prstGeom prst="rect">
            <a:avLst/>
          </a:prstGeom>
          <a:noFill/>
        </p:spPr>
        <p:txBody>
          <a:bodyPr wrap="square" lIns="45720" rIns="45720" anchor="t"/>
          <a:lstStyle/>
          <a:p>
            <a:pPr algn="l">
              <a:lnSpc>
                <a:spcPct val="100000"/>
              </a:lnSpc>
            </a:pPr>
            <a:r>
              <a:rPr sz="3200" b="0" i="0">
                <a:solidFill>
                  <a:srgbClr val="C1FF72"/>
                </a:solidFill>
                <a:latin typeface="Oswald"/>
              </a:rPr>
              <a:t>G1</a:t>
            </a:r>
          </a:p>
        </p:txBody>
      </p:sp>
      <p:sp>
        <p:nvSpPr>
          <p:cNvPr id="18" name="Gap 66"/>
          <p:cNvSpPr txBox="1"/>
          <p:nvPr/>
        </p:nvSpPr>
        <p:spPr>
          <a:xfrm>
            <a:off x="1920240" y="2606040"/>
            <a:ext cx="6035040" cy="1325880"/>
          </a:xfrm>
          <a:prstGeom prst="rect">
            <a:avLst/>
          </a:prstGeom>
          <a:noFill/>
        </p:spPr>
        <p:txBody>
          <a:bodyPr wrap="square" lIns="45720" rIns="45720" anchor="t"/>
          <a:lstStyle/>
          <a:p>
            <a:pPr algn="l">
              <a:lnSpc>
                <a:spcPct val="100000"/>
              </a:lnSpc>
              <a:spcAft>
                <a:spcPts val="100"/>
              </a:spcAft>
            </a:pPr>
            <a:r>
              <a:rPr sz="2100" b="0" i="0">
                <a:solidFill>
                  <a:srgbClr val="EDEDED"/>
                </a:solidFill>
                <a:latin typeface="Oswald"/>
              </a:rPr>
              <a:t>FEW COMPLETE MULTI-AGENT SECURITY SYSTEMS</a:t>
            </a:r>
          </a:p>
          <a:p>
            <a:pPr algn="l">
              <a:lnSpc>
                <a:spcPct val="98000"/>
              </a:lnSpc>
            </a:pPr>
            <a:r>
              <a:rPr sz="1650" b="0" i="0">
                <a:solidFill>
                  <a:srgbClr val="8E8E93"/>
                </a:solidFill>
                <a:latin typeface="Titillium Web"/>
              </a:rPr>
              <a:t>Frameworks show the idea; few open systems apply it end to end.</a:t>
            </a:r>
          </a:p>
        </p:txBody>
      </p:sp>
      <p:grpSp>
        <p:nvGrpSpPr>
          <p:cNvPr id="22" name="Gap answer 67"/>
          <p:cNvGrpSpPr/>
          <p:nvPr/>
        </p:nvGrpSpPr>
        <p:grpSpPr>
          <a:xfrm>
            <a:off x="8092440" y="2679192"/>
            <a:ext cx="4434840" cy="1024128"/>
            <a:chOff x="8092440" y="2679192"/>
            <a:chExt cx="4434840" cy="1024128"/>
          </a:xfrm>
        </p:grpSpPr>
        <p:sp>
          <p:nvSpPr>
            <p:cNvPr id="19" name="Answer light"/>
            <p:cNvSpPr/>
            <p:nvPr/>
          </p:nvSpPr>
          <p:spPr>
            <a:xfrm>
              <a:off x="8092440" y="2679192"/>
              <a:ext cx="4434840" cy="1024128"/>
            </a:xfrm>
            <a:prstGeom prst="roundRect">
              <a:avLst>
                <a:gd name="adj" fmla="val 5000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0" name="Answer"/>
            <p:cNvSpPr/>
            <p:nvPr/>
          </p:nvSpPr>
          <p:spPr>
            <a:xfrm>
              <a:off x="8092440" y="2679192"/>
              <a:ext cx="4434840" cy="1024128"/>
            </a:xfrm>
            <a:prstGeom prst="roundRect">
              <a:avLst>
                <a:gd name="adj" fmla="val 5000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Answer text"/>
            <p:cNvSpPr txBox="1"/>
            <p:nvPr/>
          </p:nvSpPr>
          <p:spPr>
            <a:xfrm>
              <a:off x="8366760" y="2679192"/>
              <a:ext cx="3931920" cy="1024128"/>
            </a:xfrm>
            <a:prstGeom prst="rect">
              <a:avLst/>
            </a:prstGeom>
            <a:noFill/>
          </p:spPr>
          <p:txBody>
            <a:bodyPr wrap="square" lIns="45720" rIns="45720" anchor="ctr"/>
            <a:lstStyle/>
            <a:p>
              <a:pPr algn="ctr">
                <a:lnSpc>
                  <a:spcPct val="95000"/>
                </a:lnSpc>
              </a:pPr>
              <a:r>
                <a:rPr sz="1750" b="0" i="0">
                  <a:solidFill>
                    <a:srgbClr val="C1FF72"/>
                  </a:solidFill>
                  <a:latin typeface="Titillium Web"/>
                </a:rPr>
                <a:t>A full working pipeline of connected agents</a:t>
              </a:r>
            </a:p>
          </p:txBody>
        </p:sp>
      </p:grpSp>
      <p:sp>
        <p:nvSpPr>
          <p:cNvPr id="23" name="Gap n 68"/>
          <p:cNvSpPr txBox="1"/>
          <p:nvPr/>
        </p:nvSpPr>
        <p:spPr>
          <a:xfrm>
            <a:off x="1005840" y="3977639"/>
            <a:ext cx="914400" cy="731520"/>
          </a:xfrm>
          <a:prstGeom prst="rect">
            <a:avLst/>
          </a:prstGeom>
          <a:noFill/>
        </p:spPr>
        <p:txBody>
          <a:bodyPr wrap="square" lIns="45720" rIns="45720" anchor="t"/>
          <a:lstStyle/>
          <a:p>
            <a:pPr algn="l">
              <a:lnSpc>
                <a:spcPct val="100000"/>
              </a:lnSpc>
            </a:pPr>
            <a:r>
              <a:rPr sz="3200" b="0" i="0">
                <a:solidFill>
                  <a:srgbClr val="C1FF72"/>
                </a:solidFill>
                <a:latin typeface="Oswald"/>
              </a:rPr>
              <a:t>G2</a:t>
            </a:r>
          </a:p>
        </p:txBody>
      </p:sp>
      <p:sp>
        <p:nvSpPr>
          <p:cNvPr id="24" name="Gap 69"/>
          <p:cNvSpPr txBox="1"/>
          <p:nvPr/>
        </p:nvSpPr>
        <p:spPr>
          <a:xfrm>
            <a:off x="1920240" y="3977639"/>
            <a:ext cx="6035040" cy="1325880"/>
          </a:xfrm>
          <a:prstGeom prst="rect">
            <a:avLst/>
          </a:prstGeom>
          <a:noFill/>
        </p:spPr>
        <p:txBody>
          <a:bodyPr wrap="square" lIns="45720" rIns="45720" anchor="t"/>
          <a:lstStyle/>
          <a:p>
            <a:pPr algn="l">
              <a:lnSpc>
                <a:spcPct val="100000"/>
              </a:lnSpc>
              <a:spcAft>
                <a:spcPts val="100"/>
              </a:spcAft>
            </a:pPr>
            <a:r>
              <a:rPr sz="2100" b="0" i="0">
                <a:solidFill>
                  <a:srgbClr val="EDEDED"/>
                </a:solidFill>
                <a:latin typeface="Oswald"/>
              </a:rPr>
              <a:t>MODEL AND SERVICE FAILURE</a:t>
            </a:r>
          </a:p>
          <a:p>
            <a:pPr algn="l">
              <a:lnSpc>
                <a:spcPct val="98000"/>
              </a:lnSpc>
            </a:pPr>
            <a:r>
              <a:rPr sz="1650" b="0" i="0">
                <a:solidFill>
                  <a:srgbClr val="8E8E93"/>
                </a:solidFill>
                <a:latin typeface="Titillium Web"/>
              </a:rPr>
              <a:t>Systems rarely say when a model or service did not answer.</a:t>
            </a:r>
          </a:p>
        </p:txBody>
      </p:sp>
      <p:grpSp>
        <p:nvGrpSpPr>
          <p:cNvPr id="28" name="Gap answer 70"/>
          <p:cNvGrpSpPr/>
          <p:nvPr/>
        </p:nvGrpSpPr>
        <p:grpSpPr>
          <a:xfrm>
            <a:off x="8092440" y="4050791"/>
            <a:ext cx="4434840" cy="1024128"/>
            <a:chOff x="8092440" y="4050791"/>
            <a:chExt cx="4434840" cy="1024128"/>
          </a:xfrm>
        </p:grpSpPr>
        <p:sp>
          <p:nvSpPr>
            <p:cNvPr id="25" name="Answer light"/>
            <p:cNvSpPr/>
            <p:nvPr/>
          </p:nvSpPr>
          <p:spPr>
            <a:xfrm>
              <a:off x="8092440" y="4050791"/>
              <a:ext cx="4434840" cy="1024128"/>
            </a:xfrm>
            <a:prstGeom prst="roundRect">
              <a:avLst>
                <a:gd name="adj" fmla="val 5000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6" name="Answer"/>
            <p:cNvSpPr/>
            <p:nvPr/>
          </p:nvSpPr>
          <p:spPr>
            <a:xfrm>
              <a:off x="8092440" y="4050791"/>
              <a:ext cx="4434840" cy="1024128"/>
            </a:xfrm>
            <a:prstGeom prst="roundRect">
              <a:avLst>
                <a:gd name="adj" fmla="val 5000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Answer text"/>
            <p:cNvSpPr txBox="1"/>
            <p:nvPr/>
          </p:nvSpPr>
          <p:spPr>
            <a:xfrm>
              <a:off x="8366760" y="4050791"/>
              <a:ext cx="3931920" cy="1024128"/>
            </a:xfrm>
            <a:prstGeom prst="rect">
              <a:avLst/>
            </a:prstGeom>
            <a:noFill/>
          </p:spPr>
          <p:txBody>
            <a:bodyPr wrap="square" lIns="45720" rIns="45720" anchor="ctr"/>
            <a:lstStyle/>
            <a:p>
              <a:pPr algn="ctr">
                <a:lnSpc>
                  <a:spcPct val="95000"/>
                </a:lnSpc>
              </a:pPr>
              <a:r>
                <a:rPr sz="1750" b="0" i="0">
                  <a:solidFill>
                    <a:srgbClr val="C1FF72"/>
                  </a:solidFill>
                  <a:latin typeface="Titillium Web"/>
                </a:rPr>
                <a:t>Capability readiness, explicit unknown states</a:t>
              </a:r>
            </a:p>
          </p:txBody>
        </p:sp>
      </p:grpSp>
      <p:sp>
        <p:nvSpPr>
          <p:cNvPr id="29" name="Gap n 71"/>
          <p:cNvSpPr txBox="1"/>
          <p:nvPr/>
        </p:nvSpPr>
        <p:spPr>
          <a:xfrm>
            <a:off x="1005840" y="5349240"/>
            <a:ext cx="914400" cy="731520"/>
          </a:xfrm>
          <a:prstGeom prst="rect">
            <a:avLst/>
          </a:prstGeom>
          <a:noFill/>
        </p:spPr>
        <p:txBody>
          <a:bodyPr wrap="square" lIns="45720" rIns="45720" anchor="t"/>
          <a:lstStyle/>
          <a:p>
            <a:pPr algn="l">
              <a:lnSpc>
                <a:spcPct val="100000"/>
              </a:lnSpc>
            </a:pPr>
            <a:r>
              <a:rPr sz="3200" b="0" i="0">
                <a:solidFill>
                  <a:srgbClr val="C1FF72"/>
                </a:solidFill>
                <a:latin typeface="Oswald"/>
              </a:rPr>
              <a:t>G3</a:t>
            </a:r>
          </a:p>
        </p:txBody>
      </p:sp>
      <p:sp>
        <p:nvSpPr>
          <p:cNvPr id="30" name="Gap 72"/>
          <p:cNvSpPr txBox="1"/>
          <p:nvPr/>
        </p:nvSpPr>
        <p:spPr>
          <a:xfrm>
            <a:off x="1920240" y="5349240"/>
            <a:ext cx="6035040" cy="1325880"/>
          </a:xfrm>
          <a:prstGeom prst="rect">
            <a:avLst/>
          </a:prstGeom>
          <a:noFill/>
        </p:spPr>
        <p:txBody>
          <a:bodyPr wrap="square" lIns="45720" rIns="45720" anchor="t"/>
          <a:lstStyle/>
          <a:p>
            <a:pPr algn="l">
              <a:lnSpc>
                <a:spcPct val="100000"/>
              </a:lnSpc>
              <a:spcAft>
                <a:spcPts val="100"/>
              </a:spcAft>
            </a:pPr>
            <a:r>
              <a:rPr sz="2100" b="0" i="0">
                <a:solidFill>
                  <a:srgbClr val="EDEDED"/>
                </a:solidFill>
                <a:latin typeface="Oswald"/>
              </a:rPr>
              <a:t>ACCURACY OVER REAL FALSE ALARMS</a:t>
            </a:r>
          </a:p>
          <a:p>
            <a:pPr algn="l">
              <a:lnSpc>
                <a:spcPct val="98000"/>
              </a:lnSpc>
            </a:pPr>
            <a:r>
              <a:rPr sz="1650" b="0" i="0">
                <a:solidFill>
                  <a:srgbClr val="8E8E93"/>
                </a:solidFill>
                <a:latin typeface="Titillium Web"/>
              </a:rPr>
              <a:t>Lab scores hide how often safe sites are flagged (Sommer &amp; Paxson, 2010).</a:t>
            </a:r>
          </a:p>
        </p:txBody>
      </p:sp>
      <p:grpSp>
        <p:nvGrpSpPr>
          <p:cNvPr id="34" name="Gap answer 73"/>
          <p:cNvGrpSpPr/>
          <p:nvPr/>
        </p:nvGrpSpPr>
        <p:grpSpPr>
          <a:xfrm>
            <a:off x="8092440" y="5422392"/>
            <a:ext cx="4434840" cy="1024128"/>
            <a:chOff x="8092440" y="5422392"/>
            <a:chExt cx="4434840" cy="1024128"/>
          </a:xfrm>
        </p:grpSpPr>
        <p:sp>
          <p:nvSpPr>
            <p:cNvPr id="31" name="Answer light"/>
            <p:cNvSpPr/>
            <p:nvPr/>
          </p:nvSpPr>
          <p:spPr>
            <a:xfrm>
              <a:off x="8092440" y="5422392"/>
              <a:ext cx="4434840" cy="1024128"/>
            </a:xfrm>
            <a:prstGeom prst="roundRect">
              <a:avLst>
                <a:gd name="adj" fmla="val 5000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2" name="Answer"/>
            <p:cNvSpPr/>
            <p:nvPr/>
          </p:nvSpPr>
          <p:spPr>
            <a:xfrm>
              <a:off x="8092440" y="5422392"/>
              <a:ext cx="4434840" cy="1024128"/>
            </a:xfrm>
            <a:prstGeom prst="roundRect">
              <a:avLst>
                <a:gd name="adj" fmla="val 5000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Answer text"/>
            <p:cNvSpPr txBox="1"/>
            <p:nvPr/>
          </p:nvSpPr>
          <p:spPr>
            <a:xfrm>
              <a:off x="8366760" y="5422392"/>
              <a:ext cx="3931920" cy="1024128"/>
            </a:xfrm>
            <a:prstGeom prst="rect">
              <a:avLst/>
            </a:prstGeom>
            <a:noFill/>
          </p:spPr>
          <p:txBody>
            <a:bodyPr wrap="square" lIns="45720" rIns="45720" anchor="ctr"/>
            <a:lstStyle/>
            <a:p>
              <a:pPr algn="ctr">
                <a:lnSpc>
                  <a:spcPct val="95000"/>
                </a:lnSpc>
              </a:pPr>
              <a:r>
                <a:rPr sz="1750" b="0" i="0">
                  <a:solidFill>
                    <a:srgbClr val="C1FF72"/>
                  </a:solidFill>
                  <a:latin typeface="Titillium Web"/>
                </a:rPr>
                <a:t>Multi-signal aggregation for few false alarms</a:t>
              </a:r>
            </a:p>
          </p:txBody>
        </p:sp>
      </p:grpSp>
      <p:sp>
        <p:nvSpPr>
          <p:cNvPr id="35" name="Gap n 74"/>
          <p:cNvSpPr txBox="1"/>
          <p:nvPr/>
        </p:nvSpPr>
        <p:spPr>
          <a:xfrm>
            <a:off x="1005840" y="6720840"/>
            <a:ext cx="914400" cy="731520"/>
          </a:xfrm>
          <a:prstGeom prst="rect">
            <a:avLst/>
          </a:prstGeom>
          <a:noFill/>
        </p:spPr>
        <p:txBody>
          <a:bodyPr wrap="square" lIns="45720" rIns="45720" anchor="t"/>
          <a:lstStyle/>
          <a:p>
            <a:pPr algn="l">
              <a:lnSpc>
                <a:spcPct val="100000"/>
              </a:lnSpc>
            </a:pPr>
            <a:r>
              <a:rPr sz="3200" b="0" i="0">
                <a:solidFill>
                  <a:srgbClr val="C1FF72"/>
                </a:solidFill>
                <a:latin typeface="Oswald"/>
              </a:rPr>
              <a:t>G4</a:t>
            </a:r>
          </a:p>
        </p:txBody>
      </p:sp>
      <p:sp>
        <p:nvSpPr>
          <p:cNvPr id="36" name="Gap 75"/>
          <p:cNvSpPr txBox="1"/>
          <p:nvPr/>
        </p:nvSpPr>
        <p:spPr>
          <a:xfrm>
            <a:off x="1920240" y="6720840"/>
            <a:ext cx="6035040" cy="1325880"/>
          </a:xfrm>
          <a:prstGeom prst="rect">
            <a:avLst/>
          </a:prstGeom>
          <a:noFill/>
        </p:spPr>
        <p:txBody>
          <a:bodyPr wrap="square" lIns="45720" rIns="45720" anchor="t"/>
          <a:lstStyle/>
          <a:p>
            <a:pPr algn="l">
              <a:lnSpc>
                <a:spcPct val="100000"/>
              </a:lnSpc>
              <a:spcAft>
                <a:spcPts val="100"/>
              </a:spcAft>
            </a:pPr>
            <a:r>
              <a:rPr sz="2100" b="0" i="0">
                <a:solidFill>
                  <a:srgbClr val="EDEDED"/>
                </a:solidFill>
                <a:latin typeface="Oswald"/>
              </a:rPr>
              <a:t>HISTORICAL CONTEXT UNUSED</a:t>
            </a:r>
          </a:p>
          <a:p>
            <a:pPr algn="l">
              <a:lnSpc>
                <a:spcPct val="98000"/>
              </a:lnSpc>
            </a:pPr>
            <a:r>
              <a:rPr sz="1650" b="0" i="0">
                <a:solidFill>
                  <a:srgbClr val="8E8E93"/>
                </a:solidFill>
                <a:latin typeface="Titillium Web"/>
              </a:rPr>
              <a:t>Past observations are rarely reused later (Park et al., 2023).</a:t>
            </a:r>
          </a:p>
        </p:txBody>
      </p:sp>
      <p:grpSp>
        <p:nvGrpSpPr>
          <p:cNvPr id="40" name="Gap answer 76"/>
          <p:cNvGrpSpPr/>
          <p:nvPr/>
        </p:nvGrpSpPr>
        <p:grpSpPr>
          <a:xfrm>
            <a:off x="8092440" y="6793992"/>
            <a:ext cx="4434840" cy="1024128"/>
            <a:chOff x="8092440" y="6793992"/>
            <a:chExt cx="4434840" cy="1024128"/>
          </a:xfrm>
        </p:grpSpPr>
        <p:sp>
          <p:nvSpPr>
            <p:cNvPr id="37" name="Answer light"/>
            <p:cNvSpPr/>
            <p:nvPr/>
          </p:nvSpPr>
          <p:spPr>
            <a:xfrm>
              <a:off x="8092440" y="6793992"/>
              <a:ext cx="4434840" cy="1024128"/>
            </a:xfrm>
            <a:prstGeom prst="roundRect">
              <a:avLst>
                <a:gd name="adj" fmla="val 5000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8" name="Answer"/>
            <p:cNvSpPr/>
            <p:nvPr/>
          </p:nvSpPr>
          <p:spPr>
            <a:xfrm>
              <a:off x="8092440" y="6793992"/>
              <a:ext cx="4434840" cy="1024128"/>
            </a:xfrm>
            <a:prstGeom prst="roundRect">
              <a:avLst>
                <a:gd name="adj" fmla="val 5000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9" name="Answer text"/>
            <p:cNvSpPr txBox="1"/>
            <p:nvPr/>
          </p:nvSpPr>
          <p:spPr>
            <a:xfrm>
              <a:off x="8366760" y="6793992"/>
              <a:ext cx="3931920" cy="1024128"/>
            </a:xfrm>
            <a:prstGeom prst="rect">
              <a:avLst/>
            </a:prstGeom>
            <a:noFill/>
          </p:spPr>
          <p:txBody>
            <a:bodyPr wrap="square" lIns="45720" rIns="45720" anchor="ctr"/>
            <a:lstStyle/>
            <a:p>
              <a:pPr algn="ctr">
                <a:lnSpc>
                  <a:spcPct val="95000"/>
                </a:lnSpc>
              </a:pPr>
              <a:r>
                <a:rPr sz="1750" b="0" i="0">
                  <a:solidFill>
                    <a:srgbClr val="C1FF72"/>
                  </a:solidFill>
                  <a:latin typeface="Titillium Web"/>
                </a:rPr>
                <a:t>Memory supplies prior verdicts as context</a:t>
              </a:r>
            </a:p>
          </p:txBody>
        </p:sp>
      </p:grpSp>
      <p:sp>
        <p:nvSpPr>
          <p:cNvPr id="41" name="Gap n 77"/>
          <p:cNvSpPr txBox="1"/>
          <p:nvPr/>
        </p:nvSpPr>
        <p:spPr>
          <a:xfrm>
            <a:off x="1005840" y="8092440"/>
            <a:ext cx="914400" cy="731520"/>
          </a:xfrm>
          <a:prstGeom prst="rect">
            <a:avLst/>
          </a:prstGeom>
          <a:noFill/>
        </p:spPr>
        <p:txBody>
          <a:bodyPr wrap="square" lIns="45720" rIns="45720" anchor="t"/>
          <a:lstStyle/>
          <a:p>
            <a:pPr algn="l">
              <a:lnSpc>
                <a:spcPct val="100000"/>
              </a:lnSpc>
            </a:pPr>
            <a:r>
              <a:rPr sz="3200" b="0" i="0">
                <a:solidFill>
                  <a:srgbClr val="C1FF72"/>
                </a:solidFill>
                <a:latin typeface="Oswald"/>
              </a:rPr>
              <a:t>G5</a:t>
            </a:r>
          </a:p>
        </p:txBody>
      </p:sp>
      <p:sp>
        <p:nvSpPr>
          <p:cNvPr id="42" name="Gap 78"/>
          <p:cNvSpPr txBox="1"/>
          <p:nvPr/>
        </p:nvSpPr>
        <p:spPr>
          <a:xfrm>
            <a:off x="1920240" y="8092440"/>
            <a:ext cx="6035040" cy="1325880"/>
          </a:xfrm>
          <a:prstGeom prst="rect">
            <a:avLst/>
          </a:prstGeom>
          <a:noFill/>
        </p:spPr>
        <p:txBody>
          <a:bodyPr wrap="square" lIns="45720" rIns="45720" anchor="t"/>
          <a:lstStyle/>
          <a:p>
            <a:pPr algn="l">
              <a:lnSpc>
                <a:spcPct val="100000"/>
              </a:lnSpc>
              <a:spcAft>
                <a:spcPts val="100"/>
              </a:spcAft>
            </a:pPr>
            <a:r>
              <a:rPr sz="2100" b="0" i="0">
                <a:solidFill>
                  <a:srgbClr val="EDEDED"/>
                </a:solidFill>
                <a:latin typeface="Oswald"/>
              </a:rPr>
              <a:t>HARD TO REPRODUCE</a:t>
            </a:r>
          </a:p>
          <a:p>
            <a:pPr algn="l">
              <a:lnSpc>
                <a:spcPct val="98000"/>
              </a:lnSpc>
            </a:pPr>
            <a:r>
              <a:rPr sz="1650" b="0" i="0">
                <a:solidFill>
                  <a:srgbClr val="8E8E93"/>
                </a:solidFill>
                <a:latin typeface="Titillium Web"/>
              </a:rPr>
              <a:t>Private data, closed systems, costly infrastructure.</a:t>
            </a:r>
          </a:p>
        </p:txBody>
      </p:sp>
      <p:grpSp>
        <p:nvGrpSpPr>
          <p:cNvPr id="46" name="Gap answer 79"/>
          <p:cNvGrpSpPr/>
          <p:nvPr/>
        </p:nvGrpSpPr>
        <p:grpSpPr>
          <a:xfrm>
            <a:off x="8092440" y="8165592"/>
            <a:ext cx="4434840" cy="1024128"/>
            <a:chOff x="8092440" y="8165592"/>
            <a:chExt cx="4434840" cy="1024128"/>
          </a:xfrm>
        </p:grpSpPr>
        <p:sp>
          <p:nvSpPr>
            <p:cNvPr id="43" name="Answer light"/>
            <p:cNvSpPr/>
            <p:nvPr/>
          </p:nvSpPr>
          <p:spPr>
            <a:xfrm>
              <a:off x="8092440" y="8165592"/>
              <a:ext cx="4434840" cy="1024128"/>
            </a:xfrm>
            <a:prstGeom prst="roundRect">
              <a:avLst>
                <a:gd name="adj" fmla="val 5000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4" name="Answer"/>
            <p:cNvSpPr/>
            <p:nvPr/>
          </p:nvSpPr>
          <p:spPr>
            <a:xfrm>
              <a:off x="8092440" y="8165592"/>
              <a:ext cx="4434840" cy="1024128"/>
            </a:xfrm>
            <a:prstGeom prst="roundRect">
              <a:avLst>
                <a:gd name="adj" fmla="val 5000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5" name="Answer text"/>
            <p:cNvSpPr txBox="1"/>
            <p:nvPr/>
          </p:nvSpPr>
          <p:spPr>
            <a:xfrm>
              <a:off x="8366760" y="8165592"/>
              <a:ext cx="3931920" cy="1024128"/>
            </a:xfrm>
            <a:prstGeom prst="rect">
              <a:avLst/>
            </a:prstGeom>
            <a:noFill/>
          </p:spPr>
          <p:txBody>
            <a:bodyPr wrap="square" lIns="45720" rIns="45720" anchor="ctr"/>
            <a:lstStyle/>
            <a:p>
              <a:pPr algn="ctr">
                <a:lnSpc>
                  <a:spcPct val="95000"/>
                </a:lnSpc>
              </a:pPr>
              <a:r>
                <a:rPr sz="1750" b="0" i="0">
                  <a:solidFill>
                    <a:srgbClr val="C1FF72"/>
                  </a:solidFill>
                  <a:latin typeface="Titillium Web"/>
                </a:rPr>
                <a:t>Public tools and modular, testable services</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anim calcmode="lin" valueType="num">
                                      <p:cBhvr>
                                        <p:cTn id="11" dur="500" fill="hold"/>
                                        <p:tgtEl>
                                          <p:spTgt spid="12"/>
                                        </p:tgtEl>
                                        <p:attrNameLst>
                                          <p:attrName>ppt_x</p:attrName>
                                        </p:attrNameLst>
                                      </p:cBhvr>
                                      <p:tavLst>
                                        <p:tav tm="0">
                                          <p:val>
                                            <p:strVal val="#ppt_x"/>
                                          </p:val>
                                        </p:tav>
                                        <p:tav tm="100000">
                                          <p:val>
                                            <p:strVal val="#ppt_x"/>
                                          </p:val>
                                        </p:tav>
                                      </p:tavLst>
                                    </p:anim>
                                    <p:anim calcmode="lin" valueType="num">
                                      <p:cBhvr>
                                        <p:cTn id="12" dur="450" decel="100000" fill="hold"/>
                                        <p:tgtEl>
                                          <p:spTgt spid="12"/>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par>
                          <p:cTn id="14" fill="hold">
                            <p:stCondLst>
                              <p:cond delay="115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2000"/>
                            </p:stCondLst>
                            <p:childTnLst>
                              <p:par>
                                <p:cTn id="19" presetID="53" presetClass="entr" presetSubtype="16" fill="hold" grpId="0" nodeType="after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250" fill="hold"/>
                                        <p:tgtEl>
                                          <p:spTgt spid="17"/>
                                        </p:tgtEl>
                                        <p:attrNameLst>
                                          <p:attrName>ppt_w</p:attrName>
                                        </p:attrNameLst>
                                      </p:cBhvr>
                                      <p:tavLst>
                                        <p:tav tm="0">
                                          <p:val>
                                            <p:fltVal val="0"/>
                                          </p:val>
                                        </p:tav>
                                        <p:tav tm="100000">
                                          <p:val>
                                            <p:strVal val="#ppt_w"/>
                                          </p:val>
                                        </p:tav>
                                      </p:tavLst>
                                    </p:anim>
                                    <p:anim calcmode="lin" valueType="num">
                                      <p:cBhvr>
                                        <p:cTn id="22" dur="250" fill="hold"/>
                                        <p:tgtEl>
                                          <p:spTgt spid="17"/>
                                        </p:tgtEl>
                                        <p:attrNameLst>
                                          <p:attrName>ppt_h</p:attrName>
                                        </p:attrNameLst>
                                      </p:cBhvr>
                                      <p:tavLst>
                                        <p:tav tm="0">
                                          <p:val>
                                            <p:fltVal val="0"/>
                                          </p:val>
                                        </p:tav>
                                        <p:tav tm="100000">
                                          <p:val>
                                            <p:strVal val="#ppt_h"/>
                                          </p:val>
                                        </p:tav>
                                      </p:tavLst>
                                    </p:anim>
                                    <p:animEffect transition="in" filter="fade">
                                      <p:cBhvr>
                                        <p:cTn id="23" dur="250"/>
                                        <p:tgtEl>
                                          <p:spTgt spid="17"/>
                                        </p:tgtEl>
                                      </p:cBhvr>
                                    </p:animEffect>
                                  </p:childTnLst>
                                </p:cTn>
                              </p:par>
                              <p:par>
                                <p:cTn id="24" presetID="37" presetClass="entr" presetSubtype="0" fill="hold" grpId="0" nodeType="withEffect">
                                  <p:stCondLst>
                                    <p:cond delay="0"/>
                                  </p:stCondLst>
                                  <p:childTnLst>
                                    <p:set>
                                      <p:cBhvr>
                                        <p:cTn id="25" dur="1" fill="hold">
                                          <p:stCondLst>
                                            <p:cond delay="0"/>
                                          </p:stCondLst>
                                        </p:cTn>
                                        <p:tgtEl>
                                          <p:spTgt spid="18">
                                            <p:txEl>
                                              <p:pRg st="0" end="0"/>
                                            </p:txEl>
                                          </p:spTgt>
                                        </p:tgtEl>
                                        <p:attrNameLst>
                                          <p:attrName>style.visibility</p:attrName>
                                        </p:attrNameLst>
                                      </p:cBhvr>
                                      <p:to>
                                        <p:strVal val="visible"/>
                                      </p:to>
                                    </p:set>
                                    <p:animEffect transition="in" filter="fade">
                                      <p:cBhvr>
                                        <p:cTn id="26" dur="400"/>
                                        <p:tgtEl>
                                          <p:spTgt spid="18">
                                            <p:txEl>
                                              <p:pRg st="0" end="0"/>
                                            </p:txEl>
                                          </p:spTgt>
                                        </p:tgtEl>
                                      </p:cBhvr>
                                    </p:animEffect>
                                    <p:anim calcmode="lin" valueType="num">
                                      <p:cBhvr>
                                        <p:cTn id="27" dur="4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28" dur="360" decel="100000" fill="hold"/>
                                        <p:tgtEl>
                                          <p:spTgt spid="18">
                                            <p:txEl>
                                              <p:pRg st="0" end="0"/>
                                            </p:txEl>
                                          </p:spTgt>
                                        </p:tgtEl>
                                        <p:attrNameLst>
                                          <p:attrName>ppt_y</p:attrName>
                                        </p:attrNameLst>
                                      </p:cBhvr>
                                      <p:tavLst>
                                        <p:tav tm="0">
                                          <p:val>
                                            <p:strVal val="#ppt_y+1"/>
                                          </p:val>
                                        </p:tav>
                                        <p:tav tm="100000">
                                          <p:val>
                                            <p:strVal val="#ppt_y-.03"/>
                                          </p:val>
                                        </p:tav>
                                      </p:tavLst>
                                    </p:anim>
                                    <p:anim calcmode="lin" valueType="num">
                                      <p:cBhvr>
                                        <p:cTn id="29" dur="40" accel="100000" fill="hold">
                                          <p:stCondLst>
                                            <p:cond delay="360"/>
                                          </p:stCondLst>
                                        </p:cTn>
                                        <p:tgtEl>
                                          <p:spTgt spid="18">
                                            <p:txEl>
                                              <p:pRg st="0" end="0"/>
                                            </p:txEl>
                                          </p:spTgt>
                                        </p:tgtEl>
                                        <p:attrNameLst>
                                          <p:attrName>ppt_y</p:attrName>
                                        </p:attrNameLst>
                                      </p:cBhvr>
                                      <p:tavLst>
                                        <p:tav tm="0">
                                          <p:val>
                                            <p:strVal val="#ppt_y-.03"/>
                                          </p:val>
                                        </p:tav>
                                        <p:tav tm="100000">
                                          <p:val>
                                            <p:strVal val="#ppt_y"/>
                                          </p:val>
                                        </p:tav>
                                      </p:tavLst>
                                    </p:anim>
                                  </p:childTnLst>
                                </p:cTn>
                              </p:par>
                            </p:childTnLst>
                          </p:cTn>
                        </p:par>
                        <p:par>
                          <p:cTn id="30" fill="hold">
                            <p:stCondLst>
                              <p:cond delay="2400"/>
                            </p:stCondLst>
                            <p:childTnLst>
                              <p:par>
                                <p:cTn id="31" presetID="37" presetClass="entr" presetSubtype="0" fill="hold" grpId="0" nodeType="afterEffect">
                                  <p:stCondLst>
                                    <p:cond delay="0"/>
                                  </p:stCondLst>
                                  <p:childTnLst>
                                    <p:set>
                                      <p:cBhvr>
                                        <p:cTn id="32" dur="1" fill="hold">
                                          <p:stCondLst>
                                            <p:cond delay="0"/>
                                          </p:stCondLst>
                                        </p:cTn>
                                        <p:tgtEl>
                                          <p:spTgt spid="18">
                                            <p:txEl>
                                              <p:pRg st="1" end="1"/>
                                            </p:txEl>
                                          </p:spTgt>
                                        </p:tgtEl>
                                        <p:attrNameLst>
                                          <p:attrName>style.visibility</p:attrName>
                                        </p:attrNameLst>
                                      </p:cBhvr>
                                      <p:to>
                                        <p:strVal val="visible"/>
                                      </p:to>
                                    </p:set>
                                    <p:animEffect transition="in" filter="fade">
                                      <p:cBhvr>
                                        <p:cTn id="33" dur="400"/>
                                        <p:tgtEl>
                                          <p:spTgt spid="18">
                                            <p:txEl>
                                              <p:pRg st="1" end="1"/>
                                            </p:txEl>
                                          </p:spTgt>
                                        </p:tgtEl>
                                      </p:cBhvr>
                                    </p:animEffect>
                                    <p:anim calcmode="lin" valueType="num">
                                      <p:cBhvr>
                                        <p:cTn id="34" dur="400" fill="hold"/>
                                        <p:tgtEl>
                                          <p:spTgt spid="18">
                                            <p:txEl>
                                              <p:pRg st="1" end="1"/>
                                            </p:txEl>
                                          </p:spTgt>
                                        </p:tgtEl>
                                        <p:attrNameLst>
                                          <p:attrName>ppt_x</p:attrName>
                                        </p:attrNameLst>
                                      </p:cBhvr>
                                      <p:tavLst>
                                        <p:tav tm="0">
                                          <p:val>
                                            <p:strVal val="#ppt_x"/>
                                          </p:val>
                                        </p:tav>
                                        <p:tav tm="100000">
                                          <p:val>
                                            <p:strVal val="#ppt_x"/>
                                          </p:val>
                                        </p:tav>
                                      </p:tavLst>
                                    </p:anim>
                                    <p:anim calcmode="lin" valueType="num">
                                      <p:cBhvr>
                                        <p:cTn id="35" dur="360" decel="100000" fill="hold"/>
                                        <p:tgtEl>
                                          <p:spTgt spid="18">
                                            <p:txEl>
                                              <p:pRg st="1" end="1"/>
                                            </p:txEl>
                                          </p:spTgt>
                                        </p:tgtEl>
                                        <p:attrNameLst>
                                          <p:attrName>ppt_y</p:attrName>
                                        </p:attrNameLst>
                                      </p:cBhvr>
                                      <p:tavLst>
                                        <p:tav tm="0">
                                          <p:val>
                                            <p:strVal val="#ppt_y+1"/>
                                          </p:val>
                                        </p:tav>
                                        <p:tav tm="100000">
                                          <p:val>
                                            <p:strVal val="#ppt_y-.03"/>
                                          </p:val>
                                        </p:tav>
                                      </p:tavLst>
                                    </p:anim>
                                    <p:anim calcmode="lin" valueType="num">
                                      <p:cBhvr>
                                        <p:cTn id="36" dur="40" accel="100000" fill="hold">
                                          <p:stCondLst>
                                            <p:cond delay="360"/>
                                          </p:stCondLst>
                                        </p:cTn>
                                        <p:tgtEl>
                                          <p:spTgt spid="18">
                                            <p:txEl>
                                              <p:pRg st="1" end="1"/>
                                            </p:txEl>
                                          </p:spTgt>
                                        </p:tgtEl>
                                        <p:attrNameLst>
                                          <p:attrName>ppt_y</p:attrName>
                                        </p:attrNameLst>
                                      </p:cBhvr>
                                      <p:tavLst>
                                        <p:tav tm="0">
                                          <p:val>
                                            <p:strVal val="#ppt_y-.03"/>
                                          </p:val>
                                        </p:tav>
                                        <p:tav tm="100000">
                                          <p:val>
                                            <p:strVal val="#ppt_y"/>
                                          </p:val>
                                        </p:tav>
                                      </p:tavLst>
                                    </p:anim>
                                  </p:childTnLst>
                                </p:cTn>
                              </p:par>
                            </p:childTnLst>
                          </p:cTn>
                        </p:par>
                        <p:par>
                          <p:cTn id="37" fill="hold">
                            <p:stCondLst>
                              <p:cond delay="2800"/>
                            </p:stCondLst>
                            <p:childTnLst>
                              <p:par>
                                <p:cTn id="38" presetID="2" presetClass="entr" presetSubtype="2" fill="hold" nodeType="afterEffect">
                                  <p:stCondLst>
                                    <p:cond delay="0"/>
                                  </p:stCondLst>
                                  <p:childTnLst>
                                    <p:set>
                                      <p:cBhvr>
                                        <p:cTn id="39" dur="1" fill="hold">
                                          <p:stCondLst>
                                            <p:cond delay="0"/>
                                          </p:stCondLst>
                                        </p:cTn>
                                        <p:tgtEl>
                                          <p:spTgt spid="22"/>
                                        </p:tgtEl>
                                        <p:attrNameLst>
                                          <p:attrName>style.visibility</p:attrName>
                                        </p:attrNameLst>
                                      </p:cBhvr>
                                      <p:to>
                                        <p:strVal val="visible"/>
                                      </p:to>
                                    </p:set>
                                    <p:anim calcmode="lin" valueType="num">
                                      <p:cBhvr additive="base">
                                        <p:cTn id="40" dur="500" fill="hold"/>
                                        <p:tgtEl>
                                          <p:spTgt spid="22"/>
                                        </p:tgtEl>
                                        <p:attrNameLst>
                                          <p:attrName>ppt_x</p:attrName>
                                        </p:attrNameLst>
                                      </p:cBhvr>
                                      <p:tavLst>
                                        <p:tav tm="0">
                                          <p:val>
                                            <p:strVal val="1+#ppt_w/2"/>
                                          </p:val>
                                        </p:tav>
                                        <p:tav tm="100000">
                                          <p:val>
                                            <p:strVal val="#ppt_x"/>
                                          </p:val>
                                        </p:tav>
                                      </p:tavLst>
                                    </p:anim>
                                    <p:anim calcmode="lin" valueType="num">
                                      <p:cBhvr additive="base">
                                        <p:cTn id="41" dur="500" fill="hold"/>
                                        <p:tgtEl>
                                          <p:spTgt spid="22"/>
                                        </p:tgtEl>
                                        <p:attrNameLst>
                                          <p:attrName>ppt_y</p:attrName>
                                        </p:attrNameLst>
                                      </p:cBhvr>
                                      <p:tavLst>
                                        <p:tav tm="0">
                                          <p:val>
                                            <p:strVal val="#ppt_y"/>
                                          </p:val>
                                        </p:tav>
                                        <p:tav tm="100000">
                                          <p:val>
                                            <p:strVal val="#ppt_y"/>
                                          </p:val>
                                        </p:tav>
                                      </p:tavLst>
                                    </p:anim>
                                  </p:childTnLst>
                                </p:cTn>
                              </p:par>
                            </p:childTnLst>
                          </p:cTn>
                        </p:par>
                        <p:par>
                          <p:cTn id="42" fill="hold">
                            <p:stCondLst>
                              <p:cond delay="3300"/>
                            </p:stCondLst>
                            <p:childTnLst>
                              <p:par>
                                <p:cTn id="43" presetID="53" presetClass="entr" presetSubtype="16" fill="hold" grpId="0" nodeType="afterEffect">
                                  <p:stCondLst>
                                    <p:cond delay="0"/>
                                  </p:stCondLst>
                                  <p:childTnLst>
                                    <p:set>
                                      <p:cBhvr>
                                        <p:cTn id="44" dur="1" fill="hold">
                                          <p:stCondLst>
                                            <p:cond delay="0"/>
                                          </p:stCondLst>
                                        </p:cTn>
                                        <p:tgtEl>
                                          <p:spTgt spid="23"/>
                                        </p:tgtEl>
                                        <p:attrNameLst>
                                          <p:attrName>style.visibility</p:attrName>
                                        </p:attrNameLst>
                                      </p:cBhvr>
                                      <p:to>
                                        <p:strVal val="visible"/>
                                      </p:to>
                                    </p:set>
                                    <p:anim calcmode="lin" valueType="num">
                                      <p:cBhvr>
                                        <p:cTn id="45" dur="250" fill="hold"/>
                                        <p:tgtEl>
                                          <p:spTgt spid="23"/>
                                        </p:tgtEl>
                                        <p:attrNameLst>
                                          <p:attrName>ppt_w</p:attrName>
                                        </p:attrNameLst>
                                      </p:cBhvr>
                                      <p:tavLst>
                                        <p:tav tm="0">
                                          <p:val>
                                            <p:fltVal val="0"/>
                                          </p:val>
                                        </p:tav>
                                        <p:tav tm="100000">
                                          <p:val>
                                            <p:strVal val="#ppt_w"/>
                                          </p:val>
                                        </p:tav>
                                      </p:tavLst>
                                    </p:anim>
                                    <p:anim calcmode="lin" valueType="num">
                                      <p:cBhvr>
                                        <p:cTn id="46" dur="250" fill="hold"/>
                                        <p:tgtEl>
                                          <p:spTgt spid="23"/>
                                        </p:tgtEl>
                                        <p:attrNameLst>
                                          <p:attrName>ppt_h</p:attrName>
                                        </p:attrNameLst>
                                      </p:cBhvr>
                                      <p:tavLst>
                                        <p:tav tm="0">
                                          <p:val>
                                            <p:fltVal val="0"/>
                                          </p:val>
                                        </p:tav>
                                        <p:tav tm="100000">
                                          <p:val>
                                            <p:strVal val="#ppt_h"/>
                                          </p:val>
                                        </p:tav>
                                      </p:tavLst>
                                    </p:anim>
                                    <p:animEffect transition="in" filter="fade">
                                      <p:cBhvr>
                                        <p:cTn id="47" dur="250"/>
                                        <p:tgtEl>
                                          <p:spTgt spid="23"/>
                                        </p:tgtEl>
                                      </p:cBhvr>
                                    </p:animEffect>
                                  </p:childTnLst>
                                </p:cTn>
                              </p:par>
                              <p:par>
                                <p:cTn id="48" presetID="37" presetClass="entr" presetSubtype="0" fill="hold" grpId="0" nodeType="withEffect">
                                  <p:stCondLst>
                                    <p:cond delay="0"/>
                                  </p:stCondLst>
                                  <p:childTnLst>
                                    <p:set>
                                      <p:cBhvr>
                                        <p:cTn id="49" dur="1" fill="hold">
                                          <p:stCondLst>
                                            <p:cond delay="0"/>
                                          </p:stCondLst>
                                        </p:cTn>
                                        <p:tgtEl>
                                          <p:spTgt spid="24">
                                            <p:txEl>
                                              <p:pRg st="0" end="0"/>
                                            </p:txEl>
                                          </p:spTgt>
                                        </p:tgtEl>
                                        <p:attrNameLst>
                                          <p:attrName>style.visibility</p:attrName>
                                        </p:attrNameLst>
                                      </p:cBhvr>
                                      <p:to>
                                        <p:strVal val="visible"/>
                                      </p:to>
                                    </p:set>
                                    <p:animEffect transition="in" filter="fade">
                                      <p:cBhvr>
                                        <p:cTn id="50" dur="400"/>
                                        <p:tgtEl>
                                          <p:spTgt spid="24">
                                            <p:txEl>
                                              <p:pRg st="0" end="0"/>
                                            </p:txEl>
                                          </p:spTgt>
                                        </p:tgtEl>
                                      </p:cBhvr>
                                    </p:animEffect>
                                    <p:anim calcmode="lin" valueType="num">
                                      <p:cBhvr>
                                        <p:cTn id="51" dur="400" fill="hold"/>
                                        <p:tgtEl>
                                          <p:spTgt spid="24">
                                            <p:txEl>
                                              <p:pRg st="0" end="0"/>
                                            </p:txEl>
                                          </p:spTgt>
                                        </p:tgtEl>
                                        <p:attrNameLst>
                                          <p:attrName>ppt_x</p:attrName>
                                        </p:attrNameLst>
                                      </p:cBhvr>
                                      <p:tavLst>
                                        <p:tav tm="0">
                                          <p:val>
                                            <p:strVal val="#ppt_x"/>
                                          </p:val>
                                        </p:tav>
                                        <p:tav tm="100000">
                                          <p:val>
                                            <p:strVal val="#ppt_x"/>
                                          </p:val>
                                        </p:tav>
                                      </p:tavLst>
                                    </p:anim>
                                    <p:anim calcmode="lin" valueType="num">
                                      <p:cBhvr>
                                        <p:cTn id="52" dur="360" decel="100000" fill="hold"/>
                                        <p:tgtEl>
                                          <p:spTgt spid="24">
                                            <p:txEl>
                                              <p:pRg st="0" end="0"/>
                                            </p:txEl>
                                          </p:spTgt>
                                        </p:tgtEl>
                                        <p:attrNameLst>
                                          <p:attrName>ppt_y</p:attrName>
                                        </p:attrNameLst>
                                      </p:cBhvr>
                                      <p:tavLst>
                                        <p:tav tm="0">
                                          <p:val>
                                            <p:strVal val="#ppt_y+1"/>
                                          </p:val>
                                        </p:tav>
                                        <p:tav tm="100000">
                                          <p:val>
                                            <p:strVal val="#ppt_y-.03"/>
                                          </p:val>
                                        </p:tav>
                                      </p:tavLst>
                                    </p:anim>
                                    <p:anim calcmode="lin" valueType="num">
                                      <p:cBhvr>
                                        <p:cTn id="53" dur="40" accel="100000" fill="hold">
                                          <p:stCondLst>
                                            <p:cond delay="360"/>
                                          </p:stCondLst>
                                        </p:cTn>
                                        <p:tgtEl>
                                          <p:spTgt spid="24">
                                            <p:txEl>
                                              <p:pRg st="0" end="0"/>
                                            </p:txEl>
                                          </p:spTgt>
                                        </p:tgtEl>
                                        <p:attrNameLst>
                                          <p:attrName>ppt_y</p:attrName>
                                        </p:attrNameLst>
                                      </p:cBhvr>
                                      <p:tavLst>
                                        <p:tav tm="0">
                                          <p:val>
                                            <p:strVal val="#ppt_y-.03"/>
                                          </p:val>
                                        </p:tav>
                                        <p:tav tm="100000">
                                          <p:val>
                                            <p:strVal val="#ppt_y"/>
                                          </p:val>
                                        </p:tav>
                                      </p:tavLst>
                                    </p:anim>
                                  </p:childTnLst>
                                </p:cTn>
                              </p:par>
                            </p:childTnLst>
                          </p:cTn>
                        </p:par>
                        <p:par>
                          <p:cTn id="54" fill="hold">
                            <p:stCondLst>
                              <p:cond delay="3700"/>
                            </p:stCondLst>
                            <p:childTnLst>
                              <p:par>
                                <p:cTn id="55" presetID="37" presetClass="entr" presetSubtype="0" fill="hold" grpId="0" nodeType="afterEffect">
                                  <p:stCondLst>
                                    <p:cond delay="0"/>
                                  </p:stCondLst>
                                  <p:childTnLst>
                                    <p:set>
                                      <p:cBhvr>
                                        <p:cTn id="56" dur="1" fill="hold">
                                          <p:stCondLst>
                                            <p:cond delay="0"/>
                                          </p:stCondLst>
                                        </p:cTn>
                                        <p:tgtEl>
                                          <p:spTgt spid="24">
                                            <p:txEl>
                                              <p:pRg st="1" end="1"/>
                                            </p:txEl>
                                          </p:spTgt>
                                        </p:tgtEl>
                                        <p:attrNameLst>
                                          <p:attrName>style.visibility</p:attrName>
                                        </p:attrNameLst>
                                      </p:cBhvr>
                                      <p:to>
                                        <p:strVal val="visible"/>
                                      </p:to>
                                    </p:set>
                                    <p:animEffect transition="in" filter="fade">
                                      <p:cBhvr>
                                        <p:cTn id="57" dur="400"/>
                                        <p:tgtEl>
                                          <p:spTgt spid="24">
                                            <p:txEl>
                                              <p:pRg st="1" end="1"/>
                                            </p:txEl>
                                          </p:spTgt>
                                        </p:tgtEl>
                                      </p:cBhvr>
                                    </p:animEffect>
                                    <p:anim calcmode="lin" valueType="num">
                                      <p:cBhvr>
                                        <p:cTn id="58" dur="400" fill="hold"/>
                                        <p:tgtEl>
                                          <p:spTgt spid="24">
                                            <p:txEl>
                                              <p:pRg st="1" end="1"/>
                                            </p:txEl>
                                          </p:spTgt>
                                        </p:tgtEl>
                                        <p:attrNameLst>
                                          <p:attrName>ppt_x</p:attrName>
                                        </p:attrNameLst>
                                      </p:cBhvr>
                                      <p:tavLst>
                                        <p:tav tm="0">
                                          <p:val>
                                            <p:strVal val="#ppt_x"/>
                                          </p:val>
                                        </p:tav>
                                        <p:tav tm="100000">
                                          <p:val>
                                            <p:strVal val="#ppt_x"/>
                                          </p:val>
                                        </p:tav>
                                      </p:tavLst>
                                    </p:anim>
                                    <p:anim calcmode="lin" valueType="num">
                                      <p:cBhvr>
                                        <p:cTn id="59" dur="360" decel="100000" fill="hold"/>
                                        <p:tgtEl>
                                          <p:spTgt spid="24">
                                            <p:txEl>
                                              <p:pRg st="1" end="1"/>
                                            </p:txEl>
                                          </p:spTgt>
                                        </p:tgtEl>
                                        <p:attrNameLst>
                                          <p:attrName>ppt_y</p:attrName>
                                        </p:attrNameLst>
                                      </p:cBhvr>
                                      <p:tavLst>
                                        <p:tav tm="0">
                                          <p:val>
                                            <p:strVal val="#ppt_y+1"/>
                                          </p:val>
                                        </p:tav>
                                        <p:tav tm="100000">
                                          <p:val>
                                            <p:strVal val="#ppt_y-.03"/>
                                          </p:val>
                                        </p:tav>
                                      </p:tavLst>
                                    </p:anim>
                                    <p:anim calcmode="lin" valueType="num">
                                      <p:cBhvr>
                                        <p:cTn id="60" dur="40" accel="100000" fill="hold">
                                          <p:stCondLst>
                                            <p:cond delay="360"/>
                                          </p:stCondLst>
                                        </p:cTn>
                                        <p:tgtEl>
                                          <p:spTgt spid="24">
                                            <p:txEl>
                                              <p:pRg st="1" end="1"/>
                                            </p:txEl>
                                          </p:spTgt>
                                        </p:tgtEl>
                                        <p:attrNameLst>
                                          <p:attrName>ppt_y</p:attrName>
                                        </p:attrNameLst>
                                      </p:cBhvr>
                                      <p:tavLst>
                                        <p:tav tm="0">
                                          <p:val>
                                            <p:strVal val="#ppt_y-.03"/>
                                          </p:val>
                                        </p:tav>
                                        <p:tav tm="100000">
                                          <p:val>
                                            <p:strVal val="#ppt_y"/>
                                          </p:val>
                                        </p:tav>
                                      </p:tavLst>
                                    </p:anim>
                                  </p:childTnLst>
                                </p:cTn>
                              </p:par>
                            </p:childTnLst>
                          </p:cTn>
                        </p:par>
                        <p:par>
                          <p:cTn id="61" fill="hold">
                            <p:stCondLst>
                              <p:cond delay="4100"/>
                            </p:stCondLst>
                            <p:childTnLst>
                              <p:par>
                                <p:cTn id="62" presetID="2" presetClass="entr" presetSubtype="2" fill="hold" nodeType="afterEffect">
                                  <p:stCondLst>
                                    <p:cond delay="0"/>
                                  </p:stCondLst>
                                  <p:childTnLst>
                                    <p:set>
                                      <p:cBhvr>
                                        <p:cTn id="63" dur="1" fill="hold">
                                          <p:stCondLst>
                                            <p:cond delay="0"/>
                                          </p:stCondLst>
                                        </p:cTn>
                                        <p:tgtEl>
                                          <p:spTgt spid="28"/>
                                        </p:tgtEl>
                                        <p:attrNameLst>
                                          <p:attrName>style.visibility</p:attrName>
                                        </p:attrNameLst>
                                      </p:cBhvr>
                                      <p:to>
                                        <p:strVal val="visible"/>
                                      </p:to>
                                    </p:set>
                                    <p:anim calcmode="lin" valueType="num">
                                      <p:cBhvr additive="base">
                                        <p:cTn id="64" dur="500" fill="hold"/>
                                        <p:tgtEl>
                                          <p:spTgt spid="28"/>
                                        </p:tgtEl>
                                        <p:attrNameLst>
                                          <p:attrName>ppt_x</p:attrName>
                                        </p:attrNameLst>
                                      </p:cBhvr>
                                      <p:tavLst>
                                        <p:tav tm="0">
                                          <p:val>
                                            <p:strVal val="1+#ppt_w/2"/>
                                          </p:val>
                                        </p:tav>
                                        <p:tav tm="100000">
                                          <p:val>
                                            <p:strVal val="#ppt_x"/>
                                          </p:val>
                                        </p:tav>
                                      </p:tavLst>
                                    </p:anim>
                                    <p:anim calcmode="lin" valueType="num">
                                      <p:cBhvr additive="base">
                                        <p:cTn id="65" dur="500" fill="hold"/>
                                        <p:tgtEl>
                                          <p:spTgt spid="28"/>
                                        </p:tgtEl>
                                        <p:attrNameLst>
                                          <p:attrName>ppt_y</p:attrName>
                                        </p:attrNameLst>
                                      </p:cBhvr>
                                      <p:tavLst>
                                        <p:tav tm="0">
                                          <p:val>
                                            <p:strVal val="#ppt_y"/>
                                          </p:val>
                                        </p:tav>
                                        <p:tav tm="100000">
                                          <p:val>
                                            <p:strVal val="#ppt_y"/>
                                          </p:val>
                                        </p:tav>
                                      </p:tavLst>
                                    </p:anim>
                                  </p:childTnLst>
                                </p:cTn>
                              </p:par>
                            </p:childTnLst>
                          </p:cTn>
                        </p:par>
                        <p:par>
                          <p:cTn id="66" fill="hold">
                            <p:stCondLst>
                              <p:cond delay="4600"/>
                            </p:stCondLst>
                            <p:childTnLst>
                              <p:par>
                                <p:cTn id="67" presetID="53" presetClass="entr" presetSubtype="16" fill="hold" grpId="0" nodeType="afterEffect">
                                  <p:stCondLst>
                                    <p:cond delay="0"/>
                                  </p:stCondLst>
                                  <p:childTnLst>
                                    <p:set>
                                      <p:cBhvr>
                                        <p:cTn id="68" dur="1" fill="hold">
                                          <p:stCondLst>
                                            <p:cond delay="0"/>
                                          </p:stCondLst>
                                        </p:cTn>
                                        <p:tgtEl>
                                          <p:spTgt spid="29"/>
                                        </p:tgtEl>
                                        <p:attrNameLst>
                                          <p:attrName>style.visibility</p:attrName>
                                        </p:attrNameLst>
                                      </p:cBhvr>
                                      <p:to>
                                        <p:strVal val="visible"/>
                                      </p:to>
                                    </p:set>
                                    <p:anim calcmode="lin" valueType="num">
                                      <p:cBhvr>
                                        <p:cTn id="69" dur="250" fill="hold"/>
                                        <p:tgtEl>
                                          <p:spTgt spid="29"/>
                                        </p:tgtEl>
                                        <p:attrNameLst>
                                          <p:attrName>ppt_w</p:attrName>
                                        </p:attrNameLst>
                                      </p:cBhvr>
                                      <p:tavLst>
                                        <p:tav tm="0">
                                          <p:val>
                                            <p:fltVal val="0"/>
                                          </p:val>
                                        </p:tav>
                                        <p:tav tm="100000">
                                          <p:val>
                                            <p:strVal val="#ppt_w"/>
                                          </p:val>
                                        </p:tav>
                                      </p:tavLst>
                                    </p:anim>
                                    <p:anim calcmode="lin" valueType="num">
                                      <p:cBhvr>
                                        <p:cTn id="70" dur="250" fill="hold"/>
                                        <p:tgtEl>
                                          <p:spTgt spid="29"/>
                                        </p:tgtEl>
                                        <p:attrNameLst>
                                          <p:attrName>ppt_h</p:attrName>
                                        </p:attrNameLst>
                                      </p:cBhvr>
                                      <p:tavLst>
                                        <p:tav tm="0">
                                          <p:val>
                                            <p:fltVal val="0"/>
                                          </p:val>
                                        </p:tav>
                                        <p:tav tm="100000">
                                          <p:val>
                                            <p:strVal val="#ppt_h"/>
                                          </p:val>
                                        </p:tav>
                                      </p:tavLst>
                                    </p:anim>
                                    <p:animEffect transition="in" filter="fade">
                                      <p:cBhvr>
                                        <p:cTn id="71" dur="250"/>
                                        <p:tgtEl>
                                          <p:spTgt spid="29"/>
                                        </p:tgtEl>
                                      </p:cBhvr>
                                    </p:animEffect>
                                  </p:childTnLst>
                                </p:cTn>
                              </p:par>
                              <p:par>
                                <p:cTn id="72" presetID="37" presetClass="entr" presetSubtype="0" fill="hold" grpId="0" nodeType="withEffect">
                                  <p:stCondLst>
                                    <p:cond delay="0"/>
                                  </p:stCondLst>
                                  <p:childTnLst>
                                    <p:set>
                                      <p:cBhvr>
                                        <p:cTn id="73" dur="1" fill="hold">
                                          <p:stCondLst>
                                            <p:cond delay="0"/>
                                          </p:stCondLst>
                                        </p:cTn>
                                        <p:tgtEl>
                                          <p:spTgt spid="30">
                                            <p:txEl>
                                              <p:pRg st="0" end="0"/>
                                            </p:txEl>
                                          </p:spTgt>
                                        </p:tgtEl>
                                        <p:attrNameLst>
                                          <p:attrName>style.visibility</p:attrName>
                                        </p:attrNameLst>
                                      </p:cBhvr>
                                      <p:to>
                                        <p:strVal val="visible"/>
                                      </p:to>
                                    </p:set>
                                    <p:animEffect transition="in" filter="fade">
                                      <p:cBhvr>
                                        <p:cTn id="74" dur="400"/>
                                        <p:tgtEl>
                                          <p:spTgt spid="30">
                                            <p:txEl>
                                              <p:pRg st="0" end="0"/>
                                            </p:txEl>
                                          </p:spTgt>
                                        </p:tgtEl>
                                      </p:cBhvr>
                                    </p:animEffect>
                                    <p:anim calcmode="lin" valueType="num">
                                      <p:cBhvr>
                                        <p:cTn id="75" dur="400" fill="hold"/>
                                        <p:tgtEl>
                                          <p:spTgt spid="30">
                                            <p:txEl>
                                              <p:pRg st="0" end="0"/>
                                            </p:txEl>
                                          </p:spTgt>
                                        </p:tgtEl>
                                        <p:attrNameLst>
                                          <p:attrName>ppt_x</p:attrName>
                                        </p:attrNameLst>
                                      </p:cBhvr>
                                      <p:tavLst>
                                        <p:tav tm="0">
                                          <p:val>
                                            <p:strVal val="#ppt_x"/>
                                          </p:val>
                                        </p:tav>
                                        <p:tav tm="100000">
                                          <p:val>
                                            <p:strVal val="#ppt_x"/>
                                          </p:val>
                                        </p:tav>
                                      </p:tavLst>
                                    </p:anim>
                                    <p:anim calcmode="lin" valueType="num">
                                      <p:cBhvr>
                                        <p:cTn id="76" dur="360" decel="100000" fill="hold"/>
                                        <p:tgtEl>
                                          <p:spTgt spid="30">
                                            <p:txEl>
                                              <p:pRg st="0" end="0"/>
                                            </p:txEl>
                                          </p:spTgt>
                                        </p:tgtEl>
                                        <p:attrNameLst>
                                          <p:attrName>ppt_y</p:attrName>
                                        </p:attrNameLst>
                                      </p:cBhvr>
                                      <p:tavLst>
                                        <p:tav tm="0">
                                          <p:val>
                                            <p:strVal val="#ppt_y+1"/>
                                          </p:val>
                                        </p:tav>
                                        <p:tav tm="100000">
                                          <p:val>
                                            <p:strVal val="#ppt_y-.03"/>
                                          </p:val>
                                        </p:tav>
                                      </p:tavLst>
                                    </p:anim>
                                    <p:anim calcmode="lin" valueType="num">
                                      <p:cBhvr>
                                        <p:cTn id="77" dur="40" accel="100000" fill="hold">
                                          <p:stCondLst>
                                            <p:cond delay="360"/>
                                          </p:stCondLst>
                                        </p:cTn>
                                        <p:tgtEl>
                                          <p:spTgt spid="30">
                                            <p:txEl>
                                              <p:pRg st="0" end="0"/>
                                            </p:txEl>
                                          </p:spTgt>
                                        </p:tgtEl>
                                        <p:attrNameLst>
                                          <p:attrName>ppt_y</p:attrName>
                                        </p:attrNameLst>
                                      </p:cBhvr>
                                      <p:tavLst>
                                        <p:tav tm="0">
                                          <p:val>
                                            <p:strVal val="#ppt_y-.03"/>
                                          </p:val>
                                        </p:tav>
                                        <p:tav tm="100000">
                                          <p:val>
                                            <p:strVal val="#ppt_y"/>
                                          </p:val>
                                        </p:tav>
                                      </p:tavLst>
                                    </p:anim>
                                  </p:childTnLst>
                                </p:cTn>
                              </p:par>
                            </p:childTnLst>
                          </p:cTn>
                        </p:par>
                        <p:par>
                          <p:cTn id="78" fill="hold">
                            <p:stCondLst>
                              <p:cond delay="5000"/>
                            </p:stCondLst>
                            <p:childTnLst>
                              <p:par>
                                <p:cTn id="79" presetID="37" presetClass="entr" presetSubtype="0" fill="hold" grpId="0" nodeType="afterEffect">
                                  <p:stCondLst>
                                    <p:cond delay="0"/>
                                  </p:stCondLst>
                                  <p:childTnLst>
                                    <p:set>
                                      <p:cBhvr>
                                        <p:cTn id="80" dur="1" fill="hold">
                                          <p:stCondLst>
                                            <p:cond delay="0"/>
                                          </p:stCondLst>
                                        </p:cTn>
                                        <p:tgtEl>
                                          <p:spTgt spid="30">
                                            <p:txEl>
                                              <p:pRg st="1" end="1"/>
                                            </p:txEl>
                                          </p:spTgt>
                                        </p:tgtEl>
                                        <p:attrNameLst>
                                          <p:attrName>style.visibility</p:attrName>
                                        </p:attrNameLst>
                                      </p:cBhvr>
                                      <p:to>
                                        <p:strVal val="visible"/>
                                      </p:to>
                                    </p:set>
                                    <p:animEffect transition="in" filter="fade">
                                      <p:cBhvr>
                                        <p:cTn id="81" dur="400"/>
                                        <p:tgtEl>
                                          <p:spTgt spid="30">
                                            <p:txEl>
                                              <p:pRg st="1" end="1"/>
                                            </p:txEl>
                                          </p:spTgt>
                                        </p:tgtEl>
                                      </p:cBhvr>
                                    </p:animEffect>
                                    <p:anim calcmode="lin" valueType="num">
                                      <p:cBhvr>
                                        <p:cTn id="82" dur="400" fill="hold"/>
                                        <p:tgtEl>
                                          <p:spTgt spid="30">
                                            <p:txEl>
                                              <p:pRg st="1" end="1"/>
                                            </p:txEl>
                                          </p:spTgt>
                                        </p:tgtEl>
                                        <p:attrNameLst>
                                          <p:attrName>ppt_x</p:attrName>
                                        </p:attrNameLst>
                                      </p:cBhvr>
                                      <p:tavLst>
                                        <p:tav tm="0">
                                          <p:val>
                                            <p:strVal val="#ppt_x"/>
                                          </p:val>
                                        </p:tav>
                                        <p:tav tm="100000">
                                          <p:val>
                                            <p:strVal val="#ppt_x"/>
                                          </p:val>
                                        </p:tav>
                                      </p:tavLst>
                                    </p:anim>
                                    <p:anim calcmode="lin" valueType="num">
                                      <p:cBhvr>
                                        <p:cTn id="83" dur="360" decel="100000" fill="hold"/>
                                        <p:tgtEl>
                                          <p:spTgt spid="30">
                                            <p:txEl>
                                              <p:pRg st="1" end="1"/>
                                            </p:txEl>
                                          </p:spTgt>
                                        </p:tgtEl>
                                        <p:attrNameLst>
                                          <p:attrName>ppt_y</p:attrName>
                                        </p:attrNameLst>
                                      </p:cBhvr>
                                      <p:tavLst>
                                        <p:tav tm="0">
                                          <p:val>
                                            <p:strVal val="#ppt_y+1"/>
                                          </p:val>
                                        </p:tav>
                                        <p:tav tm="100000">
                                          <p:val>
                                            <p:strVal val="#ppt_y-.03"/>
                                          </p:val>
                                        </p:tav>
                                      </p:tavLst>
                                    </p:anim>
                                    <p:anim calcmode="lin" valueType="num">
                                      <p:cBhvr>
                                        <p:cTn id="84" dur="40" accel="100000" fill="hold">
                                          <p:stCondLst>
                                            <p:cond delay="360"/>
                                          </p:stCondLst>
                                        </p:cTn>
                                        <p:tgtEl>
                                          <p:spTgt spid="30">
                                            <p:txEl>
                                              <p:pRg st="1" end="1"/>
                                            </p:txEl>
                                          </p:spTgt>
                                        </p:tgtEl>
                                        <p:attrNameLst>
                                          <p:attrName>ppt_y</p:attrName>
                                        </p:attrNameLst>
                                      </p:cBhvr>
                                      <p:tavLst>
                                        <p:tav tm="0">
                                          <p:val>
                                            <p:strVal val="#ppt_y-.03"/>
                                          </p:val>
                                        </p:tav>
                                        <p:tav tm="100000">
                                          <p:val>
                                            <p:strVal val="#ppt_y"/>
                                          </p:val>
                                        </p:tav>
                                      </p:tavLst>
                                    </p:anim>
                                  </p:childTnLst>
                                </p:cTn>
                              </p:par>
                            </p:childTnLst>
                          </p:cTn>
                        </p:par>
                        <p:par>
                          <p:cTn id="85" fill="hold">
                            <p:stCondLst>
                              <p:cond delay="5400"/>
                            </p:stCondLst>
                            <p:childTnLst>
                              <p:par>
                                <p:cTn id="86" presetID="2" presetClass="entr" presetSubtype="2" fill="hold" nodeType="afterEffect">
                                  <p:stCondLst>
                                    <p:cond delay="0"/>
                                  </p:stCondLst>
                                  <p:childTnLst>
                                    <p:set>
                                      <p:cBhvr>
                                        <p:cTn id="87" dur="1" fill="hold">
                                          <p:stCondLst>
                                            <p:cond delay="0"/>
                                          </p:stCondLst>
                                        </p:cTn>
                                        <p:tgtEl>
                                          <p:spTgt spid="34"/>
                                        </p:tgtEl>
                                        <p:attrNameLst>
                                          <p:attrName>style.visibility</p:attrName>
                                        </p:attrNameLst>
                                      </p:cBhvr>
                                      <p:to>
                                        <p:strVal val="visible"/>
                                      </p:to>
                                    </p:set>
                                    <p:anim calcmode="lin" valueType="num">
                                      <p:cBhvr additive="base">
                                        <p:cTn id="88" dur="500" fill="hold"/>
                                        <p:tgtEl>
                                          <p:spTgt spid="34"/>
                                        </p:tgtEl>
                                        <p:attrNameLst>
                                          <p:attrName>ppt_x</p:attrName>
                                        </p:attrNameLst>
                                      </p:cBhvr>
                                      <p:tavLst>
                                        <p:tav tm="0">
                                          <p:val>
                                            <p:strVal val="1+#ppt_w/2"/>
                                          </p:val>
                                        </p:tav>
                                        <p:tav tm="100000">
                                          <p:val>
                                            <p:strVal val="#ppt_x"/>
                                          </p:val>
                                        </p:tav>
                                      </p:tavLst>
                                    </p:anim>
                                    <p:anim calcmode="lin" valueType="num">
                                      <p:cBhvr additive="base">
                                        <p:cTn id="89" dur="500" fill="hold"/>
                                        <p:tgtEl>
                                          <p:spTgt spid="34"/>
                                        </p:tgtEl>
                                        <p:attrNameLst>
                                          <p:attrName>ppt_y</p:attrName>
                                        </p:attrNameLst>
                                      </p:cBhvr>
                                      <p:tavLst>
                                        <p:tav tm="0">
                                          <p:val>
                                            <p:strVal val="#ppt_y"/>
                                          </p:val>
                                        </p:tav>
                                        <p:tav tm="100000">
                                          <p:val>
                                            <p:strVal val="#ppt_y"/>
                                          </p:val>
                                        </p:tav>
                                      </p:tavLst>
                                    </p:anim>
                                  </p:childTnLst>
                                </p:cTn>
                              </p:par>
                            </p:childTnLst>
                          </p:cTn>
                        </p:par>
                        <p:par>
                          <p:cTn id="90" fill="hold">
                            <p:stCondLst>
                              <p:cond delay="5900"/>
                            </p:stCondLst>
                            <p:childTnLst>
                              <p:par>
                                <p:cTn id="91" presetID="53" presetClass="entr" presetSubtype="16" fill="hold" grpId="0" nodeType="afterEffect">
                                  <p:stCondLst>
                                    <p:cond delay="0"/>
                                  </p:stCondLst>
                                  <p:childTnLst>
                                    <p:set>
                                      <p:cBhvr>
                                        <p:cTn id="92" dur="1" fill="hold">
                                          <p:stCondLst>
                                            <p:cond delay="0"/>
                                          </p:stCondLst>
                                        </p:cTn>
                                        <p:tgtEl>
                                          <p:spTgt spid="35"/>
                                        </p:tgtEl>
                                        <p:attrNameLst>
                                          <p:attrName>style.visibility</p:attrName>
                                        </p:attrNameLst>
                                      </p:cBhvr>
                                      <p:to>
                                        <p:strVal val="visible"/>
                                      </p:to>
                                    </p:set>
                                    <p:anim calcmode="lin" valueType="num">
                                      <p:cBhvr>
                                        <p:cTn id="93" dur="250" fill="hold"/>
                                        <p:tgtEl>
                                          <p:spTgt spid="35"/>
                                        </p:tgtEl>
                                        <p:attrNameLst>
                                          <p:attrName>ppt_w</p:attrName>
                                        </p:attrNameLst>
                                      </p:cBhvr>
                                      <p:tavLst>
                                        <p:tav tm="0">
                                          <p:val>
                                            <p:fltVal val="0"/>
                                          </p:val>
                                        </p:tav>
                                        <p:tav tm="100000">
                                          <p:val>
                                            <p:strVal val="#ppt_w"/>
                                          </p:val>
                                        </p:tav>
                                      </p:tavLst>
                                    </p:anim>
                                    <p:anim calcmode="lin" valueType="num">
                                      <p:cBhvr>
                                        <p:cTn id="94" dur="250" fill="hold"/>
                                        <p:tgtEl>
                                          <p:spTgt spid="35"/>
                                        </p:tgtEl>
                                        <p:attrNameLst>
                                          <p:attrName>ppt_h</p:attrName>
                                        </p:attrNameLst>
                                      </p:cBhvr>
                                      <p:tavLst>
                                        <p:tav tm="0">
                                          <p:val>
                                            <p:fltVal val="0"/>
                                          </p:val>
                                        </p:tav>
                                        <p:tav tm="100000">
                                          <p:val>
                                            <p:strVal val="#ppt_h"/>
                                          </p:val>
                                        </p:tav>
                                      </p:tavLst>
                                    </p:anim>
                                    <p:animEffect transition="in" filter="fade">
                                      <p:cBhvr>
                                        <p:cTn id="95" dur="250"/>
                                        <p:tgtEl>
                                          <p:spTgt spid="35"/>
                                        </p:tgtEl>
                                      </p:cBhvr>
                                    </p:animEffect>
                                  </p:childTnLst>
                                </p:cTn>
                              </p:par>
                              <p:par>
                                <p:cTn id="96" presetID="37" presetClass="entr" presetSubtype="0" fill="hold" grpId="0" nodeType="withEffect">
                                  <p:stCondLst>
                                    <p:cond delay="0"/>
                                  </p:stCondLst>
                                  <p:childTnLst>
                                    <p:set>
                                      <p:cBhvr>
                                        <p:cTn id="97" dur="1" fill="hold">
                                          <p:stCondLst>
                                            <p:cond delay="0"/>
                                          </p:stCondLst>
                                        </p:cTn>
                                        <p:tgtEl>
                                          <p:spTgt spid="36">
                                            <p:txEl>
                                              <p:pRg st="0" end="0"/>
                                            </p:txEl>
                                          </p:spTgt>
                                        </p:tgtEl>
                                        <p:attrNameLst>
                                          <p:attrName>style.visibility</p:attrName>
                                        </p:attrNameLst>
                                      </p:cBhvr>
                                      <p:to>
                                        <p:strVal val="visible"/>
                                      </p:to>
                                    </p:set>
                                    <p:animEffect transition="in" filter="fade">
                                      <p:cBhvr>
                                        <p:cTn id="98" dur="400"/>
                                        <p:tgtEl>
                                          <p:spTgt spid="36">
                                            <p:txEl>
                                              <p:pRg st="0" end="0"/>
                                            </p:txEl>
                                          </p:spTgt>
                                        </p:tgtEl>
                                      </p:cBhvr>
                                    </p:animEffect>
                                    <p:anim calcmode="lin" valueType="num">
                                      <p:cBhvr>
                                        <p:cTn id="99" dur="400" fill="hold"/>
                                        <p:tgtEl>
                                          <p:spTgt spid="36">
                                            <p:txEl>
                                              <p:pRg st="0" end="0"/>
                                            </p:txEl>
                                          </p:spTgt>
                                        </p:tgtEl>
                                        <p:attrNameLst>
                                          <p:attrName>ppt_x</p:attrName>
                                        </p:attrNameLst>
                                      </p:cBhvr>
                                      <p:tavLst>
                                        <p:tav tm="0">
                                          <p:val>
                                            <p:strVal val="#ppt_x"/>
                                          </p:val>
                                        </p:tav>
                                        <p:tav tm="100000">
                                          <p:val>
                                            <p:strVal val="#ppt_x"/>
                                          </p:val>
                                        </p:tav>
                                      </p:tavLst>
                                    </p:anim>
                                    <p:anim calcmode="lin" valueType="num">
                                      <p:cBhvr>
                                        <p:cTn id="100" dur="360" decel="100000" fill="hold"/>
                                        <p:tgtEl>
                                          <p:spTgt spid="36">
                                            <p:txEl>
                                              <p:pRg st="0" end="0"/>
                                            </p:txEl>
                                          </p:spTgt>
                                        </p:tgtEl>
                                        <p:attrNameLst>
                                          <p:attrName>ppt_y</p:attrName>
                                        </p:attrNameLst>
                                      </p:cBhvr>
                                      <p:tavLst>
                                        <p:tav tm="0">
                                          <p:val>
                                            <p:strVal val="#ppt_y+1"/>
                                          </p:val>
                                        </p:tav>
                                        <p:tav tm="100000">
                                          <p:val>
                                            <p:strVal val="#ppt_y-.03"/>
                                          </p:val>
                                        </p:tav>
                                      </p:tavLst>
                                    </p:anim>
                                    <p:anim calcmode="lin" valueType="num">
                                      <p:cBhvr>
                                        <p:cTn id="101" dur="40" accel="100000" fill="hold">
                                          <p:stCondLst>
                                            <p:cond delay="360"/>
                                          </p:stCondLst>
                                        </p:cTn>
                                        <p:tgtEl>
                                          <p:spTgt spid="36">
                                            <p:txEl>
                                              <p:pRg st="0" end="0"/>
                                            </p:txEl>
                                          </p:spTgt>
                                        </p:tgtEl>
                                        <p:attrNameLst>
                                          <p:attrName>ppt_y</p:attrName>
                                        </p:attrNameLst>
                                      </p:cBhvr>
                                      <p:tavLst>
                                        <p:tav tm="0">
                                          <p:val>
                                            <p:strVal val="#ppt_y-.03"/>
                                          </p:val>
                                        </p:tav>
                                        <p:tav tm="100000">
                                          <p:val>
                                            <p:strVal val="#ppt_y"/>
                                          </p:val>
                                        </p:tav>
                                      </p:tavLst>
                                    </p:anim>
                                  </p:childTnLst>
                                </p:cTn>
                              </p:par>
                            </p:childTnLst>
                          </p:cTn>
                        </p:par>
                        <p:par>
                          <p:cTn id="102" fill="hold">
                            <p:stCondLst>
                              <p:cond delay="6300"/>
                            </p:stCondLst>
                            <p:childTnLst>
                              <p:par>
                                <p:cTn id="103" presetID="37" presetClass="entr" presetSubtype="0" fill="hold" grpId="0" nodeType="afterEffect">
                                  <p:stCondLst>
                                    <p:cond delay="0"/>
                                  </p:stCondLst>
                                  <p:childTnLst>
                                    <p:set>
                                      <p:cBhvr>
                                        <p:cTn id="104" dur="1" fill="hold">
                                          <p:stCondLst>
                                            <p:cond delay="0"/>
                                          </p:stCondLst>
                                        </p:cTn>
                                        <p:tgtEl>
                                          <p:spTgt spid="36">
                                            <p:txEl>
                                              <p:pRg st="1" end="1"/>
                                            </p:txEl>
                                          </p:spTgt>
                                        </p:tgtEl>
                                        <p:attrNameLst>
                                          <p:attrName>style.visibility</p:attrName>
                                        </p:attrNameLst>
                                      </p:cBhvr>
                                      <p:to>
                                        <p:strVal val="visible"/>
                                      </p:to>
                                    </p:set>
                                    <p:animEffect transition="in" filter="fade">
                                      <p:cBhvr>
                                        <p:cTn id="105" dur="400"/>
                                        <p:tgtEl>
                                          <p:spTgt spid="36">
                                            <p:txEl>
                                              <p:pRg st="1" end="1"/>
                                            </p:txEl>
                                          </p:spTgt>
                                        </p:tgtEl>
                                      </p:cBhvr>
                                    </p:animEffect>
                                    <p:anim calcmode="lin" valueType="num">
                                      <p:cBhvr>
                                        <p:cTn id="106" dur="400" fill="hold"/>
                                        <p:tgtEl>
                                          <p:spTgt spid="36">
                                            <p:txEl>
                                              <p:pRg st="1" end="1"/>
                                            </p:txEl>
                                          </p:spTgt>
                                        </p:tgtEl>
                                        <p:attrNameLst>
                                          <p:attrName>ppt_x</p:attrName>
                                        </p:attrNameLst>
                                      </p:cBhvr>
                                      <p:tavLst>
                                        <p:tav tm="0">
                                          <p:val>
                                            <p:strVal val="#ppt_x"/>
                                          </p:val>
                                        </p:tav>
                                        <p:tav tm="100000">
                                          <p:val>
                                            <p:strVal val="#ppt_x"/>
                                          </p:val>
                                        </p:tav>
                                      </p:tavLst>
                                    </p:anim>
                                    <p:anim calcmode="lin" valueType="num">
                                      <p:cBhvr>
                                        <p:cTn id="107" dur="360" decel="100000" fill="hold"/>
                                        <p:tgtEl>
                                          <p:spTgt spid="36">
                                            <p:txEl>
                                              <p:pRg st="1" end="1"/>
                                            </p:txEl>
                                          </p:spTgt>
                                        </p:tgtEl>
                                        <p:attrNameLst>
                                          <p:attrName>ppt_y</p:attrName>
                                        </p:attrNameLst>
                                      </p:cBhvr>
                                      <p:tavLst>
                                        <p:tav tm="0">
                                          <p:val>
                                            <p:strVal val="#ppt_y+1"/>
                                          </p:val>
                                        </p:tav>
                                        <p:tav tm="100000">
                                          <p:val>
                                            <p:strVal val="#ppt_y-.03"/>
                                          </p:val>
                                        </p:tav>
                                      </p:tavLst>
                                    </p:anim>
                                    <p:anim calcmode="lin" valueType="num">
                                      <p:cBhvr>
                                        <p:cTn id="108" dur="40" accel="100000" fill="hold">
                                          <p:stCondLst>
                                            <p:cond delay="360"/>
                                          </p:stCondLst>
                                        </p:cTn>
                                        <p:tgtEl>
                                          <p:spTgt spid="36">
                                            <p:txEl>
                                              <p:pRg st="1" end="1"/>
                                            </p:txEl>
                                          </p:spTgt>
                                        </p:tgtEl>
                                        <p:attrNameLst>
                                          <p:attrName>ppt_y</p:attrName>
                                        </p:attrNameLst>
                                      </p:cBhvr>
                                      <p:tavLst>
                                        <p:tav tm="0">
                                          <p:val>
                                            <p:strVal val="#ppt_y-.03"/>
                                          </p:val>
                                        </p:tav>
                                        <p:tav tm="100000">
                                          <p:val>
                                            <p:strVal val="#ppt_y"/>
                                          </p:val>
                                        </p:tav>
                                      </p:tavLst>
                                    </p:anim>
                                  </p:childTnLst>
                                </p:cTn>
                              </p:par>
                            </p:childTnLst>
                          </p:cTn>
                        </p:par>
                        <p:par>
                          <p:cTn id="109" fill="hold">
                            <p:stCondLst>
                              <p:cond delay="6700"/>
                            </p:stCondLst>
                            <p:childTnLst>
                              <p:par>
                                <p:cTn id="110" presetID="2" presetClass="entr" presetSubtype="2" fill="hold" nodeType="afterEffect">
                                  <p:stCondLst>
                                    <p:cond delay="0"/>
                                  </p:stCondLst>
                                  <p:childTnLst>
                                    <p:set>
                                      <p:cBhvr>
                                        <p:cTn id="111" dur="1" fill="hold">
                                          <p:stCondLst>
                                            <p:cond delay="0"/>
                                          </p:stCondLst>
                                        </p:cTn>
                                        <p:tgtEl>
                                          <p:spTgt spid="40"/>
                                        </p:tgtEl>
                                        <p:attrNameLst>
                                          <p:attrName>style.visibility</p:attrName>
                                        </p:attrNameLst>
                                      </p:cBhvr>
                                      <p:to>
                                        <p:strVal val="visible"/>
                                      </p:to>
                                    </p:set>
                                    <p:anim calcmode="lin" valueType="num">
                                      <p:cBhvr additive="base">
                                        <p:cTn id="112" dur="500" fill="hold"/>
                                        <p:tgtEl>
                                          <p:spTgt spid="40"/>
                                        </p:tgtEl>
                                        <p:attrNameLst>
                                          <p:attrName>ppt_x</p:attrName>
                                        </p:attrNameLst>
                                      </p:cBhvr>
                                      <p:tavLst>
                                        <p:tav tm="0">
                                          <p:val>
                                            <p:strVal val="1+#ppt_w/2"/>
                                          </p:val>
                                        </p:tav>
                                        <p:tav tm="100000">
                                          <p:val>
                                            <p:strVal val="#ppt_x"/>
                                          </p:val>
                                        </p:tav>
                                      </p:tavLst>
                                    </p:anim>
                                    <p:anim calcmode="lin" valueType="num">
                                      <p:cBhvr additive="base">
                                        <p:cTn id="113" dur="500" fill="hold"/>
                                        <p:tgtEl>
                                          <p:spTgt spid="40"/>
                                        </p:tgtEl>
                                        <p:attrNameLst>
                                          <p:attrName>ppt_y</p:attrName>
                                        </p:attrNameLst>
                                      </p:cBhvr>
                                      <p:tavLst>
                                        <p:tav tm="0">
                                          <p:val>
                                            <p:strVal val="#ppt_y"/>
                                          </p:val>
                                        </p:tav>
                                        <p:tav tm="100000">
                                          <p:val>
                                            <p:strVal val="#ppt_y"/>
                                          </p:val>
                                        </p:tav>
                                      </p:tavLst>
                                    </p:anim>
                                  </p:childTnLst>
                                </p:cTn>
                              </p:par>
                            </p:childTnLst>
                          </p:cTn>
                        </p:par>
                        <p:par>
                          <p:cTn id="114" fill="hold">
                            <p:stCondLst>
                              <p:cond delay="7200"/>
                            </p:stCondLst>
                            <p:childTnLst>
                              <p:par>
                                <p:cTn id="115" presetID="53" presetClass="entr" presetSubtype="16" fill="hold" grpId="0" nodeType="afterEffect">
                                  <p:stCondLst>
                                    <p:cond delay="0"/>
                                  </p:stCondLst>
                                  <p:childTnLst>
                                    <p:set>
                                      <p:cBhvr>
                                        <p:cTn id="116" dur="1" fill="hold">
                                          <p:stCondLst>
                                            <p:cond delay="0"/>
                                          </p:stCondLst>
                                        </p:cTn>
                                        <p:tgtEl>
                                          <p:spTgt spid="41"/>
                                        </p:tgtEl>
                                        <p:attrNameLst>
                                          <p:attrName>style.visibility</p:attrName>
                                        </p:attrNameLst>
                                      </p:cBhvr>
                                      <p:to>
                                        <p:strVal val="visible"/>
                                      </p:to>
                                    </p:set>
                                    <p:anim calcmode="lin" valueType="num">
                                      <p:cBhvr>
                                        <p:cTn id="117" dur="250" fill="hold"/>
                                        <p:tgtEl>
                                          <p:spTgt spid="41"/>
                                        </p:tgtEl>
                                        <p:attrNameLst>
                                          <p:attrName>ppt_w</p:attrName>
                                        </p:attrNameLst>
                                      </p:cBhvr>
                                      <p:tavLst>
                                        <p:tav tm="0">
                                          <p:val>
                                            <p:fltVal val="0"/>
                                          </p:val>
                                        </p:tav>
                                        <p:tav tm="100000">
                                          <p:val>
                                            <p:strVal val="#ppt_w"/>
                                          </p:val>
                                        </p:tav>
                                      </p:tavLst>
                                    </p:anim>
                                    <p:anim calcmode="lin" valueType="num">
                                      <p:cBhvr>
                                        <p:cTn id="118" dur="250" fill="hold"/>
                                        <p:tgtEl>
                                          <p:spTgt spid="41"/>
                                        </p:tgtEl>
                                        <p:attrNameLst>
                                          <p:attrName>ppt_h</p:attrName>
                                        </p:attrNameLst>
                                      </p:cBhvr>
                                      <p:tavLst>
                                        <p:tav tm="0">
                                          <p:val>
                                            <p:fltVal val="0"/>
                                          </p:val>
                                        </p:tav>
                                        <p:tav tm="100000">
                                          <p:val>
                                            <p:strVal val="#ppt_h"/>
                                          </p:val>
                                        </p:tav>
                                      </p:tavLst>
                                    </p:anim>
                                    <p:animEffect transition="in" filter="fade">
                                      <p:cBhvr>
                                        <p:cTn id="119" dur="250"/>
                                        <p:tgtEl>
                                          <p:spTgt spid="41"/>
                                        </p:tgtEl>
                                      </p:cBhvr>
                                    </p:animEffect>
                                  </p:childTnLst>
                                </p:cTn>
                              </p:par>
                              <p:par>
                                <p:cTn id="120" presetID="37" presetClass="entr" presetSubtype="0" fill="hold" grpId="0" nodeType="withEffect">
                                  <p:stCondLst>
                                    <p:cond delay="0"/>
                                  </p:stCondLst>
                                  <p:childTnLst>
                                    <p:set>
                                      <p:cBhvr>
                                        <p:cTn id="121" dur="1" fill="hold">
                                          <p:stCondLst>
                                            <p:cond delay="0"/>
                                          </p:stCondLst>
                                        </p:cTn>
                                        <p:tgtEl>
                                          <p:spTgt spid="42">
                                            <p:txEl>
                                              <p:pRg st="0" end="0"/>
                                            </p:txEl>
                                          </p:spTgt>
                                        </p:tgtEl>
                                        <p:attrNameLst>
                                          <p:attrName>style.visibility</p:attrName>
                                        </p:attrNameLst>
                                      </p:cBhvr>
                                      <p:to>
                                        <p:strVal val="visible"/>
                                      </p:to>
                                    </p:set>
                                    <p:animEffect transition="in" filter="fade">
                                      <p:cBhvr>
                                        <p:cTn id="122" dur="400"/>
                                        <p:tgtEl>
                                          <p:spTgt spid="42">
                                            <p:txEl>
                                              <p:pRg st="0" end="0"/>
                                            </p:txEl>
                                          </p:spTgt>
                                        </p:tgtEl>
                                      </p:cBhvr>
                                    </p:animEffect>
                                    <p:anim calcmode="lin" valueType="num">
                                      <p:cBhvr>
                                        <p:cTn id="123" dur="400" fill="hold"/>
                                        <p:tgtEl>
                                          <p:spTgt spid="42">
                                            <p:txEl>
                                              <p:pRg st="0" end="0"/>
                                            </p:txEl>
                                          </p:spTgt>
                                        </p:tgtEl>
                                        <p:attrNameLst>
                                          <p:attrName>ppt_x</p:attrName>
                                        </p:attrNameLst>
                                      </p:cBhvr>
                                      <p:tavLst>
                                        <p:tav tm="0">
                                          <p:val>
                                            <p:strVal val="#ppt_x"/>
                                          </p:val>
                                        </p:tav>
                                        <p:tav tm="100000">
                                          <p:val>
                                            <p:strVal val="#ppt_x"/>
                                          </p:val>
                                        </p:tav>
                                      </p:tavLst>
                                    </p:anim>
                                    <p:anim calcmode="lin" valueType="num">
                                      <p:cBhvr>
                                        <p:cTn id="124" dur="360" decel="100000" fill="hold"/>
                                        <p:tgtEl>
                                          <p:spTgt spid="42">
                                            <p:txEl>
                                              <p:pRg st="0" end="0"/>
                                            </p:txEl>
                                          </p:spTgt>
                                        </p:tgtEl>
                                        <p:attrNameLst>
                                          <p:attrName>ppt_y</p:attrName>
                                        </p:attrNameLst>
                                      </p:cBhvr>
                                      <p:tavLst>
                                        <p:tav tm="0">
                                          <p:val>
                                            <p:strVal val="#ppt_y+1"/>
                                          </p:val>
                                        </p:tav>
                                        <p:tav tm="100000">
                                          <p:val>
                                            <p:strVal val="#ppt_y-.03"/>
                                          </p:val>
                                        </p:tav>
                                      </p:tavLst>
                                    </p:anim>
                                    <p:anim calcmode="lin" valueType="num">
                                      <p:cBhvr>
                                        <p:cTn id="125" dur="40" accel="100000" fill="hold">
                                          <p:stCondLst>
                                            <p:cond delay="360"/>
                                          </p:stCondLst>
                                        </p:cTn>
                                        <p:tgtEl>
                                          <p:spTgt spid="42">
                                            <p:txEl>
                                              <p:pRg st="0" end="0"/>
                                            </p:txEl>
                                          </p:spTgt>
                                        </p:tgtEl>
                                        <p:attrNameLst>
                                          <p:attrName>ppt_y</p:attrName>
                                        </p:attrNameLst>
                                      </p:cBhvr>
                                      <p:tavLst>
                                        <p:tav tm="0">
                                          <p:val>
                                            <p:strVal val="#ppt_y-.03"/>
                                          </p:val>
                                        </p:tav>
                                        <p:tav tm="100000">
                                          <p:val>
                                            <p:strVal val="#ppt_y"/>
                                          </p:val>
                                        </p:tav>
                                      </p:tavLst>
                                    </p:anim>
                                  </p:childTnLst>
                                </p:cTn>
                              </p:par>
                            </p:childTnLst>
                          </p:cTn>
                        </p:par>
                        <p:par>
                          <p:cTn id="126" fill="hold">
                            <p:stCondLst>
                              <p:cond delay="7600"/>
                            </p:stCondLst>
                            <p:childTnLst>
                              <p:par>
                                <p:cTn id="127" presetID="37" presetClass="entr" presetSubtype="0" fill="hold" grpId="0" nodeType="afterEffect">
                                  <p:stCondLst>
                                    <p:cond delay="0"/>
                                  </p:stCondLst>
                                  <p:childTnLst>
                                    <p:set>
                                      <p:cBhvr>
                                        <p:cTn id="128" dur="1" fill="hold">
                                          <p:stCondLst>
                                            <p:cond delay="0"/>
                                          </p:stCondLst>
                                        </p:cTn>
                                        <p:tgtEl>
                                          <p:spTgt spid="42">
                                            <p:txEl>
                                              <p:pRg st="1" end="1"/>
                                            </p:txEl>
                                          </p:spTgt>
                                        </p:tgtEl>
                                        <p:attrNameLst>
                                          <p:attrName>style.visibility</p:attrName>
                                        </p:attrNameLst>
                                      </p:cBhvr>
                                      <p:to>
                                        <p:strVal val="visible"/>
                                      </p:to>
                                    </p:set>
                                    <p:animEffect transition="in" filter="fade">
                                      <p:cBhvr>
                                        <p:cTn id="129" dur="400"/>
                                        <p:tgtEl>
                                          <p:spTgt spid="42">
                                            <p:txEl>
                                              <p:pRg st="1" end="1"/>
                                            </p:txEl>
                                          </p:spTgt>
                                        </p:tgtEl>
                                      </p:cBhvr>
                                    </p:animEffect>
                                    <p:anim calcmode="lin" valueType="num">
                                      <p:cBhvr>
                                        <p:cTn id="130" dur="400" fill="hold"/>
                                        <p:tgtEl>
                                          <p:spTgt spid="42">
                                            <p:txEl>
                                              <p:pRg st="1" end="1"/>
                                            </p:txEl>
                                          </p:spTgt>
                                        </p:tgtEl>
                                        <p:attrNameLst>
                                          <p:attrName>ppt_x</p:attrName>
                                        </p:attrNameLst>
                                      </p:cBhvr>
                                      <p:tavLst>
                                        <p:tav tm="0">
                                          <p:val>
                                            <p:strVal val="#ppt_x"/>
                                          </p:val>
                                        </p:tav>
                                        <p:tav tm="100000">
                                          <p:val>
                                            <p:strVal val="#ppt_x"/>
                                          </p:val>
                                        </p:tav>
                                      </p:tavLst>
                                    </p:anim>
                                    <p:anim calcmode="lin" valueType="num">
                                      <p:cBhvr>
                                        <p:cTn id="131" dur="360" decel="100000" fill="hold"/>
                                        <p:tgtEl>
                                          <p:spTgt spid="42">
                                            <p:txEl>
                                              <p:pRg st="1" end="1"/>
                                            </p:txEl>
                                          </p:spTgt>
                                        </p:tgtEl>
                                        <p:attrNameLst>
                                          <p:attrName>ppt_y</p:attrName>
                                        </p:attrNameLst>
                                      </p:cBhvr>
                                      <p:tavLst>
                                        <p:tav tm="0">
                                          <p:val>
                                            <p:strVal val="#ppt_y+1"/>
                                          </p:val>
                                        </p:tav>
                                        <p:tav tm="100000">
                                          <p:val>
                                            <p:strVal val="#ppt_y-.03"/>
                                          </p:val>
                                        </p:tav>
                                      </p:tavLst>
                                    </p:anim>
                                    <p:anim calcmode="lin" valueType="num">
                                      <p:cBhvr>
                                        <p:cTn id="132" dur="40" accel="100000" fill="hold">
                                          <p:stCondLst>
                                            <p:cond delay="360"/>
                                          </p:stCondLst>
                                        </p:cTn>
                                        <p:tgtEl>
                                          <p:spTgt spid="42">
                                            <p:txEl>
                                              <p:pRg st="1" end="1"/>
                                            </p:txEl>
                                          </p:spTgt>
                                        </p:tgtEl>
                                        <p:attrNameLst>
                                          <p:attrName>ppt_y</p:attrName>
                                        </p:attrNameLst>
                                      </p:cBhvr>
                                      <p:tavLst>
                                        <p:tav tm="0">
                                          <p:val>
                                            <p:strVal val="#ppt_y-.03"/>
                                          </p:val>
                                        </p:tav>
                                        <p:tav tm="100000">
                                          <p:val>
                                            <p:strVal val="#ppt_y"/>
                                          </p:val>
                                        </p:tav>
                                      </p:tavLst>
                                    </p:anim>
                                  </p:childTnLst>
                                </p:cTn>
                              </p:par>
                            </p:childTnLst>
                          </p:cTn>
                        </p:par>
                        <p:par>
                          <p:cTn id="133" fill="hold">
                            <p:stCondLst>
                              <p:cond delay="8000"/>
                            </p:stCondLst>
                            <p:childTnLst>
                              <p:par>
                                <p:cTn id="134" presetID="2" presetClass="entr" presetSubtype="2" fill="hold" nodeType="afterEffect">
                                  <p:stCondLst>
                                    <p:cond delay="0"/>
                                  </p:stCondLst>
                                  <p:childTnLst>
                                    <p:set>
                                      <p:cBhvr>
                                        <p:cTn id="135" dur="1" fill="hold">
                                          <p:stCondLst>
                                            <p:cond delay="0"/>
                                          </p:stCondLst>
                                        </p:cTn>
                                        <p:tgtEl>
                                          <p:spTgt spid="46"/>
                                        </p:tgtEl>
                                        <p:attrNameLst>
                                          <p:attrName>style.visibility</p:attrName>
                                        </p:attrNameLst>
                                      </p:cBhvr>
                                      <p:to>
                                        <p:strVal val="visible"/>
                                      </p:to>
                                    </p:set>
                                    <p:anim calcmode="lin" valueType="num">
                                      <p:cBhvr additive="base">
                                        <p:cTn id="136" dur="500" fill="hold"/>
                                        <p:tgtEl>
                                          <p:spTgt spid="46"/>
                                        </p:tgtEl>
                                        <p:attrNameLst>
                                          <p:attrName>ppt_x</p:attrName>
                                        </p:attrNameLst>
                                      </p:cBhvr>
                                      <p:tavLst>
                                        <p:tav tm="0">
                                          <p:val>
                                            <p:strVal val="1+#ppt_w/2"/>
                                          </p:val>
                                        </p:tav>
                                        <p:tav tm="100000">
                                          <p:val>
                                            <p:strVal val="#ppt_x"/>
                                          </p:val>
                                        </p:tav>
                                      </p:tavLst>
                                    </p:anim>
                                    <p:anim calcmode="lin" valueType="num">
                                      <p:cBhvr additive="base">
                                        <p:cTn id="137" dur="500" fill="hold"/>
                                        <p:tgtEl>
                                          <p:spTgt spid="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7" grpId="0"/>
      <p:bldP spid="18" grpId="0" build="p"/>
      <p:bldP spid="23" grpId="0"/>
      <p:bldP spid="24" grpId="0" build="p"/>
      <p:bldP spid="29" grpId="0"/>
      <p:bldP spid="30" grpId="0" build="p"/>
      <p:bldP spid="35" grpId="0"/>
      <p:bldP spid="36" grpId="0" build="p"/>
      <p:bldP spid="41" grpId="0"/>
      <p:bldP spid="4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32325"/>
        </a:solidFill>
        <a:effectLst/>
      </p:bgPr>
    </p:bg>
    <p:spTree>
      <p:nvGrpSpPr>
        <p:cNvPr id="1" name=""/>
        <p:cNvGrpSpPr/>
        <p:nvPr/>
      </p:nvGrpSpPr>
      <p:grpSpPr>
        <a:xfrm>
          <a:off x="0" y="0"/>
          <a:ext cx="0" cy="0"/>
          <a:chOff x="0" y="0"/>
          <a:chExt cx="0" cy="0"/>
        </a:xfrm>
      </p:grpSpPr>
      <p:sp>
        <p:nvSpPr>
          <p:cNvPr id="2" name="!!seg8"/>
          <p:cNvSpPr/>
          <p:nvPr/>
        </p:nvSpPr>
        <p:spPr>
          <a:xfrm>
            <a:off x="16971264"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seg7"/>
          <p:cNvSpPr/>
          <p:nvPr/>
        </p:nvSpPr>
        <p:spPr>
          <a:xfrm>
            <a:off x="16568927"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seg6"/>
          <p:cNvSpPr/>
          <p:nvPr/>
        </p:nvSpPr>
        <p:spPr>
          <a:xfrm>
            <a:off x="15380207" y="566928"/>
            <a:ext cx="1097280" cy="118872"/>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seg5"/>
          <p:cNvSpPr/>
          <p:nvPr/>
        </p:nvSpPr>
        <p:spPr>
          <a:xfrm>
            <a:off x="14977871"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seg4"/>
          <p:cNvSpPr/>
          <p:nvPr/>
        </p:nvSpPr>
        <p:spPr>
          <a:xfrm>
            <a:off x="14575535"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eg3"/>
          <p:cNvSpPr/>
          <p:nvPr/>
        </p:nvSpPr>
        <p:spPr>
          <a:xfrm>
            <a:off x="14173199"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eg2"/>
          <p:cNvSpPr/>
          <p:nvPr/>
        </p:nvSpPr>
        <p:spPr>
          <a:xfrm>
            <a:off x="13770863"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seg1"/>
          <p:cNvSpPr/>
          <p:nvPr/>
        </p:nvSpPr>
        <p:spPr>
          <a:xfrm>
            <a:off x="1336852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egno"/>
          <p:cNvSpPr txBox="1"/>
          <p:nvPr/>
        </p:nvSpPr>
        <p:spPr>
          <a:xfrm>
            <a:off x="10808207" y="429768"/>
            <a:ext cx="2423160" cy="384048"/>
          </a:xfrm>
          <a:prstGeom prst="rect">
            <a:avLst/>
          </a:prstGeom>
          <a:noFill/>
        </p:spPr>
        <p:txBody>
          <a:bodyPr wrap="square" lIns="45720" rIns="45720" anchor="t"/>
          <a:lstStyle/>
          <a:p>
            <a:pPr algn="r">
              <a:lnSpc>
                <a:spcPct val="100000"/>
              </a:lnSpc>
            </a:pPr>
            <a:r>
              <a:rPr sz="1500" b="0" i="0">
                <a:solidFill>
                  <a:srgbClr val="8E8E93"/>
                </a:solidFill>
                <a:latin typeface="Oswald"/>
              </a:rPr>
              <a:t>06 / 08</a:t>
            </a:r>
          </a:p>
        </p:txBody>
      </p:sp>
      <p:sp>
        <p:nvSpPr>
          <p:cNvPr id="11" name="Kicker 80"/>
          <p:cNvSpPr txBox="1"/>
          <p:nvPr/>
        </p:nvSpPr>
        <p:spPr>
          <a:xfrm>
            <a:off x="1005840" y="457200"/>
            <a:ext cx="8229600" cy="411480"/>
          </a:xfrm>
          <a:prstGeom prst="rect">
            <a:avLst/>
          </a:prstGeom>
          <a:noFill/>
        </p:spPr>
        <p:txBody>
          <a:bodyPr wrap="square" lIns="45720" rIns="45720" anchor="t"/>
          <a:lstStyle/>
          <a:p>
            <a:pPr algn="l">
              <a:lnSpc>
                <a:spcPct val="100000"/>
              </a:lnSpc>
            </a:pPr>
            <a:r>
              <a:rPr sz="1600" b="1" i="0">
                <a:solidFill>
                  <a:srgbClr val="C1FF72"/>
                </a:solidFill>
                <a:latin typeface="Titillium Web"/>
              </a:rPr>
              <a:t>06  ·  METHODS AND MATERIALS USED  ·  1 OF 6</a:t>
            </a:r>
          </a:p>
        </p:txBody>
      </p:sp>
      <p:sp>
        <p:nvSpPr>
          <p:cNvPr id="12" name="Title 81"/>
          <p:cNvSpPr txBox="1"/>
          <p:nvPr/>
        </p:nvSpPr>
        <p:spPr>
          <a:xfrm>
            <a:off x="1005840" y="841248"/>
            <a:ext cx="10972800" cy="1051560"/>
          </a:xfrm>
          <a:prstGeom prst="rect">
            <a:avLst/>
          </a:prstGeom>
          <a:noFill/>
        </p:spPr>
        <p:txBody>
          <a:bodyPr wrap="square" lIns="45720" rIns="45720" anchor="t"/>
          <a:lstStyle/>
          <a:p>
            <a:pPr algn="l">
              <a:lnSpc>
                <a:spcPct val="100000"/>
              </a:lnSpc>
            </a:pPr>
            <a:r>
              <a:rPr sz="5400" b="0" i="0">
                <a:solidFill>
                  <a:srgbClr val="EDEDED"/>
                </a:solidFill>
                <a:latin typeface="Oswald"/>
              </a:rPr>
              <a:t>SYSTEM ARCHITECTURE</a:t>
            </a:r>
          </a:p>
        </p:txBody>
      </p:sp>
      <p:sp>
        <p:nvSpPr>
          <p:cNvPr id="13" name="Subtitle 82"/>
          <p:cNvSpPr txBox="1"/>
          <p:nvPr/>
        </p:nvSpPr>
        <p:spPr>
          <a:xfrm>
            <a:off x="1005840" y="1828800"/>
            <a:ext cx="10972800" cy="502920"/>
          </a:xfrm>
          <a:prstGeom prst="rect">
            <a:avLst/>
          </a:prstGeom>
          <a:noFill/>
        </p:spPr>
        <p:txBody>
          <a:bodyPr wrap="square" lIns="45720" rIns="45720" anchor="t"/>
          <a:lstStyle/>
          <a:p>
            <a:pPr algn="l">
              <a:lnSpc>
                <a:spcPct val="100000"/>
              </a:lnSpc>
            </a:pPr>
            <a:r>
              <a:rPr sz="2100" b="0" i="0">
                <a:solidFill>
                  <a:srgbClr val="8E8E93"/>
                </a:solidFill>
                <a:latin typeface="Titillium Web"/>
              </a:rPr>
              <a:t>Four layers with a clear data flow</a:t>
            </a:r>
          </a:p>
        </p:txBody>
      </p:sp>
      <p:sp>
        <p:nvSpPr>
          <p:cNvPr id="14" name="Source"/>
          <p:cNvSpPr txBox="1"/>
          <p:nvPr/>
        </p:nvSpPr>
        <p:spPr>
          <a:xfrm>
            <a:off x="1005840" y="9710928"/>
            <a:ext cx="14447520" cy="347472"/>
          </a:xfrm>
          <a:prstGeom prst="rect">
            <a:avLst/>
          </a:prstGeom>
          <a:noFill/>
        </p:spPr>
        <p:txBody>
          <a:bodyPr wrap="square" lIns="45720" rIns="45720" anchor="t"/>
          <a:lstStyle/>
          <a:p>
            <a:pPr algn="l">
              <a:lnSpc>
                <a:spcPct val="100000"/>
              </a:lnSpc>
            </a:pPr>
            <a:r>
              <a:rPr sz="1300" b="0" i="0">
                <a:solidFill>
                  <a:srgbClr val="5C5C61"/>
                </a:solidFill>
                <a:latin typeface="Titillium Web"/>
              </a:rPr>
              <a:t>Thesis §3.2 System Architecture, Figure 3.1</a:t>
            </a:r>
          </a:p>
        </p:txBody>
      </p:sp>
      <p:sp>
        <p:nvSpPr>
          <p:cNvPr id="15" name="Page"/>
          <p:cNvSpPr txBox="1"/>
          <p:nvPr/>
        </p:nvSpPr>
        <p:spPr>
          <a:xfrm>
            <a:off x="15453359" y="9710928"/>
            <a:ext cx="1828800" cy="347472"/>
          </a:xfrm>
          <a:prstGeom prst="rect">
            <a:avLst/>
          </a:prstGeom>
          <a:noFill/>
        </p:spPr>
        <p:txBody>
          <a:bodyPr wrap="square" lIns="45720" rIns="45720" anchor="t"/>
          <a:lstStyle/>
          <a:p>
            <a:pPr algn="r">
              <a:lnSpc>
                <a:spcPct val="100000"/>
              </a:lnSpc>
            </a:pPr>
            <a:r>
              <a:rPr sz="1300" b="0" i="0">
                <a:solidFill>
                  <a:srgbClr val="5C5C61"/>
                </a:solidFill>
                <a:latin typeface="Oswald"/>
              </a:rPr>
              <a:t>08</a:t>
            </a:r>
          </a:p>
        </p:txBody>
      </p:sp>
      <p:pic>
        <p:nvPicPr>
          <p:cNvPr id="16" name="!!photo" descr="4508751-0.475-0.50-0.50.jpg"/>
          <p:cNvPicPr>
            <a:picLocks noChangeAspect="1"/>
          </p:cNvPicPr>
          <p:nvPr/>
        </p:nvPicPr>
        <p:blipFill>
          <a:blip r:embed="rId3"/>
          <a:stretch>
            <a:fillRect/>
          </a:stretch>
        </p:blipFill>
        <p:spPr>
          <a:xfrm>
            <a:off x="13304520" y="1051560"/>
            <a:ext cx="3977639" cy="8366760"/>
          </a:xfrm>
          <a:prstGeom prst="roundRect">
            <a:avLst>
              <a:gd name="adj" fmla="val 8045"/>
            </a:avLst>
          </a:prstGeom>
          <a:effectLst>
            <a:outerShdw blurRad="279400" dist="114300" dir="2700000" algn="ctr" rotWithShape="0">
              <a:srgbClr val="0E0E10">
                <a:alpha val="70000"/>
              </a:srgbClr>
            </a:outerShdw>
          </a:effectLst>
        </p:spPr>
      </p:pic>
      <p:grpSp>
        <p:nvGrpSpPr>
          <p:cNvPr id="22" name="Layer 83"/>
          <p:cNvGrpSpPr/>
          <p:nvPr/>
        </p:nvGrpSpPr>
        <p:grpSpPr>
          <a:xfrm>
            <a:off x="1005840" y="2606040"/>
            <a:ext cx="8001000" cy="1572768"/>
            <a:chOff x="1005840" y="2606040"/>
            <a:chExt cx="8001000" cy="1572768"/>
          </a:xfrm>
        </p:grpSpPr>
        <p:sp>
          <p:nvSpPr>
            <p:cNvPr id="17" name="Layer light"/>
            <p:cNvSpPr/>
            <p:nvPr/>
          </p:nvSpPr>
          <p:spPr>
            <a:xfrm>
              <a:off x="1005840" y="2606040"/>
              <a:ext cx="8001000" cy="1572768"/>
            </a:xfrm>
            <a:prstGeom prst="roundRect">
              <a:avLst>
                <a:gd name="adj" fmla="val 17441"/>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Layer"/>
            <p:cNvSpPr/>
            <p:nvPr/>
          </p:nvSpPr>
          <p:spPr>
            <a:xfrm>
              <a:off x="1005840" y="2606040"/>
              <a:ext cx="8001000" cy="1572768"/>
            </a:xfrm>
            <a:prstGeom prst="roundRect">
              <a:avLst>
                <a:gd name="adj" fmla="val 17441"/>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Layer key bg"/>
            <p:cNvSpPr/>
            <p:nvPr/>
          </p:nvSpPr>
          <p:spPr>
            <a:xfrm>
              <a:off x="1234440" y="2834640"/>
              <a:ext cx="2514600" cy="1115568"/>
            </a:xfrm>
            <a:prstGeom prst="roundRect">
              <a:avLst>
                <a:gd name="adj" fmla="val 24590"/>
              </a:avLst>
            </a:prstGeom>
            <a:solidFill>
              <a:srgbClr val="33402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0" name="Layer key"/>
            <p:cNvSpPr txBox="1"/>
            <p:nvPr/>
          </p:nvSpPr>
          <p:spPr>
            <a:xfrm>
              <a:off x="1280160" y="2834640"/>
              <a:ext cx="2423160" cy="1115568"/>
            </a:xfrm>
            <a:prstGeom prst="rect">
              <a:avLst/>
            </a:prstGeom>
            <a:noFill/>
          </p:spPr>
          <p:txBody>
            <a:bodyPr wrap="square" lIns="45720" rIns="45720" anchor="ctr"/>
            <a:lstStyle/>
            <a:p>
              <a:pPr algn="ctr">
                <a:lnSpc>
                  <a:spcPct val="95000"/>
                </a:lnSpc>
              </a:pPr>
              <a:r>
                <a:rPr sz="1900" b="0" i="0">
                  <a:solidFill>
                    <a:srgbClr val="C1FF72"/>
                  </a:solidFill>
                  <a:latin typeface="Oswald"/>
                </a:rPr>
                <a:t>CLIENT</a:t>
              </a:r>
            </a:p>
          </p:txBody>
        </p:sp>
        <p:sp>
          <p:nvSpPr>
            <p:cNvPr id="21" name="Layer text"/>
            <p:cNvSpPr txBox="1"/>
            <p:nvPr/>
          </p:nvSpPr>
          <p:spPr>
            <a:xfrm>
              <a:off x="3977639" y="2715768"/>
              <a:ext cx="4846320" cy="1371600"/>
            </a:xfrm>
            <a:prstGeom prst="rect">
              <a:avLst/>
            </a:prstGeom>
            <a:noFill/>
          </p:spPr>
          <p:txBody>
            <a:bodyPr wrap="square" lIns="45720" rIns="45720" anchor="ctr"/>
            <a:lstStyle/>
            <a:p>
              <a:pPr algn="l">
                <a:lnSpc>
                  <a:spcPct val="97000"/>
                </a:lnSpc>
              </a:pPr>
              <a:r>
                <a:rPr sz="1650" b="0" i="0">
                  <a:solidFill>
                    <a:srgbClr val="BDBDC1"/>
                  </a:solidFill>
                  <a:latin typeface="Titillium Web"/>
                </a:rPr>
                <a:t>Tauri 2 desktop · React Native/Expo companion · scoped Rust CLI · grant-controlled MCP tools</a:t>
              </a:r>
            </a:p>
          </p:txBody>
        </p:sp>
      </p:grpSp>
      <p:grpSp>
        <p:nvGrpSpPr>
          <p:cNvPr id="28" name="Layer 84"/>
          <p:cNvGrpSpPr/>
          <p:nvPr/>
        </p:nvGrpSpPr>
        <p:grpSpPr>
          <a:xfrm>
            <a:off x="1005840" y="4343400"/>
            <a:ext cx="8001000" cy="1572768"/>
            <a:chOff x="1005840" y="4343400"/>
            <a:chExt cx="8001000" cy="1572768"/>
          </a:xfrm>
        </p:grpSpPr>
        <p:sp>
          <p:nvSpPr>
            <p:cNvPr id="23" name="Layer light"/>
            <p:cNvSpPr/>
            <p:nvPr/>
          </p:nvSpPr>
          <p:spPr>
            <a:xfrm>
              <a:off x="1005840" y="4343400"/>
              <a:ext cx="8001000" cy="1572768"/>
            </a:xfrm>
            <a:prstGeom prst="roundRect">
              <a:avLst>
                <a:gd name="adj" fmla="val 17441"/>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Layer"/>
            <p:cNvSpPr/>
            <p:nvPr/>
          </p:nvSpPr>
          <p:spPr>
            <a:xfrm>
              <a:off x="1005840" y="4343400"/>
              <a:ext cx="8001000" cy="1572768"/>
            </a:xfrm>
            <a:prstGeom prst="roundRect">
              <a:avLst>
                <a:gd name="adj" fmla="val 17441"/>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Layer key bg"/>
            <p:cNvSpPr/>
            <p:nvPr/>
          </p:nvSpPr>
          <p:spPr>
            <a:xfrm>
              <a:off x="1234440" y="4572000"/>
              <a:ext cx="2514600" cy="1115568"/>
            </a:xfrm>
            <a:prstGeom prst="roundRect">
              <a:avLst>
                <a:gd name="adj" fmla="val 24590"/>
              </a:avLst>
            </a:prstGeom>
            <a:solidFill>
              <a:srgbClr val="2F2F3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6" name="Layer key"/>
            <p:cNvSpPr txBox="1"/>
            <p:nvPr/>
          </p:nvSpPr>
          <p:spPr>
            <a:xfrm>
              <a:off x="1280160" y="4572000"/>
              <a:ext cx="2423160" cy="1115568"/>
            </a:xfrm>
            <a:prstGeom prst="rect">
              <a:avLst/>
            </a:prstGeom>
            <a:noFill/>
          </p:spPr>
          <p:txBody>
            <a:bodyPr wrap="square" lIns="45720" rIns="45720" anchor="ctr"/>
            <a:lstStyle/>
            <a:p>
              <a:pPr algn="ctr">
                <a:lnSpc>
                  <a:spcPct val="95000"/>
                </a:lnSpc>
              </a:pPr>
              <a:r>
                <a:rPr sz="1900" b="0" i="0">
                  <a:solidFill>
                    <a:srgbClr val="EDEDED"/>
                  </a:solidFill>
                  <a:latin typeface="Oswald"/>
                </a:rPr>
                <a:t>NATIVE &amp; BACKEND CONTROL</a:t>
              </a:r>
            </a:p>
          </p:txBody>
        </p:sp>
        <p:sp>
          <p:nvSpPr>
            <p:cNvPr id="27" name="Layer text"/>
            <p:cNvSpPr txBox="1"/>
            <p:nvPr/>
          </p:nvSpPr>
          <p:spPr>
            <a:xfrm>
              <a:off x="3977639" y="4453128"/>
              <a:ext cx="4846320" cy="1371600"/>
            </a:xfrm>
            <a:prstGeom prst="rect">
              <a:avLst/>
            </a:prstGeom>
            <a:noFill/>
          </p:spPr>
          <p:txBody>
            <a:bodyPr wrap="square" lIns="45720" rIns="45720" anchor="ctr"/>
            <a:lstStyle/>
            <a:p>
              <a:pPr algn="l">
                <a:lnSpc>
                  <a:spcPct val="97000"/>
                </a:lnSpc>
              </a:pPr>
              <a:r>
                <a:rPr sz="1650" b="0" i="0">
                  <a:solidFill>
                    <a:srgbClr val="BDBDC1"/>
                  </a:solidFill>
                  <a:latin typeface="Titillium Web"/>
                </a:rPr>
                <a:t>Shared Rust services, OS keyring, local ownership · Node.js 24/Express: authentication, workspaces, device and agent workflows</a:t>
              </a:r>
            </a:p>
          </p:txBody>
        </p:sp>
      </p:grpSp>
      <p:grpSp>
        <p:nvGrpSpPr>
          <p:cNvPr id="34" name="Layer 85"/>
          <p:cNvGrpSpPr/>
          <p:nvPr/>
        </p:nvGrpSpPr>
        <p:grpSpPr>
          <a:xfrm>
            <a:off x="1005840" y="6080760"/>
            <a:ext cx="8001000" cy="1572768"/>
            <a:chOff x="1005840" y="6080760"/>
            <a:chExt cx="8001000" cy="1572768"/>
          </a:xfrm>
        </p:grpSpPr>
        <p:sp>
          <p:nvSpPr>
            <p:cNvPr id="29" name="Layer light"/>
            <p:cNvSpPr/>
            <p:nvPr/>
          </p:nvSpPr>
          <p:spPr>
            <a:xfrm>
              <a:off x="1005840" y="6080760"/>
              <a:ext cx="8001000" cy="1572768"/>
            </a:xfrm>
            <a:prstGeom prst="roundRect">
              <a:avLst>
                <a:gd name="adj" fmla="val 17441"/>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0" name="Layer"/>
            <p:cNvSpPr/>
            <p:nvPr/>
          </p:nvSpPr>
          <p:spPr>
            <a:xfrm>
              <a:off x="1005840" y="6080760"/>
              <a:ext cx="8001000" cy="1572768"/>
            </a:xfrm>
            <a:prstGeom prst="roundRect">
              <a:avLst>
                <a:gd name="adj" fmla="val 17441"/>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Layer key bg"/>
            <p:cNvSpPr/>
            <p:nvPr/>
          </p:nvSpPr>
          <p:spPr>
            <a:xfrm>
              <a:off x="1234440" y="6309360"/>
              <a:ext cx="2514600" cy="1115568"/>
            </a:xfrm>
            <a:prstGeom prst="roundRect">
              <a:avLst>
                <a:gd name="adj" fmla="val 24590"/>
              </a:avLst>
            </a:prstGeom>
            <a:solidFill>
              <a:srgbClr val="33402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2" name="Layer key"/>
            <p:cNvSpPr txBox="1"/>
            <p:nvPr/>
          </p:nvSpPr>
          <p:spPr>
            <a:xfrm>
              <a:off x="1280160" y="6309360"/>
              <a:ext cx="2423160" cy="1115568"/>
            </a:xfrm>
            <a:prstGeom prst="rect">
              <a:avLst/>
            </a:prstGeom>
            <a:noFill/>
          </p:spPr>
          <p:txBody>
            <a:bodyPr wrap="square" lIns="45720" rIns="45720" anchor="ctr"/>
            <a:lstStyle/>
            <a:p>
              <a:pPr algn="ctr">
                <a:lnSpc>
                  <a:spcPct val="95000"/>
                </a:lnSpc>
              </a:pPr>
              <a:r>
                <a:rPr sz="1900" b="0" i="0">
                  <a:solidFill>
                    <a:srgbClr val="C1FF72"/>
                  </a:solidFill>
                  <a:latin typeface="Oswald"/>
                </a:rPr>
                <a:t>INFERENCE</a:t>
              </a:r>
            </a:p>
          </p:txBody>
        </p:sp>
        <p:sp>
          <p:nvSpPr>
            <p:cNvPr id="33" name="Layer text"/>
            <p:cNvSpPr txBox="1"/>
            <p:nvPr/>
          </p:nvSpPr>
          <p:spPr>
            <a:xfrm>
              <a:off x="3977639" y="6190488"/>
              <a:ext cx="4846320" cy="1371600"/>
            </a:xfrm>
            <a:prstGeom prst="rect">
              <a:avLst/>
            </a:prstGeom>
            <a:noFill/>
          </p:spPr>
          <p:txBody>
            <a:bodyPr wrap="square" lIns="45720" rIns="45720" anchor="ctr"/>
            <a:lstStyle/>
            <a:p>
              <a:pPr algn="l">
                <a:lnSpc>
                  <a:spcPct val="97000"/>
                </a:lnSpc>
              </a:pPr>
              <a:r>
                <a:rPr sz="1650" b="0" i="0">
                  <a:solidFill>
                    <a:srgbClr val="BDBDC1"/>
                  </a:solidFill>
                  <a:latin typeface="Titillium Web"/>
                </a:rPr>
                <a:t>FastAPI on Hugging Face Spaces: trained URL models, BERT, DGA rules, Qwen explanations, versioned contracts</a:t>
              </a:r>
            </a:p>
          </p:txBody>
        </p:sp>
      </p:grpSp>
      <p:grpSp>
        <p:nvGrpSpPr>
          <p:cNvPr id="40" name="Layer 86"/>
          <p:cNvGrpSpPr/>
          <p:nvPr/>
        </p:nvGrpSpPr>
        <p:grpSpPr>
          <a:xfrm>
            <a:off x="1005840" y="7818120"/>
            <a:ext cx="8001000" cy="1572768"/>
            <a:chOff x="1005840" y="7818120"/>
            <a:chExt cx="8001000" cy="1572768"/>
          </a:xfrm>
        </p:grpSpPr>
        <p:sp>
          <p:nvSpPr>
            <p:cNvPr id="35" name="Layer light"/>
            <p:cNvSpPr/>
            <p:nvPr/>
          </p:nvSpPr>
          <p:spPr>
            <a:xfrm>
              <a:off x="1005840" y="7818120"/>
              <a:ext cx="8001000" cy="1572768"/>
            </a:xfrm>
            <a:prstGeom prst="roundRect">
              <a:avLst>
                <a:gd name="adj" fmla="val 17441"/>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Layer"/>
            <p:cNvSpPr/>
            <p:nvPr/>
          </p:nvSpPr>
          <p:spPr>
            <a:xfrm>
              <a:off x="1005840" y="7818120"/>
              <a:ext cx="8001000" cy="1572768"/>
            </a:xfrm>
            <a:prstGeom prst="roundRect">
              <a:avLst>
                <a:gd name="adj" fmla="val 17441"/>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Layer key bg"/>
            <p:cNvSpPr/>
            <p:nvPr/>
          </p:nvSpPr>
          <p:spPr>
            <a:xfrm>
              <a:off x="1234440" y="8046720"/>
              <a:ext cx="2514600" cy="1115568"/>
            </a:xfrm>
            <a:prstGeom prst="roundRect">
              <a:avLst>
                <a:gd name="adj" fmla="val 24590"/>
              </a:avLst>
            </a:prstGeom>
            <a:solidFill>
              <a:srgbClr val="2F2F3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8" name="Layer key"/>
            <p:cNvSpPr txBox="1"/>
            <p:nvPr/>
          </p:nvSpPr>
          <p:spPr>
            <a:xfrm>
              <a:off x="1280160" y="8046720"/>
              <a:ext cx="2423160" cy="1115568"/>
            </a:xfrm>
            <a:prstGeom prst="rect">
              <a:avLst/>
            </a:prstGeom>
            <a:noFill/>
          </p:spPr>
          <p:txBody>
            <a:bodyPr wrap="square" lIns="45720" rIns="45720" anchor="ctr"/>
            <a:lstStyle/>
            <a:p>
              <a:pPr algn="ctr">
                <a:lnSpc>
                  <a:spcPct val="95000"/>
                </a:lnSpc>
              </a:pPr>
              <a:r>
                <a:rPr sz="1900" b="0" i="0">
                  <a:solidFill>
                    <a:srgbClr val="EDEDED"/>
                  </a:solidFill>
                  <a:latin typeface="Oswald"/>
                </a:rPr>
                <a:t>PERSISTENCE &amp; INTELLIGENCE</a:t>
              </a:r>
            </a:p>
          </p:txBody>
        </p:sp>
        <p:sp>
          <p:nvSpPr>
            <p:cNvPr id="39" name="Layer text"/>
            <p:cNvSpPr txBox="1"/>
            <p:nvPr/>
          </p:nvSpPr>
          <p:spPr>
            <a:xfrm>
              <a:off x="3977639" y="7927848"/>
              <a:ext cx="4846320" cy="1371600"/>
            </a:xfrm>
            <a:prstGeom prst="rect">
              <a:avLst/>
            </a:prstGeom>
            <a:noFill/>
          </p:spPr>
          <p:txBody>
            <a:bodyPr wrap="square" lIns="45720" rIns="45720" anchor="ctr"/>
            <a:lstStyle/>
            <a:p>
              <a:pPr algn="l">
                <a:lnSpc>
                  <a:spcPct val="97000"/>
                </a:lnSpc>
              </a:pPr>
              <a:r>
                <a:rPr sz="1650" b="0" i="0">
                  <a:solidFill>
                    <a:srgbClr val="BDBDC1"/>
                  </a:solidFill>
                  <a:latin typeface="Titillium Web"/>
                </a:rPr>
                <a:t>MongoDB records, selected Appwrite integrations, local stores and caches · AlienVault OTX, page fetching</a:t>
              </a:r>
            </a:p>
          </p:txBody>
        </p:sp>
      </p:grpSp>
      <p:grpSp>
        <p:nvGrpSpPr>
          <p:cNvPr id="44" name="Flow 87"/>
          <p:cNvGrpSpPr/>
          <p:nvPr/>
        </p:nvGrpSpPr>
        <p:grpSpPr>
          <a:xfrm>
            <a:off x="9372600" y="2606040"/>
            <a:ext cx="3566160" cy="1371600"/>
            <a:chOff x="9372600" y="2606040"/>
            <a:chExt cx="3566160" cy="1371600"/>
          </a:xfrm>
        </p:grpSpPr>
        <p:sp>
          <p:nvSpPr>
            <p:cNvPr id="41" name="Flow light"/>
            <p:cNvSpPr/>
            <p:nvPr/>
          </p:nvSpPr>
          <p:spPr>
            <a:xfrm>
              <a:off x="9372600" y="2606040"/>
              <a:ext cx="3566160" cy="1371600"/>
            </a:xfrm>
            <a:prstGeom prst="roundRect">
              <a:avLst>
                <a:gd name="adj" fmla="val 20000"/>
              </a:avLst>
            </a:prstGeom>
            <a:solidFill>
              <a:srgbClr val="33402A"/>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2" name="Flow"/>
            <p:cNvSpPr/>
            <p:nvPr/>
          </p:nvSpPr>
          <p:spPr>
            <a:xfrm>
              <a:off x="9372600" y="2606040"/>
              <a:ext cx="3566160" cy="1371600"/>
            </a:xfrm>
            <a:prstGeom prst="roundRect">
              <a:avLst>
                <a:gd name="adj" fmla="val 20000"/>
              </a:avLst>
            </a:prstGeom>
            <a:solidFill>
              <a:srgbClr val="33402A"/>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3" name="Flow text"/>
            <p:cNvSpPr txBox="1"/>
            <p:nvPr/>
          </p:nvSpPr>
          <p:spPr>
            <a:xfrm>
              <a:off x="9601200" y="2770632"/>
              <a:ext cx="3108960" cy="1097280"/>
            </a:xfrm>
            <a:prstGeom prst="rect">
              <a:avLst/>
            </a:prstGeom>
            <a:noFill/>
          </p:spPr>
          <p:txBody>
            <a:bodyPr wrap="square" lIns="45720" rIns="45720" anchor="t"/>
            <a:lstStyle/>
            <a:p>
              <a:pPr algn="l">
                <a:lnSpc>
                  <a:spcPct val="100000"/>
                </a:lnSpc>
                <a:spcAft>
                  <a:spcPts val="200"/>
                </a:spcAft>
              </a:pPr>
              <a:r>
                <a:rPr sz="1900" b="0" i="0">
                  <a:solidFill>
                    <a:srgbClr val="C1FF72"/>
                  </a:solidFill>
                  <a:latin typeface="Oswald"/>
                </a:rPr>
                <a:t>ADDRESS</a:t>
              </a:r>
            </a:p>
            <a:p>
              <a:pPr algn="l">
                <a:lnSpc>
                  <a:spcPct val="95000"/>
                </a:lnSpc>
              </a:pPr>
              <a:r>
                <a:rPr sz="1600" b="0" i="0">
                  <a:solidFill>
                    <a:srgbClr val="BDBDC1"/>
                  </a:solidFill>
                  <a:latin typeface="Titillium Web"/>
                </a:rPr>
                <a:t>manual, or a consented observation</a:t>
              </a:r>
            </a:p>
          </p:txBody>
        </p:sp>
      </p:grpSp>
      <p:cxnSp>
        <p:nvCxnSpPr>
          <p:cNvPr id="45" name="Flow arrow 88"/>
          <p:cNvCxnSpPr/>
          <p:nvPr/>
        </p:nvCxnSpPr>
        <p:spPr>
          <a:xfrm>
            <a:off x="11155680" y="3995928"/>
            <a:ext cx="0" cy="301752"/>
          </a:xfrm>
          <a:prstGeom prst="line">
            <a:avLst/>
          </a:prstGeom>
          <a:ln w="25400">
            <a:solidFill>
              <a:srgbClr val="C1FF72"/>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49" name="Flow 89"/>
          <p:cNvGrpSpPr/>
          <p:nvPr/>
        </p:nvGrpSpPr>
        <p:grpSpPr>
          <a:xfrm>
            <a:off x="9372600" y="4343400"/>
            <a:ext cx="3566160" cy="1371600"/>
            <a:chOff x="9372600" y="4343400"/>
            <a:chExt cx="3566160" cy="1371600"/>
          </a:xfrm>
        </p:grpSpPr>
        <p:sp>
          <p:nvSpPr>
            <p:cNvPr id="46" name="Flow light"/>
            <p:cNvSpPr/>
            <p:nvPr/>
          </p:nvSpPr>
          <p:spPr>
            <a:xfrm>
              <a:off x="9372600" y="4343400"/>
              <a:ext cx="3566160" cy="1371600"/>
            </a:xfrm>
            <a:prstGeom prst="roundRect">
              <a:avLst>
                <a:gd name="adj" fmla="val 2000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7" name="Flow"/>
            <p:cNvSpPr/>
            <p:nvPr/>
          </p:nvSpPr>
          <p:spPr>
            <a:xfrm>
              <a:off x="9372600" y="4343400"/>
              <a:ext cx="3566160" cy="1371600"/>
            </a:xfrm>
            <a:prstGeom prst="roundRect">
              <a:avLst>
                <a:gd name="adj" fmla="val 2000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8" name="Flow text"/>
            <p:cNvSpPr txBox="1"/>
            <p:nvPr/>
          </p:nvSpPr>
          <p:spPr>
            <a:xfrm>
              <a:off x="9601200" y="4507992"/>
              <a:ext cx="3108960" cy="1097280"/>
            </a:xfrm>
            <a:prstGeom prst="rect">
              <a:avLst/>
            </a:prstGeom>
            <a:noFill/>
          </p:spPr>
          <p:txBody>
            <a:bodyPr wrap="square" lIns="45720" rIns="45720" anchor="t"/>
            <a:lstStyle/>
            <a:p>
              <a:pPr algn="l">
                <a:lnSpc>
                  <a:spcPct val="100000"/>
                </a:lnSpc>
                <a:spcAft>
                  <a:spcPts val="200"/>
                </a:spcAft>
              </a:pPr>
              <a:r>
                <a:rPr sz="1900" b="0" i="0">
                  <a:solidFill>
                    <a:srgbClr val="EDEDED"/>
                  </a:solidFill>
                  <a:latin typeface="Oswald"/>
                </a:rPr>
                <a:t>PRIVACY &amp; SESSION CHECKS</a:t>
              </a:r>
            </a:p>
            <a:p>
              <a:pPr algn="l">
                <a:lnSpc>
                  <a:spcPct val="95000"/>
                </a:lnSpc>
              </a:pPr>
              <a:r>
                <a:rPr sz="1600" b="0" i="0">
                  <a:solidFill>
                    <a:srgbClr val="BDBDC1"/>
                  </a:solidFill>
                  <a:latin typeface="Titillium Web"/>
                </a:rPr>
                <a:t>in the native layer</a:t>
              </a:r>
            </a:p>
          </p:txBody>
        </p:sp>
      </p:grpSp>
      <p:cxnSp>
        <p:nvCxnSpPr>
          <p:cNvPr id="50" name="Flow arrow 90"/>
          <p:cNvCxnSpPr/>
          <p:nvPr/>
        </p:nvCxnSpPr>
        <p:spPr>
          <a:xfrm>
            <a:off x="11155680" y="5733288"/>
            <a:ext cx="0" cy="301752"/>
          </a:xfrm>
          <a:prstGeom prst="line">
            <a:avLst/>
          </a:prstGeom>
          <a:ln w="25400">
            <a:solidFill>
              <a:srgbClr val="C1FF72"/>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54" name="Flow 91"/>
          <p:cNvGrpSpPr/>
          <p:nvPr/>
        </p:nvGrpSpPr>
        <p:grpSpPr>
          <a:xfrm>
            <a:off x="9372600" y="6080760"/>
            <a:ext cx="3566160" cy="1371600"/>
            <a:chOff x="9372600" y="6080760"/>
            <a:chExt cx="3566160" cy="1371600"/>
          </a:xfrm>
        </p:grpSpPr>
        <p:sp>
          <p:nvSpPr>
            <p:cNvPr id="51" name="Flow light"/>
            <p:cNvSpPr/>
            <p:nvPr/>
          </p:nvSpPr>
          <p:spPr>
            <a:xfrm>
              <a:off x="9372600" y="6080760"/>
              <a:ext cx="3566160" cy="1371600"/>
            </a:xfrm>
            <a:prstGeom prst="roundRect">
              <a:avLst>
                <a:gd name="adj" fmla="val 2000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2" name="Flow"/>
            <p:cNvSpPr/>
            <p:nvPr/>
          </p:nvSpPr>
          <p:spPr>
            <a:xfrm>
              <a:off x="9372600" y="6080760"/>
              <a:ext cx="3566160" cy="1371600"/>
            </a:xfrm>
            <a:prstGeom prst="roundRect">
              <a:avLst>
                <a:gd name="adj" fmla="val 2000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3" name="Flow text"/>
            <p:cNvSpPr txBox="1"/>
            <p:nvPr/>
          </p:nvSpPr>
          <p:spPr>
            <a:xfrm>
              <a:off x="9601200" y="6245352"/>
              <a:ext cx="3108960" cy="1097280"/>
            </a:xfrm>
            <a:prstGeom prst="rect">
              <a:avLst/>
            </a:prstGeom>
            <a:noFill/>
          </p:spPr>
          <p:txBody>
            <a:bodyPr wrap="square" lIns="45720" rIns="45720" anchor="t"/>
            <a:lstStyle/>
            <a:p>
              <a:pPr algn="l">
                <a:lnSpc>
                  <a:spcPct val="100000"/>
                </a:lnSpc>
                <a:spcAft>
                  <a:spcPts val="200"/>
                </a:spcAft>
              </a:pPr>
              <a:r>
                <a:rPr sz="1900" b="0" i="0">
                  <a:solidFill>
                    <a:srgbClr val="EDEDED"/>
                  </a:solidFill>
                  <a:latin typeface="Oswald"/>
                </a:rPr>
                <a:t>BACKEND ROUTES</a:t>
              </a:r>
            </a:p>
            <a:p>
              <a:pPr algn="l">
                <a:lnSpc>
                  <a:spcPct val="95000"/>
                </a:lnSpc>
              </a:pPr>
              <a:r>
                <a:rPr sz="1600" b="0" i="0">
                  <a:solidFill>
                    <a:srgbClr val="BDBDC1"/>
                  </a:solidFill>
                  <a:latin typeface="Titillium Web"/>
                </a:rPr>
                <a:t>pick the analysis service</a:t>
              </a:r>
            </a:p>
          </p:txBody>
        </p:sp>
      </p:grpSp>
      <p:cxnSp>
        <p:nvCxnSpPr>
          <p:cNvPr id="55" name="Flow arrow 92"/>
          <p:cNvCxnSpPr/>
          <p:nvPr/>
        </p:nvCxnSpPr>
        <p:spPr>
          <a:xfrm>
            <a:off x="11155680" y="7470648"/>
            <a:ext cx="0" cy="301752"/>
          </a:xfrm>
          <a:prstGeom prst="line">
            <a:avLst/>
          </a:prstGeom>
          <a:ln w="25400">
            <a:solidFill>
              <a:srgbClr val="C1FF72"/>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59" name="Flow 93"/>
          <p:cNvGrpSpPr/>
          <p:nvPr/>
        </p:nvGrpSpPr>
        <p:grpSpPr>
          <a:xfrm>
            <a:off x="9372600" y="7818120"/>
            <a:ext cx="3566160" cy="1371600"/>
            <a:chOff x="9372600" y="7818120"/>
            <a:chExt cx="3566160" cy="1371600"/>
          </a:xfrm>
        </p:grpSpPr>
        <p:sp>
          <p:nvSpPr>
            <p:cNvPr id="56" name="Flow light"/>
            <p:cNvSpPr/>
            <p:nvPr/>
          </p:nvSpPr>
          <p:spPr>
            <a:xfrm>
              <a:off x="9372600" y="7818120"/>
              <a:ext cx="3566160" cy="1371600"/>
            </a:xfrm>
            <a:prstGeom prst="roundRect">
              <a:avLst>
                <a:gd name="adj" fmla="val 20000"/>
              </a:avLst>
            </a:prstGeom>
            <a:solidFill>
              <a:srgbClr val="33402A"/>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7" name="Flow"/>
            <p:cNvSpPr/>
            <p:nvPr/>
          </p:nvSpPr>
          <p:spPr>
            <a:xfrm>
              <a:off x="9372600" y="7818120"/>
              <a:ext cx="3566160" cy="1371600"/>
            </a:xfrm>
            <a:prstGeom prst="roundRect">
              <a:avLst>
                <a:gd name="adj" fmla="val 20000"/>
              </a:avLst>
            </a:prstGeom>
            <a:solidFill>
              <a:srgbClr val="33402A"/>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8" name="Flow text"/>
            <p:cNvSpPr txBox="1"/>
            <p:nvPr/>
          </p:nvSpPr>
          <p:spPr>
            <a:xfrm>
              <a:off x="9601200" y="7982712"/>
              <a:ext cx="3108960" cy="1097280"/>
            </a:xfrm>
            <a:prstGeom prst="rect">
              <a:avLst/>
            </a:prstGeom>
            <a:noFill/>
          </p:spPr>
          <p:txBody>
            <a:bodyPr wrap="square" lIns="45720" rIns="45720" anchor="t"/>
            <a:lstStyle/>
            <a:p>
              <a:pPr algn="l">
                <a:lnSpc>
                  <a:spcPct val="100000"/>
                </a:lnSpc>
                <a:spcAft>
                  <a:spcPts val="200"/>
                </a:spcAft>
              </a:pPr>
              <a:r>
                <a:rPr sz="1900" b="0" i="0">
                  <a:solidFill>
                    <a:srgbClr val="C1FF72"/>
                  </a:solidFill>
                  <a:latin typeface="Oswald"/>
                </a:rPr>
                <a:t>LABELLED RESULT</a:t>
              </a:r>
            </a:p>
            <a:p>
              <a:pPr algn="l">
                <a:lnSpc>
                  <a:spcPct val="95000"/>
                </a:lnSpc>
              </a:pPr>
              <a:r>
                <a:rPr sz="1600" b="0" i="0">
                  <a:solidFill>
                    <a:srgbClr val="BDBDC1"/>
                  </a:solidFill>
                  <a:latin typeface="Titillium Web"/>
                </a:rPr>
                <a:t>with coverage and failures</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anim calcmode="lin" valueType="num">
                                      <p:cBhvr>
                                        <p:cTn id="11" dur="500" fill="hold"/>
                                        <p:tgtEl>
                                          <p:spTgt spid="12"/>
                                        </p:tgtEl>
                                        <p:attrNameLst>
                                          <p:attrName>ppt_x</p:attrName>
                                        </p:attrNameLst>
                                      </p:cBhvr>
                                      <p:tavLst>
                                        <p:tav tm="0">
                                          <p:val>
                                            <p:strVal val="#ppt_x"/>
                                          </p:val>
                                        </p:tav>
                                        <p:tav tm="100000">
                                          <p:val>
                                            <p:strVal val="#ppt_x"/>
                                          </p:val>
                                        </p:tav>
                                      </p:tavLst>
                                    </p:anim>
                                    <p:anim calcmode="lin" valueType="num">
                                      <p:cBhvr>
                                        <p:cTn id="12" dur="450" decel="100000" fill="hold"/>
                                        <p:tgtEl>
                                          <p:spTgt spid="12"/>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par>
                          <p:cTn id="14" fill="hold">
                            <p:stCondLst>
                              <p:cond delay="145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2250"/>
                            </p:stCondLst>
                            <p:childTnLst>
                              <p:par>
                                <p:cTn id="19" presetID="2" presetClass="entr" presetSubtype="8" fill="hold" nodeType="after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additive="base">
                                        <p:cTn id="21" dur="500" fill="hold"/>
                                        <p:tgtEl>
                                          <p:spTgt spid="22"/>
                                        </p:tgtEl>
                                        <p:attrNameLst>
                                          <p:attrName>ppt_x</p:attrName>
                                        </p:attrNameLst>
                                      </p:cBhvr>
                                      <p:tavLst>
                                        <p:tav tm="0">
                                          <p:val>
                                            <p:strVal val="0-#ppt_w/2"/>
                                          </p:val>
                                        </p:tav>
                                        <p:tav tm="100000">
                                          <p:val>
                                            <p:strVal val="#ppt_x"/>
                                          </p:val>
                                        </p:tav>
                                      </p:tavLst>
                                    </p:anim>
                                    <p:anim calcmode="lin" valueType="num">
                                      <p:cBhvr additive="base">
                                        <p:cTn id="22" dur="500" fill="hold"/>
                                        <p:tgtEl>
                                          <p:spTgt spid="22"/>
                                        </p:tgtEl>
                                        <p:attrNameLst>
                                          <p:attrName>ppt_y</p:attrName>
                                        </p:attrNameLst>
                                      </p:cBhvr>
                                      <p:tavLst>
                                        <p:tav tm="0">
                                          <p:val>
                                            <p:strVal val="#ppt_y"/>
                                          </p:val>
                                        </p:tav>
                                        <p:tav tm="100000">
                                          <p:val>
                                            <p:strVal val="#ppt_y"/>
                                          </p:val>
                                        </p:tav>
                                      </p:tavLst>
                                    </p:anim>
                                  </p:childTnLst>
                                </p:cTn>
                              </p:par>
                            </p:childTnLst>
                          </p:cTn>
                        </p:par>
                        <p:par>
                          <p:cTn id="23" fill="hold">
                            <p:stCondLst>
                              <p:cond delay="2750"/>
                            </p:stCondLst>
                            <p:childTnLst>
                              <p:par>
                                <p:cTn id="24" presetID="2" presetClass="entr" presetSubtype="8" fill="hold" nodeType="afterEffect">
                                  <p:stCondLst>
                                    <p:cond delay="0"/>
                                  </p:stCondLst>
                                  <p:childTnLst>
                                    <p:set>
                                      <p:cBhvr>
                                        <p:cTn id="25" dur="1" fill="hold">
                                          <p:stCondLst>
                                            <p:cond delay="0"/>
                                          </p:stCondLst>
                                        </p:cTn>
                                        <p:tgtEl>
                                          <p:spTgt spid="28"/>
                                        </p:tgtEl>
                                        <p:attrNameLst>
                                          <p:attrName>style.visibility</p:attrName>
                                        </p:attrNameLst>
                                      </p:cBhvr>
                                      <p:to>
                                        <p:strVal val="visible"/>
                                      </p:to>
                                    </p:set>
                                    <p:anim calcmode="lin" valueType="num">
                                      <p:cBhvr additive="base">
                                        <p:cTn id="26" dur="500" fill="hold"/>
                                        <p:tgtEl>
                                          <p:spTgt spid="28"/>
                                        </p:tgtEl>
                                        <p:attrNameLst>
                                          <p:attrName>ppt_x</p:attrName>
                                        </p:attrNameLst>
                                      </p:cBhvr>
                                      <p:tavLst>
                                        <p:tav tm="0">
                                          <p:val>
                                            <p:strVal val="0-#ppt_w/2"/>
                                          </p:val>
                                        </p:tav>
                                        <p:tav tm="100000">
                                          <p:val>
                                            <p:strVal val="#ppt_x"/>
                                          </p:val>
                                        </p:tav>
                                      </p:tavLst>
                                    </p:anim>
                                    <p:anim calcmode="lin" valueType="num">
                                      <p:cBhvr additive="base">
                                        <p:cTn id="27" dur="500" fill="hold"/>
                                        <p:tgtEl>
                                          <p:spTgt spid="28"/>
                                        </p:tgtEl>
                                        <p:attrNameLst>
                                          <p:attrName>ppt_y</p:attrName>
                                        </p:attrNameLst>
                                      </p:cBhvr>
                                      <p:tavLst>
                                        <p:tav tm="0">
                                          <p:val>
                                            <p:strVal val="#ppt_y"/>
                                          </p:val>
                                        </p:tav>
                                        <p:tav tm="100000">
                                          <p:val>
                                            <p:strVal val="#ppt_y"/>
                                          </p:val>
                                        </p:tav>
                                      </p:tavLst>
                                    </p:anim>
                                  </p:childTnLst>
                                </p:cTn>
                              </p:par>
                            </p:childTnLst>
                          </p:cTn>
                        </p:par>
                        <p:par>
                          <p:cTn id="28" fill="hold">
                            <p:stCondLst>
                              <p:cond delay="3250"/>
                            </p:stCondLst>
                            <p:childTnLst>
                              <p:par>
                                <p:cTn id="29" presetID="2" presetClass="entr" presetSubtype="8" fill="hold" nodeType="after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additive="base">
                                        <p:cTn id="31" dur="500" fill="hold"/>
                                        <p:tgtEl>
                                          <p:spTgt spid="34"/>
                                        </p:tgtEl>
                                        <p:attrNameLst>
                                          <p:attrName>ppt_x</p:attrName>
                                        </p:attrNameLst>
                                      </p:cBhvr>
                                      <p:tavLst>
                                        <p:tav tm="0">
                                          <p:val>
                                            <p:strVal val="0-#ppt_w/2"/>
                                          </p:val>
                                        </p:tav>
                                        <p:tav tm="100000">
                                          <p:val>
                                            <p:strVal val="#ppt_x"/>
                                          </p:val>
                                        </p:tav>
                                      </p:tavLst>
                                    </p:anim>
                                    <p:anim calcmode="lin" valueType="num">
                                      <p:cBhvr additive="base">
                                        <p:cTn id="32" dur="500" fill="hold"/>
                                        <p:tgtEl>
                                          <p:spTgt spid="34"/>
                                        </p:tgtEl>
                                        <p:attrNameLst>
                                          <p:attrName>ppt_y</p:attrName>
                                        </p:attrNameLst>
                                      </p:cBhvr>
                                      <p:tavLst>
                                        <p:tav tm="0">
                                          <p:val>
                                            <p:strVal val="#ppt_y"/>
                                          </p:val>
                                        </p:tav>
                                        <p:tav tm="100000">
                                          <p:val>
                                            <p:strVal val="#ppt_y"/>
                                          </p:val>
                                        </p:tav>
                                      </p:tavLst>
                                    </p:anim>
                                  </p:childTnLst>
                                </p:cTn>
                              </p:par>
                            </p:childTnLst>
                          </p:cTn>
                        </p:par>
                        <p:par>
                          <p:cTn id="33" fill="hold">
                            <p:stCondLst>
                              <p:cond delay="3750"/>
                            </p:stCondLst>
                            <p:childTnLst>
                              <p:par>
                                <p:cTn id="34" presetID="2" presetClass="entr" presetSubtype="8" fill="hold" nodeType="afterEffect">
                                  <p:stCondLst>
                                    <p:cond delay="0"/>
                                  </p:stCondLst>
                                  <p:childTnLst>
                                    <p:set>
                                      <p:cBhvr>
                                        <p:cTn id="35" dur="1" fill="hold">
                                          <p:stCondLst>
                                            <p:cond delay="0"/>
                                          </p:stCondLst>
                                        </p:cTn>
                                        <p:tgtEl>
                                          <p:spTgt spid="40"/>
                                        </p:tgtEl>
                                        <p:attrNameLst>
                                          <p:attrName>style.visibility</p:attrName>
                                        </p:attrNameLst>
                                      </p:cBhvr>
                                      <p:to>
                                        <p:strVal val="visible"/>
                                      </p:to>
                                    </p:set>
                                    <p:anim calcmode="lin" valueType="num">
                                      <p:cBhvr additive="base">
                                        <p:cTn id="36" dur="500" fill="hold"/>
                                        <p:tgtEl>
                                          <p:spTgt spid="40"/>
                                        </p:tgtEl>
                                        <p:attrNameLst>
                                          <p:attrName>ppt_x</p:attrName>
                                        </p:attrNameLst>
                                      </p:cBhvr>
                                      <p:tavLst>
                                        <p:tav tm="0">
                                          <p:val>
                                            <p:strVal val="0-#ppt_w/2"/>
                                          </p:val>
                                        </p:tav>
                                        <p:tav tm="100000">
                                          <p:val>
                                            <p:strVal val="#ppt_x"/>
                                          </p:val>
                                        </p:tav>
                                      </p:tavLst>
                                    </p:anim>
                                    <p:anim calcmode="lin" valueType="num">
                                      <p:cBhvr additive="base">
                                        <p:cTn id="37" dur="500" fill="hold"/>
                                        <p:tgtEl>
                                          <p:spTgt spid="40"/>
                                        </p:tgtEl>
                                        <p:attrNameLst>
                                          <p:attrName>ppt_y</p:attrName>
                                        </p:attrNameLst>
                                      </p:cBhvr>
                                      <p:tavLst>
                                        <p:tav tm="0">
                                          <p:val>
                                            <p:strVal val="#ppt_y"/>
                                          </p:val>
                                        </p:tav>
                                        <p:tav tm="100000">
                                          <p:val>
                                            <p:strVal val="#ppt_y"/>
                                          </p:val>
                                        </p:tav>
                                      </p:tavLst>
                                    </p:anim>
                                  </p:childTnLst>
                                </p:cTn>
                              </p:par>
                            </p:childTnLst>
                          </p:cTn>
                        </p:par>
                        <p:par>
                          <p:cTn id="38" fill="hold">
                            <p:stCondLst>
                              <p:cond delay="4250"/>
                            </p:stCondLst>
                            <p:childTnLst>
                              <p:par>
                                <p:cTn id="39" presetID="37" presetClass="entr" presetSubtype="0" fill="hold" nodeType="after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fade">
                                      <p:cBhvr>
                                        <p:cTn id="41" dur="350"/>
                                        <p:tgtEl>
                                          <p:spTgt spid="44"/>
                                        </p:tgtEl>
                                      </p:cBhvr>
                                    </p:animEffect>
                                    <p:anim calcmode="lin" valueType="num">
                                      <p:cBhvr>
                                        <p:cTn id="42" dur="350" fill="hold"/>
                                        <p:tgtEl>
                                          <p:spTgt spid="44"/>
                                        </p:tgtEl>
                                        <p:attrNameLst>
                                          <p:attrName>ppt_x</p:attrName>
                                        </p:attrNameLst>
                                      </p:cBhvr>
                                      <p:tavLst>
                                        <p:tav tm="0">
                                          <p:val>
                                            <p:strVal val="#ppt_x"/>
                                          </p:val>
                                        </p:tav>
                                        <p:tav tm="100000">
                                          <p:val>
                                            <p:strVal val="#ppt_x"/>
                                          </p:val>
                                        </p:tav>
                                      </p:tavLst>
                                    </p:anim>
                                    <p:anim calcmode="lin" valueType="num">
                                      <p:cBhvr>
                                        <p:cTn id="43" dur="315" decel="100000" fill="hold"/>
                                        <p:tgtEl>
                                          <p:spTgt spid="44"/>
                                        </p:tgtEl>
                                        <p:attrNameLst>
                                          <p:attrName>ppt_y</p:attrName>
                                        </p:attrNameLst>
                                      </p:cBhvr>
                                      <p:tavLst>
                                        <p:tav tm="0">
                                          <p:val>
                                            <p:strVal val="#ppt_y+1"/>
                                          </p:val>
                                        </p:tav>
                                        <p:tav tm="100000">
                                          <p:val>
                                            <p:strVal val="#ppt_y-.03"/>
                                          </p:val>
                                        </p:tav>
                                      </p:tavLst>
                                    </p:anim>
                                    <p:anim calcmode="lin" valueType="num">
                                      <p:cBhvr>
                                        <p:cTn id="44" dur="35" accel="100000" fill="hold">
                                          <p:stCondLst>
                                            <p:cond delay="315"/>
                                          </p:stCondLst>
                                        </p:cTn>
                                        <p:tgtEl>
                                          <p:spTgt spid="44"/>
                                        </p:tgtEl>
                                        <p:attrNameLst>
                                          <p:attrName>ppt_y</p:attrName>
                                        </p:attrNameLst>
                                      </p:cBhvr>
                                      <p:tavLst>
                                        <p:tav tm="0">
                                          <p:val>
                                            <p:strVal val="#ppt_y-.03"/>
                                          </p:val>
                                        </p:tav>
                                        <p:tav tm="100000">
                                          <p:val>
                                            <p:strVal val="#ppt_y"/>
                                          </p:val>
                                        </p:tav>
                                      </p:tavLst>
                                    </p:anim>
                                  </p:childTnLst>
                                </p:cTn>
                              </p:par>
                            </p:childTnLst>
                          </p:cTn>
                        </p:par>
                        <p:par>
                          <p:cTn id="45" fill="hold">
                            <p:stCondLst>
                              <p:cond delay="4600"/>
                            </p:stCondLst>
                            <p:childTnLst>
                              <p:par>
                                <p:cTn id="46" presetID="22" presetClass="entr" presetSubtype="1" fill="hold" nodeType="afterEffect">
                                  <p:stCondLst>
                                    <p:cond delay="0"/>
                                  </p:stCondLst>
                                  <p:childTnLst>
                                    <p:set>
                                      <p:cBhvr>
                                        <p:cTn id="47" dur="1" fill="hold">
                                          <p:stCondLst>
                                            <p:cond delay="0"/>
                                          </p:stCondLst>
                                        </p:cTn>
                                        <p:tgtEl>
                                          <p:spTgt spid="45"/>
                                        </p:tgtEl>
                                        <p:attrNameLst>
                                          <p:attrName>style.visibility</p:attrName>
                                        </p:attrNameLst>
                                      </p:cBhvr>
                                      <p:to>
                                        <p:strVal val="visible"/>
                                      </p:to>
                                    </p:set>
                                    <p:animEffect transition="in" filter="wipe(up)">
                                      <p:cBhvr>
                                        <p:cTn id="48" dur="500"/>
                                        <p:tgtEl>
                                          <p:spTgt spid="45"/>
                                        </p:tgtEl>
                                      </p:cBhvr>
                                    </p:animEffect>
                                  </p:childTnLst>
                                </p:cTn>
                              </p:par>
                            </p:childTnLst>
                          </p:cTn>
                        </p:par>
                        <p:par>
                          <p:cTn id="49" fill="hold">
                            <p:stCondLst>
                              <p:cond delay="5100"/>
                            </p:stCondLst>
                            <p:childTnLst>
                              <p:par>
                                <p:cTn id="50" presetID="37" presetClass="entr" presetSubtype="0" fill="hold" nodeType="after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fade">
                                      <p:cBhvr>
                                        <p:cTn id="52" dur="350"/>
                                        <p:tgtEl>
                                          <p:spTgt spid="49"/>
                                        </p:tgtEl>
                                      </p:cBhvr>
                                    </p:animEffect>
                                    <p:anim calcmode="lin" valueType="num">
                                      <p:cBhvr>
                                        <p:cTn id="53" dur="350" fill="hold"/>
                                        <p:tgtEl>
                                          <p:spTgt spid="49"/>
                                        </p:tgtEl>
                                        <p:attrNameLst>
                                          <p:attrName>ppt_x</p:attrName>
                                        </p:attrNameLst>
                                      </p:cBhvr>
                                      <p:tavLst>
                                        <p:tav tm="0">
                                          <p:val>
                                            <p:strVal val="#ppt_x"/>
                                          </p:val>
                                        </p:tav>
                                        <p:tav tm="100000">
                                          <p:val>
                                            <p:strVal val="#ppt_x"/>
                                          </p:val>
                                        </p:tav>
                                      </p:tavLst>
                                    </p:anim>
                                    <p:anim calcmode="lin" valueType="num">
                                      <p:cBhvr>
                                        <p:cTn id="54" dur="315" decel="100000" fill="hold"/>
                                        <p:tgtEl>
                                          <p:spTgt spid="49"/>
                                        </p:tgtEl>
                                        <p:attrNameLst>
                                          <p:attrName>ppt_y</p:attrName>
                                        </p:attrNameLst>
                                      </p:cBhvr>
                                      <p:tavLst>
                                        <p:tav tm="0">
                                          <p:val>
                                            <p:strVal val="#ppt_y+1"/>
                                          </p:val>
                                        </p:tav>
                                        <p:tav tm="100000">
                                          <p:val>
                                            <p:strVal val="#ppt_y-.03"/>
                                          </p:val>
                                        </p:tav>
                                      </p:tavLst>
                                    </p:anim>
                                    <p:anim calcmode="lin" valueType="num">
                                      <p:cBhvr>
                                        <p:cTn id="55" dur="35" accel="100000" fill="hold">
                                          <p:stCondLst>
                                            <p:cond delay="315"/>
                                          </p:stCondLst>
                                        </p:cTn>
                                        <p:tgtEl>
                                          <p:spTgt spid="49"/>
                                        </p:tgtEl>
                                        <p:attrNameLst>
                                          <p:attrName>ppt_y</p:attrName>
                                        </p:attrNameLst>
                                      </p:cBhvr>
                                      <p:tavLst>
                                        <p:tav tm="0">
                                          <p:val>
                                            <p:strVal val="#ppt_y-.03"/>
                                          </p:val>
                                        </p:tav>
                                        <p:tav tm="100000">
                                          <p:val>
                                            <p:strVal val="#ppt_y"/>
                                          </p:val>
                                        </p:tav>
                                      </p:tavLst>
                                    </p:anim>
                                  </p:childTnLst>
                                </p:cTn>
                              </p:par>
                            </p:childTnLst>
                          </p:cTn>
                        </p:par>
                        <p:par>
                          <p:cTn id="56" fill="hold">
                            <p:stCondLst>
                              <p:cond delay="5450"/>
                            </p:stCondLst>
                            <p:childTnLst>
                              <p:par>
                                <p:cTn id="57" presetID="22" presetClass="entr" presetSubtype="1" fill="hold" nodeType="afterEffect">
                                  <p:stCondLst>
                                    <p:cond delay="0"/>
                                  </p:stCondLst>
                                  <p:childTnLst>
                                    <p:set>
                                      <p:cBhvr>
                                        <p:cTn id="58" dur="1" fill="hold">
                                          <p:stCondLst>
                                            <p:cond delay="0"/>
                                          </p:stCondLst>
                                        </p:cTn>
                                        <p:tgtEl>
                                          <p:spTgt spid="50"/>
                                        </p:tgtEl>
                                        <p:attrNameLst>
                                          <p:attrName>style.visibility</p:attrName>
                                        </p:attrNameLst>
                                      </p:cBhvr>
                                      <p:to>
                                        <p:strVal val="visible"/>
                                      </p:to>
                                    </p:set>
                                    <p:animEffect transition="in" filter="wipe(up)">
                                      <p:cBhvr>
                                        <p:cTn id="59" dur="500"/>
                                        <p:tgtEl>
                                          <p:spTgt spid="50"/>
                                        </p:tgtEl>
                                      </p:cBhvr>
                                    </p:animEffect>
                                  </p:childTnLst>
                                </p:cTn>
                              </p:par>
                            </p:childTnLst>
                          </p:cTn>
                        </p:par>
                        <p:par>
                          <p:cTn id="60" fill="hold">
                            <p:stCondLst>
                              <p:cond delay="5950"/>
                            </p:stCondLst>
                            <p:childTnLst>
                              <p:par>
                                <p:cTn id="61" presetID="37" presetClass="entr" presetSubtype="0" fill="hold" nodeType="afterEffect">
                                  <p:stCondLst>
                                    <p:cond delay="0"/>
                                  </p:stCondLst>
                                  <p:childTnLst>
                                    <p:set>
                                      <p:cBhvr>
                                        <p:cTn id="62" dur="1" fill="hold">
                                          <p:stCondLst>
                                            <p:cond delay="0"/>
                                          </p:stCondLst>
                                        </p:cTn>
                                        <p:tgtEl>
                                          <p:spTgt spid="54"/>
                                        </p:tgtEl>
                                        <p:attrNameLst>
                                          <p:attrName>style.visibility</p:attrName>
                                        </p:attrNameLst>
                                      </p:cBhvr>
                                      <p:to>
                                        <p:strVal val="visible"/>
                                      </p:to>
                                    </p:set>
                                    <p:animEffect transition="in" filter="fade">
                                      <p:cBhvr>
                                        <p:cTn id="63" dur="350"/>
                                        <p:tgtEl>
                                          <p:spTgt spid="54"/>
                                        </p:tgtEl>
                                      </p:cBhvr>
                                    </p:animEffect>
                                    <p:anim calcmode="lin" valueType="num">
                                      <p:cBhvr>
                                        <p:cTn id="64" dur="350" fill="hold"/>
                                        <p:tgtEl>
                                          <p:spTgt spid="54"/>
                                        </p:tgtEl>
                                        <p:attrNameLst>
                                          <p:attrName>ppt_x</p:attrName>
                                        </p:attrNameLst>
                                      </p:cBhvr>
                                      <p:tavLst>
                                        <p:tav tm="0">
                                          <p:val>
                                            <p:strVal val="#ppt_x"/>
                                          </p:val>
                                        </p:tav>
                                        <p:tav tm="100000">
                                          <p:val>
                                            <p:strVal val="#ppt_x"/>
                                          </p:val>
                                        </p:tav>
                                      </p:tavLst>
                                    </p:anim>
                                    <p:anim calcmode="lin" valueType="num">
                                      <p:cBhvr>
                                        <p:cTn id="65" dur="315" decel="100000" fill="hold"/>
                                        <p:tgtEl>
                                          <p:spTgt spid="54"/>
                                        </p:tgtEl>
                                        <p:attrNameLst>
                                          <p:attrName>ppt_y</p:attrName>
                                        </p:attrNameLst>
                                      </p:cBhvr>
                                      <p:tavLst>
                                        <p:tav tm="0">
                                          <p:val>
                                            <p:strVal val="#ppt_y+1"/>
                                          </p:val>
                                        </p:tav>
                                        <p:tav tm="100000">
                                          <p:val>
                                            <p:strVal val="#ppt_y-.03"/>
                                          </p:val>
                                        </p:tav>
                                      </p:tavLst>
                                    </p:anim>
                                    <p:anim calcmode="lin" valueType="num">
                                      <p:cBhvr>
                                        <p:cTn id="66" dur="35" accel="100000" fill="hold">
                                          <p:stCondLst>
                                            <p:cond delay="315"/>
                                          </p:stCondLst>
                                        </p:cTn>
                                        <p:tgtEl>
                                          <p:spTgt spid="54"/>
                                        </p:tgtEl>
                                        <p:attrNameLst>
                                          <p:attrName>ppt_y</p:attrName>
                                        </p:attrNameLst>
                                      </p:cBhvr>
                                      <p:tavLst>
                                        <p:tav tm="0">
                                          <p:val>
                                            <p:strVal val="#ppt_y-.03"/>
                                          </p:val>
                                        </p:tav>
                                        <p:tav tm="100000">
                                          <p:val>
                                            <p:strVal val="#ppt_y"/>
                                          </p:val>
                                        </p:tav>
                                      </p:tavLst>
                                    </p:anim>
                                  </p:childTnLst>
                                </p:cTn>
                              </p:par>
                            </p:childTnLst>
                          </p:cTn>
                        </p:par>
                        <p:par>
                          <p:cTn id="67" fill="hold">
                            <p:stCondLst>
                              <p:cond delay="6300"/>
                            </p:stCondLst>
                            <p:childTnLst>
                              <p:par>
                                <p:cTn id="68" presetID="22" presetClass="entr" presetSubtype="1" fill="hold" nodeType="afterEffect">
                                  <p:stCondLst>
                                    <p:cond delay="0"/>
                                  </p:stCondLst>
                                  <p:childTnLst>
                                    <p:set>
                                      <p:cBhvr>
                                        <p:cTn id="69" dur="1" fill="hold">
                                          <p:stCondLst>
                                            <p:cond delay="0"/>
                                          </p:stCondLst>
                                        </p:cTn>
                                        <p:tgtEl>
                                          <p:spTgt spid="55"/>
                                        </p:tgtEl>
                                        <p:attrNameLst>
                                          <p:attrName>style.visibility</p:attrName>
                                        </p:attrNameLst>
                                      </p:cBhvr>
                                      <p:to>
                                        <p:strVal val="visible"/>
                                      </p:to>
                                    </p:set>
                                    <p:animEffect transition="in" filter="wipe(up)">
                                      <p:cBhvr>
                                        <p:cTn id="70" dur="500"/>
                                        <p:tgtEl>
                                          <p:spTgt spid="55"/>
                                        </p:tgtEl>
                                      </p:cBhvr>
                                    </p:animEffect>
                                  </p:childTnLst>
                                </p:cTn>
                              </p:par>
                            </p:childTnLst>
                          </p:cTn>
                        </p:par>
                        <p:par>
                          <p:cTn id="71" fill="hold">
                            <p:stCondLst>
                              <p:cond delay="6800"/>
                            </p:stCondLst>
                            <p:childTnLst>
                              <p:par>
                                <p:cTn id="72" presetID="37" presetClass="entr" presetSubtype="0" fill="hold" nodeType="afterEffect">
                                  <p:stCondLst>
                                    <p:cond delay="0"/>
                                  </p:stCondLst>
                                  <p:childTnLst>
                                    <p:set>
                                      <p:cBhvr>
                                        <p:cTn id="73" dur="1" fill="hold">
                                          <p:stCondLst>
                                            <p:cond delay="0"/>
                                          </p:stCondLst>
                                        </p:cTn>
                                        <p:tgtEl>
                                          <p:spTgt spid="59"/>
                                        </p:tgtEl>
                                        <p:attrNameLst>
                                          <p:attrName>style.visibility</p:attrName>
                                        </p:attrNameLst>
                                      </p:cBhvr>
                                      <p:to>
                                        <p:strVal val="visible"/>
                                      </p:to>
                                    </p:set>
                                    <p:animEffect transition="in" filter="fade">
                                      <p:cBhvr>
                                        <p:cTn id="74" dur="350"/>
                                        <p:tgtEl>
                                          <p:spTgt spid="59"/>
                                        </p:tgtEl>
                                      </p:cBhvr>
                                    </p:animEffect>
                                    <p:anim calcmode="lin" valueType="num">
                                      <p:cBhvr>
                                        <p:cTn id="75" dur="350" fill="hold"/>
                                        <p:tgtEl>
                                          <p:spTgt spid="59"/>
                                        </p:tgtEl>
                                        <p:attrNameLst>
                                          <p:attrName>ppt_x</p:attrName>
                                        </p:attrNameLst>
                                      </p:cBhvr>
                                      <p:tavLst>
                                        <p:tav tm="0">
                                          <p:val>
                                            <p:strVal val="#ppt_x"/>
                                          </p:val>
                                        </p:tav>
                                        <p:tav tm="100000">
                                          <p:val>
                                            <p:strVal val="#ppt_x"/>
                                          </p:val>
                                        </p:tav>
                                      </p:tavLst>
                                    </p:anim>
                                    <p:anim calcmode="lin" valueType="num">
                                      <p:cBhvr>
                                        <p:cTn id="76" dur="315" decel="100000" fill="hold"/>
                                        <p:tgtEl>
                                          <p:spTgt spid="59"/>
                                        </p:tgtEl>
                                        <p:attrNameLst>
                                          <p:attrName>ppt_y</p:attrName>
                                        </p:attrNameLst>
                                      </p:cBhvr>
                                      <p:tavLst>
                                        <p:tav tm="0">
                                          <p:val>
                                            <p:strVal val="#ppt_y+1"/>
                                          </p:val>
                                        </p:tav>
                                        <p:tav tm="100000">
                                          <p:val>
                                            <p:strVal val="#ppt_y-.03"/>
                                          </p:val>
                                        </p:tav>
                                      </p:tavLst>
                                    </p:anim>
                                    <p:anim calcmode="lin" valueType="num">
                                      <p:cBhvr>
                                        <p:cTn id="77" dur="35" accel="100000" fill="hold">
                                          <p:stCondLst>
                                            <p:cond delay="315"/>
                                          </p:stCondLst>
                                        </p:cTn>
                                        <p:tgtEl>
                                          <p:spTgt spid="59"/>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32325"/>
        </a:solidFill>
        <a:effectLst/>
      </p:bgPr>
    </p:bg>
    <p:spTree>
      <p:nvGrpSpPr>
        <p:cNvPr id="1" name=""/>
        <p:cNvGrpSpPr/>
        <p:nvPr/>
      </p:nvGrpSpPr>
      <p:grpSpPr>
        <a:xfrm>
          <a:off x="0" y="0"/>
          <a:ext cx="0" cy="0"/>
          <a:chOff x="0" y="0"/>
          <a:chExt cx="0" cy="0"/>
        </a:xfrm>
      </p:grpSpPr>
      <p:sp>
        <p:nvSpPr>
          <p:cNvPr id="2" name="!!seg8"/>
          <p:cNvSpPr/>
          <p:nvPr/>
        </p:nvSpPr>
        <p:spPr>
          <a:xfrm>
            <a:off x="16971264"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seg7"/>
          <p:cNvSpPr/>
          <p:nvPr/>
        </p:nvSpPr>
        <p:spPr>
          <a:xfrm>
            <a:off x="16568927"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seg6"/>
          <p:cNvSpPr/>
          <p:nvPr/>
        </p:nvSpPr>
        <p:spPr>
          <a:xfrm>
            <a:off x="15380207" y="566928"/>
            <a:ext cx="1097280" cy="118872"/>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seg5"/>
          <p:cNvSpPr/>
          <p:nvPr/>
        </p:nvSpPr>
        <p:spPr>
          <a:xfrm>
            <a:off x="14977871"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seg4"/>
          <p:cNvSpPr/>
          <p:nvPr/>
        </p:nvSpPr>
        <p:spPr>
          <a:xfrm>
            <a:off x="14575535"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eg3"/>
          <p:cNvSpPr/>
          <p:nvPr/>
        </p:nvSpPr>
        <p:spPr>
          <a:xfrm>
            <a:off x="14173199"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eg2"/>
          <p:cNvSpPr/>
          <p:nvPr/>
        </p:nvSpPr>
        <p:spPr>
          <a:xfrm>
            <a:off x="13770863"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seg1"/>
          <p:cNvSpPr/>
          <p:nvPr/>
        </p:nvSpPr>
        <p:spPr>
          <a:xfrm>
            <a:off x="1336852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egno"/>
          <p:cNvSpPr txBox="1"/>
          <p:nvPr/>
        </p:nvSpPr>
        <p:spPr>
          <a:xfrm>
            <a:off x="10808207" y="429768"/>
            <a:ext cx="2423160" cy="384048"/>
          </a:xfrm>
          <a:prstGeom prst="rect">
            <a:avLst/>
          </a:prstGeom>
          <a:noFill/>
        </p:spPr>
        <p:txBody>
          <a:bodyPr wrap="square" lIns="45720" rIns="45720" anchor="t"/>
          <a:lstStyle/>
          <a:p>
            <a:pPr algn="r">
              <a:lnSpc>
                <a:spcPct val="100000"/>
              </a:lnSpc>
            </a:pPr>
            <a:r>
              <a:rPr sz="1500" b="0" i="0">
                <a:solidFill>
                  <a:srgbClr val="8E8E93"/>
                </a:solidFill>
                <a:latin typeface="Oswald"/>
              </a:rPr>
              <a:t>06 / 08</a:t>
            </a:r>
          </a:p>
        </p:txBody>
      </p:sp>
      <p:sp>
        <p:nvSpPr>
          <p:cNvPr id="11" name="Kicker 94"/>
          <p:cNvSpPr txBox="1"/>
          <p:nvPr/>
        </p:nvSpPr>
        <p:spPr>
          <a:xfrm>
            <a:off x="1005840" y="457200"/>
            <a:ext cx="8229600" cy="411480"/>
          </a:xfrm>
          <a:prstGeom prst="rect">
            <a:avLst/>
          </a:prstGeom>
          <a:noFill/>
        </p:spPr>
        <p:txBody>
          <a:bodyPr wrap="square" lIns="45720" rIns="45720" anchor="t"/>
          <a:lstStyle/>
          <a:p>
            <a:pPr algn="l">
              <a:lnSpc>
                <a:spcPct val="100000"/>
              </a:lnSpc>
            </a:pPr>
            <a:r>
              <a:rPr sz="1600" b="1" i="0">
                <a:solidFill>
                  <a:srgbClr val="C1FF72"/>
                </a:solidFill>
                <a:latin typeface="Titillium Web"/>
              </a:rPr>
              <a:t>06  ·  METHODS AND MATERIALS USED  ·  2 OF 6</a:t>
            </a:r>
          </a:p>
        </p:txBody>
      </p:sp>
      <p:sp>
        <p:nvSpPr>
          <p:cNvPr id="12" name="Title 95"/>
          <p:cNvSpPr txBox="1"/>
          <p:nvPr/>
        </p:nvSpPr>
        <p:spPr>
          <a:xfrm>
            <a:off x="1005840" y="841248"/>
            <a:ext cx="11887200" cy="1051560"/>
          </a:xfrm>
          <a:prstGeom prst="rect">
            <a:avLst/>
          </a:prstGeom>
          <a:noFill/>
        </p:spPr>
        <p:txBody>
          <a:bodyPr wrap="square" lIns="45720" rIns="45720" anchor="t"/>
          <a:lstStyle/>
          <a:p>
            <a:pPr algn="l">
              <a:lnSpc>
                <a:spcPct val="100000"/>
              </a:lnSpc>
            </a:pPr>
            <a:r>
              <a:rPr sz="5400" b="0" i="0">
                <a:solidFill>
                  <a:srgbClr val="EDEDED"/>
                </a:solidFill>
                <a:latin typeface="Oswald"/>
              </a:rPr>
              <a:t>EIGHT-AGENT PIPELINE</a:t>
            </a:r>
          </a:p>
        </p:txBody>
      </p:sp>
      <p:sp>
        <p:nvSpPr>
          <p:cNvPr id="13" name="Subtitle 96"/>
          <p:cNvSpPr txBox="1"/>
          <p:nvPr/>
        </p:nvSpPr>
        <p:spPr>
          <a:xfrm>
            <a:off x="1005840" y="1828800"/>
            <a:ext cx="11887200" cy="502920"/>
          </a:xfrm>
          <a:prstGeom prst="rect">
            <a:avLst/>
          </a:prstGeom>
          <a:noFill/>
        </p:spPr>
        <p:txBody>
          <a:bodyPr wrap="square" lIns="45720" rIns="45720" anchor="t"/>
          <a:lstStyle/>
          <a:p>
            <a:pPr algn="l">
              <a:lnSpc>
                <a:spcPct val="100000"/>
              </a:lnSpc>
            </a:pPr>
            <a:r>
              <a:rPr sz="2100" b="0" i="0">
                <a:solidFill>
                  <a:srgbClr val="8E8E93"/>
                </a:solidFill>
                <a:latin typeface="Titillium Web"/>
              </a:rPr>
              <a:t>A three-stage directed acyclic graph, then a Reporter</a:t>
            </a:r>
          </a:p>
        </p:txBody>
      </p:sp>
      <p:sp>
        <p:nvSpPr>
          <p:cNvPr id="14" name="Source"/>
          <p:cNvSpPr txBox="1"/>
          <p:nvPr/>
        </p:nvSpPr>
        <p:spPr>
          <a:xfrm>
            <a:off x="1005840" y="9710928"/>
            <a:ext cx="14447520" cy="347472"/>
          </a:xfrm>
          <a:prstGeom prst="rect">
            <a:avLst/>
          </a:prstGeom>
          <a:noFill/>
        </p:spPr>
        <p:txBody>
          <a:bodyPr wrap="square" lIns="45720" rIns="45720" anchor="t"/>
          <a:lstStyle/>
          <a:p>
            <a:pPr algn="l">
              <a:lnSpc>
                <a:spcPct val="100000"/>
              </a:lnSpc>
            </a:pPr>
            <a:r>
              <a:rPr sz="1300" b="0" i="0">
                <a:solidFill>
                  <a:srgbClr val="5C5C61"/>
                </a:solidFill>
                <a:latin typeface="Titillium Web"/>
              </a:rPr>
              <a:t>Thesis §3.8, Table 3.1; historical blend Eq. 3.1</a:t>
            </a:r>
          </a:p>
        </p:txBody>
      </p:sp>
      <p:sp>
        <p:nvSpPr>
          <p:cNvPr id="15" name="Page"/>
          <p:cNvSpPr txBox="1"/>
          <p:nvPr/>
        </p:nvSpPr>
        <p:spPr>
          <a:xfrm>
            <a:off x="15453359" y="9710928"/>
            <a:ext cx="1828800" cy="347472"/>
          </a:xfrm>
          <a:prstGeom prst="rect">
            <a:avLst/>
          </a:prstGeom>
          <a:noFill/>
        </p:spPr>
        <p:txBody>
          <a:bodyPr wrap="square" lIns="45720" rIns="45720" anchor="t"/>
          <a:lstStyle/>
          <a:p>
            <a:pPr algn="r">
              <a:lnSpc>
                <a:spcPct val="100000"/>
              </a:lnSpc>
            </a:pPr>
            <a:r>
              <a:rPr sz="1300" b="0" i="0">
                <a:solidFill>
                  <a:srgbClr val="5C5C61"/>
                </a:solidFill>
                <a:latin typeface="Oswald"/>
              </a:rPr>
              <a:t>09</a:t>
            </a:r>
          </a:p>
        </p:txBody>
      </p:sp>
      <p:pic>
        <p:nvPicPr>
          <p:cNvPr id="16" name="!!photo" descr="8566526-2.194-0.50-0.35.jpg"/>
          <p:cNvPicPr>
            <a:picLocks noChangeAspect="1"/>
          </p:cNvPicPr>
          <p:nvPr/>
        </p:nvPicPr>
        <p:blipFill>
          <a:blip r:embed="rId3"/>
          <a:stretch>
            <a:fillRect/>
          </a:stretch>
        </p:blipFill>
        <p:spPr>
          <a:xfrm>
            <a:off x="14173200" y="1051560"/>
            <a:ext cx="3108960" cy="1417320"/>
          </a:xfrm>
          <a:prstGeom prst="roundRect">
            <a:avLst>
              <a:gd name="adj" fmla="val 22580"/>
            </a:avLst>
          </a:prstGeom>
          <a:effectLst>
            <a:outerShdw blurRad="279400" dist="114300" dir="2700000" algn="ctr" rotWithShape="0">
              <a:srgbClr val="0E0E10">
                <a:alpha val="70000"/>
              </a:srgbClr>
            </a:outerShdw>
          </a:effectLst>
        </p:spPr>
      </p:pic>
      <p:grpSp>
        <p:nvGrpSpPr>
          <p:cNvPr id="20" name="Stage head 97"/>
          <p:cNvGrpSpPr/>
          <p:nvPr/>
        </p:nvGrpSpPr>
        <p:grpSpPr>
          <a:xfrm>
            <a:off x="1005840" y="2651760"/>
            <a:ext cx="3886200" cy="1143000"/>
            <a:chOff x="1005840" y="2651760"/>
            <a:chExt cx="3886200" cy="1143000"/>
          </a:xfrm>
        </p:grpSpPr>
        <p:sp>
          <p:nvSpPr>
            <p:cNvPr id="17" name="Stage head light"/>
            <p:cNvSpPr/>
            <p:nvPr/>
          </p:nvSpPr>
          <p:spPr>
            <a:xfrm>
              <a:off x="1005840" y="2651760"/>
              <a:ext cx="3886200" cy="1143000"/>
            </a:xfrm>
            <a:prstGeom prst="roundRect">
              <a:avLst>
                <a:gd name="adj" fmla="val 24000"/>
              </a:avLst>
            </a:prstGeom>
            <a:solidFill>
              <a:srgbClr val="33402A"/>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Stage head"/>
            <p:cNvSpPr/>
            <p:nvPr/>
          </p:nvSpPr>
          <p:spPr>
            <a:xfrm>
              <a:off x="1005840" y="2651760"/>
              <a:ext cx="3886200" cy="1143000"/>
            </a:xfrm>
            <a:prstGeom prst="roundRect">
              <a:avLst>
                <a:gd name="adj" fmla="val 24000"/>
              </a:avLst>
            </a:prstGeom>
            <a:solidFill>
              <a:srgbClr val="33402A"/>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Stage head text"/>
            <p:cNvSpPr txBox="1"/>
            <p:nvPr/>
          </p:nvSpPr>
          <p:spPr>
            <a:xfrm>
              <a:off x="1234440" y="2697480"/>
              <a:ext cx="3429000" cy="1051560"/>
            </a:xfrm>
            <a:prstGeom prst="rect">
              <a:avLst/>
            </a:prstGeom>
            <a:noFill/>
          </p:spPr>
          <p:txBody>
            <a:bodyPr wrap="square" lIns="45720" rIns="45720" anchor="ctr"/>
            <a:lstStyle/>
            <a:p>
              <a:pPr algn="l">
                <a:lnSpc>
                  <a:spcPct val="100000"/>
                </a:lnSpc>
              </a:pPr>
              <a:r>
                <a:rPr sz="2400" b="0" i="0">
                  <a:solidFill>
                    <a:srgbClr val="C1FF72"/>
                  </a:solidFill>
                  <a:latin typeface="Oswald"/>
                </a:rPr>
                <a:t>STAGE 1</a:t>
              </a:r>
            </a:p>
            <a:p>
              <a:pPr algn="l">
                <a:lnSpc>
                  <a:spcPct val="100000"/>
                </a:lnSpc>
              </a:pPr>
              <a:r>
                <a:rPr sz="1600" b="0" i="0">
                  <a:solidFill>
                    <a:srgbClr val="BDBDC1"/>
                  </a:solidFill>
                  <a:latin typeface="Titillium Web"/>
                </a:rPr>
                <a:t>URL &amp; context, in parallel</a:t>
              </a:r>
            </a:p>
          </p:txBody>
        </p:sp>
      </p:grpSp>
      <p:grpSp>
        <p:nvGrpSpPr>
          <p:cNvPr id="25" name="Agent 98"/>
          <p:cNvGrpSpPr/>
          <p:nvPr/>
        </p:nvGrpSpPr>
        <p:grpSpPr>
          <a:xfrm>
            <a:off x="1005840" y="4023360"/>
            <a:ext cx="3886200" cy="1097280"/>
            <a:chOff x="1005840" y="4023360"/>
            <a:chExt cx="3886200" cy="1097280"/>
          </a:xfrm>
        </p:grpSpPr>
        <p:sp>
          <p:nvSpPr>
            <p:cNvPr id="21" name="Agent light"/>
            <p:cNvSpPr/>
            <p:nvPr/>
          </p:nvSpPr>
          <p:spPr>
            <a:xfrm>
              <a:off x="1005840" y="4023360"/>
              <a:ext cx="3886200" cy="1097280"/>
            </a:xfrm>
            <a:prstGeom prst="roundRect">
              <a:avLst>
                <a:gd name="adj" fmla="val 23333"/>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Agent"/>
            <p:cNvSpPr/>
            <p:nvPr/>
          </p:nvSpPr>
          <p:spPr>
            <a:xfrm>
              <a:off x="1005840" y="4023360"/>
              <a:ext cx="3886200" cy="1097280"/>
            </a:xfrm>
            <a:prstGeom prst="roundRect">
              <a:avLst>
                <a:gd name="adj" fmla="val 23333"/>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3" name="Agent tick"/>
            <p:cNvSpPr/>
            <p:nvPr/>
          </p:nvSpPr>
          <p:spPr>
            <a:xfrm>
              <a:off x="1207008" y="4297680"/>
              <a:ext cx="91440" cy="548640"/>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Agent text"/>
            <p:cNvSpPr txBox="1"/>
            <p:nvPr/>
          </p:nvSpPr>
          <p:spPr>
            <a:xfrm>
              <a:off x="1463040" y="4114800"/>
              <a:ext cx="3246120" cy="960120"/>
            </a:xfrm>
            <a:prstGeom prst="rect">
              <a:avLst/>
            </a:prstGeom>
            <a:noFill/>
          </p:spPr>
          <p:txBody>
            <a:bodyPr wrap="square" lIns="45720" rIns="45720" anchor="ctr"/>
            <a:lstStyle/>
            <a:p>
              <a:pPr algn="l">
                <a:lnSpc>
                  <a:spcPct val="100000"/>
                </a:lnSpc>
              </a:pPr>
              <a:r>
                <a:rPr sz="2000" b="0" i="0">
                  <a:solidFill>
                    <a:srgbClr val="EDEDED"/>
                  </a:solidFill>
                  <a:latin typeface="Oswald"/>
                </a:rPr>
                <a:t>URL CLASSIFIER</a:t>
              </a:r>
            </a:p>
            <a:p>
              <a:pPr algn="l">
                <a:lnSpc>
                  <a:spcPct val="92000"/>
                </a:lnSpc>
              </a:pPr>
              <a:r>
                <a:rPr sz="1600" b="0" i="0">
                  <a:solidFill>
                    <a:srgbClr val="BDBDC1"/>
                  </a:solidFill>
                  <a:latin typeface="Titillium Web"/>
                </a:rPr>
                <a:t>BERT label + confidence</a:t>
              </a:r>
            </a:p>
          </p:txBody>
        </p:sp>
      </p:grpSp>
      <p:grpSp>
        <p:nvGrpSpPr>
          <p:cNvPr id="30" name="Agent 99"/>
          <p:cNvGrpSpPr/>
          <p:nvPr/>
        </p:nvGrpSpPr>
        <p:grpSpPr>
          <a:xfrm>
            <a:off x="1005840" y="5266944"/>
            <a:ext cx="3886200" cy="1097280"/>
            <a:chOff x="1005840" y="5266944"/>
            <a:chExt cx="3886200" cy="1097280"/>
          </a:xfrm>
        </p:grpSpPr>
        <p:sp>
          <p:nvSpPr>
            <p:cNvPr id="26" name="Agent light"/>
            <p:cNvSpPr/>
            <p:nvPr/>
          </p:nvSpPr>
          <p:spPr>
            <a:xfrm>
              <a:off x="1005840" y="5266944"/>
              <a:ext cx="3886200" cy="1097280"/>
            </a:xfrm>
            <a:prstGeom prst="roundRect">
              <a:avLst>
                <a:gd name="adj" fmla="val 23333"/>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Agent"/>
            <p:cNvSpPr/>
            <p:nvPr/>
          </p:nvSpPr>
          <p:spPr>
            <a:xfrm>
              <a:off x="1005840" y="5266944"/>
              <a:ext cx="3886200" cy="1097280"/>
            </a:xfrm>
            <a:prstGeom prst="roundRect">
              <a:avLst>
                <a:gd name="adj" fmla="val 23333"/>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Agent tick"/>
            <p:cNvSpPr/>
            <p:nvPr/>
          </p:nvSpPr>
          <p:spPr>
            <a:xfrm>
              <a:off x="1207008" y="5541264"/>
              <a:ext cx="91440" cy="548640"/>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9" name="Agent text"/>
            <p:cNvSpPr txBox="1"/>
            <p:nvPr/>
          </p:nvSpPr>
          <p:spPr>
            <a:xfrm>
              <a:off x="1463040" y="5358384"/>
              <a:ext cx="3246120" cy="960120"/>
            </a:xfrm>
            <a:prstGeom prst="rect">
              <a:avLst/>
            </a:prstGeom>
            <a:noFill/>
          </p:spPr>
          <p:txBody>
            <a:bodyPr wrap="square" lIns="45720" rIns="45720" anchor="ctr"/>
            <a:lstStyle/>
            <a:p>
              <a:pPr algn="l">
                <a:lnSpc>
                  <a:spcPct val="100000"/>
                </a:lnSpc>
              </a:pPr>
              <a:r>
                <a:rPr sz="2000" b="0" i="0">
                  <a:solidFill>
                    <a:srgbClr val="EDEDED"/>
                  </a:solidFill>
                  <a:latin typeface="Oswald"/>
                </a:rPr>
                <a:t>DGA DETECTOR</a:t>
              </a:r>
            </a:p>
            <a:p>
              <a:pPr algn="l">
                <a:lnSpc>
                  <a:spcPct val="92000"/>
                </a:lnSpc>
              </a:pPr>
              <a:r>
                <a:rPr sz="1600" b="0" i="0">
                  <a:solidFill>
                    <a:srgbClr val="BDBDC1"/>
                  </a:solidFill>
                  <a:latin typeface="Titillium Web"/>
                </a:rPr>
                <a:t>entropy, character patterns</a:t>
              </a:r>
            </a:p>
          </p:txBody>
        </p:sp>
      </p:grpSp>
      <p:grpSp>
        <p:nvGrpSpPr>
          <p:cNvPr id="35" name="Agent 100"/>
          <p:cNvGrpSpPr/>
          <p:nvPr/>
        </p:nvGrpSpPr>
        <p:grpSpPr>
          <a:xfrm>
            <a:off x="1005840" y="6510528"/>
            <a:ext cx="3886200" cy="1097280"/>
            <a:chOff x="1005840" y="6510528"/>
            <a:chExt cx="3886200" cy="1097280"/>
          </a:xfrm>
        </p:grpSpPr>
        <p:sp>
          <p:nvSpPr>
            <p:cNvPr id="31" name="Agent light"/>
            <p:cNvSpPr/>
            <p:nvPr/>
          </p:nvSpPr>
          <p:spPr>
            <a:xfrm>
              <a:off x="1005840" y="6510528"/>
              <a:ext cx="3886200" cy="1097280"/>
            </a:xfrm>
            <a:prstGeom prst="roundRect">
              <a:avLst>
                <a:gd name="adj" fmla="val 23333"/>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2" name="Agent"/>
            <p:cNvSpPr/>
            <p:nvPr/>
          </p:nvSpPr>
          <p:spPr>
            <a:xfrm>
              <a:off x="1005840" y="6510528"/>
              <a:ext cx="3886200" cy="1097280"/>
            </a:xfrm>
            <a:prstGeom prst="roundRect">
              <a:avLst>
                <a:gd name="adj" fmla="val 23333"/>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Agent tick"/>
            <p:cNvSpPr/>
            <p:nvPr/>
          </p:nvSpPr>
          <p:spPr>
            <a:xfrm>
              <a:off x="1207008" y="6784848"/>
              <a:ext cx="91440" cy="548640"/>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4" name="Agent text"/>
            <p:cNvSpPr txBox="1"/>
            <p:nvPr/>
          </p:nvSpPr>
          <p:spPr>
            <a:xfrm>
              <a:off x="1463040" y="6601968"/>
              <a:ext cx="3246120" cy="960120"/>
            </a:xfrm>
            <a:prstGeom prst="rect">
              <a:avLst/>
            </a:prstGeom>
            <a:noFill/>
          </p:spPr>
          <p:txBody>
            <a:bodyPr wrap="square" lIns="45720" rIns="45720" anchor="ctr"/>
            <a:lstStyle/>
            <a:p>
              <a:pPr algn="l">
                <a:lnSpc>
                  <a:spcPct val="100000"/>
                </a:lnSpc>
              </a:pPr>
              <a:r>
                <a:rPr sz="2000" b="0" i="0">
                  <a:solidFill>
                    <a:srgbClr val="EDEDED"/>
                  </a:solidFill>
                  <a:latin typeface="Oswald"/>
                </a:rPr>
                <a:t>WEB SCRAPER</a:t>
              </a:r>
            </a:p>
            <a:p>
              <a:pPr algn="l">
                <a:lnSpc>
                  <a:spcPct val="92000"/>
                </a:lnSpc>
              </a:pPr>
              <a:r>
                <a:rPr sz="1600" b="0" i="0">
                  <a:solidFill>
                    <a:srgbClr val="BDBDC1"/>
                  </a:solidFill>
                  <a:latin typeface="Titillium Web"/>
                </a:rPr>
                <a:t>content, scripts, headers</a:t>
              </a:r>
            </a:p>
          </p:txBody>
        </p:sp>
      </p:grpSp>
      <p:grpSp>
        <p:nvGrpSpPr>
          <p:cNvPr id="40" name="Agent 101"/>
          <p:cNvGrpSpPr/>
          <p:nvPr/>
        </p:nvGrpSpPr>
        <p:grpSpPr>
          <a:xfrm>
            <a:off x="1005840" y="7754112"/>
            <a:ext cx="3886200" cy="1097280"/>
            <a:chOff x="1005840" y="7754112"/>
            <a:chExt cx="3886200" cy="1097280"/>
          </a:xfrm>
        </p:grpSpPr>
        <p:sp>
          <p:nvSpPr>
            <p:cNvPr id="36" name="Agent light"/>
            <p:cNvSpPr/>
            <p:nvPr/>
          </p:nvSpPr>
          <p:spPr>
            <a:xfrm>
              <a:off x="1005840" y="7754112"/>
              <a:ext cx="3886200" cy="1097280"/>
            </a:xfrm>
            <a:prstGeom prst="roundRect">
              <a:avLst>
                <a:gd name="adj" fmla="val 23333"/>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Agent"/>
            <p:cNvSpPr/>
            <p:nvPr/>
          </p:nvSpPr>
          <p:spPr>
            <a:xfrm>
              <a:off x="1005840" y="7754112"/>
              <a:ext cx="3886200" cy="1097280"/>
            </a:xfrm>
            <a:prstGeom prst="roundRect">
              <a:avLst>
                <a:gd name="adj" fmla="val 23333"/>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8" name="Agent tick"/>
            <p:cNvSpPr/>
            <p:nvPr/>
          </p:nvSpPr>
          <p:spPr>
            <a:xfrm>
              <a:off x="1207008" y="8028432"/>
              <a:ext cx="91440" cy="548640"/>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9" name="Agent text"/>
            <p:cNvSpPr txBox="1"/>
            <p:nvPr/>
          </p:nvSpPr>
          <p:spPr>
            <a:xfrm>
              <a:off x="1463040" y="7845552"/>
              <a:ext cx="3246120" cy="960120"/>
            </a:xfrm>
            <a:prstGeom prst="rect">
              <a:avLst/>
            </a:prstGeom>
            <a:noFill/>
          </p:spPr>
          <p:txBody>
            <a:bodyPr wrap="square" lIns="45720" rIns="45720" anchor="ctr"/>
            <a:lstStyle/>
            <a:p>
              <a:pPr algn="l">
                <a:lnSpc>
                  <a:spcPct val="100000"/>
                </a:lnSpc>
              </a:pPr>
              <a:r>
                <a:rPr sz="2000" b="0" i="0">
                  <a:solidFill>
                    <a:srgbClr val="EDEDED"/>
                  </a:solidFill>
                  <a:latin typeface="Oswald"/>
                </a:rPr>
                <a:t>MEMORY READER</a:t>
              </a:r>
            </a:p>
            <a:p>
              <a:pPr algn="l">
                <a:lnSpc>
                  <a:spcPct val="92000"/>
                </a:lnSpc>
              </a:pPr>
              <a:r>
                <a:rPr sz="1600" b="0" i="0">
                  <a:solidFill>
                    <a:srgbClr val="BDBDC1"/>
                  </a:solidFill>
                  <a:latin typeface="Titillium Web"/>
                </a:rPr>
                <a:t>past visits and verdicts</a:t>
              </a:r>
            </a:p>
          </p:txBody>
        </p:sp>
      </p:grpSp>
      <p:cxnSp>
        <p:nvCxnSpPr>
          <p:cNvPr id="41" name="DAG arrow 102"/>
          <p:cNvCxnSpPr/>
          <p:nvPr/>
        </p:nvCxnSpPr>
        <p:spPr>
          <a:xfrm>
            <a:off x="4937759" y="3218688"/>
            <a:ext cx="246889" cy="0"/>
          </a:xfrm>
          <a:prstGeom prst="line">
            <a:avLst/>
          </a:prstGeom>
          <a:ln w="31750">
            <a:solidFill>
              <a:srgbClr val="C1FF72"/>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45" name="Stage head 103"/>
          <p:cNvGrpSpPr/>
          <p:nvPr/>
        </p:nvGrpSpPr>
        <p:grpSpPr>
          <a:xfrm>
            <a:off x="5276088" y="2651760"/>
            <a:ext cx="3886200" cy="1143000"/>
            <a:chOff x="5276088" y="2651760"/>
            <a:chExt cx="3886200" cy="1143000"/>
          </a:xfrm>
        </p:grpSpPr>
        <p:sp>
          <p:nvSpPr>
            <p:cNvPr id="42" name="Stage head light"/>
            <p:cNvSpPr/>
            <p:nvPr/>
          </p:nvSpPr>
          <p:spPr>
            <a:xfrm>
              <a:off x="5276088" y="2651760"/>
              <a:ext cx="3886200" cy="1143000"/>
            </a:xfrm>
            <a:prstGeom prst="roundRect">
              <a:avLst>
                <a:gd name="adj" fmla="val 24000"/>
              </a:avLst>
            </a:prstGeom>
            <a:solidFill>
              <a:srgbClr val="33402A"/>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3" name="Stage head"/>
            <p:cNvSpPr/>
            <p:nvPr/>
          </p:nvSpPr>
          <p:spPr>
            <a:xfrm>
              <a:off x="5276088" y="2651760"/>
              <a:ext cx="3886200" cy="1143000"/>
            </a:xfrm>
            <a:prstGeom prst="roundRect">
              <a:avLst>
                <a:gd name="adj" fmla="val 24000"/>
              </a:avLst>
            </a:prstGeom>
            <a:solidFill>
              <a:srgbClr val="33402A"/>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4" name="Stage head text"/>
            <p:cNvSpPr txBox="1"/>
            <p:nvPr/>
          </p:nvSpPr>
          <p:spPr>
            <a:xfrm>
              <a:off x="5504688" y="2697480"/>
              <a:ext cx="3429000" cy="1051560"/>
            </a:xfrm>
            <a:prstGeom prst="rect">
              <a:avLst/>
            </a:prstGeom>
            <a:noFill/>
          </p:spPr>
          <p:txBody>
            <a:bodyPr wrap="square" lIns="45720" rIns="45720" anchor="ctr"/>
            <a:lstStyle/>
            <a:p>
              <a:pPr algn="l">
                <a:lnSpc>
                  <a:spcPct val="100000"/>
                </a:lnSpc>
              </a:pPr>
              <a:r>
                <a:rPr sz="2400" b="0" i="0">
                  <a:solidFill>
                    <a:srgbClr val="C1FF72"/>
                  </a:solidFill>
                  <a:latin typeface="Oswald"/>
                </a:rPr>
                <a:t>STAGE 2</a:t>
              </a:r>
            </a:p>
            <a:p>
              <a:pPr algn="l">
                <a:lnSpc>
                  <a:spcPct val="100000"/>
                </a:lnSpc>
              </a:pPr>
              <a:r>
                <a:rPr sz="1600" b="0" i="0">
                  <a:solidFill>
                    <a:srgbClr val="BDBDC1"/>
                  </a:solidFill>
                  <a:latin typeface="Titillium Web"/>
                </a:rPr>
                <a:t>once the page is scraped</a:t>
              </a:r>
            </a:p>
          </p:txBody>
        </p:sp>
      </p:grpSp>
      <p:grpSp>
        <p:nvGrpSpPr>
          <p:cNvPr id="50" name="Agent 104"/>
          <p:cNvGrpSpPr/>
          <p:nvPr/>
        </p:nvGrpSpPr>
        <p:grpSpPr>
          <a:xfrm>
            <a:off x="5276088" y="4023360"/>
            <a:ext cx="3886200" cy="1097280"/>
            <a:chOff x="5276088" y="4023360"/>
            <a:chExt cx="3886200" cy="1097280"/>
          </a:xfrm>
        </p:grpSpPr>
        <p:sp>
          <p:nvSpPr>
            <p:cNvPr id="46" name="Agent light"/>
            <p:cNvSpPr/>
            <p:nvPr/>
          </p:nvSpPr>
          <p:spPr>
            <a:xfrm>
              <a:off x="5276088" y="4023360"/>
              <a:ext cx="3886200" cy="1097280"/>
            </a:xfrm>
            <a:prstGeom prst="roundRect">
              <a:avLst>
                <a:gd name="adj" fmla="val 23333"/>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7" name="Agent"/>
            <p:cNvSpPr/>
            <p:nvPr/>
          </p:nvSpPr>
          <p:spPr>
            <a:xfrm>
              <a:off x="5276088" y="4023360"/>
              <a:ext cx="3886200" cy="1097280"/>
            </a:xfrm>
            <a:prstGeom prst="roundRect">
              <a:avLst>
                <a:gd name="adj" fmla="val 23333"/>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8" name="Agent tick"/>
            <p:cNvSpPr/>
            <p:nvPr/>
          </p:nvSpPr>
          <p:spPr>
            <a:xfrm>
              <a:off x="5477255" y="4297680"/>
              <a:ext cx="91440" cy="548640"/>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9" name="Agent text"/>
            <p:cNvSpPr txBox="1"/>
            <p:nvPr/>
          </p:nvSpPr>
          <p:spPr>
            <a:xfrm>
              <a:off x="5733288" y="4114800"/>
              <a:ext cx="3246120" cy="960120"/>
            </a:xfrm>
            <a:prstGeom prst="rect">
              <a:avLst/>
            </a:prstGeom>
            <a:noFill/>
          </p:spPr>
          <p:txBody>
            <a:bodyPr wrap="square" lIns="45720" rIns="45720" anchor="ctr"/>
            <a:lstStyle/>
            <a:p>
              <a:pPr algn="l">
                <a:lnSpc>
                  <a:spcPct val="100000"/>
                </a:lnSpc>
              </a:pPr>
              <a:r>
                <a:rPr sz="2000" b="0" i="0">
                  <a:solidFill>
                    <a:srgbClr val="EDEDED"/>
                  </a:solidFill>
                  <a:latin typeface="Oswald"/>
                </a:rPr>
                <a:t>IOC EXTRACTOR</a:t>
              </a:r>
            </a:p>
            <a:p>
              <a:pPr algn="l">
                <a:lnSpc>
                  <a:spcPct val="92000"/>
                </a:lnSpc>
              </a:pPr>
              <a:r>
                <a:rPr sz="1600" b="0" i="0">
                  <a:solidFill>
                    <a:srgbClr val="BDBDC1"/>
                  </a:solidFill>
                  <a:latin typeface="Titillium Web"/>
                </a:rPr>
                <a:t>10 patterns: IPs, URLs, hashes, CVEs</a:t>
              </a:r>
            </a:p>
          </p:txBody>
        </p:sp>
      </p:grpSp>
      <p:grpSp>
        <p:nvGrpSpPr>
          <p:cNvPr id="55" name="Agent 105"/>
          <p:cNvGrpSpPr/>
          <p:nvPr/>
        </p:nvGrpSpPr>
        <p:grpSpPr>
          <a:xfrm>
            <a:off x="5276088" y="5266944"/>
            <a:ext cx="3886200" cy="1097280"/>
            <a:chOff x="5276088" y="5266944"/>
            <a:chExt cx="3886200" cy="1097280"/>
          </a:xfrm>
        </p:grpSpPr>
        <p:sp>
          <p:nvSpPr>
            <p:cNvPr id="51" name="Agent light"/>
            <p:cNvSpPr/>
            <p:nvPr/>
          </p:nvSpPr>
          <p:spPr>
            <a:xfrm>
              <a:off x="5276088" y="5266944"/>
              <a:ext cx="3886200" cy="1097280"/>
            </a:xfrm>
            <a:prstGeom prst="roundRect">
              <a:avLst>
                <a:gd name="adj" fmla="val 23333"/>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2" name="Agent"/>
            <p:cNvSpPr/>
            <p:nvPr/>
          </p:nvSpPr>
          <p:spPr>
            <a:xfrm>
              <a:off x="5276088" y="5266944"/>
              <a:ext cx="3886200" cy="1097280"/>
            </a:xfrm>
            <a:prstGeom prst="roundRect">
              <a:avLst>
                <a:gd name="adj" fmla="val 23333"/>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3" name="Agent tick"/>
            <p:cNvSpPr/>
            <p:nvPr/>
          </p:nvSpPr>
          <p:spPr>
            <a:xfrm>
              <a:off x="5477255" y="5541264"/>
              <a:ext cx="91440" cy="548640"/>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4" name="Agent text"/>
            <p:cNvSpPr txBox="1"/>
            <p:nvPr/>
          </p:nvSpPr>
          <p:spPr>
            <a:xfrm>
              <a:off x="5733288" y="5358384"/>
              <a:ext cx="3246120" cy="960120"/>
            </a:xfrm>
            <a:prstGeom prst="rect">
              <a:avLst/>
            </a:prstGeom>
            <a:noFill/>
          </p:spPr>
          <p:txBody>
            <a:bodyPr wrap="square" lIns="45720" rIns="45720" anchor="ctr"/>
            <a:lstStyle/>
            <a:p>
              <a:pPr algn="l">
                <a:lnSpc>
                  <a:spcPct val="100000"/>
                </a:lnSpc>
              </a:pPr>
              <a:r>
                <a:rPr sz="2000" b="0" i="0">
                  <a:solidFill>
                    <a:srgbClr val="EDEDED"/>
                  </a:solidFill>
                  <a:latin typeface="Oswald"/>
                </a:rPr>
                <a:t>BEHAVIOURAL ANALYSER</a:t>
              </a:r>
            </a:p>
            <a:p>
              <a:pPr algn="l">
                <a:lnSpc>
                  <a:spcPct val="92000"/>
                </a:lnSpc>
              </a:pPr>
              <a:r>
                <a:rPr sz="1600" b="0" i="0">
                  <a:solidFill>
                    <a:srgbClr val="BDBDC1"/>
                  </a:solidFill>
                  <a:latin typeface="Titillium Web"/>
                </a:rPr>
                <a:t>eval/atob, hidden forms, trackers</a:t>
              </a:r>
            </a:p>
          </p:txBody>
        </p:sp>
      </p:grpSp>
      <p:grpSp>
        <p:nvGrpSpPr>
          <p:cNvPr id="60" name="Agent 106"/>
          <p:cNvGrpSpPr/>
          <p:nvPr/>
        </p:nvGrpSpPr>
        <p:grpSpPr>
          <a:xfrm>
            <a:off x="5276088" y="6510528"/>
            <a:ext cx="3886200" cy="1097280"/>
            <a:chOff x="5276088" y="6510528"/>
            <a:chExt cx="3886200" cy="1097280"/>
          </a:xfrm>
        </p:grpSpPr>
        <p:sp>
          <p:nvSpPr>
            <p:cNvPr id="56" name="Agent light"/>
            <p:cNvSpPr/>
            <p:nvPr/>
          </p:nvSpPr>
          <p:spPr>
            <a:xfrm>
              <a:off x="5276088" y="6510528"/>
              <a:ext cx="3886200" cy="1097280"/>
            </a:xfrm>
            <a:prstGeom prst="roundRect">
              <a:avLst>
                <a:gd name="adj" fmla="val 23333"/>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7" name="Agent"/>
            <p:cNvSpPr/>
            <p:nvPr/>
          </p:nvSpPr>
          <p:spPr>
            <a:xfrm>
              <a:off x="5276088" y="6510528"/>
              <a:ext cx="3886200" cy="1097280"/>
            </a:xfrm>
            <a:prstGeom prst="roundRect">
              <a:avLst>
                <a:gd name="adj" fmla="val 23333"/>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8" name="Agent tick"/>
            <p:cNvSpPr/>
            <p:nvPr/>
          </p:nvSpPr>
          <p:spPr>
            <a:xfrm>
              <a:off x="5477255" y="6784848"/>
              <a:ext cx="91440" cy="548640"/>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9" name="Agent text"/>
            <p:cNvSpPr txBox="1"/>
            <p:nvPr/>
          </p:nvSpPr>
          <p:spPr>
            <a:xfrm>
              <a:off x="5733288" y="6601968"/>
              <a:ext cx="3246120" cy="960120"/>
            </a:xfrm>
            <a:prstGeom prst="rect">
              <a:avLst/>
            </a:prstGeom>
            <a:noFill/>
          </p:spPr>
          <p:txBody>
            <a:bodyPr wrap="square" lIns="45720" rIns="45720" anchor="ctr"/>
            <a:lstStyle/>
            <a:p>
              <a:pPr algn="l">
                <a:lnSpc>
                  <a:spcPct val="100000"/>
                </a:lnSpc>
              </a:pPr>
              <a:r>
                <a:rPr sz="2000" b="0" i="0">
                  <a:solidFill>
                    <a:srgbClr val="EDEDED"/>
                  </a:solidFill>
                  <a:latin typeface="Oswald"/>
                </a:rPr>
                <a:t>MITRE MAPPER</a:t>
              </a:r>
            </a:p>
            <a:p>
              <a:pPr algn="l">
                <a:lnSpc>
                  <a:spcPct val="92000"/>
                </a:lnSpc>
              </a:pPr>
              <a:r>
                <a:rPr sz="1600" b="0" i="0">
                  <a:solidFill>
                    <a:srgbClr val="BDBDC1"/>
                  </a:solidFill>
                  <a:latin typeface="Titillium Web"/>
                </a:rPr>
                <a:t>20 signals → ATT&amp;CK</a:t>
              </a:r>
            </a:p>
          </p:txBody>
        </p:sp>
      </p:grpSp>
      <p:cxnSp>
        <p:nvCxnSpPr>
          <p:cNvPr id="61" name="DAG arrow 107"/>
          <p:cNvCxnSpPr/>
          <p:nvPr/>
        </p:nvCxnSpPr>
        <p:spPr>
          <a:xfrm>
            <a:off x="9208008" y="3218688"/>
            <a:ext cx="246888" cy="0"/>
          </a:xfrm>
          <a:prstGeom prst="line">
            <a:avLst/>
          </a:prstGeom>
          <a:ln w="31750">
            <a:solidFill>
              <a:srgbClr val="C1FF72"/>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65" name="Stage head 108"/>
          <p:cNvGrpSpPr/>
          <p:nvPr/>
        </p:nvGrpSpPr>
        <p:grpSpPr>
          <a:xfrm>
            <a:off x="9546336" y="2651760"/>
            <a:ext cx="3566160" cy="1143000"/>
            <a:chOff x="9546336" y="2651760"/>
            <a:chExt cx="3566160" cy="1143000"/>
          </a:xfrm>
        </p:grpSpPr>
        <p:sp>
          <p:nvSpPr>
            <p:cNvPr id="62" name="Stage head light"/>
            <p:cNvSpPr/>
            <p:nvPr/>
          </p:nvSpPr>
          <p:spPr>
            <a:xfrm>
              <a:off x="9546336" y="2651760"/>
              <a:ext cx="3566160" cy="1143000"/>
            </a:xfrm>
            <a:prstGeom prst="roundRect">
              <a:avLst>
                <a:gd name="adj" fmla="val 24000"/>
              </a:avLst>
            </a:prstGeom>
            <a:solidFill>
              <a:srgbClr val="33402A"/>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3" name="Stage head"/>
            <p:cNvSpPr/>
            <p:nvPr/>
          </p:nvSpPr>
          <p:spPr>
            <a:xfrm>
              <a:off x="9546336" y="2651760"/>
              <a:ext cx="3566160" cy="1143000"/>
            </a:xfrm>
            <a:prstGeom prst="roundRect">
              <a:avLst>
                <a:gd name="adj" fmla="val 24000"/>
              </a:avLst>
            </a:prstGeom>
            <a:solidFill>
              <a:srgbClr val="33402A"/>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4" name="Stage head text"/>
            <p:cNvSpPr txBox="1"/>
            <p:nvPr/>
          </p:nvSpPr>
          <p:spPr>
            <a:xfrm>
              <a:off x="9774936" y="2697480"/>
              <a:ext cx="3108960" cy="1051560"/>
            </a:xfrm>
            <a:prstGeom prst="rect">
              <a:avLst/>
            </a:prstGeom>
            <a:noFill/>
          </p:spPr>
          <p:txBody>
            <a:bodyPr wrap="square" lIns="45720" rIns="45720" anchor="ctr"/>
            <a:lstStyle/>
            <a:p>
              <a:pPr algn="l">
                <a:lnSpc>
                  <a:spcPct val="100000"/>
                </a:lnSpc>
              </a:pPr>
              <a:r>
                <a:rPr sz="2400" b="0" i="0">
                  <a:solidFill>
                    <a:srgbClr val="C1FF72"/>
                  </a:solidFill>
                  <a:latin typeface="Oswald"/>
                </a:rPr>
                <a:t>STAGE 3</a:t>
              </a:r>
            </a:p>
            <a:p>
              <a:pPr algn="l">
                <a:lnSpc>
                  <a:spcPct val="100000"/>
                </a:lnSpc>
              </a:pPr>
              <a:r>
                <a:rPr sz="1600" b="0" i="0">
                  <a:solidFill>
                    <a:srgbClr val="BDBDC1"/>
                  </a:solidFill>
                  <a:latin typeface="Titillium Web"/>
                </a:rPr>
                <a:t>needs the extracted IOCs</a:t>
              </a:r>
            </a:p>
          </p:txBody>
        </p:sp>
      </p:grpSp>
      <p:grpSp>
        <p:nvGrpSpPr>
          <p:cNvPr id="70" name="Agent 109"/>
          <p:cNvGrpSpPr/>
          <p:nvPr/>
        </p:nvGrpSpPr>
        <p:grpSpPr>
          <a:xfrm>
            <a:off x="9546336" y="4023360"/>
            <a:ext cx="3566160" cy="1097280"/>
            <a:chOff x="9546336" y="4023360"/>
            <a:chExt cx="3566160" cy="1097280"/>
          </a:xfrm>
        </p:grpSpPr>
        <p:sp>
          <p:nvSpPr>
            <p:cNvPr id="66" name="Agent light"/>
            <p:cNvSpPr/>
            <p:nvPr/>
          </p:nvSpPr>
          <p:spPr>
            <a:xfrm>
              <a:off x="9546336" y="4023360"/>
              <a:ext cx="3566160" cy="1097280"/>
            </a:xfrm>
            <a:prstGeom prst="roundRect">
              <a:avLst>
                <a:gd name="adj" fmla="val 23333"/>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7" name="Agent"/>
            <p:cNvSpPr/>
            <p:nvPr/>
          </p:nvSpPr>
          <p:spPr>
            <a:xfrm>
              <a:off x="9546336" y="4023360"/>
              <a:ext cx="3566160" cy="1097280"/>
            </a:xfrm>
            <a:prstGeom prst="roundRect">
              <a:avLst>
                <a:gd name="adj" fmla="val 23333"/>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8" name="Agent tick"/>
            <p:cNvSpPr/>
            <p:nvPr/>
          </p:nvSpPr>
          <p:spPr>
            <a:xfrm>
              <a:off x="9747504" y="4297680"/>
              <a:ext cx="91440" cy="548640"/>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9" name="Agent text"/>
            <p:cNvSpPr txBox="1"/>
            <p:nvPr/>
          </p:nvSpPr>
          <p:spPr>
            <a:xfrm>
              <a:off x="10003536" y="4114800"/>
              <a:ext cx="2926080" cy="960120"/>
            </a:xfrm>
            <a:prstGeom prst="rect">
              <a:avLst/>
            </a:prstGeom>
            <a:noFill/>
          </p:spPr>
          <p:txBody>
            <a:bodyPr wrap="square" lIns="45720" rIns="45720" anchor="ctr"/>
            <a:lstStyle/>
            <a:p>
              <a:pPr algn="l">
                <a:lnSpc>
                  <a:spcPct val="100000"/>
                </a:lnSpc>
              </a:pPr>
              <a:r>
                <a:rPr sz="2000" b="0" i="0">
                  <a:solidFill>
                    <a:srgbClr val="EDEDED"/>
                  </a:solidFill>
                  <a:latin typeface="Oswald"/>
                </a:rPr>
                <a:t>THREAT INTELLIGENCE</a:t>
              </a:r>
            </a:p>
            <a:p>
              <a:pPr algn="l">
                <a:lnSpc>
                  <a:spcPct val="92000"/>
                </a:lnSpc>
              </a:pPr>
              <a:r>
                <a:rPr sz="1600" b="0" i="0">
                  <a:solidFill>
                    <a:srgbClr val="BDBDC1"/>
                  </a:solidFill>
                  <a:latin typeface="Titillium Web"/>
                </a:rPr>
                <a:t>AlienVault OTX reputation</a:t>
              </a:r>
            </a:p>
          </p:txBody>
        </p:sp>
      </p:grpSp>
      <p:cxnSp>
        <p:nvCxnSpPr>
          <p:cNvPr id="71" name="DAG arrow 110"/>
          <p:cNvCxnSpPr/>
          <p:nvPr/>
        </p:nvCxnSpPr>
        <p:spPr>
          <a:xfrm>
            <a:off x="13158216" y="3218688"/>
            <a:ext cx="246888" cy="0"/>
          </a:xfrm>
          <a:prstGeom prst="line">
            <a:avLst/>
          </a:prstGeom>
          <a:ln w="31750">
            <a:solidFill>
              <a:srgbClr val="C1FF72"/>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75" name="Stage head 111"/>
          <p:cNvGrpSpPr/>
          <p:nvPr/>
        </p:nvGrpSpPr>
        <p:grpSpPr>
          <a:xfrm>
            <a:off x="13496544" y="2651760"/>
            <a:ext cx="3566160" cy="1143000"/>
            <a:chOff x="13496544" y="2651760"/>
            <a:chExt cx="3566160" cy="1143000"/>
          </a:xfrm>
        </p:grpSpPr>
        <p:sp>
          <p:nvSpPr>
            <p:cNvPr id="72" name="Stage head light"/>
            <p:cNvSpPr/>
            <p:nvPr/>
          </p:nvSpPr>
          <p:spPr>
            <a:xfrm>
              <a:off x="13496544" y="2651760"/>
              <a:ext cx="3566160" cy="1143000"/>
            </a:xfrm>
            <a:prstGeom prst="roundRect">
              <a:avLst>
                <a:gd name="adj" fmla="val 24000"/>
              </a:avLst>
            </a:prstGeom>
            <a:solidFill>
              <a:srgbClr val="33402A"/>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3" name="Stage head"/>
            <p:cNvSpPr/>
            <p:nvPr/>
          </p:nvSpPr>
          <p:spPr>
            <a:xfrm>
              <a:off x="13496544" y="2651760"/>
              <a:ext cx="3566160" cy="1143000"/>
            </a:xfrm>
            <a:prstGeom prst="roundRect">
              <a:avLst>
                <a:gd name="adj" fmla="val 24000"/>
              </a:avLst>
            </a:prstGeom>
            <a:solidFill>
              <a:srgbClr val="33402A"/>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4" name="Stage head text"/>
            <p:cNvSpPr txBox="1"/>
            <p:nvPr/>
          </p:nvSpPr>
          <p:spPr>
            <a:xfrm>
              <a:off x="13725144" y="2697480"/>
              <a:ext cx="3108960" cy="1051560"/>
            </a:xfrm>
            <a:prstGeom prst="rect">
              <a:avLst/>
            </a:prstGeom>
            <a:noFill/>
          </p:spPr>
          <p:txBody>
            <a:bodyPr wrap="square" lIns="45720" rIns="45720" anchor="ctr"/>
            <a:lstStyle/>
            <a:p>
              <a:pPr algn="l">
                <a:lnSpc>
                  <a:spcPct val="100000"/>
                </a:lnSpc>
              </a:pPr>
              <a:r>
                <a:rPr sz="2400" b="0" i="0">
                  <a:solidFill>
                    <a:srgbClr val="C1FF72"/>
                  </a:solidFill>
                  <a:latin typeface="Oswald"/>
                </a:rPr>
                <a:t>REPORTER</a:t>
              </a:r>
            </a:p>
            <a:p>
              <a:pPr algn="l">
                <a:lnSpc>
                  <a:spcPct val="100000"/>
                </a:lnSpc>
              </a:pPr>
              <a:r>
                <a:rPr sz="1600" b="0" i="0">
                  <a:solidFill>
                    <a:srgbClr val="BDBDC1"/>
                  </a:solidFill>
                  <a:latin typeface="Titillium Web"/>
                </a:rPr>
                <a:t>combines every result</a:t>
              </a:r>
            </a:p>
          </p:txBody>
        </p:sp>
      </p:grpSp>
      <p:grpSp>
        <p:nvGrpSpPr>
          <p:cNvPr id="80" name="Agent 112"/>
          <p:cNvGrpSpPr/>
          <p:nvPr/>
        </p:nvGrpSpPr>
        <p:grpSpPr>
          <a:xfrm>
            <a:off x="13496544" y="4023360"/>
            <a:ext cx="3566160" cy="1097280"/>
            <a:chOff x="13496544" y="4023360"/>
            <a:chExt cx="3566160" cy="1097280"/>
          </a:xfrm>
        </p:grpSpPr>
        <p:sp>
          <p:nvSpPr>
            <p:cNvPr id="76" name="Agent light"/>
            <p:cNvSpPr/>
            <p:nvPr/>
          </p:nvSpPr>
          <p:spPr>
            <a:xfrm>
              <a:off x="13496544" y="4023360"/>
              <a:ext cx="3566160" cy="1097280"/>
            </a:xfrm>
            <a:prstGeom prst="roundRect">
              <a:avLst>
                <a:gd name="adj" fmla="val 23333"/>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7" name="Agent"/>
            <p:cNvSpPr/>
            <p:nvPr/>
          </p:nvSpPr>
          <p:spPr>
            <a:xfrm>
              <a:off x="13496544" y="4023360"/>
              <a:ext cx="3566160" cy="1097280"/>
            </a:xfrm>
            <a:prstGeom prst="roundRect">
              <a:avLst>
                <a:gd name="adj" fmla="val 23333"/>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8" name="Agent tick"/>
            <p:cNvSpPr/>
            <p:nvPr/>
          </p:nvSpPr>
          <p:spPr>
            <a:xfrm>
              <a:off x="13697712" y="4297680"/>
              <a:ext cx="91440" cy="548640"/>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9" name="Agent text"/>
            <p:cNvSpPr txBox="1"/>
            <p:nvPr/>
          </p:nvSpPr>
          <p:spPr>
            <a:xfrm>
              <a:off x="13953744" y="4114800"/>
              <a:ext cx="2926080" cy="960120"/>
            </a:xfrm>
            <a:prstGeom prst="rect">
              <a:avLst/>
            </a:prstGeom>
            <a:noFill/>
          </p:spPr>
          <p:txBody>
            <a:bodyPr wrap="square" lIns="45720" rIns="45720" anchor="ctr"/>
            <a:lstStyle/>
            <a:p>
              <a:pPr algn="l">
                <a:lnSpc>
                  <a:spcPct val="100000"/>
                </a:lnSpc>
              </a:pPr>
              <a:r>
                <a:rPr sz="2000" b="0" i="0">
                  <a:solidFill>
                    <a:srgbClr val="EDEDED"/>
                  </a:solidFill>
                  <a:latin typeface="Oswald"/>
                </a:rPr>
                <a:t>REPORTER AGENT</a:t>
              </a:r>
            </a:p>
            <a:p>
              <a:pPr algn="l">
                <a:lnSpc>
                  <a:spcPct val="92000"/>
                </a:lnSpc>
              </a:pPr>
              <a:r>
                <a:rPr sz="1600" b="0" i="0">
                  <a:solidFill>
                    <a:srgbClr val="BDBDC1"/>
                  </a:solidFill>
                  <a:latin typeface="Titillium Web"/>
                </a:rPr>
                <a:t>risk score, verdict, explanation, stored report</a:t>
              </a:r>
            </a:p>
          </p:txBody>
        </p:sp>
      </p:grpSp>
      <p:grpSp>
        <p:nvGrpSpPr>
          <p:cNvPr id="84" name="Formula 113"/>
          <p:cNvGrpSpPr/>
          <p:nvPr/>
        </p:nvGrpSpPr>
        <p:grpSpPr>
          <a:xfrm>
            <a:off x="1005840" y="8732520"/>
            <a:ext cx="16276320" cy="822960"/>
            <a:chOff x="1005840" y="8732520"/>
            <a:chExt cx="16276320" cy="822960"/>
          </a:xfrm>
        </p:grpSpPr>
        <p:sp>
          <p:nvSpPr>
            <p:cNvPr id="81" name="Formula light"/>
            <p:cNvSpPr/>
            <p:nvPr/>
          </p:nvSpPr>
          <p:spPr>
            <a:xfrm>
              <a:off x="1005840" y="8732520"/>
              <a:ext cx="16276320" cy="822960"/>
            </a:xfrm>
            <a:prstGeom prst="roundRect">
              <a:avLst>
                <a:gd name="adj" fmla="val 5000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2" name="Formula"/>
            <p:cNvSpPr/>
            <p:nvPr/>
          </p:nvSpPr>
          <p:spPr>
            <a:xfrm>
              <a:off x="1005840" y="8732520"/>
              <a:ext cx="16276320" cy="822960"/>
            </a:xfrm>
            <a:prstGeom prst="roundRect">
              <a:avLst>
                <a:gd name="adj" fmla="val 5000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3" name="Formula text"/>
            <p:cNvSpPr txBox="1"/>
            <p:nvPr/>
          </p:nvSpPr>
          <p:spPr>
            <a:xfrm>
              <a:off x="1463040" y="8732520"/>
              <a:ext cx="15361920" cy="822960"/>
            </a:xfrm>
            <a:prstGeom prst="rect">
              <a:avLst/>
            </a:prstGeom>
            <a:noFill/>
          </p:spPr>
          <p:txBody>
            <a:bodyPr wrap="square" lIns="45720" rIns="45720" anchor="ctr"/>
            <a:lstStyle/>
            <a:p>
              <a:pPr algn="l">
                <a:lnSpc>
                  <a:spcPct val="100000"/>
                </a:lnSpc>
              </a:pPr>
              <a:r>
                <a:rPr sz="1900" b="0" i="0">
                  <a:solidFill>
                    <a:srgbClr val="C1FF72"/>
                  </a:solidFill>
                  <a:latin typeface="Oswald"/>
                </a:rPr>
                <a:t>Historical blend (Eq. 3.1)   </a:t>
              </a:r>
              <a:r>
                <a:rPr sz="1900" b="0" i="0">
                  <a:solidFill>
                    <a:srgbClr val="EDEDED"/>
                  </a:solidFill>
                  <a:latin typeface="Titillium Web"/>
                </a:rPr>
                <a:t>risk = 0.6 × mean agent score + 0.4 × maximum agent score</a:t>
              </a:r>
              <a:r>
                <a:rPr sz="1900" b="0" i="0">
                  <a:solidFill>
                    <a:srgbClr val="8E8E93"/>
                  </a:solidFill>
                  <a:latin typeface="Titillium Web"/>
                </a:rPr>
                <a:t>   — one strong signal still raises the verdict</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anim calcmode="lin" valueType="num">
                                      <p:cBhvr>
                                        <p:cTn id="11" dur="500" fill="hold"/>
                                        <p:tgtEl>
                                          <p:spTgt spid="12"/>
                                        </p:tgtEl>
                                        <p:attrNameLst>
                                          <p:attrName>ppt_x</p:attrName>
                                        </p:attrNameLst>
                                      </p:cBhvr>
                                      <p:tavLst>
                                        <p:tav tm="0">
                                          <p:val>
                                            <p:strVal val="#ppt_x"/>
                                          </p:val>
                                        </p:tav>
                                        <p:tav tm="100000">
                                          <p:val>
                                            <p:strVal val="#ppt_x"/>
                                          </p:val>
                                        </p:tav>
                                      </p:tavLst>
                                    </p:anim>
                                    <p:anim calcmode="lin" valueType="num">
                                      <p:cBhvr>
                                        <p:cTn id="12" dur="450" decel="100000" fill="hold"/>
                                        <p:tgtEl>
                                          <p:spTgt spid="12"/>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par>
                          <p:cTn id="14" fill="hold">
                            <p:stCondLst>
                              <p:cond delay="15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2400"/>
                            </p:stCondLst>
                            <p:childTnLst>
                              <p:par>
                                <p:cTn id="19" presetID="2" presetClass="entr" presetSubtype="1" fill="hold" nodeType="after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ppt_x"/>
                                          </p:val>
                                        </p:tav>
                                        <p:tav tm="100000">
                                          <p:val>
                                            <p:strVal val="#ppt_x"/>
                                          </p:val>
                                        </p:tav>
                                      </p:tavLst>
                                    </p:anim>
                                    <p:anim calcmode="lin" valueType="num">
                                      <p:cBhvr additive="base">
                                        <p:cTn id="22" dur="500" fill="hold"/>
                                        <p:tgtEl>
                                          <p:spTgt spid="20"/>
                                        </p:tgtEl>
                                        <p:attrNameLst>
                                          <p:attrName>ppt_y</p:attrName>
                                        </p:attrNameLst>
                                      </p:cBhvr>
                                      <p:tavLst>
                                        <p:tav tm="0">
                                          <p:val>
                                            <p:strVal val="0-#ppt_h/2"/>
                                          </p:val>
                                        </p:tav>
                                        <p:tav tm="100000">
                                          <p:val>
                                            <p:strVal val="#ppt_y"/>
                                          </p:val>
                                        </p:tav>
                                      </p:tavLst>
                                    </p:anim>
                                  </p:childTnLst>
                                </p:cTn>
                              </p:par>
                            </p:childTnLst>
                          </p:cTn>
                        </p:par>
                        <p:par>
                          <p:cTn id="23" fill="hold">
                            <p:stCondLst>
                              <p:cond delay="2900"/>
                            </p:stCondLst>
                            <p:childTnLst>
                              <p:par>
                                <p:cTn id="24" presetID="23" presetClass="entr" presetSubtype="16" fill="hold" nodeType="after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p:cTn id="26" dur="500" fill="hold"/>
                                        <p:tgtEl>
                                          <p:spTgt spid="25"/>
                                        </p:tgtEl>
                                        <p:attrNameLst>
                                          <p:attrName>ppt_w</p:attrName>
                                        </p:attrNameLst>
                                      </p:cBhvr>
                                      <p:tavLst>
                                        <p:tav tm="0">
                                          <p:val>
                                            <p:fltVal val="0"/>
                                          </p:val>
                                        </p:tav>
                                        <p:tav tm="100000">
                                          <p:val>
                                            <p:strVal val="#ppt_w"/>
                                          </p:val>
                                        </p:tav>
                                      </p:tavLst>
                                    </p:anim>
                                    <p:anim calcmode="lin" valueType="num">
                                      <p:cBhvr>
                                        <p:cTn id="27" dur="500" fill="hold"/>
                                        <p:tgtEl>
                                          <p:spTgt spid="25"/>
                                        </p:tgtEl>
                                        <p:attrNameLst>
                                          <p:attrName>ppt_h</p:attrName>
                                        </p:attrNameLst>
                                      </p:cBhvr>
                                      <p:tavLst>
                                        <p:tav tm="0">
                                          <p:val>
                                            <p:fltVal val="0"/>
                                          </p:val>
                                        </p:tav>
                                        <p:tav tm="100000">
                                          <p:val>
                                            <p:strVal val="#ppt_h"/>
                                          </p:val>
                                        </p:tav>
                                      </p:tavLst>
                                    </p:anim>
                                  </p:childTnLst>
                                </p:cTn>
                              </p:par>
                              <p:par>
                                <p:cTn id="28" presetID="23" presetClass="entr" presetSubtype="16" fill="hold" nodeType="withEffect">
                                  <p:stCondLst>
                                    <p:cond delay="80"/>
                                  </p:stCondLst>
                                  <p:childTnLst>
                                    <p:set>
                                      <p:cBhvr>
                                        <p:cTn id="29" dur="1" fill="hold">
                                          <p:stCondLst>
                                            <p:cond delay="0"/>
                                          </p:stCondLst>
                                        </p:cTn>
                                        <p:tgtEl>
                                          <p:spTgt spid="30"/>
                                        </p:tgtEl>
                                        <p:attrNameLst>
                                          <p:attrName>style.visibility</p:attrName>
                                        </p:attrNameLst>
                                      </p:cBhvr>
                                      <p:to>
                                        <p:strVal val="visible"/>
                                      </p:to>
                                    </p:set>
                                    <p:anim calcmode="lin" valueType="num">
                                      <p:cBhvr>
                                        <p:cTn id="30" dur="500" fill="hold"/>
                                        <p:tgtEl>
                                          <p:spTgt spid="30"/>
                                        </p:tgtEl>
                                        <p:attrNameLst>
                                          <p:attrName>ppt_w</p:attrName>
                                        </p:attrNameLst>
                                      </p:cBhvr>
                                      <p:tavLst>
                                        <p:tav tm="0">
                                          <p:val>
                                            <p:fltVal val="0"/>
                                          </p:val>
                                        </p:tav>
                                        <p:tav tm="100000">
                                          <p:val>
                                            <p:strVal val="#ppt_w"/>
                                          </p:val>
                                        </p:tav>
                                      </p:tavLst>
                                    </p:anim>
                                    <p:anim calcmode="lin" valueType="num">
                                      <p:cBhvr>
                                        <p:cTn id="31" dur="500" fill="hold"/>
                                        <p:tgtEl>
                                          <p:spTgt spid="30"/>
                                        </p:tgtEl>
                                        <p:attrNameLst>
                                          <p:attrName>ppt_h</p:attrName>
                                        </p:attrNameLst>
                                      </p:cBhvr>
                                      <p:tavLst>
                                        <p:tav tm="0">
                                          <p:val>
                                            <p:fltVal val="0"/>
                                          </p:val>
                                        </p:tav>
                                        <p:tav tm="100000">
                                          <p:val>
                                            <p:strVal val="#ppt_h"/>
                                          </p:val>
                                        </p:tav>
                                      </p:tavLst>
                                    </p:anim>
                                  </p:childTnLst>
                                </p:cTn>
                              </p:par>
                              <p:par>
                                <p:cTn id="32" presetID="23" presetClass="entr" presetSubtype="16" fill="hold" nodeType="withEffect">
                                  <p:stCondLst>
                                    <p:cond delay="160"/>
                                  </p:stCondLst>
                                  <p:childTnLst>
                                    <p:set>
                                      <p:cBhvr>
                                        <p:cTn id="33" dur="1" fill="hold">
                                          <p:stCondLst>
                                            <p:cond delay="0"/>
                                          </p:stCondLst>
                                        </p:cTn>
                                        <p:tgtEl>
                                          <p:spTgt spid="35"/>
                                        </p:tgtEl>
                                        <p:attrNameLst>
                                          <p:attrName>style.visibility</p:attrName>
                                        </p:attrNameLst>
                                      </p:cBhvr>
                                      <p:to>
                                        <p:strVal val="visible"/>
                                      </p:to>
                                    </p:set>
                                    <p:anim calcmode="lin" valueType="num">
                                      <p:cBhvr>
                                        <p:cTn id="34" dur="500" fill="hold"/>
                                        <p:tgtEl>
                                          <p:spTgt spid="35"/>
                                        </p:tgtEl>
                                        <p:attrNameLst>
                                          <p:attrName>ppt_w</p:attrName>
                                        </p:attrNameLst>
                                      </p:cBhvr>
                                      <p:tavLst>
                                        <p:tav tm="0">
                                          <p:val>
                                            <p:fltVal val="0"/>
                                          </p:val>
                                        </p:tav>
                                        <p:tav tm="100000">
                                          <p:val>
                                            <p:strVal val="#ppt_w"/>
                                          </p:val>
                                        </p:tav>
                                      </p:tavLst>
                                    </p:anim>
                                    <p:anim calcmode="lin" valueType="num">
                                      <p:cBhvr>
                                        <p:cTn id="35" dur="500" fill="hold"/>
                                        <p:tgtEl>
                                          <p:spTgt spid="35"/>
                                        </p:tgtEl>
                                        <p:attrNameLst>
                                          <p:attrName>ppt_h</p:attrName>
                                        </p:attrNameLst>
                                      </p:cBhvr>
                                      <p:tavLst>
                                        <p:tav tm="0">
                                          <p:val>
                                            <p:fltVal val="0"/>
                                          </p:val>
                                        </p:tav>
                                        <p:tav tm="100000">
                                          <p:val>
                                            <p:strVal val="#ppt_h"/>
                                          </p:val>
                                        </p:tav>
                                      </p:tavLst>
                                    </p:anim>
                                  </p:childTnLst>
                                </p:cTn>
                              </p:par>
                              <p:par>
                                <p:cTn id="36" presetID="23" presetClass="entr" presetSubtype="16" fill="hold" nodeType="withEffect">
                                  <p:stCondLst>
                                    <p:cond delay="240"/>
                                  </p:stCondLst>
                                  <p:childTnLst>
                                    <p:set>
                                      <p:cBhvr>
                                        <p:cTn id="37" dur="1" fill="hold">
                                          <p:stCondLst>
                                            <p:cond delay="0"/>
                                          </p:stCondLst>
                                        </p:cTn>
                                        <p:tgtEl>
                                          <p:spTgt spid="40"/>
                                        </p:tgtEl>
                                        <p:attrNameLst>
                                          <p:attrName>style.visibility</p:attrName>
                                        </p:attrNameLst>
                                      </p:cBhvr>
                                      <p:to>
                                        <p:strVal val="visible"/>
                                      </p:to>
                                    </p:set>
                                    <p:anim calcmode="lin" valueType="num">
                                      <p:cBhvr>
                                        <p:cTn id="38" dur="500" fill="hold"/>
                                        <p:tgtEl>
                                          <p:spTgt spid="40"/>
                                        </p:tgtEl>
                                        <p:attrNameLst>
                                          <p:attrName>ppt_w</p:attrName>
                                        </p:attrNameLst>
                                      </p:cBhvr>
                                      <p:tavLst>
                                        <p:tav tm="0">
                                          <p:val>
                                            <p:fltVal val="0"/>
                                          </p:val>
                                        </p:tav>
                                        <p:tav tm="100000">
                                          <p:val>
                                            <p:strVal val="#ppt_w"/>
                                          </p:val>
                                        </p:tav>
                                      </p:tavLst>
                                    </p:anim>
                                    <p:anim calcmode="lin" valueType="num">
                                      <p:cBhvr>
                                        <p:cTn id="39" dur="500" fill="hold"/>
                                        <p:tgtEl>
                                          <p:spTgt spid="40"/>
                                        </p:tgtEl>
                                        <p:attrNameLst>
                                          <p:attrName>ppt_h</p:attrName>
                                        </p:attrNameLst>
                                      </p:cBhvr>
                                      <p:tavLst>
                                        <p:tav tm="0">
                                          <p:val>
                                            <p:fltVal val="0"/>
                                          </p:val>
                                        </p:tav>
                                        <p:tav tm="100000">
                                          <p:val>
                                            <p:strVal val="#ppt_h"/>
                                          </p:val>
                                        </p:tav>
                                      </p:tavLst>
                                    </p:anim>
                                  </p:childTnLst>
                                </p:cTn>
                              </p:par>
                            </p:childTnLst>
                          </p:cTn>
                        </p:par>
                        <p:par>
                          <p:cTn id="40" fill="hold">
                            <p:stCondLst>
                              <p:cond delay="3640"/>
                            </p:stCondLst>
                            <p:childTnLst>
                              <p:par>
                                <p:cTn id="41" presetID="22" presetClass="entr" presetSubtype="8" fill="hold" nodeType="after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wipe(left)">
                                      <p:cBhvr>
                                        <p:cTn id="43" dur="500"/>
                                        <p:tgtEl>
                                          <p:spTgt spid="41"/>
                                        </p:tgtEl>
                                      </p:cBhvr>
                                    </p:animEffect>
                                  </p:childTnLst>
                                </p:cTn>
                              </p:par>
                            </p:childTnLst>
                          </p:cTn>
                        </p:par>
                        <p:par>
                          <p:cTn id="44" fill="hold">
                            <p:stCondLst>
                              <p:cond delay="4140"/>
                            </p:stCondLst>
                            <p:childTnLst>
                              <p:par>
                                <p:cTn id="45" presetID="2" presetClass="entr" presetSubtype="1" fill="hold" nodeType="afterEffect">
                                  <p:stCondLst>
                                    <p:cond delay="0"/>
                                  </p:stCondLst>
                                  <p:childTnLst>
                                    <p:set>
                                      <p:cBhvr>
                                        <p:cTn id="46" dur="1" fill="hold">
                                          <p:stCondLst>
                                            <p:cond delay="0"/>
                                          </p:stCondLst>
                                        </p:cTn>
                                        <p:tgtEl>
                                          <p:spTgt spid="45"/>
                                        </p:tgtEl>
                                        <p:attrNameLst>
                                          <p:attrName>style.visibility</p:attrName>
                                        </p:attrNameLst>
                                      </p:cBhvr>
                                      <p:to>
                                        <p:strVal val="visible"/>
                                      </p:to>
                                    </p:set>
                                    <p:anim calcmode="lin" valueType="num">
                                      <p:cBhvr additive="base">
                                        <p:cTn id="47" dur="500" fill="hold"/>
                                        <p:tgtEl>
                                          <p:spTgt spid="45"/>
                                        </p:tgtEl>
                                        <p:attrNameLst>
                                          <p:attrName>ppt_x</p:attrName>
                                        </p:attrNameLst>
                                      </p:cBhvr>
                                      <p:tavLst>
                                        <p:tav tm="0">
                                          <p:val>
                                            <p:strVal val="#ppt_x"/>
                                          </p:val>
                                        </p:tav>
                                        <p:tav tm="100000">
                                          <p:val>
                                            <p:strVal val="#ppt_x"/>
                                          </p:val>
                                        </p:tav>
                                      </p:tavLst>
                                    </p:anim>
                                    <p:anim calcmode="lin" valueType="num">
                                      <p:cBhvr additive="base">
                                        <p:cTn id="48" dur="500" fill="hold"/>
                                        <p:tgtEl>
                                          <p:spTgt spid="45"/>
                                        </p:tgtEl>
                                        <p:attrNameLst>
                                          <p:attrName>ppt_y</p:attrName>
                                        </p:attrNameLst>
                                      </p:cBhvr>
                                      <p:tavLst>
                                        <p:tav tm="0">
                                          <p:val>
                                            <p:strVal val="0-#ppt_h/2"/>
                                          </p:val>
                                        </p:tav>
                                        <p:tav tm="100000">
                                          <p:val>
                                            <p:strVal val="#ppt_y"/>
                                          </p:val>
                                        </p:tav>
                                      </p:tavLst>
                                    </p:anim>
                                  </p:childTnLst>
                                </p:cTn>
                              </p:par>
                            </p:childTnLst>
                          </p:cTn>
                        </p:par>
                        <p:par>
                          <p:cTn id="49" fill="hold">
                            <p:stCondLst>
                              <p:cond delay="4640"/>
                            </p:stCondLst>
                            <p:childTnLst>
                              <p:par>
                                <p:cTn id="50" presetID="2" presetClass="entr" presetSubtype="4" fill="hold" nodeType="afterEffect">
                                  <p:stCondLst>
                                    <p:cond delay="0"/>
                                  </p:stCondLst>
                                  <p:childTnLst>
                                    <p:set>
                                      <p:cBhvr>
                                        <p:cTn id="51" dur="1" fill="hold">
                                          <p:stCondLst>
                                            <p:cond delay="0"/>
                                          </p:stCondLst>
                                        </p:cTn>
                                        <p:tgtEl>
                                          <p:spTgt spid="50"/>
                                        </p:tgtEl>
                                        <p:attrNameLst>
                                          <p:attrName>style.visibility</p:attrName>
                                        </p:attrNameLst>
                                      </p:cBhvr>
                                      <p:to>
                                        <p:strVal val="visible"/>
                                      </p:to>
                                    </p:set>
                                    <p:anim calcmode="lin" valueType="num">
                                      <p:cBhvr additive="base">
                                        <p:cTn id="52" dur="500" fill="hold"/>
                                        <p:tgtEl>
                                          <p:spTgt spid="50"/>
                                        </p:tgtEl>
                                        <p:attrNameLst>
                                          <p:attrName>ppt_x</p:attrName>
                                        </p:attrNameLst>
                                      </p:cBhvr>
                                      <p:tavLst>
                                        <p:tav tm="0">
                                          <p:val>
                                            <p:strVal val="#ppt_x"/>
                                          </p:val>
                                        </p:tav>
                                        <p:tav tm="100000">
                                          <p:val>
                                            <p:strVal val="#ppt_x"/>
                                          </p:val>
                                        </p:tav>
                                      </p:tavLst>
                                    </p:anim>
                                    <p:anim calcmode="lin" valueType="num">
                                      <p:cBhvr additive="base">
                                        <p:cTn id="53" dur="500" fill="hold"/>
                                        <p:tgtEl>
                                          <p:spTgt spid="50"/>
                                        </p:tgtEl>
                                        <p:attrNameLst>
                                          <p:attrName>ppt_y</p:attrName>
                                        </p:attrNameLst>
                                      </p:cBhvr>
                                      <p:tavLst>
                                        <p:tav tm="0">
                                          <p:val>
                                            <p:strVal val="1+#ppt_h/2"/>
                                          </p:val>
                                        </p:tav>
                                        <p:tav tm="100000">
                                          <p:val>
                                            <p:strVal val="#ppt_y"/>
                                          </p:val>
                                        </p:tav>
                                      </p:tavLst>
                                    </p:anim>
                                  </p:childTnLst>
                                </p:cTn>
                              </p:par>
                              <p:par>
                                <p:cTn id="54" presetID="2" presetClass="entr" presetSubtype="4" fill="hold" nodeType="withEffect">
                                  <p:stCondLst>
                                    <p:cond delay="80"/>
                                  </p:stCondLst>
                                  <p:childTnLst>
                                    <p:set>
                                      <p:cBhvr>
                                        <p:cTn id="55" dur="1" fill="hold">
                                          <p:stCondLst>
                                            <p:cond delay="0"/>
                                          </p:stCondLst>
                                        </p:cTn>
                                        <p:tgtEl>
                                          <p:spTgt spid="55"/>
                                        </p:tgtEl>
                                        <p:attrNameLst>
                                          <p:attrName>style.visibility</p:attrName>
                                        </p:attrNameLst>
                                      </p:cBhvr>
                                      <p:to>
                                        <p:strVal val="visible"/>
                                      </p:to>
                                    </p:set>
                                    <p:anim calcmode="lin" valueType="num">
                                      <p:cBhvr additive="base">
                                        <p:cTn id="56" dur="500" fill="hold"/>
                                        <p:tgtEl>
                                          <p:spTgt spid="55"/>
                                        </p:tgtEl>
                                        <p:attrNameLst>
                                          <p:attrName>ppt_x</p:attrName>
                                        </p:attrNameLst>
                                      </p:cBhvr>
                                      <p:tavLst>
                                        <p:tav tm="0">
                                          <p:val>
                                            <p:strVal val="#ppt_x"/>
                                          </p:val>
                                        </p:tav>
                                        <p:tav tm="100000">
                                          <p:val>
                                            <p:strVal val="#ppt_x"/>
                                          </p:val>
                                        </p:tav>
                                      </p:tavLst>
                                    </p:anim>
                                    <p:anim calcmode="lin" valueType="num">
                                      <p:cBhvr additive="base">
                                        <p:cTn id="57" dur="500" fill="hold"/>
                                        <p:tgtEl>
                                          <p:spTgt spid="55"/>
                                        </p:tgtEl>
                                        <p:attrNameLst>
                                          <p:attrName>ppt_y</p:attrName>
                                        </p:attrNameLst>
                                      </p:cBhvr>
                                      <p:tavLst>
                                        <p:tav tm="0">
                                          <p:val>
                                            <p:strVal val="1+#ppt_h/2"/>
                                          </p:val>
                                        </p:tav>
                                        <p:tav tm="100000">
                                          <p:val>
                                            <p:strVal val="#ppt_y"/>
                                          </p:val>
                                        </p:tav>
                                      </p:tavLst>
                                    </p:anim>
                                  </p:childTnLst>
                                </p:cTn>
                              </p:par>
                              <p:par>
                                <p:cTn id="58" presetID="2" presetClass="entr" presetSubtype="4" fill="hold" nodeType="withEffect">
                                  <p:stCondLst>
                                    <p:cond delay="160"/>
                                  </p:stCondLst>
                                  <p:childTnLst>
                                    <p:set>
                                      <p:cBhvr>
                                        <p:cTn id="59" dur="1" fill="hold">
                                          <p:stCondLst>
                                            <p:cond delay="0"/>
                                          </p:stCondLst>
                                        </p:cTn>
                                        <p:tgtEl>
                                          <p:spTgt spid="60"/>
                                        </p:tgtEl>
                                        <p:attrNameLst>
                                          <p:attrName>style.visibility</p:attrName>
                                        </p:attrNameLst>
                                      </p:cBhvr>
                                      <p:to>
                                        <p:strVal val="visible"/>
                                      </p:to>
                                    </p:set>
                                    <p:anim calcmode="lin" valueType="num">
                                      <p:cBhvr additive="base">
                                        <p:cTn id="60" dur="500" fill="hold"/>
                                        <p:tgtEl>
                                          <p:spTgt spid="60"/>
                                        </p:tgtEl>
                                        <p:attrNameLst>
                                          <p:attrName>ppt_x</p:attrName>
                                        </p:attrNameLst>
                                      </p:cBhvr>
                                      <p:tavLst>
                                        <p:tav tm="0">
                                          <p:val>
                                            <p:strVal val="#ppt_x"/>
                                          </p:val>
                                        </p:tav>
                                        <p:tav tm="100000">
                                          <p:val>
                                            <p:strVal val="#ppt_x"/>
                                          </p:val>
                                        </p:tav>
                                      </p:tavLst>
                                    </p:anim>
                                    <p:anim calcmode="lin" valueType="num">
                                      <p:cBhvr additive="base">
                                        <p:cTn id="61" dur="500" fill="hold"/>
                                        <p:tgtEl>
                                          <p:spTgt spid="60"/>
                                        </p:tgtEl>
                                        <p:attrNameLst>
                                          <p:attrName>ppt_y</p:attrName>
                                        </p:attrNameLst>
                                      </p:cBhvr>
                                      <p:tavLst>
                                        <p:tav tm="0">
                                          <p:val>
                                            <p:strVal val="1+#ppt_h/2"/>
                                          </p:val>
                                        </p:tav>
                                        <p:tav tm="100000">
                                          <p:val>
                                            <p:strVal val="#ppt_y"/>
                                          </p:val>
                                        </p:tav>
                                      </p:tavLst>
                                    </p:anim>
                                  </p:childTnLst>
                                </p:cTn>
                              </p:par>
                            </p:childTnLst>
                          </p:cTn>
                        </p:par>
                        <p:par>
                          <p:cTn id="62" fill="hold">
                            <p:stCondLst>
                              <p:cond delay="5300"/>
                            </p:stCondLst>
                            <p:childTnLst>
                              <p:par>
                                <p:cTn id="63" presetID="22" presetClass="entr" presetSubtype="8" fill="hold" nodeType="afterEffect">
                                  <p:stCondLst>
                                    <p:cond delay="0"/>
                                  </p:stCondLst>
                                  <p:childTnLst>
                                    <p:set>
                                      <p:cBhvr>
                                        <p:cTn id="64" dur="1" fill="hold">
                                          <p:stCondLst>
                                            <p:cond delay="0"/>
                                          </p:stCondLst>
                                        </p:cTn>
                                        <p:tgtEl>
                                          <p:spTgt spid="61"/>
                                        </p:tgtEl>
                                        <p:attrNameLst>
                                          <p:attrName>style.visibility</p:attrName>
                                        </p:attrNameLst>
                                      </p:cBhvr>
                                      <p:to>
                                        <p:strVal val="visible"/>
                                      </p:to>
                                    </p:set>
                                    <p:animEffect transition="in" filter="wipe(left)">
                                      <p:cBhvr>
                                        <p:cTn id="65" dur="500"/>
                                        <p:tgtEl>
                                          <p:spTgt spid="61"/>
                                        </p:tgtEl>
                                      </p:cBhvr>
                                    </p:animEffect>
                                  </p:childTnLst>
                                </p:cTn>
                              </p:par>
                            </p:childTnLst>
                          </p:cTn>
                        </p:par>
                        <p:par>
                          <p:cTn id="66" fill="hold">
                            <p:stCondLst>
                              <p:cond delay="5800"/>
                            </p:stCondLst>
                            <p:childTnLst>
                              <p:par>
                                <p:cTn id="67" presetID="2" presetClass="entr" presetSubtype="1" fill="hold" nodeType="afterEffect">
                                  <p:stCondLst>
                                    <p:cond delay="0"/>
                                  </p:stCondLst>
                                  <p:childTnLst>
                                    <p:set>
                                      <p:cBhvr>
                                        <p:cTn id="68" dur="1" fill="hold">
                                          <p:stCondLst>
                                            <p:cond delay="0"/>
                                          </p:stCondLst>
                                        </p:cTn>
                                        <p:tgtEl>
                                          <p:spTgt spid="65"/>
                                        </p:tgtEl>
                                        <p:attrNameLst>
                                          <p:attrName>style.visibility</p:attrName>
                                        </p:attrNameLst>
                                      </p:cBhvr>
                                      <p:to>
                                        <p:strVal val="visible"/>
                                      </p:to>
                                    </p:set>
                                    <p:anim calcmode="lin" valueType="num">
                                      <p:cBhvr additive="base">
                                        <p:cTn id="69" dur="500" fill="hold"/>
                                        <p:tgtEl>
                                          <p:spTgt spid="65"/>
                                        </p:tgtEl>
                                        <p:attrNameLst>
                                          <p:attrName>ppt_x</p:attrName>
                                        </p:attrNameLst>
                                      </p:cBhvr>
                                      <p:tavLst>
                                        <p:tav tm="0">
                                          <p:val>
                                            <p:strVal val="#ppt_x"/>
                                          </p:val>
                                        </p:tav>
                                        <p:tav tm="100000">
                                          <p:val>
                                            <p:strVal val="#ppt_x"/>
                                          </p:val>
                                        </p:tav>
                                      </p:tavLst>
                                    </p:anim>
                                    <p:anim calcmode="lin" valueType="num">
                                      <p:cBhvr additive="base">
                                        <p:cTn id="70" dur="500" fill="hold"/>
                                        <p:tgtEl>
                                          <p:spTgt spid="65"/>
                                        </p:tgtEl>
                                        <p:attrNameLst>
                                          <p:attrName>ppt_y</p:attrName>
                                        </p:attrNameLst>
                                      </p:cBhvr>
                                      <p:tavLst>
                                        <p:tav tm="0">
                                          <p:val>
                                            <p:strVal val="0-#ppt_h/2"/>
                                          </p:val>
                                        </p:tav>
                                        <p:tav tm="100000">
                                          <p:val>
                                            <p:strVal val="#ppt_y"/>
                                          </p:val>
                                        </p:tav>
                                      </p:tavLst>
                                    </p:anim>
                                  </p:childTnLst>
                                </p:cTn>
                              </p:par>
                            </p:childTnLst>
                          </p:cTn>
                        </p:par>
                        <p:par>
                          <p:cTn id="71" fill="hold">
                            <p:stCondLst>
                              <p:cond delay="6300"/>
                            </p:stCondLst>
                            <p:childTnLst>
                              <p:par>
                                <p:cTn id="72" presetID="2" presetClass="entr" presetSubtype="4" fill="hold" nodeType="afterEffect">
                                  <p:stCondLst>
                                    <p:cond delay="0"/>
                                  </p:stCondLst>
                                  <p:childTnLst>
                                    <p:set>
                                      <p:cBhvr>
                                        <p:cTn id="73" dur="1" fill="hold">
                                          <p:stCondLst>
                                            <p:cond delay="0"/>
                                          </p:stCondLst>
                                        </p:cTn>
                                        <p:tgtEl>
                                          <p:spTgt spid="70"/>
                                        </p:tgtEl>
                                        <p:attrNameLst>
                                          <p:attrName>style.visibility</p:attrName>
                                        </p:attrNameLst>
                                      </p:cBhvr>
                                      <p:to>
                                        <p:strVal val="visible"/>
                                      </p:to>
                                    </p:set>
                                    <p:anim calcmode="lin" valueType="num">
                                      <p:cBhvr additive="base">
                                        <p:cTn id="74" dur="500" fill="hold"/>
                                        <p:tgtEl>
                                          <p:spTgt spid="70"/>
                                        </p:tgtEl>
                                        <p:attrNameLst>
                                          <p:attrName>ppt_x</p:attrName>
                                        </p:attrNameLst>
                                      </p:cBhvr>
                                      <p:tavLst>
                                        <p:tav tm="0">
                                          <p:val>
                                            <p:strVal val="#ppt_x"/>
                                          </p:val>
                                        </p:tav>
                                        <p:tav tm="100000">
                                          <p:val>
                                            <p:strVal val="#ppt_x"/>
                                          </p:val>
                                        </p:tav>
                                      </p:tavLst>
                                    </p:anim>
                                    <p:anim calcmode="lin" valueType="num">
                                      <p:cBhvr additive="base">
                                        <p:cTn id="75" dur="500" fill="hold"/>
                                        <p:tgtEl>
                                          <p:spTgt spid="70"/>
                                        </p:tgtEl>
                                        <p:attrNameLst>
                                          <p:attrName>ppt_y</p:attrName>
                                        </p:attrNameLst>
                                      </p:cBhvr>
                                      <p:tavLst>
                                        <p:tav tm="0">
                                          <p:val>
                                            <p:strVal val="1+#ppt_h/2"/>
                                          </p:val>
                                        </p:tav>
                                        <p:tav tm="100000">
                                          <p:val>
                                            <p:strVal val="#ppt_y"/>
                                          </p:val>
                                        </p:tav>
                                      </p:tavLst>
                                    </p:anim>
                                  </p:childTnLst>
                                </p:cTn>
                              </p:par>
                            </p:childTnLst>
                          </p:cTn>
                        </p:par>
                        <p:par>
                          <p:cTn id="76" fill="hold">
                            <p:stCondLst>
                              <p:cond delay="6800"/>
                            </p:stCondLst>
                            <p:childTnLst>
                              <p:par>
                                <p:cTn id="77" presetID="22" presetClass="entr" presetSubtype="8" fill="hold" nodeType="afterEffect">
                                  <p:stCondLst>
                                    <p:cond delay="0"/>
                                  </p:stCondLst>
                                  <p:childTnLst>
                                    <p:set>
                                      <p:cBhvr>
                                        <p:cTn id="78" dur="1" fill="hold">
                                          <p:stCondLst>
                                            <p:cond delay="0"/>
                                          </p:stCondLst>
                                        </p:cTn>
                                        <p:tgtEl>
                                          <p:spTgt spid="71"/>
                                        </p:tgtEl>
                                        <p:attrNameLst>
                                          <p:attrName>style.visibility</p:attrName>
                                        </p:attrNameLst>
                                      </p:cBhvr>
                                      <p:to>
                                        <p:strVal val="visible"/>
                                      </p:to>
                                    </p:set>
                                    <p:animEffect transition="in" filter="wipe(left)">
                                      <p:cBhvr>
                                        <p:cTn id="79" dur="500"/>
                                        <p:tgtEl>
                                          <p:spTgt spid="71"/>
                                        </p:tgtEl>
                                      </p:cBhvr>
                                    </p:animEffect>
                                  </p:childTnLst>
                                </p:cTn>
                              </p:par>
                            </p:childTnLst>
                          </p:cTn>
                        </p:par>
                        <p:par>
                          <p:cTn id="80" fill="hold">
                            <p:stCondLst>
                              <p:cond delay="7300"/>
                            </p:stCondLst>
                            <p:childTnLst>
                              <p:par>
                                <p:cTn id="81" presetID="2" presetClass="entr" presetSubtype="1" fill="hold" nodeType="afterEffect">
                                  <p:stCondLst>
                                    <p:cond delay="0"/>
                                  </p:stCondLst>
                                  <p:childTnLst>
                                    <p:set>
                                      <p:cBhvr>
                                        <p:cTn id="82" dur="1" fill="hold">
                                          <p:stCondLst>
                                            <p:cond delay="0"/>
                                          </p:stCondLst>
                                        </p:cTn>
                                        <p:tgtEl>
                                          <p:spTgt spid="75"/>
                                        </p:tgtEl>
                                        <p:attrNameLst>
                                          <p:attrName>style.visibility</p:attrName>
                                        </p:attrNameLst>
                                      </p:cBhvr>
                                      <p:to>
                                        <p:strVal val="visible"/>
                                      </p:to>
                                    </p:set>
                                    <p:anim calcmode="lin" valueType="num">
                                      <p:cBhvr additive="base">
                                        <p:cTn id="83" dur="500" fill="hold"/>
                                        <p:tgtEl>
                                          <p:spTgt spid="75"/>
                                        </p:tgtEl>
                                        <p:attrNameLst>
                                          <p:attrName>ppt_x</p:attrName>
                                        </p:attrNameLst>
                                      </p:cBhvr>
                                      <p:tavLst>
                                        <p:tav tm="0">
                                          <p:val>
                                            <p:strVal val="#ppt_x"/>
                                          </p:val>
                                        </p:tav>
                                        <p:tav tm="100000">
                                          <p:val>
                                            <p:strVal val="#ppt_x"/>
                                          </p:val>
                                        </p:tav>
                                      </p:tavLst>
                                    </p:anim>
                                    <p:anim calcmode="lin" valueType="num">
                                      <p:cBhvr additive="base">
                                        <p:cTn id="84" dur="500" fill="hold"/>
                                        <p:tgtEl>
                                          <p:spTgt spid="75"/>
                                        </p:tgtEl>
                                        <p:attrNameLst>
                                          <p:attrName>ppt_y</p:attrName>
                                        </p:attrNameLst>
                                      </p:cBhvr>
                                      <p:tavLst>
                                        <p:tav tm="0">
                                          <p:val>
                                            <p:strVal val="0-#ppt_h/2"/>
                                          </p:val>
                                        </p:tav>
                                        <p:tav tm="100000">
                                          <p:val>
                                            <p:strVal val="#ppt_y"/>
                                          </p:val>
                                        </p:tav>
                                      </p:tavLst>
                                    </p:anim>
                                  </p:childTnLst>
                                </p:cTn>
                              </p:par>
                            </p:childTnLst>
                          </p:cTn>
                        </p:par>
                        <p:par>
                          <p:cTn id="85" fill="hold">
                            <p:stCondLst>
                              <p:cond delay="7800"/>
                            </p:stCondLst>
                            <p:childTnLst>
                              <p:par>
                                <p:cTn id="86" presetID="2" presetClass="entr" presetSubtype="4" fill="hold" nodeType="afterEffect">
                                  <p:stCondLst>
                                    <p:cond delay="0"/>
                                  </p:stCondLst>
                                  <p:childTnLst>
                                    <p:set>
                                      <p:cBhvr>
                                        <p:cTn id="87" dur="1" fill="hold">
                                          <p:stCondLst>
                                            <p:cond delay="0"/>
                                          </p:stCondLst>
                                        </p:cTn>
                                        <p:tgtEl>
                                          <p:spTgt spid="80"/>
                                        </p:tgtEl>
                                        <p:attrNameLst>
                                          <p:attrName>style.visibility</p:attrName>
                                        </p:attrNameLst>
                                      </p:cBhvr>
                                      <p:to>
                                        <p:strVal val="visible"/>
                                      </p:to>
                                    </p:set>
                                    <p:anim calcmode="lin" valueType="num">
                                      <p:cBhvr additive="base">
                                        <p:cTn id="88" dur="500" fill="hold"/>
                                        <p:tgtEl>
                                          <p:spTgt spid="80"/>
                                        </p:tgtEl>
                                        <p:attrNameLst>
                                          <p:attrName>ppt_x</p:attrName>
                                        </p:attrNameLst>
                                      </p:cBhvr>
                                      <p:tavLst>
                                        <p:tav tm="0">
                                          <p:val>
                                            <p:strVal val="#ppt_x"/>
                                          </p:val>
                                        </p:tav>
                                        <p:tav tm="100000">
                                          <p:val>
                                            <p:strVal val="#ppt_x"/>
                                          </p:val>
                                        </p:tav>
                                      </p:tavLst>
                                    </p:anim>
                                    <p:anim calcmode="lin" valueType="num">
                                      <p:cBhvr additive="base">
                                        <p:cTn id="89" dur="500" fill="hold"/>
                                        <p:tgtEl>
                                          <p:spTgt spid="80"/>
                                        </p:tgtEl>
                                        <p:attrNameLst>
                                          <p:attrName>ppt_y</p:attrName>
                                        </p:attrNameLst>
                                      </p:cBhvr>
                                      <p:tavLst>
                                        <p:tav tm="0">
                                          <p:val>
                                            <p:strVal val="1+#ppt_h/2"/>
                                          </p:val>
                                        </p:tav>
                                        <p:tav tm="100000">
                                          <p:val>
                                            <p:strVal val="#ppt_y"/>
                                          </p:val>
                                        </p:tav>
                                      </p:tavLst>
                                    </p:anim>
                                  </p:childTnLst>
                                </p:cTn>
                              </p:par>
                            </p:childTnLst>
                          </p:cTn>
                        </p:par>
                        <p:par>
                          <p:cTn id="90" fill="hold">
                            <p:stCondLst>
                              <p:cond delay="8300"/>
                            </p:stCondLst>
                            <p:childTnLst>
                              <p:par>
                                <p:cTn id="91" presetID="22" presetClass="entr" presetSubtype="8" fill="hold" nodeType="afterEffect">
                                  <p:stCondLst>
                                    <p:cond delay="0"/>
                                  </p:stCondLst>
                                  <p:childTnLst>
                                    <p:set>
                                      <p:cBhvr>
                                        <p:cTn id="92" dur="1" fill="hold">
                                          <p:stCondLst>
                                            <p:cond delay="0"/>
                                          </p:stCondLst>
                                        </p:cTn>
                                        <p:tgtEl>
                                          <p:spTgt spid="84"/>
                                        </p:tgtEl>
                                        <p:attrNameLst>
                                          <p:attrName>style.visibility</p:attrName>
                                        </p:attrNameLst>
                                      </p:cBhvr>
                                      <p:to>
                                        <p:strVal val="visible"/>
                                      </p:to>
                                    </p:set>
                                    <p:animEffect transition="in" filter="wipe(left)">
                                      <p:cBhvr>
                                        <p:cTn id="93"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32325"/>
        </a:solidFill>
        <a:effectLst/>
      </p:bgPr>
    </p:bg>
    <p:spTree>
      <p:nvGrpSpPr>
        <p:cNvPr id="1" name=""/>
        <p:cNvGrpSpPr/>
        <p:nvPr/>
      </p:nvGrpSpPr>
      <p:grpSpPr>
        <a:xfrm>
          <a:off x="0" y="0"/>
          <a:ext cx="0" cy="0"/>
          <a:chOff x="0" y="0"/>
          <a:chExt cx="0" cy="0"/>
        </a:xfrm>
      </p:grpSpPr>
      <p:sp>
        <p:nvSpPr>
          <p:cNvPr id="2" name="!!seg8"/>
          <p:cNvSpPr/>
          <p:nvPr/>
        </p:nvSpPr>
        <p:spPr>
          <a:xfrm>
            <a:off x="16971264"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seg7"/>
          <p:cNvSpPr/>
          <p:nvPr/>
        </p:nvSpPr>
        <p:spPr>
          <a:xfrm>
            <a:off x="16568927"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seg6"/>
          <p:cNvSpPr/>
          <p:nvPr/>
        </p:nvSpPr>
        <p:spPr>
          <a:xfrm>
            <a:off x="15380207" y="566928"/>
            <a:ext cx="1097280" cy="118872"/>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seg5"/>
          <p:cNvSpPr/>
          <p:nvPr/>
        </p:nvSpPr>
        <p:spPr>
          <a:xfrm>
            <a:off x="14977871"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seg4"/>
          <p:cNvSpPr/>
          <p:nvPr/>
        </p:nvSpPr>
        <p:spPr>
          <a:xfrm>
            <a:off x="14575535"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eg3"/>
          <p:cNvSpPr/>
          <p:nvPr/>
        </p:nvSpPr>
        <p:spPr>
          <a:xfrm>
            <a:off x="14173199"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eg2"/>
          <p:cNvSpPr/>
          <p:nvPr/>
        </p:nvSpPr>
        <p:spPr>
          <a:xfrm>
            <a:off x="13770863"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seg1"/>
          <p:cNvSpPr/>
          <p:nvPr/>
        </p:nvSpPr>
        <p:spPr>
          <a:xfrm>
            <a:off x="1336852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egno"/>
          <p:cNvSpPr txBox="1"/>
          <p:nvPr/>
        </p:nvSpPr>
        <p:spPr>
          <a:xfrm>
            <a:off x="10808207" y="429768"/>
            <a:ext cx="2423160" cy="384048"/>
          </a:xfrm>
          <a:prstGeom prst="rect">
            <a:avLst/>
          </a:prstGeom>
          <a:noFill/>
        </p:spPr>
        <p:txBody>
          <a:bodyPr wrap="square" lIns="45720" rIns="45720" anchor="t"/>
          <a:lstStyle/>
          <a:p>
            <a:pPr algn="r">
              <a:lnSpc>
                <a:spcPct val="100000"/>
              </a:lnSpc>
            </a:pPr>
            <a:r>
              <a:rPr sz="1500" b="0" i="0">
                <a:solidFill>
                  <a:srgbClr val="8E8E93"/>
                </a:solidFill>
                <a:latin typeface="Oswald"/>
              </a:rPr>
              <a:t>06 / 08</a:t>
            </a:r>
          </a:p>
        </p:txBody>
      </p:sp>
      <p:sp>
        <p:nvSpPr>
          <p:cNvPr id="11" name="Kicker 114"/>
          <p:cNvSpPr txBox="1"/>
          <p:nvPr/>
        </p:nvSpPr>
        <p:spPr>
          <a:xfrm>
            <a:off x="1005840" y="457200"/>
            <a:ext cx="8229600" cy="411480"/>
          </a:xfrm>
          <a:prstGeom prst="rect">
            <a:avLst/>
          </a:prstGeom>
          <a:noFill/>
        </p:spPr>
        <p:txBody>
          <a:bodyPr wrap="square" lIns="45720" rIns="45720" anchor="t"/>
          <a:lstStyle/>
          <a:p>
            <a:pPr algn="l">
              <a:lnSpc>
                <a:spcPct val="100000"/>
              </a:lnSpc>
            </a:pPr>
            <a:r>
              <a:rPr sz="1600" b="1" i="0">
                <a:solidFill>
                  <a:srgbClr val="C1FF72"/>
                </a:solidFill>
                <a:latin typeface="Titillium Web"/>
              </a:rPr>
              <a:t>06  ·  METHODS AND MATERIALS USED  ·  3 OF 6</a:t>
            </a:r>
          </a:p>
        </p:txBody>
      </p:sp>
      <p:sp>
        <p:nvSpPr>
          <p:cNvPr id="12" name="Title 115"/>
          <p:cNvSpPr txBox="1"/>
          <p:nvPr/>
        </p:nvSpPr>
        <p:spPr>
          <a:xfrm>
            <a:off x="1005840" y="841248"/>
            <a:ext cx="10972800" cy="1051560"/>
          </a:xfrm>
          <a:prstGeom prst="rect">
            <a:avLst/>
          </a:prstGeom>
          <a:noFill/>
        </p:spPr>
        <p:txBody>
          <a:bodyPr wrap="square" lIns="45720" rIns="45720" anchor="t"/>
          <a:lstStyle/>
          <a:p>
            <a:pPr algn="l">
              <a:lnSpc>
                <a:spcPct val="100000"/>
              </a:lnSpc>
            </a:pPr>
            <a:r>
              <a:rPr sz="5400" b="0" i="0">
                <a:solidFill>
                  <a:srgbClr val="EDEDED"/>
                </a:solidFill>
                <a:latin typeface="Oswald"/>
              </a:rPr>
              <a:t>MATERIALS</a:t>
            </a:r>
          </a:p>
        </p:txBody>
      </p:sp>
      <p:sp>
        <p:nvSpPr>
          <p:cNvPr id="13" name="Subtitle 116"/>
          <p:cNvSpPr txBox="1"/>
          <p:nvPr/>
        </p:nvSpPr>
        <p:spPr>
          <a:xfrm>
            <a:off x="1005840" y="1828800"/>
            <a:ext cx="10972800" cy="502920"/>
          </a:xfrm>
          <a:prstGeom prst="rect">
            <a:avLst/>
          </a:prstGeom>
          <a:noFill/>
        </p:spPr>
        <p:txBody>
          <a:bodyPr wrap="square" lIns="45720" rIns="45720" anchor="t"/>
          <a:lstStyle/>
          <a:p>
            <a:pPr algn="l">
              <a:lnSpc>
                <a:spcPct val="100000"/>
              </a:lnSpc>
            </a:pPr>
            <a:r>
              <a:rPr sz="2100" b="0" i="0">
                <a:solidFill>
                  <a:srgbClr val="8E8E93"/>
                </a:solidFill>
                <a:latin typeface="Titillium Web"/>
              </a:rPr>
              <a:t>Software, libraries, services, data and hardware</a:t>
            </a:r>
          </a:p>
        </p:txBody>
      </p:sp>
      <p:sp>
        <p:nvSpPr>
          <p:cNvPr id="14" name="Source"/>
          <p:cNvSpPr txBox="1"/>
          <p:nvPr/>
        </p:nvSpPr>
        <p:spPr>
          <a:xfrm>
            <a:off x="1005840" y="9710928"/>
            <a:ext cx="14447520" cy="347472"/>
          </a:xfrm>
          <a:prstGeom prst="rect">
            <a:avLst/>
          </a:prstGeom>
          <a:noFill/>
        </p:spPr>
        <p:txBody>
          <a:bodyPr wrap="square" lIns="45720" rIns="45720" anchor="t"/>
          <a:lstStyle/>
          <a:p>
            <a:pPr algn="l">
              <a:lnSpc>
                <a:spcPct val="100000"/>
              </a:lnSpc>
            </a:pPr>
            <a:r>
              <a:rPr sz="1300" b="0" i="0">
                <a:solidFill>
                  <a:srgbClr val="5C5C61"/>
                </a:solidFill>
                <a:latin typeface="Titillium Web"/>
              </a:rPr>
              <a:t>Thesis §3.6 Materials; Appendix C.3</a:t>
            </a:r>
          </a:p>
        </p:txBody>
      </p:sp>
      <p:sp>
        <p:nvSpPr>
          <p:cNvPr id="15" name="Page"/>
          <p:cNvSpPr txBox="1"/>
          <p:nvPr/>
        </p:nvSpPr>
        <p:spPr>
          <a:xfrm>
            <a:off x="15453359" y="9710928"/>
            <a:ext cx="1828800" cy="347472"/>
          </a:xfrm>
          <a:prstGeom prst="rect">
            <a:avLst/>
          </a:prstGeom>
          <a:noFill/>
        </p:spPr>
        <p:txBody>
          <a:bodyPr wrap="square" lIns="45720" rIns="45720" anchor="t"/>
          <a:lstStyle/>
          <a:p>
            <a:pPr algn="r">
              <a:lnSpc>
                <a:spcPct val="100000"/>
              </a:lnSpc>
            </a:pPr>
            <a:r>
              <a:rPr sz="1300" b="0" i="0">
                <a:solidFill>
                  <a:srgbClr val="5C5C61"/>
                </a:solidFill>
                <a:latin typeface="Oswald"/>
              </a:rPr>
              <a:t>10</a:t>
            </a:r>
          </a:p>
        </p:txBody>
      </p:sp>
      <p:pic>
        <p:nvPicPr>
          <p:cNvPr id="16" name="!!photo" descr="1921326-0.475-0.50-0.50.jpg"/>
          <p:cNvPicPr>
            <a:picLocks noChangeAspect="1"/>
          </p:cNvPicPr>
          <p:nvPr/>
        </p:nvPicPr>
        <p:blipFill>
          <a:blip r:embed="rId3"/>
          <a:stretch>
            <a:fillRect/>
          </a:stretch>
        </p:blipFill>
        <p:spPr>
          <a:xfrm>
            <a:off x="13304520" y="1051560"/>
            <a:ext cx="3977639" cy="8366760"/>
          </a:xfrm>
          <a:prstGeom prst="roundRect">
            <a:avLst>
              <a:gd name="adj" fmla="val 8045"/>
            </a:avLst>
          </a:prstGeom>
          <a:effectLst>
            <a:outerShdw blurRad="279400" dist="114300" dir="2700000" algn="ctr" rotWithShape="0">
              <a:srgbClr val="0E0E10">
                <a:alpha val="70000"/>
              </a:srgbClr>
            </a:outerShdw>
          </a:effectLst>
        </p:spPr>
      </p:pic>
      <p:grpSp>
        <p:nvGrpSpPr>
          <p:cNvPr id="22" name="Card 117"/>
          <p:cNvGrpSpPr/>
          <p:nvPr/>
        </p:nvGrpSpPr>
        <p:grpSpPr>
          <a:xfrm>
            <a:off x="1005840" y="2606040"/>
            <a:ext cx="5806440" cy="2880360"/>
            <a:chOff x="1005840" y="2606040"/>
            <a:chExt cx="5806440" cy="2880360"/>
          </a:xfrm>
        </p:grpSpPr>
        <p:sp>
          <p:nvSpPr>
            <p:cNvPr id="17" name="Card light"/>
            <p:cNvSpPr/>
            <p:nvPr/>
          </p:nvSpPr>
          <p:spPr>
            <a:xfrm>
              <a:off x="1005840" y="2606040"/>
              <a:ext cx="5806440" cy="2880360"/>
            </a:xfrm>
            <a:prstGeom prst="roundRect">
              <a:avLst>
                <a:gd name="adj" fmla="val 8888"/>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Card"/>
            <p:cNvSpPr/>
            <p:nvPr/>
          </p:nvSpPr>
          <p:spPr>
            <a:xfrm>
              <a:off x="1005840" y="2606040"/>
              <a:ext cx="5806440" cy="2880360"/>
            </a:xfrm>
            <a:prstGeom prst="roundRect">
              <a:avLst>
                <a:gd name="adj" fmla="val 8888"/>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Card label"/>
            <p:cNvSpPr txBox="1"/>
            <p:nvPr/>
          </p:nvSpPr>
          <p:spPr>
            <a:xfrm>
              <a:off x="1298448" y="2880360"/>
              <a:ext cx="5221224" cy="347472"/>
            </a:xfrm>
            <a:prstGeom prst="rect">
              <a:avLst/>
            </a:prstGeom>
            <a:noFill/>
          </p:spPr>
          <p:txBody>
            <a:bodyPr wrap="square" lIns="45720" rIns="45720" anchor="t"/>
            <a:lstStyle/>
            <a:p>
              <a:pPr algn="l">
                <a:lnSpc>
                  <a:spcPct val="100000"/>
                </a:lnSpc>
              </a:pPr>
              <a:r>
                <a:rPr sz="1400" b="1" i="0">
                  <a:solidFill>
                    <a:srgbClr val="C1FF72"/>
                  </a:solidFill>
                  <a:latin typeface="Titillium Web"/>
                </a:rPr>
                <a:t>SOFTWARE</a:t>
              </a:r>
            </a:p>
          </p:txBody>
        </p:sp>
        <p:sp>
          <p:nvSpPr>
            <p:cNvPr id="20" name="Card title"/>
            <p:cNvSpPr txBox="1"/>
            <p:nvPr/>
          </p:nvSpPr>
          <p:spPr>
            <a:xfrm>
              <a:off x="1298448" y="3264408"/>
              <a:ext cx="5221224" cy="453643"/>
            </a:xfrm>
            <a:prstGeom prst="rect">
              <a:avLst/>
            </a:prstGeom>
            <a:noFill/>
          </p:spPr>
          <p:txBody>
            <a:bodyPr wrap="square" lIns="45720" rIns="45720" anchor="t"/>
            <a:lstStyle/>
            <a:p>
              <a:pPr algn="l">
                <a:lnSpc>
                  <a:spcPct val="100000"/>
                </a:lnSpc>
              </a:pPr>
              <a:r>
                <a:rPr sz="2300" b="0" i="0">
                  <a:solidFill>
                    <a:srgbClr val="EDEDED"/>
                  </a:solidFill>
                  <a:latin typeface="Oswald"/>
                </a:rPr>
                <a:t>TAURI 2 / RUST DESKTOP</a:t>
              </a:r>
            </a:p>
          </p:txBody>
        </p:sp>
        <p:sp>
          <p:nvSpPr>
            <p:cNvPr id="21" name="Card body"/>
            <p:cNvSpPr txBox="1"/>
            <p:nvPr/>
          </p:nvSpPr>
          <p:spPr>
            <a:xfrm>
              <a:off x="1298448" y="3754627"/>
              <a:ext cx="5221224" cy="1494028"/>
            </a:xfrm>
            <a:prstGeom prst="rect">
              <a:avLst/>
            </a:prstGeom>
            <a:noFill/>
          </p:spPr>
          <p:txBody>
            <a:bodyPr wrap="square" lIns="45720" rIns="45720" anchor="t"/>
            <a:lstStyle/>
            <a:p>
              <a:pPr algn="l">
                <a:lnSpc>
                  <a:spcPct val="98000"/>
                </a:lnSpc>
              </a:pPr>
              <a:r>
                <a:rPr sz="1750" b="0" i="0">
                  <a:solidFill>
                    <a:srgbClr val="BDBDC1"/>
                  </a:solidFill>
                  <a:latin typeface="Titillium Web"/>
                </a:rPr>
                <a:t>Node.js 24 + Express 4 backend · Python FastAPI on Hugging Face Spaces · React Native / Expo companion · Rust core, CLI and MCP</a:t>
              </a:r>
            </a:p>
          </p:txBody>
        </p:sp>
      </p:grpSp>
      <p:grpSp>
        <p:nvGrpSpPr>
          <p:cNvPr id="28" name="Card 118"/>
          <p:cNvGrpSpPr/>
          <p:nvPr/>
        </p:nvGrpSpPr>
        <p:grpSpPr>
          <a:xfrm>
            <a:off x="7132320" y="2606040"/>
            <a:ext cx="5806440" cy="2880360"/>
            <a:chOff x="7132320" y="2606040"/>
            <a:chExt cx="5806440" cy="2880360"/>
          </a:xfrm>
        </p:grpSpPr>
        <p:sp>
          <p:nvSpPr>
            <p:cNvPr id="23" name="Card light"/>
            <p:cNvSpPr/>
            <p:nvPr/>
          </p:nvSpPr>
          <p:spPr>
            <a:xfrm>
              <a:off x="7132320" y="2606040"/>
              <a:ext cx="5806440" cy="2880360"/>
            </a:xfrm>
            <a:prstGeom prst="roundRect">
              <a:avLst>
                <a:gd name="adj" fmla="val 8888"/>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Card"/>
            <p:cNvSpPr/>
            <p:nvPr/>
          </p:nvSpPr>
          <p:spPr>
            <a:xfrm>
              <a:off x="7132320" y="2606040"/>
              <a:ext cx="5806440" cy="2880360"/>
            </a:xfrm>
            <a:prstGeom prst="roundRect">
              <a:avLst>
                <a:gd name="adj" fmla="val 8888"/>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Card label"/>
            <p:cNvSpPr txBox="1"/>
            <p:nvPr/>
          </p:nvSpPr>
          <p:spPr>
            <a:xfrm>
              <a:off x="7424928" y="2880360"/>
              <a:ext cx="5221224" cy="347472"/>
            </a:xfrm>
            <a:prstGeom prst="rect">
              <a:avLst/>
            </a:prstGeom>
            <a:noFill/>
          </p:spPr>
          <p:txBody>
            <a:bodyPr wrap="square" lIns="45720" rIns="45720" anchor="t"/>
            <a:lstStyle/>
            <a:p>
              <a:pPr algn="l">
                <a:lnSpc>
                  <a:spcPct val="100000"/>
                </a:lnSpc>
              </a:pPr>
              <a:r>
                <a:rPr sz="1400" b="1" i="0">
                  <a:solidFill>
                    <a:srgbClr val="C1FF72"/>
                  </a:solidFill>
                  <a:latin typeface="Titillium Web"/>
                </a:rPr>
                <a:t>KEY LIBRARIES</a:t>
              </a:r>
            </a:p>
          </p:txBody>
        </p:sp>
        <p:sp>
          <p:nvSpPr>
            <p:cNvPr id="26" name="Card title"/>
            <p:cNvSpPr txBox="1"/>
            <p:nvPr/>
          </p:nvSpPr>
          <p:spPr>
            <a:xfrm>
              <a:off x="7424928" y="3264408"/>
              <a:ext cx="5221224" cy="453643"/>
            </a:xfrm>
            <a:prstGeom prst="rect">
              <a:avLst/>
            </a:prstGeom>
            <a:noFill/>
          </p:spPr>
          <p:txBody>
            <a:bodyPr wrap="square" lIns="45720" rIns="45720" anchor="t"/>
            <a:lstStyle/>
            <a:p>
              <a:pPr algn="l">
                <a:lnSpc>
                  <a:spcPct val="100000"/>
                </a:lnSpc>
              </a:pPr>
              <a:r>
                <a:rPr sz="2300" b="0" i="0">
                  <a:solidFill>
                    <a:srgbClr val="EDEDED"/>
                  </a:solidFill>
                  <a:latin typeface="Oswald"/>
                </a:rPr>
                <a:t>TRANSFORMERS 4.40+</a:t>
              </a:r>
            </a:p>
          </p:txBody>
        </p:sp>
        <p:sp>
          <p:nvSpPr>
            <p:cNvPr id="27" name="Card body"/>
            <p:cNvSpPr txBox="1"/>
            <p:nvPr/>
          </p:nvSpPr>
          <p:spPr>
            <a:xfrm>
              <a:off x="7424928" y="3754627"/>
              <a:ext cx="5221224" cy="1494028"/>
            </a:xfrm>
            <a:prstGeom prst="rect">
              <a:avLst/>
            </a:prstGeom>
            <a:noFill/>
          </p:spPr>
          <p:txBody>
            <a:bodyPr wrap="square" lIns="45720" rIns="45720" anchor="t"/>
            <a:lstStyle/>
            <a:p>
              <a:pPr algn="l">
                <a:lnSpc>
                  <a:spcPct val="98000"/>
                </a:lnSpc>
              </a:pPr>
              <a:r>
                <a:rPr sz="1750" b="0" i="0">
                  <a:solidFill>
                    <a:srgbClr val="BDBDC1"/>
                  </a:solidFill>
                  <a:latin typeface="Titillium Web"/>
                </a:rPr>
                <a:t>scikit-learn 1.8.0 · torch 2.2+ · llama-cpp-python 0.3.36 · huggingface_hub · pandas, NumPy · axios · node-appwrite</a:t>
              </a:r>
            </a:p>
          </p:txBody>
        </p:sp>
      </p:grpSp>
      <p:grpSp>
        <p:nvGrpSpPr>
          <p:cNvPr id="34" name="Card 119"/>
          <p:cNvGrpSpPr/>
          <p:nvPr/>
        </p:nvGrpSpPr>
        <p:grpSpPr>
          <a:xfrm>
            <a:off x="1005840" y="5669280"/>
            <a:ext cx="5806440" cy="2880360"/>
            <a:chOff x="1005840" y="5669280"/>
            <a:chExt cx="5806440" cy="2880360"/>
          </a:xfrm>
        </p:grpSpPr>
        <p:sp>
          <p:nvSpPr>
            <p:cNvPr id="29" name="Card light"/>
            <p:cNvSpPr/>
            <p:nvPr/>
          </p:nvSpPr>
          <p:spPr>
            <a:xfrm>
              <a:off x="1005840" y="5669280"/>
              <a:ext cx="5806440" cy="2880360"/>
            </a:xfrm>
            <a:prstGeom prst="roundRect">
              <a:avLst>
                <a:gd name="adj" fmla="val 8888"/>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0" name="Card"/>
            <p:cNvSpPr/>
            <p:nvPr/>
          </p:nvSpPr>
          <p:spPr>
            <a:xfrm>
              <a:off x="1005840" y="5669280"/>
              <a:ext cx="5806440" cy="2880360"/>
            </a:xfrm>
            <a:prstGeom prst="roundRect">
              <a:avLst>
                <a:gd name="adj" fmla="val 8888"/>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Card label"/>
            <p:cNvSpPr txBox="1"/>
            <p:nvPr/>
          </p:nvSpPr>
          <p:spPr>
            <a:xfrm>
              <a:off x="1298448" y="5943600"/>
              <a:ext cx="5221224" cy="347472"/>
            </a:xfrm>
            <a:prstGeom prst="rect">
              <a:avLst/>
            </a:prstGeom>
            <a:noFill/>
          </p:spPr>
          <p:txBody>
            <a:bodyPr wrap="square" lIns="45720" rIns="45720" anchor="t"/>
            <a:lstStyle/>
            <a:p>
              <a:pPr algn="l">
                <a:lnSpc>
                  <a:spcPct val="100000"/>
                </a:lnSpc>
              </a:pPr>
              <a:r>
                <a:rPr sz="1400" b="1" i="0">
                  <a:solidFill>
                    <a:srgbClr val="C1FF72"/>
                  </a:solidFill>
                  <a:latin typeface="Titillium Web"/>
                </a:rPr>
                <a:t>SERVICES</a:t>
              </a:r>
            </a:p>
          </p:txBody>
        </p:sp>
        <p:sp>
          <p:nvSpPr>
            <p:cNvPr id="32" name="Card title"/>
            <p:cNvSpPr txBox="1"/>
            <p:nvPr/>
          </p:nvSpPr>
          <p:spPr>
            <a:xfrm>
              <a:off x="1298448" y="6327648"/>
              <a:ext cx="5221224" cy="453643"/>
            </a:xfrm>
            <a:prstGeom prst="rect">
              <a:avLst/>
            </a:prstGeom>
            <a:noFill/>
          </p:spPr>
          <p:txBody>
            <a:bodyPr wrap="square" lIns="45720" rIns="45720" anchor="t"/>
            <a:lstStyle/>
            <a:p>
              <a:pPr algn="l">
                <a:lnSpc>
                  <a:spcPct val="100000"/>
                </a:lnSpc>
              </a:pPr>
              <a:r>
                <a:rPr sz="2300" b="0" i="0">
                  <a:solidFill>
                    <a:srgbClr val="EDEDED"/>
                  </a:solidFill>
                  <a:latin typeface="Oswald"/>
                </a:rPr>
                <a:t>HUGGING FACE SPACES</a:t>
              </a:r>
            </a:p>
          </p:txBody>
        </p:sp>
        <p:sp>
          <p:nvSpPr>
            <p:cNvPr id="33" name="Card body"/>
            <p:cNvSpPr txBox="1"/>
            <p:nvPr/>
          </p:nvSpPr>
          <p:spPr>
            <a:xfrm>
              <a:off x="1298448" y="6817868"/>
              <a:ext cx="5221224" cy="1494028"/>
            </a:xfrm>
            <a:prstGeom prst="rect">
              <a:avLst/>
            </a:prstGeom>
            <a:noFill/>
          </p:spPr>
          <p:txBody>
            <a:bodyPr wrap="square" lIns="45720" rIns="45720" anchor="t"/>
            <a:lstStyle/>
            <a:p>
              <a:pPr algn="l">
                <a:lnSpc>
                  <a:spcPct val="98000"/>
                </a:lnSpc>
              </a:pPr>
              <a:r>
                <a:rPr sz="1750" b="0" i="0">
                  <a:solidFill>
                    <a:srgbClr val="BDBDC1"/>
                  </a:solidFill>
                  <a:latin typeface="Titillium Web"/>
                </a:rPr>
                <a:t>MongoDB/Mongoose · Appwrite · AlienVault OTX · WebScrapper.live · Qwen3.5-2B GGUF via llama.cpp</a:t>
              </a:r>
            </a:p>
          </p:txBody>
        </p:sp>
      </p:grpSp>
      <p:grpSp>
        <p:nvGrpSpPr>
          <p:cNvPr id="40" name="Card 120"/>
          <p:cNvGrpSpPr/>
          <p:nvPr/>
        </p:nvGrpSpPr>
        <p:grpSpPr>
          <a:xfrm>
            <a:off x="7132320" y="5669280"/>
            <a:ext cx="5806440" cy="2880360"/>
            <a:chOff x="7132320" y="5669280"/>
            <a:chExt cx="5806440" cy="2880360"/>
          </a:xfrm>
        </p:grpSpPr>
        <p:sp>
          <p:nvSpPr>
            <p:cNvPr id="35" name="Card light"/>
            <p:cNvSpPr/>
            <p:nvPr/>
          </p:nvSpPr>
          <p:spPr>
            <a:xfrm>
              <a:off x="7132320" y="5669280"/>
              <a:ext cx="5806440" cy="2880360"/>
            </a:xfrm>
            <a:prstGeom prst="roundRect">
              <a:avLst>
                <a:gd name="adj" fmla="val 8888"/>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Card"/>
            <p:cNvSpPr/>
            <p:nvPr/>
          </p:nvSpPr>
          <p:spPr>
            <a:xfrm>
              <a:off x="7132320" y="5669280"/>
              <a:ext cx="5806440" cy="2880360"/>
            </a:xfrm>
            <a:prstGeom prst="roundRect">
              <a:avLst>
                <a:gd name="adj" fmla="val 8888"/>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Card label"/>
            <p:cNvSpPr txBox="1"/>
            <p:nvPr/>
          </p:nvSpPr>
          <p:spPr>
            <a:xfrm>
              <a:off x="7424928" y="5943600"/>
              <a:ext cx="5221224" cy="347472"/>
            </a:xfrm>
            <a:prstGeom prst="rect">
              <a:avLst/>
            </a:prstGeom>
            <a:noFill/>
          </p:spPr>
          <p:txBody>
            <a:bodyPr wrap="square" lIns="45720" rIns="45720" anchor="t"/>
            <a:lstStyle/>
            <a:p>
              <a:pPr algn="l">
                <a:lnSpc>
                  <a:spcPct val="100000"/>
                </a:lnSpc>
              </a:pPr>
              <a:r>
                <a:rPr sz="1400" b="1" i="0">
                  <a:solidFill>
                    <a:srgbClr val="C1FF72"/>
                  </a:solidFill>
                  <a:latin typeface="Titillium Web"/>
                </a:rPr>
                <a:t>DATA &amp; MODELS</a:t>
              </a:r>
            </a:p>
          </p:txBody>
        </p:sp>
        <p:sp>
          <p:nvSpPr>
            <p:cNvPr id="38" name="Card title"/>
            <p:cNvSpPr txBox="1"/>
            <p:nvPr/>
          </p:nvSpPr>
          <p:spPr>
            <a:xfrm>
              <a:off x="7424928" y="6327648"/>
              <a:ext cx="5221224" cy="453643"/>
            </a:xfrm>
            <a:prstGeom prst="rect">
              <a:avLst/>
            </a:prstGeom>
            <a:noFill/>
          </p:spPr>
          <p:txBody>
            <a:bodyPr wrap="square" lIns="45720" rIns="45720" anchor="t"/>
            <a:lstStyle/>
            <a:p>
              <a:pPr algn="l">
                <a:lnSpc>
                  <a:spcPct val="100000"/>
                </a:lnSpc>
              </a:pPr>
              <a:r>
                <a:rPr sz="2300" b="0" i="0">
                  <a:solidFill>
                    <a:srgbClr val="EDEDED"/>
                  </a:solidFill>
                  <a:latin typeface="Oswald"/>
                </a:rPr>
                <a:t>BERT MALWARE-URL-DETECT</a:t>
              </a:r>
            </a:p>
          </p:txBody>
        </p:sp>
        <p:sp>
          <p:nvSpPr>
            <p:cNvPr id="39" name="Card body"/>
            <p:cNvSpPr txBox="1"/>
            <p:nvPr/>
          </p:nvSpPr>
          <p:spPr>
            <a:xfrm>
              <a:off x="7424928" y="6817868"/>
              <a:ext cx="5221224" cy="1494028"/>
            </a:xfrm>
            <a:prstGeom prst="rect">
              <a:avLst/>
            </a:prstGeom>
            <a:noFill/>
          </p:spPr>
          <p:txBody>
            <a:bodyPr wrap="square" lIns="45720" rIns="45720" anchor="t"/>
            <a:lstStyle/>
            <a:p>
              <a:pPr algn="l">
                <a:lnSpc>
                  <a:spcPct val="98000"/>
                </a:lnSpc>
              </a:pPr>
              <a:r>
                <a:rPr sz="1750" b="0" i="0">
                  <a:solidFill>
                    <a:srgbClr val="BDBDC1"/>
                  </a:solidFill>
                  <a:latin typeface="Titillium Web"/>
                </a:rPr>
                <a:t>Qwen3.5-2B GGUF · MITRE ATT&amp;CK v15 · OTX pulses · public phishing, malware-URL, Tranco top-1M and web-attack corpora</a:t>
              </a:r>
            </a:p>
          </p:txBody>
        </p:sp>
      </p:grpSp>
      <p:grpSp>
        <p:nvGrpSpPr>
          <p:cNvPr id="44" name="Hardware 121"/>
          <p:cNvGrpSpPr/>
          <p:nvPr/>
        </p:nvGrpSpPr>
        <p:grpSpPr>
          <a:xfrm>
            <a:off x="1005840" y="8732520"/>
            <a:ext cx="11932920" cy="822960"/>
            <a:chOff x="1005840" y="8732520"/>
            <a:chExt cx="11932920" cy="822960"/>
          </a:xfrm>
        </p:grpSpPr>
        <p:sp>
          <p:nvSpPr>
            <p:cNvPr id="41" name="HW light"/>
            <p:cNvSpPr/>
            <p:nvPr/>
          </p:nvSpPr>
          <p:spPr>
            <a:xfrm>
              <a:off x="1005840" y="8732520"/>
              <a:ext cx="11932920" cy="822960"/>
            </a:xfrm>
            <a:prstGeom prst="roundRect">
              <a:avLst>
                <a:gd name="adj" fmla="val 5000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2" name="HW"/>
            <p:cNvSpPr/>
            <p:nvPr/>
          </p:nvSpPr>
          <p:spPr>
            <a:xfrm>
              <a:off x="1005840" y="8732520"/>
              <a:ext cx="11932920" cy="822960"/>
            </a:xfrm>
            <a:prstGeom prst="roundRect">
              <a:avLst>
                <a:gd name="adj" fmla="val 5000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3" name="HW text"/>
            <p:cNvSpPr txBox="1"/>
            <p:nvPr/>
          </p:nvSpPr>
          <p:spPr>
            <a:xfrm>
              <a:off x="1417320" y="8732520"/>
              <a:ext cx="11155680" cy="822960"/>
            </a:xfrm>
            <a:prstGeom prst="rect">
              <a:avLst/>
            </a:prstGeom>
            <a:noFill/>
          </p:spPr>
          <p:txBody>
            <a:bodyPr wrap="square" lIns="45720" rIns="45720" anchor="ctr"/>
            <a:lstStyle/>
            <a:p>
              <a:pPr algn="l">
                <a:lnSpc>
                  <a:spcPct val="100000"/>
                </a:lnSpc>
              </a:pPr>
              <a:r>
                <a:rPr sz="1800" b="0" i="0">
                  <a:solidFill>
                    <a:srgbClr val="C1FF72"/>
                  </a:solidFill>
                  <a:latin typeface="Oswald"/>
                </a:rPr>
                <a:t>Hardware   </a:t>
              </a:r>
              <a:r>
                <a:rPr sz="1800" b="0" i="0">
                  <a:solidFill>
                    <a:srgbClr val="BDBDC1"/>
                  </a:solidFill>
                  <a:latin typeface="Titillium Web"/>
                </a:rPr>
                <a:t>Original development: Apple-silicon MacBook, 16 GB RAM, macOS Sonoma 14.6</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anim calcmode="lin" valueType="num">
                                      <p:cBhvr>
                                        <p:cTn id="11" dur="500" fill="hold"/>
                                        <p:tgtEl>
                                          <p:spTgt spid="12"/>
                                        </p:tgtEl>
                                        <p:attrNameLst>
                                          <p:attrName>ppt_x</p:attrName>
                                        </p:attrNameLst>
                                      </p:cBhvr>
                                      <p:tavLst>
                                        <p:tav tm="0">
                                          <p:val>
                                            <p:strVal val="#ppt_x"/>
                                          </p:val>
                                        </p:tav>
                                        <p:tav tm="100000">
                                          <p:val>
                                            <p:strVal val="#ppt_x"/>
                                          </p:val>
                                        </p:tav>
                                      </p:tavLst>
                                    </p:anim>
                                    <p:anim calcmode="lin" valueType="num">
                                      <p:cBhvr>
                                        <p:cTn id="12" dur="450" decel="100000" fill="hold"/>
                                        <p:tgtEl>
                                          <p:spTgt spid="12"/>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par>
                          <p:cTn id="14" fill="hold">
                            <p:stCondLst>
                              <p:cond delay="10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1900"/>
                            </p:stCondLst>
                            <p:childTnLst>
                              <p:par>
                                <p:cTn id="19" presetID="2" presetClass="entr" presetSubtype="4" fill="hold" nodeType="after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additive="base">
                                        <p:cTn id="21" dur="500" fill="hold"/>
                                        <p:tgtEl>
                                          <p:spTgt spid="22"/>
                                        </p:tgtEl>
                                        <p:attrNameLst>
                                          <p:attrName>ppt_x</p:attrName>
                                        </p:attrNameLst>
                                      </p:cBhvr>
                                      <p:tavLst>
                                        <p:tav tm="0">
                                          <p:val>
                                            <p:strVal val="#ppt_x"/>
                                          </p:val>
                                        </p:tav>
                                        <p:tav tm="100000">
                                          <p:val>
                                            <p:strVal val="#ppt_x"/>
                                          </p:val>
                                        </p:tav>
                                      </p:tavLst>
                                    </p:anim>
                                    <p:anim calcmode="lin" valueType="num">
                                      <p:cBhvr additive="base">
                                        <p:cTn id="22" dur="500" fill="hold"/>
                                        <p:tgtEl>
                                          <p:spTgt spid="22"/>
                                        </p:tgtEl>
                                        <p:attrNameLst>
                                          <p:attrName>ppt_y</p:attrName>
                                        </p:attrNameLst>
                                      </p:cBhvr>
                                      <p:tavLst>
                                        <p:tav tm="0">
                                          <p:val>
                                            <p:strVal val="1+#ppt_h/2"/>
                                          </p:val>
                                        </p:tav>
                                        <p:tav tm="100000">
                                          <p:val>
                                            <p:strVal val="#ppt_y"/>
                                          </p:val>
                                        </p:tav>
                                      </p:tavLst>
                                    </p:anim>
                                  </p:childTnLst>
                                </p:cTn>
                              </p:par>
                            </p:childTnLst>
                          </p:cTn>
                        </p:par>
                        <p:par>
                          <p:cTn id="23" fill="hold">
                            <p:stCondLst>
                              <p:cond delay="2400"/>
                            </p:stCondLst>
                            <p:childTnLst>
                              <p:par>
                                <p:cTn id="24" presetID="2" presetClass="entr" presetSubtype="4" fill="hold" nodeType="afterEffect">
                                  <p:stCondLst>
                                    <p:cond delay="0"/>
                                  </p:stCondLst>
                                  <p:childTnLst>
                                    <p:set>
                                      <p:cBhvr>
                                        <p:cTn id="25" dur="1" fill="hold">
                                          <p:stCondLst>
                                            <p:cond delay="0"/>
                                          </p:stCondLst>
                                        </p:cTn>
                                        <p:tgtEl>
                                          <p:spTgt spid="28"/>
                                        </p:tgtEl>
                                        <p:attrNameLst>
                                          <p:attrName>style.visibility</p:attrName>
                                        </p:attrNameLst>
                                      </p:cBhvr>
                                      <p:to>
                                        <p:strVal val="visible"/>
                                      </p:to>
                                    </p:set>
                                    <p:anim calcmode="lin" valueType="num">
                                      <p:cBhvr additive="base">
                                        <p:cTn id="26" dur="500" fill="hold"/>
                                        <p:tgtEl>
                                          <p:spTgt spid="28"/>
                                        </p:tgtEl>
                                        <p:attrNameLst>
                                          <p:attrName>ppt_x</p:attrName>
                                        </p:attrNameLst>
                                      </p:cBhvr>
                                      <p:tavLst>
                                        <p:tav tm="0">
                                          <p:val>
                                            <p:strVal val="#ppt_x"/>
                                          </p:val>
                                        </p:tav>
                                        <p:tav tm="100000">
                                          <p:val>
                                            <p:strVal val="#ppt_x"/>
                                          </p:val>
                                        </p:tav>
                                      </p:tavLst>
                                    </p:anim>
                                    <p:anim calcmode="lin" valueType="num">
                                      <p:cBhvr additive="base">
                                        <p:cTn id="27" dur="500" fill="hold"/>
                                        <p:tgtEl>
                                          <p:spTgt spid="28"/>
                                        </p:tgtEl>
                                        <p:attrNameLst>
                                          <p:attrName>ppt_y</p:attrName>
                                        </p:attrNameLst>
                                      </p:cBhvr>
                                      <p:tavLst>
                                        <p:tav tm="0">
                                          <p:val>
                                            <p:strVal val="1+#ppt_h/2"/>
                                          </p:val>
                                        </p:tav>
                                        <p:tav tm="100000">
                                          <p:val>
                                            <p:strVal val="#ppt_y"/>
                                          </p:val>
                                        </p:tav>
                                      </p:tavLst>
                                    </p:anim>
                                  </p:childTnLst>
                                </p:cTn>
                              </p:par>
                            </p:childTnLst>
                          </p:cTn>
                        </p:par>
                        <p:par>
                          <p:cTn id="28" fill="hold">
                            <p:stCondLst>
                              <p:cond delay="2900"/>
                            </p:stCondLst>
                            <p:childTnLst>
                              <p:par>
                                <p:cTn id="29" presetID="2" presetClass="entr" presetSubtype="4" fill="hold" nodeType="after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additive="base">
                                        <p:cTn id="31" dur="500" fill="hold"/>
                                        <p:tgtEl>
                                          <p:spTgt spid="34"/>
                                        </p:tgtEl>
                                        <p:attrNameLst>
                                          <p:attrName>ppt_x</p:attrName>
                                        </p:attrNameLst>
                                      </p:cBhvr>
                                      <p:tavLst>
                                        <p:tav tm="0">
                                          <p:val>
                                            <p:strVal val="#ppt_x"/>
                                          </p:val>
                                        </p:tav>
                                        <p:tav tm="100000">
                                          <p:val>
                                            <p:strVal val="#ppt_x"/>
                                          </p:val>
                                        </p:tav>
                                      </p:tavLst>
                                    </p:anim>
                                    <p:anim calcmode="lin" valueType="num">
                                      <p:cBhvr additive="base">
                                        <p:cTn id="32" dur="500" fill="hold"/>
                                        <p:tgtEl>
                                          <p:spTgt spid="34"/>
                                        </p:tgtEl>
                                        <p:attrNameLst>
                                          <p:attrName>ppt_y</p:attrName>
                                        </p:attrNameLst>
                                      </p:cBhvr>
                                      <p:tavLst>
                                        <p:tav tm="0">
                                          <p:val>
                                            <p:strVal val="1+#ppt_h/2"/>
                                          </p:val>
                                        </p:tav>
                                        <p:tav tm="100000">
                                          <p:val>
                                            <p:strVal val="#ppt_y"/>
                                          </p:val>
                                        </p:tav>
                                      </p:tavLst>
                                    </p:anim>
                                  </p:childTnLst>
                                </p:cTn>
                              </p:par>
                            </p:childTnLst>
                          </p:cTn>
                        </p:par>
                        <p:par>
                          <p:cTn id="33" fill="hold">
                            <p:stCondLst>
                              <p:cond delay="3400"/>
                            </p:stCondLst>
                            <p:childTnLst>
                              <p:par>
                                <p:cTn id="34" presetID="2" presetClass="entr" presetSubtype="4" fill="hold" nodeType="afterEffect">
                                  <p:stCondLst>
                                    <p:cond delay="0"/>
                                  </p:stCondLst>
                                  <p:childTnLst>
                                    <p:set>
                                      <p:cBhvr>
                                        <p:cTn id="35" dur="1" fill="hold">
                                          <p:stCondLst>
                                            <p:cond delay="0"/>
                                          </p:stCondLst>
                                        </p:cTn>
                                        <p:tgtEl>
                                          <p:spTgt spid="40"/>
                                        </p:tgtEl>
                                        <p:attrNameLst>
                                          <p:attrName>style.visibility</p:attrName>
                                        </p:attrNameLst>
                                      </p:cBhvr>
                                      <p:to>
                                        <p:strVal val="visible"/>
                                      </p:to>
                                    </p:set>
                                    <p:anim calcmode="lin" valueType="num">
                                      <p:cBhvr additive="base">
                                        <p:cTn id="36" dur="500" fill="hold"/>
                                        <p:tgtEl>
                                          <p:spTgt spid="40"/>
                                        </p:tgtEl>
                                        <p:attrNameLst>
                                          <p:attrName>ppt_x</p:attrName>
                                        </p:attrNameLst>
                                      </p:cBhvr>
                                      <p:tavLst>
                                        <p:tav tm="0">
                                          <p:val>
                                            <p:strVal val="#ppt_x"/>
                                          </p:val>
                                        </p:tav>
                                        <p:tav tm="100000">
                                          <p:val>
                                            <p:strVal val="#ppt_x"/>
                                          </p:val>
                                        </p:tav>
                                      </p:tavLst>
                                    </p:anim>
                                    <p:anim calcmode="lin" valueType="num">
                                      <p:cBhvr additive="base">
                                        <p:cTn id="37" dur="500" fill="hold"/>
                                        <p:tgtEl>
                                          <p:spTgt spid="40"/>
                                        </p:tgtEl>
                                        <p:attrNameLst>
                                          <p:attrName>ppt_y</p:attrName>
                                        </p:attrNameLst>
                                      </p:cBhvr>
                                      <p:tavLst>
                                        <p:tav tm="0">
                                          <p:val>
                                            <p:strVal val="1+#ppt_h/2"/>
                                          </p:val>
                                        </p:tav>
                                        <p:tav tm="100000">
                                          <p:val>
                                            <p:strVal val="#ppt_y"/>
                                          </p:val>
                                        </p:tav>
                                      </p:tavLst>
                                    </p:anim>
                                  </p:childTnLst>
                                </p:cTn>
                              </p:par>
                            </p:childTnLst>
                          </p:cTn>
                        </p:par>
                        <p:par>
                          <p:cTn id="38" fill="hold">
                            <p:stCondLst>
                              <p:cond delay="3900"/>
                            </p:stCondLst>
                            <p:childTnLst>
                              <p:par>
                                <p:cTn id="39" presetID="22" presetClass="entr" presetSubtype="8" fill="hold" nodeType="after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wipe(left)">
                                      <p:cBhvr>
                                        <p:cTn id="41"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32325"/>
        </a:solidFill>
        <a:effectLst/>
      </p:bgPr>
    </p:bg>
    <p:spTree>
      <p:nvGrpSpPr>
        <p:cNvPr id="1" name=""/>
        <p:cNvGrpSpPr/>
        <p:nvPr/>
      </p:nvGrpSpPr>
      <p:grpSpPr>
        <a:xfrm>
          <a:off x="0" y="0"/>
          <a:ext cx="0" cy="0"/>
          <a:chOff x="0" y="0"/>
          <a:chExt cx="0" cy="0"/>
        </a:xfrm>
      </p:grpSpPr>
      <p:sp>
        <p:nvSpPr>
          <p:cNvPr id="2" name="!!seg8"/>
          <p:cNvSpPr/>
          <p:nvPr/>
        </p:nvSpPr>
        <p:spPr>
          <a:xfrm>
            <a:off x="16971264"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seg7"/>
          <p:cNvSpPr/>
          <p:nvPr/>
        </p:nvSpPr>
        <p:spPr>
          <a:xfrm>
            <a:off x="16568927"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seg6"/>
          <p:cNvSpPr/>
          <p:nvPr/>
        </p:nvSpPr>
        <p:spPr>
          <a:xfrm>
            <a:off x="15380207" y="566928"/>
            <a:ext cx="1097280" cy="118872"/>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seg5"/>
          <p:cNvSpPr/>
          <p:nvPr/>
        </p:nvSpPr>
        <p:spPr>
          <a:xfrm>
            <a:off x="14977871"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seg4"/>
          <p:cNvSpPr/>
          <p:nvPr/>
        </p:nvSpPr>
        <p:spPr>
          <a:xfrm>
            <a:off x="14575535"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eg3"/>
          <p:cNvSpPr/>
          <p:nvPr/>
        </p:nvSpPr>
        <p:spPr>
          <a:xfrm>
            <a:off x="14173199"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eg2"/>
          <p:cNvSpPr/>
          <p:nvPr/>
        </p:nvSpPr>
        <p:spPr>
          <a:xfrm>
            <a:off x="13770863"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seg1"/>
          <p:cNvSpPr/>
          <p:nvPr/>
        </p:nvSpPr>
        <p:spPr>
          <a:xfrm>
            <a:off x="1336852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egno"/>
          <p:cNvSpPr txBox="1"/>
          <p:nvPr/>
        </p:nvSpPr>
        <p:spPr>
          <a:xfrm>
            <a:off x="10808207" y="429768"/>
            <a:ext cx="2423160" cy="384048"/>
          </a:xfrm>
          <a:prstGeom prst="rect">
            <a:avLst/>
          </a:prstGeom>
          <a:noFill/>
        </p:spPr>
        <p:txBody>
          <a:bodyPr wrap="square" lIns="45720" rIns="45720" anchor="t"/>
          <a:lstStyle/>
          <a:p>
            <a:pPr algn="r">
              <a:lnSpc>
                <a:spcPct val="100000"/>
              </a:lnSpc>
            </a:pPr>
            <a:r>
              <a:rPr sz="1500" b="0" i="0">
                <a:solidFill>
                  <a:srgbClr val="8E8E93"/>
                </a:solidFill>
                <a:latin typeface="Oswald"/>
              </a:rPr>
              <a:t>06 / 08</a:t>
            </a:r>
          </a:p>
        </p:txBody>
      </p:sp>
      <p:sp>
        <p:nvSpPr>
          <p:cNvPr id="11" name="Kicker 122"/>
          <p:cNvSpPr txBox="1"/>
          <p:nvPr/>
        </p:nvSpPr>
        <p:spPr>
          <a:xfrm>
            <a:off x="1005840" y="457200"/>
            <a:ext cx="8229600" cy="411480"/>
          </a:xfrm>
          <a:prstGeom prst="rect">
            <a:avLst/>
          </a:prstGeom>
          <a:noFill/>
        </p:spPr>
        <p:txBody>
          <a:bodyPr wrap="square" lIns="45720" rIns="45720" anchor="t"/>
          <a:lstStyle/>
          <a:p>
            <a:pPr algn="l">
              <a:lnSpc>
                <a:spcPct val="100000"/>
              </a:lnSpc>
            </a:pPr>
            <a:r>
              <a:rPr sz="1600" b="1" i="0">
                <a:solidFill>
                  <a:srgbClr val="C1FF72"/>
                </a:solidFill>
                <a:latin typeface="Titillium Web"/>
              </a:rPr>
              <a:t>06  ·  METHODS AND MATERIALS USED  ·  4 OF 6</a:t>
            </a:r>
          </a:p>
        </p:txBody>
      </p:sp>
      <p:sp>
        <p:nvSpPr>
          <p:cNvPr id="12" name="Title 123"/>
          <p:cNvSpPr txBox="1"/>
          <p:nvPr/>
        </p:nvSpPr>
        <p:spPr>
          <a:xfrm>
            <a:off x="1005840" y="841248"/>
            <a:ext cx="11887200" cy="1051560"/>
          </a:xfrm>
          <a:prstGeom prst="rect">
            <a:avLst/>
          </a:prstGeom>
          <a:noFill/>
        </p:spPr>
        <p:txBody>
          <a:bodyPr wrap="square" lIns="45720" rIns="45720" anchor="t"/>
          <a:lstStyle/>
          <a:p>
            <a:pPr algn="l">
              <a:lnSpc>
                <a:spcPct val="100000"/>
              </a:lnSpc>
            </a:pPr>
            <a:r>
              <a:rPr sz="5400" b="0" i="0">
                <a:solidFill>
                  <a:srgbClr val="EDEDED"/>
                </a:solidFill>
                <a:latin typeface="Oswald"/>
              </a:rPr>
              <a:t>DEVELOPMENT &amp; CALIBRATION</a:t>
            </a:r>
          </a:p>
        </p:txBody>
      </p:sp>
      <p:sp>
        <p:nvSpPr>
          <p:cNvPr id="13" name="Subtitle 124"/>
          <p:cNvSpPr txBox="1"/>
          <p:nvPr/>
        </p:nvSpPr>
        <p:spPr>
          <a:xfrm>
            <a:off x="1005840" y="1828800"/>
            <a:ext cx="11887200" cy="502920"/>
          </a:xfrm>
          <a:prstGeom prst="rect">
            <a:avLst/>
          </a:prstGeom>
          <a:noFill/>
        </p:spPr>
        <p:txBody>
          <a:bodyPr wrap="square" lIns="45720" rIns="45720" anchor="t"/>
          <a:lstStyle/>
          <a:p>
            <a:pPr algn="l">
              <a:lnSpc>
                <a:spcPct val="100000"/>
              </a:lnSpc>
            </a:pPr>
            <a:r>
              <a:rPr sz="2100" b="0" i="0">
                <a:solidFill>
                  <a:srgbClr val="8E8E93"/>
                </a:solidFill>
                <a:latin typeface="Titillium Web"/>
              </a:rPr>
              <a:t>Seven deployable iterations, then calibration</a:t>
            </a:r>
          </a:p>
        </p:txBody>
      </p:sp>
      <p:sp>
        <p:nvSpPr>
          <p:cNvPr id="14" name="Source"/>
          <p:cNvSpPr txBox="1"/>
          <p:nvPr/>
        </p:nvSpPr>
        <p:spPr>
          <a:xfrm>
            <a:off x="1005840" y="9710928"/>
            <a:ext cx="14447520" cy="347472"/>
          </a:xfrm>
          <a:prstGeom prst="rect">
            <a:avLst/>
          </a:prstGeom>
          <a:noFill/>
        </p:spPr>
        <p:txBody>
          <a:bodyPr wrap="square" lIns="45720" rIns="45720" anchor="t"/>
          <a:lstStyle/>
          <a:p>
            <a:pPr algn="l">
              <a:lnSpc>
                <a:spcPct val="100000"/>
              </a:lnSpc>
            </a:pPr>
            <a:r>
              <a:rPr sz="1300" b="0" i="0">
                <a:solidFill>
                  <a:srgbClr val="5C5C61"/>
                </a:solidFill>
                <a:latin typeface="Titillium Web"/>
              </a:rPr>
              <a:t>Thesis §3.7 Methodology; Appendix A</a:t>
            </a:r>
          </a:p>
        </p:txBody>
      </p:sp>
      <p:sp>
        <p:nvSpPr>
          <p:cNvPr id="15" name="Page"/>
          <p:cNvSpPr txBox="1"/>
          <p:nvPr/>
        </p:nvSpPr>
        <p:spPr>
          <a:xfrm>
            <a:off x="15453359" y="9710928"/>
            <a:ext cx="1828800" cy="347472"/>
          </a:xfrm>
          <a:prstGeom prst="rect">
            <a:avLst/>
          </a:prstGeom>
          <a:noFill/>
        </p:spPr>
        <p:txBody>
          <a:bodyPr wrap="square" lIns="45720" rIns="45720" anchor="t"/>
          <a:lstStyle/>
          <a:p>
            <a:pPr algn="r">
              <a:lnSpc>
                <a:spcPct val="100000"/>
              </a:lnSpc>
            </a:pPr>
            <a:r>
              <a:rPr sz="1300" b="0" i="0">
                <a:solidFill>
                  <a:srgbClr val="5C5C61"/>
                </a:solidFill>
                <a:latin typeface="Oswald"/>
              </a:rPr>
              <a:t>11</a:t>
            </a:r>
          </a:p>
        </p:txBody>
      </p:sp>
      <p:pic>
        <p:nvPicPr>
          <p:cNvPr id="16" name="!!photo" descr="5935794-2.516-0.50-0.50.jpg"/>
          <p:cNvPicPr>
            <a:picLocks noChangeAspect="1"/>
          </p:cNvPicPr>
          <p:nvPr/>
        </p:nvPicPr>
        <p:blipFill>
          <a:blip r:embed="rId3"/>
          <a:stretch>
            <a:fillRect/>
          </a:stretch>
        </p:blipFill>
        <p:spPr>
          <a:xfrm>
            <a:off x="13716000" y="1051560"/>
            <a:ext cx="3566160" cy="1417320"/>
          </a:xfrm>
          <a:prstGeom prst="roundRect">
            <a:avLst>
              <a:gd name="adj" fmla="val 22580"/>
            </a:avLst>
          </a:prstGeom>
          <a:effectLst>
            <a:outerShdw blurRad="279400" dist="114300" dir="2700000" algn="ctr" rotWithShape="0">
              <a:srgbClr val="0E0E10">
                <a:alpha val="70000"/>
              </a:srgbClr>
            </a:outerShdw>
          </a:effectLst>
        </p:spPr>
      </p:pic>
      <p:cxnSp>
        <p:nvCxnSpPr>
          <p:cNvPr id="17" name="Track 125"/>
          <p:cNvCxnSpPr/>
          <p:nvPr/>
        </p:nvCxnSpPr>
        <p:spPr>
          <a:xfrm>
            <a:off x="2097894" y="3154680"/>
            <a:ext cx="14092211" cy="0"/>
          </a:xfrm>
          <a:prstGeom prst="line">
            <a:avLst/>
          </a:prstGeom>
          <a:ln w="31750">
            <a:solidFill>
              <a:srgbClr val="9BD14F"/>
            </a:solidFill>
          </a:ln>
        </p:spPr>
        <p:style>
          <a:lnRef idx="2">
            <a:schemeClr val="accent1"/>
          </a:lnRef>
          <a:fillRef idx="0">
            <a:schemeClr val="accent1"/>
          </a:fillRef>
          <a:effectRef idx="1">
            <a:schemeClr val="accent1"/>
          </a:effectRef>
          <a:fontRef idx="minor">
            <a:schemeClr val="tx1"/>
          </a:fontRef>
        </p:style>
      </p:cxnSp>
      <p:grpSp>
        <p:nvGrpSpPr>
          <p:cNvPr id="22" name="Iteration 126"/>
          <p:cNvGrpSpPr/>
          <p:nvPr/>
        </p:nvGrpSpPr>
        <p:grpSpPr>
          <a:xfrm>
            <a:off x="1005840" y="2770632"/>
            <a:ext cx="2184109" cy="2788920"/>
            <a:chOff x="1005840" y="2770632"/>
            <a:chExt cx="2184109" cy="2788920"/>
          </a:xfrm>
        </p:grpSpPr>
        <p:sp>
          <p:nvSpPr>
            <p:cNvPr id="18" name="It dot"/>
            <p:cNvSpPr/>
            <p:nvPr/>
          </p:nvSpPr>
          <p:spPr>
            <a:xfrm>
              <a:off x="1713846" y="2770632"/>
              <a:ext cx="768096" cy="768096"/>
            </a:xfrm>
            <a:prstGeom prst="ellipse">
              <a:avLst/>
            </a:prstGeom>
            <a:solidFill>
              <a:srgbClr val="2A2A2D"/>
            </a:solidFill>
            <a:ln w="15875">
              <a:solidFill>
                <a:srgbClr val="3A3A3D"/>
              </a:solidFill>
            </a:ln>
            <a:effectLst>
              <a:outerShdw blurRad="177800" dist="63500" dir="2700000" algn="ctr" rotWithShape="0">
                <a:srgbClr val="0E0E10">
                  <a:alpha val="70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It n"/>
            <p:cNvSpPr txBox="1"/>
            <p:nvPr/>
          </p:nvSpPr>
          <p:spPr>
            <a:xfrm>
              <a:off x="1713846" y="2770632"/>
              <a:ext cx="768096" cy="768096"/>
            </a:xfrm>
            <a:prstGeom prst="rect">
              <a:avLst/>
            </a:prstGeom>
            <a:noFill/>
          </p:spPr>
          <p:txBody>
            <a:bodyPr wrap="square" lIns="0" tIns="0" rIns="0" bIns="0" anchor="ctr"/>
            <a:lstStyle/>
            <a:p>
              <a:pPr algn="ctr">
                <a:lnSpc>
                  <a:spcPct val="100000"/>
                </a:lnSpc>
              </a:pPr>
              <a:r>
                <a:rPr sz="2600" b="0" i="0">
                  <a:solidFill>
                    <a:srgbClr val="C1FF72"/>
                  </a:solidFill>
                  <a:latin typeface="Oswald"/>
                </a:rPr>
                <a:t>1</a:t>
              </a:r>
            </a:p>
          </p:txBody>
        </p:sp>
        <p:sp>
          <p:nvSpPr>
            <p:cNvPr id="20" name="It title"/>
            <p:cNvSpPr txBox="1"/>
            <p:nvPr/>
          </p:nvSpPr>
          <p:spPr>
            <a:xfrm>
              <a:off x="1005840" y="3703320"/>
              <a:ext cx="2184109" cy="566928"/>
            </a:xfrm>
            <a:prstGeom prst="rect">
              <a:avLst/>
            </a:prstGeom>
            <a:noFill/>
          </p:spPr>
          <p:txBody>
            <a:bodyPr wrap="square" lIns="45720" rIns="45720" anchor="t"/>
            <a:lstStyle/>
            <a:p>
              <a:pPr algn="ctr">
                <a:lnSpc>
                  <a:spcPct val="95000"/>
                </a:lnSpc>
              </a:pPr>
              <a:r>
                <a:rPr sz="1850" b="0" i="0">
                  <a:solidFill>
                    <a:srgbClr val="EDEDED"/>
                  </a:solidFill>
                  <a:latin typeface="Oswald"/>
                </a:rPr>
                <a:t>FOUNDATION</a:t>
              </a:r>
            </a:p>
          </p:txBody>
        </p:sp>
        <p:sp>
          <p:nvSpPr>
            <p:cNvPr id="21" name="It text"/>
            <p:cNvSpPr txBox="1"/>
            <p:nvPr/>
          </p:nvSpPr>
          <p:spPr>
            <a:xfrm>
              <a:off x="1024128" y="4279392"/>
              <a:ext cx="2147533" cy="1280160"/>
            </a:xfrm>
            <a:prstGeom prst="rect">
              <a:avLst/>
            </a:prstGeom>
            <a:noFill/>
          </p:spPr>
          <p:txBody>
            <a:bodyPr wrap="square" lIns="45720" rIns="45720" anchor="t"/>
            <a:lstStyle/>
            <a:p>
              <a:pPr algn="ctr">
                <a:lnSpc>
                  <a:spcPct val="95000"/>
                </a:lnSpc>
              </a:pPr>
              <a:r>
                <a:rPr sz="1600" b="0" i="0">
                  <a:solidFill>
                    <a:srgbClr val="BDBDC1"/>
                  </a:solidFill>
                  <a:latin typeface="Titillium Web"/>
                </a:rPr>
                <a:t>repos, Heroku and Space, Appwrite, ML stub</a:t>
              </a:r>
            </a:p>
          </p:txBody>
        </p:sp>
      </p:grpSp>
      <p:grpSp>
        <p:nvGrpSpPr>
          <p:cNvPr id="27" name="Iteration 127"/>
          <p:cNvGrpSpPr/>
          <p:nvPr/>
        </p:nvGrpSpPr>
        <p:grpSpPr>
          <a:xfrm>
            <a:off x="3354541" y="2770632"/>
            <a:ext cx="2184109" cy="2788920"/>
            <a:chOff x="3354541" y="2770632"/>
            <a:chExt cx="2184109" cy="2788920"/>
          </a:xfrm>
        </p:grpSpPr>
        <p:sp>
          <p:nvSpPr>
            <p:cNvPr id="23" name="It dot"/>
            <p:cNvSpPr/>
            <p:nvPr/>
          </p:nvSpPr>
          <p:spPr>
            <a:xfrm>
              <a:off x="4062548" y="2770632"/>
              <a:ext cx="768096" cy="768096"/>
            </a:xfrm>
            <a:prstGeom prst="ellipse">
              <a:avLst/>
            </a:prstGeom>
            <a:solidFill>
              <a:srgbClr val="2A2A2D"/>
            </a:solidFill>
            <a:ln w="15875">
              <a:solidFill>
                <a:srgbClr val="3A3A3D"/>
              </a:solidFill>
            </a:ln>
            <a:effectLst>
              <a:outerShdw blurRad="177800" dist="63500" dir="2700000" algn="ctr" rotWithShape="0">
                <a:srgbClr val="0E0E10">
                  <a:alpha val="70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It n"/>
            <p:cNvSpPr txBox="1"/>
            <p:nvPr/>
          </p:nvSpPr>
          <p:spPr>
            <a:xfrm>
              <a:off x="4062548" y="2770632"/>
              <a:ext cx="768096" cy="768096"/>
            </a:xfrm>
            <a:prstGeom prst="rect">
              <a:avLst/>
            </a:prstGeom>
            <a:noFill/>
          </p:spPr>
          <p:txBody>
            <a:bodyPr wrap="square" lIns="0" tIns="0" rIns="0" bIns="0" anchor="ctr"/>
            <a:lstStyle/>
            <a:p>
              <a:pPr algn="ctr">
                <a:lnSpc>
                  <a:spcPct val="100000"/>
                </a:lnSpc>
              </a:pPr>
              <a:r>
                <a:rPr sz="2600" b="0" i="0">
                  <a:solidFill>
                    <a:srgbClr val="C1FF72"/>
                  </a:solidFill>
                  <a:latin typeface="Oswald"/>
                </a:rPr>
                <a:t>2</a:t>
              </a:r>
            </a:p>
          </p:txBody>
        </p:sp>
        <p:sp>
          <p:nvSpPr>
            <p:cNvPr id="25" name="It title"/>
            <p:cNvSpPr txBox="1"/>
            <p:nvPr/>
          </p:nvSpPr>
          <p:spPr>
            <a:xfrm>
              <a:off x="3354541" y="3703320"/>
              <a:ext cx="2184109" cy="566928"/>
            </a:xfrm>
            <a:prstGeom prst="rect">
              <a:avLst/>
            </a:prstGeom>
            <a:noFill/>
          </p:spPr>
          <p:txBody>
            <a:bodyPr wrap="square" lIns="45720" rIns="45720" anchor="t"/>
            <a:lstStyle/>
            <a:p>
              <a:pPr algn="ctr">
                <a:lnSpc>
                  <a:spcPct val="95000"/>
                </a:lnSpc>
              </a:pPr>
              <a:r>
                <a:rPr sz="1850" b="0" i="0">
                  <a:solidFill>
                    <a:srgbClr val="EDEDED"/>
                  </a:solidFill>
                  <a:latin typeface="Oswald"/>
                </a:rPr>
                <a:t>SINGLE CLASSIFIER</a:t>
              </a:r>
            </a:p>
          </p:txBody>
        </p:sp>
        <p:sp>
          <p:nvSpPr>
            <p:cNvPr id="26" name="It text"/>
            <p:cNvSpPr txBox="1"/>
            <p:nvPr/>
          </p:nvSpPr>
          <p:spPr>
            <a:xfrm>
              <a:off x="3372829" y="4279392"/>
              <a:ext cx="2147533" cy="1280160"/>
            </a:xfrm>
            <a:prstGeom prst="rect">
              <a:avLst/>
            </a:prstGeom>
            <a:noFill/>
          </p:spPr>
          <p:txBody>
            <a:bodyPr wrap="square" lIns="45720" rIns="45720" anchor="t"/>
            <a:lstStyle/>
            <a:p>
              <a:pPr algn="ctr">
                <a:lnSpc>
                  <a:spcPct val="95000"/>
                </a:lnSpc>
              </a:pPr>
              <a:r>
                <a:rPr sz="1600" b="0" i="0">
                  <a:solidFill>
                    <a:srgbClr val="BDBDC1"/>
                  </a:solidFill>
                  <a:latin typeface="Titillium Web"/>
                </a:rPr>
                <a:t>scraper → classifier → Gemini → alert</a:t>
              </a:r>
            </a:p>
          </p:txBody>
        </p:sp>
      </p:grpSp>
      <p:grpSp>
        <p:nvGrpSpPr>
          <p:cNvPr id="32" name="Iteration 128"/>
          <p:cNvGrpSpPr/>
          <p:nvPr/>
        </p:nvGrpSpPr>
        <p:grpSpPr>
          <a:xfrm>
            <a:off x="5703243" y="2770632"/>
            <a:ext cx="2184109" cy="2788920"/>
            <a:chOff x="5703243" y="2770632"/>
            <a:chExt cx="2184109" cy="2788920"/>
          </a:xfrm>
        </p:grpSpPr>
        <p:sp>
          <p:nvSpPr>
            <p:cNvPr id="28" name="It dot"/>
            <p:cNvSpPr/>
            <p:nvPr/>
          </p:nvSpPr>
          <p:spPr>
            <a:xfrm>
              <a:off x="6411250" y="2770632"/>
              <a:ext cx="768096" cy="768096"/>
            </a:xfrm>
            <a:prstGeom prst="ellipse">
              <a:avLst/>
            </a:prstGeom>
            <a:solidFill>
              <a:srgbClr val="C1FF72"/>
            </a:solidFill>
            <a:ln>
              <a:noFill/>
            </a:ln>
            <a:effectLst>
              <a:outerShdw blurRad="177800" dist="63500" dir="2700000" algn="ctr" rotWithShape="0">
                <a:srgbClr val="0E0E10">
                  <a:alpha val="70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9" name="It n"/>
            <p:cNvSpPr txBox="1"/>
            <p:nvPr/>
          </p:nvSpPr>
          <p:spPr>
            <a:xfrm>
              <a:off x="6411250" y="2770632"/>
              <a:ext cx="768096" cy="768096"/>
            </a:xfrm>
            <a:prstGeom prst="rect">
              <a:avLst/>
            </a:prstGeom>
            <a:noFill/>
          </p:spPr>
          <p:txBody>
            <a:bodyPr wrap="square" lIns="0" tIns="0" rIns="0" bIns="0" anchor="ctr"/>
            <a:lstStyle/>
            <a:p>
              <a:pPr algn="ctr">
                <a:lnSpc>
                  <a:spcPct val="100000"/>
                </a:lnSpc>
              </a:pPr>
              <a:r>
                <a:rPr sz="2600" b="0" i="0">
                  <a:solidFill>
                    <a:srgbClr val="232325"/>
                  </a:solidFill>
                  <a:latin typeface="Oswald"/>
                </a:rPr>
                <a:t>3</a:t>
              </a:r>
            </a:p>
          </p:txBody>
        </p:sp>
        <p:sp>
          <p:nvSpPr>
            <p:cNvPr id="30" name="It title"/>
            <p:cNvSpPr txBox="1"/>
            <p:nvPr/>
          </p:nvSpPr>
          <p:spPr>
            <a:xfrm>
              <a:off x="5703243" y="3703320"/>
              <a:ext cx="2184109" cy="566928"/>
            </a:xfrm>
            <a:prstGeom prst="rect">
              <a:avLst/>
            </a:prstGeom>
            <a:noFill/>
          </p:spPr>
          <p:txBody>
            <a:bodyPr wrap="square" lIns="45720" rIns="45720" anchor="t"/>
            <a:lstStyle/>
            <a:p>
              <a:pPr algn="ctr">
                <a:lnSpc>
                  <a:spcPct val="95000"/>
                </a:lnSpc>
              </a:pPr>
              <a:r>
                <a:rPr sz="1850" b="0" i="0">
                  <a:solidFill>
                    <a:srgbClr val="EDEDED"/>
                  </a:solidFill>
                  <a:latin typeface="Oswald"/>
                </a:rPr>
                <a:t>FALSE-POSITIVE FIX</a:t>
              </a:r>
            </a:p>
          </p:txBody>
        </p:sp>
        <p:sp>
          <p:nvSpPr>
            <p:cNvPr id="31" name="It text"/>
            <p:cNvSpPr txBox="1"/>
            <p:nvPr/>
          </p:nvSpPr>
          <p:spPr>
            <a:xfrm>
              <a:off x="5721531" y="4279392"/>
              <a:ext cx="2147533" cy="1280160"/>
            </a:xfrm>
            <a:prstGeom prst="rect">
              <a:avLst/>
            </a:prstGeom>
            <a:noFill/>
          </p:spPr>
          <p:txBody>
            <a:bodyPr wrap="square" lIns="45720" rIns="45720" anchor="t"/>
            <a:lstStyle/>
            <a:p>
              <a:pPr algn="ctr">
                <a:lnSpc>
                  <a:spcPct val="95000"/>
                </a:lnSpc>
              </a:pPr>
              <a:r>
                <a:rPr sz="1600" b="0" i="0">
                  <a:solidFill>
                    <a:srgbClr val="BDBDC1"/>
                  </a:solidFill>
                  <a:latin typeface="Titillium Web"/>
                </a:rPr>
                <a:t>+0.5 offset removed; model consensus</a:t>
              </a:r>
            </a:p>
          </p:txBody>
        </p:sp>
      </p:grpSp>
      <p:grpSp>
        <p:nvGrpSpPr>
          <p:cNvPr id="37" name="Iteration 129"/>
          <p:cNvGrpSpPr/>
          <p:nvPr/>
        </p:nvGrpSpPr>
        <p:grpSpPr>
          <a:xfrm>
            <a:off x="8051945" y="2770632"/>
            <a:ext cx="2184109" cy="2788920"/>
            <a:chOff x="8051945" y="2770632"/>
            <a:chExt cx="2184109" cy="2788920"/>
          </a:xfrm>
        </p:grpSpPr>
        <p:sp>
          <p:nvSpPr>
            <p:cNvPr id="33" name="It dot"/>
            <p:cNvSpPr/>
            <p:nvPr/>
          </p:nvSpPr>
          <p:spPr>
            <a:xfrm>
              <a:off x="8759952" y="2770632"/>
              <a:ext cx="768096" cy="768096"/>
            </a:xfrm>
            <a:prstGeom prst="ellipse">
              <a:avLst/>
            </a:prstGeom>
            <a:solidFill>
              <a:srgbClr val="2A2A2D"/>
            </a:solidFill>
            <a:ln w="15875">
              <a:solidFill>
                <a:srgbClr val="3A3A3D"/>
              </a:solidFill>
            </a:ln>
            <a:effectLst>
              <a:outerShdw blurRad="177800" dist="63500" dir="2700000" algn="ctr" rotWithShape="0">
                <a:srgbClr val="0E0E10">
                  <a:alpha val="70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4" name="It n"/>
            <p:cNvSpPr txBox="1"/>
            <p:nvPr/>
          </p:nvSpPr>
          <p:spPr>
            <a:xfrm>
              <a:off x="8759952" y="2770632"/>
              <a:ext cx="768096" cy="768096"/>
            </a:xfrm>
            <a:prstGeom prst="rect">
              <a:avLst/>
            </a:prstGeom>
            <a:noFill/>
          </p:spPr>
          <p:txBody>
            <a:bodyPr wrap="square" lIns="0" tIns="0" rIns="0" bIns="0" anchor="ctr"/>
            <a:lstStyle/>
            <a:p>
              <a:pPr algn="ctr">
                <a:lnSpc>
                  <a:spcPct val="100000"/>
                </a:lnSpc>
              </a:pPr>
              <a:r>
                <a:rPr sz="2600" b="0" i="0">
                  <a:solidFill>
                    <a:srgbClr val="C1FF72"/>
                  </a:solidFill>
                  <a:latin typeface="Oswald"/>
                </a:rPr>
                <a:t>4</a:t>
              </a:r>
            </a:p>
          </p:txBody>
        </p:sp>
        <p:sp>
          <p:nvSpPr>
            <p:cNvPr id="35" name="It title"/>
            <p:cNvSpPr txBox="1"/>
            <p:nvPr/>
          </p:nvSpPr>
          <p:spPr>
            <a:xfrm>
              <a:off x="8051945" y="3703320"/>
              <a:ext cx="2184109" cy="566928"/>
            </a:xfrm>
            <a:prstGeom prst="rect">
              <a:avLst/>
            </a:prstGeom>
            <a:noFill/>
          </p:spPr>
          <p:txBody>
            <a:bodyPr wrap="square" lIns="45720" rIns="45720" anchor="t"/>
            <a:lstStyle/>
            <a:p>
              <a:pPr algn="ctr">
                <a:lnSpc>
                  <a:spcPct val="95000"/>
                </a:lnSpc>
              </a:pPr>
              <a:r>
                <a:rPr sz="1850" b="0" i="0">
                  <a:solidFill>
                    <a:srgbClr val="EDEDED"/>
                  </a:solidFill>
                  <a:latin typeface="Oswald"/>
                </a:rPr>
                <a:t>SANDBOX</a:t>
              </a:r>
            </a:p>
          </p:txBody>
        </p:sp>
        <p:sp>
          <p:nvSpPr>
            <p:cNvPr id="36" name="It text"/>
            <p:cNvSpPr txBox="1"/>
            <p:nvPr/>
          </p:nvSpPr>
          <p:spPr>
            <a:xfrm>
              <a:off x="8070233" y="4279392"/>
              <a:ext cx="2147533" cy="1280160"/>
            </a:xfrm>
            <a:prstGeom prst="rect">
              <a:avLst/>
            </a:prstGeom>
            <a:noFill/>
          </p:spPr>
          <p:txBody>
            <a:bodyPr wrap="square" lIns="45720" rIns="45720" anchor="t"/>
            <a:lstStyle/>
            <a:p>
              <a:pPr algn="ctr">
                <a:lnSpc>
                  <a:spcPct val="95000"/>
                </a:lnSpc>
              </a:pPr>
              <a:r>
                <a:rPr sz="1600" b="0" i="0">
                  <a:solidFill>
                    <a:srgbClr val="BDBDC1"/>
                  </a:solidFill>
                  <a:latin typeface="Titillium Web"/>
                </a:rPr>
                <a:t>IOC extractor, MITRE mapper, evidence locker</a:t>
              </a:r>
            </a:p>
          </p:txBody>
        </p:sp>
      </p:grpSp>
      <p:grpSp>
        <p:nvGrpSpPr>
          <p:cNvPr id="42" name="Iteration 130"/>
          <p:cNvGrpSpPr/>
          <p:nvPr/>
        </p:nvGrpSpPr>
        <p:grpSpPr>
          <a:xfrm>
            <a:off x="10400646" y="2770632"/>
            <a:ext cx="2184109" cy="2788920"/>
            <a:chOff x="10400646" y="2770632"/>
            <a:chExt cx="2184109" cy="2788920"/>
          </a:xfrm>
        </p:grpSpPr>
        <p:sp>
          <p:nvSpPr>
            <p:cNvPr id="38" name="It dot"/>
            <p:cNvSpPr/>
            <p:nvPr/>
          </p:nvSpPr>
          <p:spPr>
            <a:xfrm>
              <a:off x="11108653" y="2770632"/>
              <a:ext cx="768096" cy="768096"/>
            </a:xfrm>
            <a:prstGeom prst="ellipse">
              <a:avLst/>
            </a:prstGeom>
            <a:solidFill>
              <a:srgbClr val="2A2A2D"/>
            </a:solidFill>
            <a:ln w="15875">
              <a:solidFill>
                <a:srgbClr val="3A3A3D"/>
              </a:solidFill>
            </a:ln>
            <a:effectLst>
              <a:outerShdw blurRad="177800" dist="63500" dir="2700000" algn="ctr" rotWithShape="0">
                <a:srgbClr val="0E0E10">
                  <a:alpha val="70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9" name="It n"/>
            <p:cNvSpPr txBox="1"/>
            <p:nvPr/>
          </p:nvSpPr>
          <p:spPr>
            <a:xfrm>
              <a:off x="11108653" y="2770632"/>
              <a:ext cx="768096" cy="768096"/>
            </a:xfrm>
            <a:prstGeom prst="rect">
              <a:avLst/>
            </a:prstGeom>
            <a:noFill/>
          </p:spPr>
          <p:txBody>
            <a:bodyPr wrap="square" lIns="0" tIns="0" rIns="0" bIns="0" anchor="ctr"/>
            <a:lstStyle/>
            <a:p>
              <a:pPr algn="ctr">
                <a:lnSpc>
                  <a:spcPct val="100000"/>
                </a:lnSpc>
              </a:pPr>
              <a:r>
                <a:rPr sz="2600" b="0" i="0">
                  <a:solidFill>
                    <a:srgbClr val="C1FF72"/>
                  </a:solidFill>
                  <a:latin typeface="Oswald"/>
                </a:rPr>
                <a:t>5</a:t>
              </a:r>
            </a:p>
          </p:txBody>
        </p:sp>
        <p:sp>
          <p:nvSpPr>
            <p:cNvPr id="40" name="It title"/>
            <p:cNvSpPr txBox="1"/>
            <p:nvPr/>
          </p:nvSpPr>
          <p:spPr>
            <a:xfrm>
              <a:off x="10400646" y="3703320"/>
              <a:ext cx="2184109" cy="566928"/>
            </a:xfrm>
            <a:prstGeom prst="rect">
              <a:avLst/>
            </a:prstGeom>
            <a:noFill/>
          </p:spPr>
          <p:txBody>
            <a:bodyPr wrap="square" lIns="45720" rIns="45720" anchor="t"/>
            <a:lstStyle/>
            <a:p>
              <a:pPr algn="ctr">
                <a:lnSpc>
                  <a:spcPct val="95000"/>
                </a:lnSpc>
              </a:pPr>
              <a:r>
                <a:rPr sz="1850" b="0" i="0">
                  <a:solidFill>
                    <a:srgbClr val="EDEDED"/>
                  </a:solidFill>
                  <a:latin typeface="Oswald"/>
                </a:rPr>
                <a:t>TRANSFORMERS</a:t>
              </a:r>
            </a:p>
          </p:txBody>
        </p:sp>
        <p:sp>
          <p:nvSpPr>
            <p:cNvPr id="41" name="It text"/>
            <p:cNvSpPr txBox="1"/>
            <p:nvPr/>
          </p:nvSpPr>
          <p:spPr>
            <a:xfrm>
              <a:off x="10418934" y="4279392"/>
              <a:ext cx="2147533" cy="1280160"/>
            </a:xfrm>
            <a:prstGeom prst="rect">
              <a:avLst/>
            </a:prstGeom>
            <a:noFill/>
          </p:spPr>
          <p:txBody>
            <a:bodyPr wrap="square" lIns="45720" rIns="45720" anchor="t"/>
            <a:lstStyle/>
            <a:p>
              <a:pPr algn="ctr">
                <a:lnSpc>
                  <a:spcPct val="95000"/>
                </a:lnSpc>
              </a:pPr>
              <a:r>
                <a:rPr sz="1600" b="0" i="0">
                  <a:solidFill>
                    <a:srgbClr val="BDBDC1"/>
                  </a:solidFill>
                  <a:latin typeface="Titillium Web"/>
                </a:rPr>
                <a:t>BERT URL classifier, entropy DGA</a:t>
              </a:r>
            </a:p>
          </p:txBody>
        </p:sp>
      </p:grpSp>
      <p:grpSp>
        <p:nvGrpSpPr>
          <p:cNvPr id="47" name="Iteration 131"/>
          <p:cNvGrpSpPr/>
          <p:nvPr/>
        </p:nvGrpSpPr>
        <p:grpSpPr>
          <a:xfrm>
            <a:off x="12749348" y="2770632"/>
            <a:ext cx="2184109" cy="2788920"/>
            <a:chOff x="12749348" y="2770632"/>
            <a:chExt cx="2184109" cy="2788920"/>
          </a:xfrm>
        </p:grpSpPr>
        <p:sp>
          <p:nvSpPr>
            <p:cNvPr id="43" name="It dot"/>
            <p:cNvSpPr/>
            <p:nvPr/>
          </p:nvSpPr>
          <p:spPr>
            <a:xfrm>
              <a:off x="13457355" y="2770632"/>
              <a:ext cx="768096" cy="768096"/>
            </a:xfrm>
            <a:prstGeom prst="ellipse">
              <a:avLst/>
            </a:prstGeom>
            <a:solidFill>
              <a:srgbClr val="2A2A2D"/>
            </a:solidFill>
            <a:ln w="15875">
              <a:solidFill>
                <a:srgbClr val="3A3A3D"/>
              </a:solidFill>
            </a:ln>
            <a:effectLst>
              <a:outerShdw blurRad="177800" dist="63500" dir="2700000" algn="ctr" rotWithShape="0">
                <a:srgbClr val="0E0E10">
                  <a:alpha val="70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4" name="It n"/>
            <p:cNvSpPr txBox="1"/>
            <p:nvPr/>
          </p:nvSpPr>
          <p:spPr>
            <a:xfrm>
              <a:off x="13457355" y="2770632"/>
              <a:ext cx="768096" cy="768096"/>
            </a:xfrm>
            <a:prstGeom prst="rect">
              <a:avLst/>
            </a:prstGeom>
            <a:noFill/>
          </p:spPr>
          <p:txBody>
            <a:bodyPr wrap="square" lIns="0" tIns="0" rIns="0" bIns="0" anchor="ctr"/>
            <a:lstStyle/>
            <a:p>
              <a:pPr algn="ctr">
                <a:lnSpc>
                  <a:spcPct val="100000"/>
                </a:lnSpc>
              </a:pPr>
              <a:r>
                <a:rPr sz="2600" b="0" i="0">
                  <a:solidFill>
                    <a:srgbClr val="C1FF72"/>
                  </a:solidFill>
                  <a:latin typeface="Oswald"/>
                </a:rPr>
                <a:t>6</a:t>
              </a:r>
            </a:p>
          </p:txBody>
        </p:sp>
        <p:sp>
          <p:nvSpPr>
            <p:cNvPr id="45" name="It title"/>
            <p:cNvSpPr txBox="1"/>
            <p:nvPr/>
          </p:nvSpPr>
          <p:spPr>
            <a:xfrm>
              <a:off x="12749348" y="3703320"/>
              <a:ext cx="2184109" cy="566928"/>
            </a:xfrm>
            <a:prstGeom prst="rect">
              <a:avLst/>
            </a:prstGeom>
            <a:noFill/>
          </p:spPr>
          <p:txBody>
            <a:bodyPr wrap="square" lIns="45720" rIns="45720" anchor="t"/>
            <a:lstStyle/>
            <a:p>
              <a:pPr algn="ctr">
                <a:lnSpc>
                  <a:spcPct val="95000"/>
                </a:lnSpc>
              </a:pPr>
              <a:r>
                <a:rPr sz="1850" b="0" i="0">
                  <a:solidFill>
                    <a:srgbClr val="EDEDED"/>
                  </a:solidFill>
                  <a:latin typeface="Oswald"/>
                </a:rPr>
                <a:t>AGENTIC DAG</a:t>
              </a:r>
            </a:p>
          </p:txBody>
        </p:sp>
        <p:sp>
          <p:nvSpPr>
            <p:cNvPr id="46" name="It text"/>
            <p:cNvSpPr txBox="1"/>
            <p:nvPr/>
          </p:nvSpPr>
          <p:spPr>
            <a:xfrm>
              <a:off x="12767636" y="4279392"/>
              <a:ext cx="2147533" cy="1280160"/>
            </a:xfrm>
            <a:prstGeom prst="rect">
              <a:avLst/>
            </a:prstGeom>
            <a:noFill/>
          </p:spPr>
          <p:txBody>
            <a:bodyPr wrap="square" lIns="45720" rIns="45720" anchor="t"/>
            <a:lstStyle/>
            <a:p>
              <a:pPr algn="ctr">
                <a:lnSpc>
                  <a:spcPct val="95000"/>
                </a:lnSpc>
              </a:pPr>
              <a:r>
                <a:rPr sz="1600" b="0" i="0">
                  <a:solidFill>
                    <a:srgbClr val="BDBDC1"/>
                  </a:solidFill>
                  <a:latin typeface="Titillium Web"/>
                </a:rPr>
                <a:t>eight agents, memory, LLM fallback</a:t>
              </a:r>
            </a:p>
          </p:txBody>
        </p:sp>
      </p:grpSp>
      <p:grpSp>
        <p:nvGrpSpPr>
          <p:cNvPr id="52" name="Iteration 132"/>
          <p:cNvGrpSpPr/>
          <p:nvPr/>
        </p:nvGrpSpPr>
        <p:grpSpPr>
          <a:xfrm>
            <a:off x="15098050" y="2770632"/>
            <a:ext cx="2184109" cy="2788920"/>
            <a:chOff x="15098050" y="2770632"/>
            <a:chExt cx="2184109" cy="2788920"/>
          </a:xfrm>
        </p:grpSpPr>
        <p:sp>
          <p:nvSpPr>
            <p:cNvPr id="48" name="It dot"/>
            <p:cNvSpPr/>
            <p:nvPr/>
          </p:nvSpPr>
          <p:spPr>
            <a:xfrm>
              <a:off x="15806057" y="2770632"/>
              <a:ext cx="768096" cy="768096"/>
            </a:xfrm>
            <a:prstGeom prst="ellipse">
              <a:avLst/>
            </a:prstGeom>
            <a:solidFill>
              <a:srgbClr val="2A2A2D"/>
            </a:solidFill>
            <a:ln w="15875">
              <a:solidFill>
                <a:srgbClr val="3A3A3D"/>
              </a:solidFill>
            </a:ln>
            <a:effectLst>
              <a:outerShdw blurRad="177800" dist="63500" dir="2700000" algn="ctr" rotWithShape="0">
                <a:srgbClr val="0E0E10">
                  <a:alpha val="70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9" name="It n"/>
            <p:cNvSpPr txBox="1"/>
            <p:nvPr/>
          </p:nvSpPr>
          <p:spPr>
            <a:xfrm>
              <a:off x="15806057" y="2770632"/>
              <a:ext cx="768096" cy="768096"/>
            </a:xfrm>
            <a:prstGeom prst="rect">
              <a:avLst/>
            </a:prstGeom>
            <a:noFill/>
          </p:spPr>
          <p:txBody>
            <a:bodyPr wrap="square" lIns="0" tIns="0" rIns="0" bIns="0" anchor="ctr"/>
            <a:lstStyle/>
            <a:p>
              <a:pPr algn="ctr">
                <a:lnSpc>
                  <a:spcPct val="100000"/>
                </a:lnSpc>
              </a:pPr>
              <a:r>
                <a:rPr sz="2600" b="0" i="0">
                  <a:solidFill>
                    <a:srgbClr val="C1FF72"/>
                  </a:solidFill>
                  <a:latin typeface="Oswald"/>
                </a:rPr>
                <a:t>7</a:t>
              </a:r>
            </a:p>
          </p:txBody>
        </p:sp>
        <p:sp>
          <p:nvSpPr>
            <p:cNvPr id="50" name="It title"/>
            <p:cNvSpPr txBox="1"/>
            <p:nvPr/>
          </p:nvSpPr>
          <p:spPr>
            <a:xfrm>
              <a:off x="15098050" y="3703320"/>
              <a:ext cx="2184109" cy="566928"/>
            </a:xfrm>
            <a:prstGeom prst="rect">
              <a:avLst/>
            </a:prstGeom>
            <a:noFill/>
          </p:spPr>
          <p:txBody>
            <a:bodyPr wrap="square" lIns="45720" rIns="45720" anchor="t"/>
            <a:lstStyle/>
            <a:p>
              <a:pPr algn="ctr">
                <a:lnSpc>
                  <a:spcPct val="95000"/>
                </a:lnSpc>
              </a:pPr>
              <a:r>
                <a:rPr sz="1850" b="0" i="0">
                  <a:solidFill>
                    <a:srgbClr val="EDEDED"/>
                  </a:solidFill>
                  <a:latin typeface="Oswald"/>
                </a:rPr>
                <a:t>UI INTEGRATION</a:t>
              </a:r>
            </a:p>
          </p:txBody>
        </p:sp>
        <p:sp>
          <p:nvSpPr>
            <p:cNvPr id="51" name="It text"/>
            <p:cNvSpPr txBox="1"/>
            <p:nvPr/>
          </p:nvSpPr>
          <p:spPr>
            <a:xfrm>
              <a:off x="15116338" y="4279392"/>
              <a:ext cx="2147533" cy="1280160"/>
            </a:xfrm>
            <a:prstGeom prst="rect">
              <a:avLst/>
            </a:prstGeom>
            <a:noFill/>
          </p:spPr>
          <p:txBody>
            <a:bodyPr wrap="square" lIns="45720" rIns="45720" anchor="t"/>
            <a:lstStyle/>
            <a:p>
              <a:pPr algn="ctr">
                <a:lnSpc>
                  <a:spcPct val="95000"/>
                </a:lnSpc>
              </a:pPr>
              <a:r>
                <a:rPr sz="1600" b="0" i="0">
                  <a:solidFill>
                    <a:srgbClr val="BDBDC1"/>
                  </a:solidFill>
                  <a:latin typeface="Titillium Web"/>
                </a:rPr>
                <a:t>desktop polling, agent grid, dashboard</a:t>
              </a:r>
            </a:p>
          </p:txBody>
        </p:sp>
      </p:grpSp>
      <p:grpSp>
        <p:nvGrpSpPr>
          <p:cNvPr id="58" name="Card 133"/>
          <p:cNvGrpSpPr/>
          <p:nvPr/>
        </p:nvGrpSpPr>
        <p:grpSpPr>
          <a:xfrm>
            <a:off x="1005840" y="5715000"/>
            <a:ext cx="5212080" cy="3703320"/>
            <a:chOff x="1005840" y="5715000"/>
            <a:chExt cx="5212080" cy="3703320"/>
          </a:xfrm>
        </p:grpSpPr>
        <p:sp>
          <p:nvSpPr>
            <p:cNvPr id="53" name="Card light"/>
            <p:cNvSpPr/>
            <p:nvPr/>
          </p:nvSpPr>
          <p:spPr>
            <a:xfrm>
              <a:off x="1005840" y="5715000"/>
              <a:ext cx="5212080" cy="3703320"/>
            </a:xfrm>
            <a:prstGeom prst="roundRect">
              <a:avLst>
                <a:gd name="adj" fmla="val 6913"/>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4" name="Card"/>
            <p:cNvSpPr/>
            <p:nvPr/>
          </p:nvSpPr>
          <p:spPr>
            <a:xfrm>
              <a:off x="1005840" y="5715000"/>
              <a:ext cx="5212080" cy="3703320"/>
            </a:xfrm>
            <a:prstGeom prst="roundRect">
              <a:avLst>
                <a:gd name="adj" fmla="val 6913"/>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5" name="Card label"/>
            <p:cNvSpPr txBox="1"/>
            <p:nvPr/>
          </p:nvSpPr>
          <p:spPr>
            <a:xfrm>
              <a:off x="1298448" y="5989320"/>
              <a:ext cx="4626864" cy="347472"/>
            </a:xfrm>
            <a:prstGeom prst="rect">
              <a:avLst/>
            </a:prstGeom>
            <a:noFill/>
          </p:spPr>
          <p:txBody>
            <a:bodyPr wrap="square" lIns="45720" rIns="45720" anchor="t"/>
            <a:lstStyle/>
            <a:p>
              <a:pPr algn="l">
                <a:lnSpc>
                  <a:spcPct val="100000"/>
                </a:lnSpc>
              </a:pPr>
              <a:r>
                <a:rPr sz="1400" b="1" i="0">
                  <a:solidFill>
                    <a:srgbClr val="C1FF72"/>
                  </a:solidFill>
                  <a:latin typeface="Titillium Web"/>
                </a:rPr>
                <a:t>CALIBRATION 1</a:t>
              </a:r>
            </a:p>
          </p:txBody>
        </p:sp>
        <p:sp>
          <p:nvSpPr>
            <p:cNvPr id="56" name="Card title"/>
            <p:cNvSpPr txBox="1"/>
            <p:nvPr/>
          </p:nvSpPr>
          <p:spPr>
            <a:xfrm>
              <a:off x="1298448" y="6373368"/>
              <a:ext cx="4626864" cy="453643"/>
            </a:xfrm>
            <a:prstGeom prst="rect">
              <a:avLst/>
            </a:prstGeom>
            <a:noFill/>
          </p:spPr>
          <p:txBody>
            <a:bodyPr wrap="square" lIns="45720" rIns="45720" anchor="t"/>
            <a:lstStyle/>
            <a:p>
              <a:pPr algn="l">
                <a:lnSpc>
                  <a:spcPct val="100000"/>
                </a:lnSpc>
              </a:pPr>
              <a:r>
                <a:rPr sz="2300" b="0" i="0">
                  <a:solidFill>
                    <a:srgbClr val="EDEDED"/>
                  </a:solidFill>
                  <a:latin typeface="Oswald"/>
                </a:rPr>
                <a:t>RISK-SCORE CALIBRATION</a:t>
              </a:r>
            </a:p>
          </p:txBody>
        </p:sp>
        <p:sp>
          <p:nvSpPr>
            <p:cNvPr id="57" name="Card body"/>
            <p:cNvSpPr txBox="1"/>
            <p:nvPr/>
          </p:nvSpPr>
          <p:spPr>
            <a:xfrm>
              <a:off x="1298448" y="6863588"/>
              <a:ext cx="4626864" cy="2316988"/>
            </a:xfrm>
            <a:prstGeom prst="rect">
              <a:avLst/>
            </a:prstGeom>
            <a:noFill/>
          </p:spPr>
          <p:txBody>
            <a:bodyPr wrap="square" lIns="45720" rIns="45720" anchor="t"/>
            <a:lstStyle/>
            <a:p>
              <a:pPr algn="l">
                <a:lnSpc>
                  <a:spcPct val="98000"/>
                </a:lnSpc>
              </a:pPr>
              <a:r>
                <a:rPr sz="1800" b="0" i="0">
                  <a:solidFill>
                    <a:srgbClr val="BDBDC1"/>
                  </a:solidFill>
                  <a:latin typeface="Titillium Web"/>
                </a:rPr>
                <a:t>7 researcher-labelled URLs, from google.com to paypa1-secure-login.tk; the +0.5 offset removed and thresholds adjusted. A development check, not held-out evidence.</a:t>
              </a:r>
            </a:p>
          </p:txBody>
        </p:sp>
      </p:grpSp>
      <p:grpSp>
        <p:nvGrpSpPr>
          <p:cNvPr id="64" name="Card 134"/>
          <p:cNvGrpSpPr/>
          <p:nvPr/>
        </p:nvGrpSpPr>
        <p:grpSpPr>
          <a:xfrm>
            <a:off x="6537960" y="5715000"/>
            <a:ext cx="5212080" cy="3703320"/>
            <a:chOff x="6537960" y="5715000"/>
            <a:chExt cx="5212080" cy="3703320"/>
          </a:xfrm>
        </p:grpSpPr>
        <p:sp>
          <p:nvSpPr>
            <p:cNvPr id="59" name="Card light"/>
            <p:cNvSpPr/>
            <p:nvPr/>
          </p:nvSpPr>
          <p:spPr>
            <a:xfrm>
              <a:off x="6537960" y="5715000"/>
              <a:ext cx="5212080" cy="3703320"/>
            </a:xfrm>
            <a:prstGeom prst="roundRect">
              <a:avLst>
                <a:gd name="adj" fmla="val 6913"/>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0" name="Card"/>
            <p:cNvSpPr/>
            <p:nvPr/>
          </p:nvSpPr>
          <p:spPr>
            <a:xfrm>
              <a:off x="6537960" y="5715000"/>
              <a:ext cx="5212080" cy="3703320"/>
            </a:xfrm>
            <a:prstGeom prst="roundRect">
              <a:avLst>
                <a:gd name="adj" fmla="val 6913"/>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1" name="Card label"/>
            <p:cNvSpPr txBox="1"/>
            <p:nvPr/>
          </p:nvSpPr>
          <p:spPr>
            <a:xfrm>
              <a:off x="6830568" y="5989320"/>
              <a:ext cx="4626864" cy="347472"/>
            </a:xfrm>
            <a:prstGeom prst="rect">
              <a:avLst/>
            </a:prstGeom>
            <a:noFill/>
          </p:spPr>
          <p:txBody>
            <a:bodyPr wrap="square" lIns="45720" rIns="45720" anchor="t"/>
            <a:lstStyle/>
            <a:p>
              <a:pPr algn="l">
                <a:lnSpc>
                  <a:spcPct val="100000"/>
                </a:lnSpc>
              </a:pPr>
              <a:r>
                <a:rPr sz="1400" b="1" i="0">
                  <a:solidFill>
                    <a:srgbClr val="C1FF72"/>
                  </a:solidFill>
                  <a:latin typeface="Titillium Web"/>
                </a:rPr>
                <a:t>CALIBRATION 2</a:t>
              </a:r>
            </a:p>
          </p:txBody>
        </p:sp>
        <p:sp>
          <p:nvSpPr>
            <p:cNvPr id="62" name="Card title"/>
            <p:cNvSpPr txBox="1"/>
            <p:nvPr/>
          </p:nvSpPr>
          <p:spPr>
            <a:xfrm>
              <a:off x="6830568" y="6373368"/>
              <a:ext cx="4626864" cy="453643"/>
            </a:xfrm>
            <a:prstGeom prst="rect">
              <a:avLst/>
            </a:prstGeom>
            <a:noFill/>
          </p:spPr>
          <p:txBody>
            <a:bodyPr wrap="square" lIns="45720" rIns="45720" anchor="t"/>
            <a:lstStyle/>
            <a:p>
              <a:pPr algn="l">
                <a:lnSpc>
                  <a:spcPct val="100000"/>
                </a:lnSpc>
              </a:pPr>
              <a:r>
                <a:rPr sz="2300" b="0" i="0">
                  <a:solidFill>
                    <a:srgbClr val="EDEDED"/>
                  </a:solidFill>
                  <a:latin typeface="Oswald"/>
                </a:rPr>
                <a:t>DGA HEURISTIC CALIBRATION</a:t>
              </a:r>
            </a:p>
          </p:txBody>
        </p:sp>
        <p:sp>
          <p:nvSpPr>
            <p:cNvPr id="63" name="Card body"/>
            <p:cNvSpPr txBox="1"/>
            <p:nvPr/>
          </p:nvSpPr>
          <p:spPr>
            <a:xfrm>
              <a:off x="6830568" y="6863588"/>
              <a:ext cx="4626864" cy="2316988"/>
            </a:xfrm>
            <a:prstGeom prst="rect">
              <a:avLst/>
            </a:prstGeom>
            <a:noFill/>
          </p:spPr>
          <p:txBody>
            <a:bodyPr wrap="square" lIns="45720" rIns="45720" anchor="t"/>
            <a:lstStyle/>
            <a:p>
              <a:pPr algn="l">
                <a:lnSpc>
                  <a:spcPct val="98000"/>
                </a:lnSpc>
              </a:pPr>
              <a:r>
                <a:rPr sz="1800" b="0" i="0">
                  <a:solidFill>
                    <a:srgbClr val="BDBDC1"/>
                  </a:solidFill>
                  <a:latin typeface="Titillium Web"/>
                </a:rPr>
                <a:t>30 legitimate and generated-looking domains; empirical threshold 0.45 on entropy and character patterns.</a:t>
              </a:r>
            </a:p>
          </p:txBody>
        </p:sp>
      </p:grpSp>
      <p:grpSp>
        <p:nvGrpSpPr>
          <p:cNvPr id="70" name="Card 135"/>
          <p:cNvGrpSpPr/>
          <p:nvPr/>
        </p:nvGrpSpPr>
        <p:grpSpPr>
          <a:xfrm>
            <a:off x="12070080" y="5715000"/>
            <a:ext cx="5212080" cy="3703320"/>
            <a:chOff x="12070080" y="5715000"/>
            <a:chExt cx="5212080" cy="3703320"/>
          </a:xfrm>
        </p:grpSpPr>
        <p:sp>
          <p:nvSpPr>
            <p:cNvPr id="65" name="Card light"/>
            <p:cNvSpPr/>
            <p:nvPr/>
          </p:nvSpPr>
          <p:spPr>
            <a:xfrm>
              <a:off x="12070080" y="5715000"/>
              <a:ext cx="5212080" cy="3703320"/>
            </a:xfrm>
            <a:prstGeom prst="roundRect">
              <a:avLst>
                <a:gd name="adj" fmla="val 6913"/>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6" name="Card"/>
            <p:cNvSpPr/>
            <p:nvPr/>
          </p:nvSpPr>
          <p:spPr>
            <a:xfrm>
              <a:off x="12070080" y="5715000"/>
              <a:ext cx="5212080" cy="3703320"/>
            </a:xfrm>
            <a:prstGeom prst="roundRect">
              <a:avLst>
                <a:gd name="adj" fmla="val 6913"/>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7" name="Card label"/>
            <p:cNvSpPr txBox="1"/>
            <p:nvPr/>
          </p:nvSpPr>
          <p:spPr>
            <a:xfrm>
              <a:off x="12362688" y="5989320"/>
              <a:ext cx="4626864" cy="347472"/>
            </a:xfrm>
            <a:prstGeom prst="rect">
              <a:avLst/>
            </a:prstGeom>
            <a:noFill/>
          </p:spPr>
          <p:txBody>
            <a:bodyPr wrap="square" lIns="45720" rIns="45720" anchor="t"/>
            <a:lstStyle/>
            <a:p>
              <a:pPr algn="l">
                <a:lnSpc>
                  <a:spcPct val="100000"/>
                </a:lnSpc>
              </a:pPr>
              <a:r>
                <a:rPr sz="1400" b="1" i="0">
                  <a:solidFill>
                    <a:srgbClr val="C1FF72"/>
                  </a:solidFill>
                  <a:latin typeface="Titillium Web"/>
                </a:rPr>
                <a:t>CALIBRATION 3</a:t>
              </a:r>
            </a:p>
          </p:txBody>
        </p:sp>
        <p:sp>
          <p:nvSpPr>
            <p:cNvPr id="68" name="Card title"/>
            <p:cNvSpPr txBox="1"/>
            <p:nvPr/>
          </p:nvSpPr>
          <p:spPr>
            <a:xfrm>
              <a:off x="12362688" y="6373368"/>
              <a:ext cx="4626864" cy="453643"/>
            </a:xfrm>
            <a:prstGeom prst="rect">
              <a:avLst/>
            </a:prstGeom>
            <a:noFill/>
          </p:spPr>
          <p:txBody>
            <a:bodyPr wrap="square" lIns="45720" rIns="45720" anchor="t"/>
            <a:lstStyle/>
            <a:p>
              <a:pPr algn="l">
                <a:lnSpc>
                  <a:spcPct val="100000"/>
                </a:lnSpc>
              </a:pPr>
              <a:r>
                <a:rPr sz="2300" b="0" i="0">
                  <a:solidFill>
                    <a:srgbClr val="EDEDED"/>
                  </a:solidFill>
                  <a:latin typeface="Oswald"/>
                </a:rPr>
                <a:t>LLM FALLBACK VERIFICATION</a:t>
              </a:r>
            </a:p>
          </p:txBody>
        </p:sp>
        <p:sp>
          <p:nvSpPr>
            <p:cNvPr id="69" name="Card body"/>
            <p:cNvSpPr txBox="1"/>
            <p:nvPr/>
          </p:nvSpPr>
          <p:spPr>
            <a:xfrm>
              <a:off x="12362688" y="6863588"/>
              <a:ext cx="4626864" cy="2316988"/>
            </a:xfrm>
            <a:prstGeom prst="rect">
              <a:avLst/>
            </a:prstGeom>
            <a:noFill/>
          </p:spPr>
          <p:txBody>
            <a:bodyPr wrap="square" lIns="45720" rIns="45720" anchor="t"/>
            <a:lstStyle/>
            <a:p>
              <a:pPr algn="l">
                <a:lnSpc>
                  <a:spcPct val="98000"/>
                </a:lnSpc>
              </a:pPr>
              <a:r>
                <a:rPr sz="1800" b="0" i="0">
                  <a:solidFill>
                    <a:srgbClr val="BDBDC1"/>
                  </a:solidFill>
                  <a:latin typeface="Titillium Web"/>
                </a:rPr>
                <a:t>Gemini exhaustion → Mistral fallback → rule-based response, each exercised in the prototype.</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anim calcmode="lin" valueType="num">
                                      <p:cBhvr>
                                        <p:cTn id="11" dur="500" fill="hold"/>
                                        <p:tgtEl>
                                          <p:spTgt spid="12"/>
                                        </p:tgtEl>
                                        <p:attrNameLst>
                                          <p:attrName>ppt_x</p:attrName>
                                        </p:attrNameLst>
                                      </p:cBhvr>
                                      <p:tavLst>
                                        <p:tav tm="0">
                                          <p:val>
                                            <p:strVal val="#ppt_x"/>
                                          </p:val>
                                        </p:tav>
                                        <p:tav tm="100000">
                                          <p:val>
                                            <p:strVal val="#ppt_x"/>
                                          </p:val>
                                        </p:tav>
                                      </p:tavLst>
                                    </p:anim>
                                    <p:anim calcmode="lin" valueType="num">
                                      <p:cBhvr>
                                        <p:cTn id="12" dur="450" decel="100000" fill="hold"/>
                                        <p:tgtEl>
                                          <p:spTgt spid="12"/>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par>
                          <p:cTn id="14" fill="hold">
                            <p:stCondLst>
                              <p:cond delay="17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2450"/>
                            </p:stCondLst>
                            <p:childTnLst>
                              <p:par>
                                <p:cTn id="19" presetID="22" presetClass="entr" presetSubtype="8"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left)">
                                      <p:cBhvr>
                                        <p:cTn id="21" dur="500"/>
                                        <p:tgtEl>
                                          <p:spTgt spid="17"/>
                                        </p:tgtEl>
                                      </p:cBhvr>
                                    </p:animEffect>
                                  </p:childTnLst>
                                </p:cTn>
                              </p:par>
                            </p:childTnLst>
                          </p:cTn>
                        </p:par>
                        <p:par>
                          <p:cTn id="22" fill="hold">
                            <p:stCondLst>
                              <p:cond delay="2950"/>
                            </p:stCondLst>
                            <p:childTnLst>
                              <p:par>
                                <p:cTn id="23" presetID="37" presetClass="entr" presetSubtype="0" fill="hold"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300"/>
                                        <p:tgtEl>
                                          <p:spTgt spid="22"/>
                                        </p:tgtEl>
                                      </p:cBhvr>
                                    </p:animEffect>
                                    <p:anim calcmode="lin" valueType="num">
                                      <p:cBhvr>
                                        <p:cTn id="26" dur="300" fill="hold"/>
                                        <p:tgtEl>
                                          <p:spTgt spid="22"/>
                                        </p:tgtEl>
                                        <p:attrNameLst>
                                          <p:attrName>ppt_x</p:attrName>
                                        </p:attrNameLst>
                                      </p:cBhvr>
                                      <p:tavLst>
                                        <p:tav tm="0">
                                          <p:val>
                                            <p:strVal val="#ppt_x"/>
                                          </p:val>
                                        </p:tav>
                                        <p:tav tm="100000">
                                          <p:val>
                                            <p:strVal val="#ppt_x"/>
                                          </p:val>
                                        </p:tav>
                                      </p:tavLst>
                                    </p:anim>
                                    <p:anim calcmode="lin" valueType="num">
                                      <p:cBhvr>
                                        <p:cTn id="27" dur="270" decel="100000" fill="hold"/>
                                        <p:tgtEl>
                                          <p:spTgt spid="22"/>
                                        </p:tgtEl>
                                        <p:attrNameLst>
                                          <p:attrName>ppt_y</p:attrName>
                                        </p:attrNameLst>
                                      </p:cBhvr>
                                      <p:tavLst>
                                        <p:tav tm="0">
                                          <p:val>
                                            <p:strVal val="#ppt_y+1"/>
                                          </p:val>
                                        </p:tav>
                                        <p:tav tm="100000">
                                          <p:val>
                                            <p:strVal val="#ppt_y-.03"/>
                                          </p:val>
                                        </p:tav>
                                      </p:tavLst>
                                    </p:anim>
                                    <p:anim calcmode="lin" valueType="num">
                                      <p:cBhvr>
                                        <p:cTn id="28" dur="30" accel="100000" fill="hold">
                                          <p:stCondLst>
                                            <p:cond delay="270"/>
                                          </p:stCondLst>
                                        </p:cTn>
                                        <p:tgtEl>
                                          <p:spTgt spid="22"/>
                                        </p:tgtEl>
                                        <p:attrNameLst>
                                          <p:attrName>ppt_y</p:attrName>
                                        </p:attrNameLst>
                                      </p:cBhvr>
                                      <p:tavLst>
                                        <p:tav tm="0">
                                          <p:val>
                                            <p:strVal val="#ppt_y-.03"/>
                                          </p:val>
                                        </p:tav>
                                        <p:tav tm="100000">
                                          <p:val>
                                            <p:strVal val="#ppt_y"/>
                                          </p:val>
                                        </p:tav>
                                      </p:tavLst>
                                    </p:anim>
                                  </p:childTnLst>
                                </p:cTn>
                              </p:par>
                            </p:childTnLst>
                          </p:cTn>
                        </p:par>
                        <p:par>
                          <p:cTn id="29" fill="hold">
                            <p:stCondLst>
                              <p:cond delay="3250"/>
                            </p:stCondLst>
                            <p:childTnLst>
                              <p:par>
                                <p:cTn id="30" presetID="37" presetClass="entr" presetSubtype="0" fill="hold" nodeType="after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300"/>
                                        <p:tgtEl>
                                          <p:spTgt spid="27"/>
                                        </p:tgtEl>
                                      </p:cBhvr>
                                    </p:animEffect>
                                    <p:anim calcmode="lin" valueType="num">
                                      <p:cBhvr>
                                        <p:cTn id="33" dur="300" fill="hold"/>
                                        <p:tgtEl>
                                          <p:spTgt spid="27"/>
                                        </p:tgtEl>
                                        <p:attrNameLst>
                                          <p:attrName>ppt_x</p:attrName>
                                        </p:attrNameLst>
                                      </p:cBhvr>
                                      <p:tavLst>
                                        <p:tav tm="0">
                                          <p:val>
                                            <p:strVal val="#ppt_x"/>
                                          </p:val>
                                        </p:tav>
                                        <p:tav tm="100000">
                                          <p:val>
                                            <p:strVal val="#ppt_x"/>
                                          </p:val>
                                        </p:tav>
                                      </p:tavLst>
                                    </p:anim>
                                    <p:anim calcmode="lin" valueType="num">
                                      <p:cBhvr>
                                        <p:cTn id="34" dur="270" decel="100000" fill="hold"/>
                                        <p:tgtEl>
                                          <p:spTgt spid="27"/>
                                        </p:tgtEl>
                                        <p:attrNameLst>
                                          <p:attrName>ppt_y</p:attrName>
                                        </p:attrNameLst>
                                      </p:cBhvr>
                                      <p:tavLst>
                                        <p:tav tm="0">
                                          <p:val>
                                            <p:strVal val="#ppt_y+1"/>
                                          </p:val>
                                        </p:tav>
                                        <p:tav tm="100000">
                                          <p:val>
                                            <p:strVal val="#ppt_y-.03"/>
                                          </p:val>
                                        </p:tav>
                                      </p:tavLst>
                                    </p:anim>
                                    <p:anim calcmode="lin" valueType="num">
                                      <p:cBhvr>
                                        <p:cTn id="35" dur="30" accel="100000" fill="hold">
                                          <p:stCondLst>
                                            <p:cond delay="270"/>
                                          </p:stCondLst>
                                        </p:cTn>
                                        <p:tgtEl>
                                          <p:spTgt spid="27"/>
                                        </p:tgtEl>
                                        <p:attrNameLst>
                                          <p:attrName>ppt_y</p:attrName>
                                        </p:attrNameLst>
                                      </p:cBhvr>
                                      <p:tavLst>
                                        <p:tav tm="0">
                                          <p:val>
                                            <p:strVal val="#ppt_y-.03"/>
                                          </p:val>
                                        </p:tav>
                                        <p:tav tm="100000">
                                          <p:val>
                                            <p:strVal val="#ppt_y"/>
                                          </p:val>
                                        </p:tav>
                                      </p:tavLst>
                                    </p:anim>
                                  </p:childTnLst>
                                </p:cTn>
                              </p:par>
                            </p:childTnLst>
                          </p:cTn>
                        </p:par>
                        <p:par>
                          <p:cTn id="36" fill="hold">
                            <p:stCondLst>
                              <p:cond delay="3550"/>
                            </p:stCondLst>
                            <p:childTnLst>
                              <p:par>
                                <p:cTn id="37" presetID="37" presetClass="entr" presetSubtype="0" fill="hold" nodeType="after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300"/>
                                        <p:tgtEl>
                                          <p:spTgt spid="32"/>
                                        </p:tgtEl>
                                      </p:cBhvr>
                                    </p:animEffect>
                                    <p:anim calcmode="lin" valueType="num">
                                      <p:cBhvr>
                                        <p:cTn id="40" dur="300" fill="hold"/>
                                        <p:tgtEl>
                                          <p:spTgt spid="32"/>
                                        </p:tgtEl>
                                        <p:attrNameLst>
                                          <p:attrName>ppt_x</p:attrName>
                                        </p:attrNameLst>
                                      </p:cBhvr>
                                      <p:tavLst>
                                        <p:tav tm="0">
                                          <p:val>
                                            <p:strVal val="#ppt_x"/>
                                          </p:val>
                                        </p:tav>
                                        <p:tav tm="100000">
                                          <p:val>
                                            <p:strVal val="#ppt_x"/>
                                          </p:val>
                                        </p:tav>
                                      </p:tavLst>
                                    </p:anim>
                                    <p:anim calcmode="lin" valueType="num">
                                      <p:cBhvr>
                                        <p:cTn id="41" dur="270" decel="100000" fill="hold"/>
                                        <p:tgtEl>
                                          <p:spTgt spid="32"/>
                                        </p:tgtEl>
                                        <p:attrNameLst>
                                          <p:attrName>ppt_y</p:attrName>
                                        </p:attrNameLst>
                                      </p:cBhvr>
                                      <p:tavLst>
                                        <p:tav tm="0">
                                          <p:val>
                                            <p:strVal val="#ppt_y+1"/>
                                          </p:val>
                                        </p:tav>
                                        <p:tav tm="100000">
                                          <p:val>
                                            <p:strVal val="#ppt_y-.03"/>
                                          </p:val>
                                        </p:tav>
                                      </p:tavLst>
                                    </p:anim>
                                    <p:anim calcmode="lin" valueType="num">
                                      <p:cBhvr>
                                        <p:cTn id="42" dur="30" accel="100000" fill="hold">
                                          <p:stCondLst>
                                            <p:cond delay="270"/>
                                          </p:stCondLst>
                                        </p:cTn>
                                        <p:tgtEl>
                                          <p:spTgt spid="32"/>
                                        </p:tgtEl>
                                        <p:attrNameLst>
                                          <p:attrName>ppt_y</p:attrName>
                                        </p:attrNameLst>
                                      </p:cBhvr>
                                      <p:tavLst>
                                        <p:tav tm="0">
                                          <p:val>
                                            <p:strVal val="#ppt_y-.03"/>
                                          </p:val>
                                        </p:tav>
                                        <p:tav tm="100000">
                                          <p:val>
                                            <p:strVal val="#ppt_y"/>
                                          </p:val>
                                        </p:tav>
                                      </p:tavLst>
                                    </p:anim>
                                  </p:childTnLst>
                                </p:cTn>
                              </p:par>
                            </p:childTnLst>
                          </p:cTn>
                        </p:par>
                        <p:par>
                          <p:cTn id="43" fill="hold">
                            <p:stCondLst>
                              <p:cond delay="3850"/>
                            </p:stCondLst>
                            <p:childTnLst>
                              <p:par>
                                <p:cTn id="44" presetID="37" presetClass="entr" presetSubtype="0" fill="hold" nodeType="after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300"/>
                                        <p:tgtEl>
                                          <p:spTgt spid="37"/>
                                        </p:tgtEl>
                                      </p:cBhvr>
                                    </p:animEffect>
                                    <p:anim calcmode="lin" valueType="num">
                                      <p:cBhvr>
                                        <p:cTn id="47" dur="300" fill="hold"/>
                                        <p:tgtEl>
                                          <p:spTgt spid="37"/>
                                        </p:tgtEl>
                                        <p:attrNameLst>
                                          <p:attrName>ppt_x</p:attrName>
                                        </p:attrNameLst>
                                      </p:cBhvr>
                                      <p:tavLst>
                                        <p:tav tm="0">
                                          <p:val>
                                            <p:strVal val="#ppt_x"/>
                                          </p:val>
                                        </p:tav>
                                        <p:tav tm="100000">
                                          <p:val>
                                            <p:strVal val="#ppt_x"/>
                                          </p:val>
                                        </p:tav>
                                      </p:tavLst>
                                    </p:anim>
                                    <p:anim calcmode="lin" valueType="num">
                                      <p:cBhvr>
                                        <p:cTn id="48" dur="270" decel="100000" fill="hold"/>
                                        <p:tgtEl>
                                          <p:spTgt spid="37"/>
                                        </p:tgtEl>
                                        <p:attrNameLst>
                                          <p:attrName>ppt_y</p:attrName>
                                        </p:attrNameLst>
                                      </p:cBhvr>
                                      <p:tavLst>
                                        <p:tav tm="0">
                                          <p:val>
                                            <p:strVal val="#ppt_y+1"/>
                                          </p:val>
                                        </p:tav>
                                        <p:tav tm="100000">
                                          <p:val>
                                            <p:strVal val="#ppt_y-.03"/>
                                          </p:val>
                                        </p:tav>
                                      </p:tavLst>
                                    </p:anim>
                                    <p:anim calcmode="lin" valueType="num">
                                      <p:cBhvr>
                                        <p:cTn id="49" dur="30" accel="100000" fill="hold">
                                          <p:stCondLst>
                                            <p:cond delay="270"/>
                                          </p:stCondLst>
                                        </p:cTn>
                                        <p:tgtEl>
                                          <p:spTgt spid="37"/>
                                        </p:tgtEl>
                                        <p:attrNameLst>
                                          <p:attrName>ppt_y</p:attrName>
                                        </p:attrNameLst>
                                      </p:cBhvr>
                                      <p:tavLst>
                                        <p:tav tm="0">
                                          <p:val>
                                            <p:strVal val="#ppt_y-.03"/>
                                          </p:val>
                                        </p:tav>
                                        <p:tav tm="100000">
                                          <p:val>
                                            <p:strVal val="#ppt_y"/>
                                          </p:val>
                                        </p:tav>
                                      </p:tavLst>
                                    </p:anim>
                                  </p:childTnLst>
                                </p:cTn>
                              </p:par>
                            </p:childTnLst>
                          </p:cTn>
                        </p:par>
                        <p:par>
                          <p:cTn id="50" fill="hold">
                            <p:stCondLst>
                              <p:cond delay="4150"/>
                            </p:stCondLst>
                            <p:childTnLst>
                              <p:par>
                                <p:cTn id="51" presetID="37" presetClass="entr" presetSubtype="0" fill="hold" nodeType="afterEffect">
                                  <p:stCondLst>
                                    <p:cond delay="0"/>
                                  </p:stCondLst>
                                  <p:childTnLst>
                                    <p:set>
                                      <p:cBhvr>
                                        <p:cTn id="52" dur="1" fill="hold">
                                          <p:stCondLst>
                                            <p:cond delay="0"/>
                                          </p:stCondLst>
                                        </p:cTn>
                                        <p:tgtEl>
                                          <p:spTgt spid="42"/>
                                        </p:tgtEl>
                                        <p:attrNameLst>
                                          <p:attrName>style.visibility</p:attrName>
                                        </p:attrNameLst>
                                      </p:cBhvr>
                                      <p:to>
                                        <p:strVal val="visible"/>
                                      </p:to>
                                    </p:set>
                                    <p:animEffect transition="in" filter="fade">
                                      <p:cBhvr>
                                        <p:cTn id="53" dur="300"/>
                                        <p:tgtEl>
                                          <p:spTgt spid="42"/>
                                        </p:tgtEl>
                                      </p:cBhvr>
                                    </p:animEffect>
                                    <p:anim calcmode="lin" valueType="num">
                                      <p:cBhvr>
                                        <p:cTn id="54" dur="300" fill="hold"/>
                                        <p:tgtEl>
                                          <p:spTgt spid="42"/>
                                        </p:tgtEl>
                                        <p:attrNameLst>
                                          <p:attrName>ppt_x</p:attrName>
                                        </p:attrNameLst>
                                      </p:cBhvr>
                                      <p:tavLst>
                                        <p:tav tm="0">
                                          <p:val>
                                            <p:strVal val="#ppt_x"/>
                                          </p:val>
                                        </p:tav>
                                        <p:tav tm="100000">
                                          <p:val>
                                            <p:strVal val="#ppt_x"/>
                                          </p:val>
                                        </p:tav>
                                      </p:tavLst>
                                    </p:anim>
                                    <p:anim calcmode="lin" valueType="num">
                                      <p:cBhvr>
                                        <p:cTn id="55" dur="270" decel="100000" fill="hold"/>
                                        <p:tgtEl>
                                          <p:spTgt spid="42"/>
                                        </p:tgtEl>
                                        <p:attrNameLst>
                                          <p:attrName>ppt_y</p:attrName>
                                        </p:attrNameLst>
                                      </p:cBhvr>
                                      <p:tavLst>
                                        <p:tav tm="0">
                                          <p:val>
                                            <p:strVal val="#ppt_y+1"/>
                                          </p:val>
                                        </p:tav>
                                        <p:tav tm="100000">
                                          <p:val>
                                            <p:strVal val="#ppt_y-.03"/>
                                          </p:val>
                                        </p:tav>
                                      </p:tavLst>
                                    </p:anim>
                                    <p:anim calcmode="lin" valueType="num">
                                      <p:cBhvr>
                                        <p:cTn id="56" dur="30" accel="100000" fill="hold">
                                          <p:stCondLst>
                                            <p:cond delay="270"/>
                                          </p:stCondLst>
                                        </p:cTn>
                                        <p:tgtEl>
                                          <p:spTgt spid="42"/>
                                        </p:tgtEl>
                                        <p:attrNameLst>
                                          <p:attrName>ppt_y</p:attrName>
                                        </p:attrNameLst>
                                      </p:cBhvr>
                                      <p:tavLst>
                                        <p:tav tm="0">
                                          <p:val>
                                            <p:strVal val="#ppt_y-.03"/>
                                          </p:val>
                                        </p:tav>
                                        <p:tav tm="100000">
                                          <p:val>
                                            <p:strVal val="#ppt_y"/>
                                          </p:val>
                                        </p:tav>
                                      </p:tavLst>
                                    </p:anim>
                                  </p:childTnLst>
                                </p:cTn>
                              </p:par>
                            </p:childTnLst>
                          </p:cTn>
                        </p:par>
                        <p:par>
                          <p:cTn id="57" fill="hold">
                            <p:stCondLst>
                              <p:cond delay="4450"/>
                            </p:stCondLst>
                            <p:childTnLst>
                              <p:par>
                                <p:cTn id="58" presetID="37" presetClass="entr" presetSubtype="0" fill="hold" nodeType="afterEffect">
                                  <p:stCondLst>
                                    <p:cond delay="0"/>
                                  </p:stCondLst>
                                  <p:childTnLst>
                                    <p:set>
                                      <p:cBhvr>
                                        <p:cTn id="59" dur="1" fill="hold">
                                          <p:stCondLst>
                                            <p:cond delay="0"/>
                                          </p:stCondLst>
                                        </p:cTn>
                                        <p:tgtEl>
                                          <p:spTgt spid="47"/>
                                        </p:tgtEl>
                                        <p:attrNameLst>
                                          <p:attrName>style.visibility</p:attrName>
                                        </p:attrNameLst>
                                      </p:cBhvr>
                                      <p:to>
                                        <p:strVal val="visible"/>
                                      </p:to>
                                    </p:set>
                                    <p:animEffect transition="in" filter="fade">
                                      <p:cBhvr>
                                        <p:cTn id="60" dur="300"/>
                                        <p:tgtEl>
                                          <p:spTgt spid="47"/>
                                        </p:tgtEl>
                                      </p:cBhvr>
                                    </p:animEffect>
                                    <p:anim calcmode="lin" valueType="num">
                                      <p:cBhvr>
                                        <p:cTn id="61" dur="300" fill="hold"/>
                                        <p:tgtEl>
                                          <p:spTgt spid="47"/>
                                        </p:tgtEl>
                                        <p:attrNameLst>
                                          <p:attrName>ppt_x</p:attrName>
                                        </p:attrNameLst>
                                      </p:cBhvr>
                                      <p:tavLst>
                                        <p:tav tm="0">
                                          <p:val>
                                            <p:strVal val="#ppt_x"/>
                                          </p:val>
                                        </p:tav>
                                        <p:tav tm="100000">
                                          <p:val>
                                            <p:strVal val="#ppt_x"/>
                                          </p:val>
                                        </p:tav>
                                      </p:tavLst>
                                    </p:anim>
                                    <p:anim calcmode="lin" valueType="num">
                                      <p:cBhvr>
                                        <p:cTn id="62" dur="270" decel="100000" fill="hold"/>
                                        <p:tgtEl>
                                          <p:spTgt spid="47"/>
                                        </p:tgtEl>
                                        <p:attrNameLst>
                                          <p:attrName>ppt_y</p:attrName>
                                        </p:attrNameLst>
                                      </p:cBhvr>
                                      <p:tavLst>
                                        <p:tav tm="0">
                                          <p:val>
                                            <p:strVal val="#ppt_y+1"/>
                                          </p:val>
                                        </p:tav>
                                        <p:tav tm="100000">
                                          <p:val>
                                            <p:strVal val="#ppt_y-.03"/>
                                          </p:val>
                                        </p:tav>
                                      </p:tavLst>
                                    </p:anim>
                                    <p:anim calcmode="lin" valueType="num">
                                      <p:cBhvr>
                                        <p:cTn id="63" dur="30" accel="100000" fill="hold">
                                          <p:stCondLst>
                                            <p:cond delay="270"/>
                                          </p:stCondLst>
                                        </p:cTn>
                                        <p:tgtEl>
                                          <p:spTgt spid="47"/>
                                        </p:tgtEl>
                                        <p:attrNameLst>
                                          <p:attrName>ppt_y</p:attrName>
                                        </p:attrNameLst>
                                      </p:cBhvr>
                                      <p:tavLst>
                                        <p:tav tm="0">
                                          <p:val>
                                            <p:strVal val="#ppt_y-.03"/>
                                          </p:val>
                                        </p:tav>
                                        <p:tav tm="100000">
                                          <p:val>
                                            <p:strVal val="#ppt_y"/>
                                          </p:val>
                                        </p:tav>
                                      </p:tavLst>
                                    </p:anim>
                                  </p:childTnLst>
                                </p:cTn>
                              </p:par>
                            </p:childTnLst>
                          </p:cTn>
                        </p:par>
                        <p:par>
                          <p:cTn id="64" fill="hold">
                            <p:stCondLst>
                              <p:cond delay="4750"/>
                            </p:stCondLst>
                            <p:childTnLst>
                              <p:par>
                                <p:cTn id="65" presetID="37" presetClass="entr" presetSubtype="0" fill="hold" nodeType="afterEffect">
                                  <p:stCondLst>
                                    <p:cond delay="0"/>
                                  </p:stCondLst>
                                  <p:childTnLst>
                                    <p:set>
                                      <p:cBhvr>
                                        <p:cTn id="66" dur="1" fill="hold">
                                          <p:stCondLst>
                                            <p:cond delay="0"/>
                                          </p:stCondLst>
                                        </p:cTn>
                                        <p:tgtEl>
                                          <p:spTgt spid="52"/>
                                        </p:tgtEl>
                                        <p:attrNameLst>
                                          <p:attrName>style.visibility</p:attrName>
                                        </p:attrNameLst>
                                      </p:cBhvr>
                                      <p:to>
                                        <p:strVal val="visible"/>
                                      </p:to>
                                    </p:set>
                                    <p:animEffect transition="in" filter="fade">
                                      <p:cBhvr>
                                        <p:cTn id="67" dur="300"/>
                                        <p:tgtEl>
                                          <p:spTgt spid="52"/>
                                        </p:tgtEl>
                                      </p:cBhvr>
                                    </p:animEffect>
                                    <p:anim calcmode="lin" valueType="num">
                                      <p:cBhvr>
                                        <p:cTn id="68" dur="300" fill="hold"/>
                                        <p:tgtEl>
                                          <p:spTgt spid="52"/>
                                        </p:tgtEl>
                                        <p:attrNameLst>
                                          <p:attrName>ppt_x</p:attrName>
                                        </p:attrNameLst>
                                      </p:cBhvr>
                                      <p:tavLst>
                                        <p:tav tm="0">
                                          <p:val>
                                            <p:strVal val="#ppt_x"/>
                                          </p:val>
                                        </p:tav>
                                        <p:tav tm="100000">
                                          <p:val>
                                            <p:strVal val="#ppt_x"/>
                                          </p:val>
                                        </p:tav>
                                      </p:tavLst>
                                    </p:anim>
                                    <p:anim calcmode="lin" valueType="num">
                                      <p:cBhvr>
                                        <p:cTn id="69" dur="270" decel="100000" fill="hold"/>
                                        <p:tgtEl>
                                          <p:spTgt spid="52"/>
                                        </p:tgtEl>
                                        <p:attrNameLst>
                                          <p:attrName>ppt_y</p:attrName>
                                        </p:attrNameLst>
                                      </p:cBhvr>
                                      <p:tavLst>
                                        <p:tav tm="0">
                                          <p:val>
                                            <p:strVal val="#ppt_y+1"/>
                                          </p:val>
                                        </p:tav>
                                        <p:tav tm="100000">
                                          <p:val>
                                            <p:strVal val="#ppt_y-.03"/>
                                          </p:val>
                                        </p:tav>
                                      </p:tavLst>
                                    </p:anim>
                                    <p:anim calcmode="lin" valueType="num">
                                      <p:cBhvr>
                                        <p:cTn id="70" dur="30" accel="100000" fill="hold">
                                          <p:stCondLst>
                                            <p:cond delay="270"/>
                                          </p:stCondLst>
                                        </p:cTn>
                                        <p:tgtEl>
                                          <p:spTgt spid="52"/>
                                        </p:tgtEl>
                                        <p:attrNameLst>
                                          <p:attrName>ppt_y</p:attrName>
                                        </p:attrNameLst>
                                      </p:cBhvr>
                                      <p:tavLst>
                                        <p:tav tm="0">
                                          <p:val>
                                            <p:strVal val="#ppt_y-.03"/>
                                          </p:val>
                                        </p:tav>
                                        <p:tav tm="100000">
                                          <p:val>
                                            <p:strVal val="#ppt_y"/>
                                          </p:val>
                                        </p:tav>
                                      </p:tavLst>
                                    </p:anim>
                                  </p:childTnLst>
                                </p:cTn>
                              </p:par>
                            </p:childTnLst>
                          </p:cTn>
                        </p:par>
                        <p:par>
                          <p:cTn id="71" fill="hold">
                            <p:stCondLst>
                              <p:cond delay="5050"/>
                            </p:stCondLst>
                            <p:childTnLst>
                              <p:par>
                                <p:cTn id="72" presetID="2" presetClass="entr" presetSubtype="4" fill="hold" nodeType="afterEffect">
                                  <p:stCondLst>
                                    <p:cond delay="0"/>
                                  </p:stCondLst>
                                  <p:childTnLst>
                                    <p:set>
                                      <p:cBhvr>
                                        <p:cTn id="73" dur="1" fill="hold">
                                          <p:stCondLst>
                                            <p:cond delay="0"/>
                                          </p:stCondLst>
                                        </p:cTn>
                                        <p:tgtEl>
                                          <p:spTgt spid="58"/>
                                        </p:tgtEl>
                                        <p:attrNameLst>
                                          <p:attrName>style.visibility</p:attrName>
                                        </p:attrNameLst>
                                      </p:cBhvr>
                                      <p:to>
                                        <p:strVal val="visible"/>
                                      </p:to>
                                    </p:set>
                                    <p:anim calcmode="lin" valueType="num">
                                      <p:cBhvr additive="base">
                                        <p:cTn id="74" dur="500" fill="hold"/>
                                        <p:tgtEl>
                                          <p:spTgt spid="58"/>
                                        </p:tgtEl>
                                        <p:attrNameLst>
                                          <p:attrName>ppt_x</p:attrName>
                                        </p:attrNameLst>
                                      </p:cBhvr>
                                      <p:tavLst>
                                        <p:tav tm="0">
                                          <p:val>
                                            <p:strVal val="#ppt_x"/>
                                          </p:val>
                                        </p:tav>
                                        <p:tav tm="100000">
                                          <p:val>
                                            <p:strVal val="#ppt_x"/>
                                          </p:val>
                                        </p:tav>
                                      </p:tavLst>
                                    </p:anim>
                                    <p:anim calcmode="lin" valueType="num">
                                      <p:cBhvr additive="base">
                                        <p:cTn id="75" dur="500" fill="hold"/>
                                        <p:tgtEl>
                                          <p:spTgt spid="58"/>
                                        </p:tgtEl>
                                        <p:attrNameLst>
                                          <p:attrName>ppt_y</p:attrName>
                                        </p:attrNameLst>
                                      </p:cBhvr>
                                      <p:tavLst>
                                        <p:tav tm="0">
                                          <p:val>
                                            <p:strVal val="1+#ppt_h/2"/>
                                          </p:val>
                                        </p:tav>
                                        <p:tav tm="100000">
                                          <p:val>
                                            <p:strVal val="#ppt_y"/>
                                          </p:val>
                                        </p:tav>
                                      </p:tavLst>
                                    </p:anim>
                                  </p:childTnLst>
                                </p:cTn>
                              </p:par>
                            </p:childTnLst>
                          </p:cTn>
                        </p:par>
                        <p:par>
                          <p:cTn id="76" fill="hold">
                            <p:stCondLst>
                              <p:cond delay="5550"/>
                            </p:stCondLst>
                            <p:childTnLst>
                              <p:par>
                                <p:cTn id="77" presetID="2" presetClass="entr" presetSubtype="4" fill="hold" nodeType="afterEffect">
                                  <p:stCondLst>
                                    <p:cond delay="0"/>
                                  </p:stCondLst>
                                  <p:childTnLst>
                                    <p:set>
                                      <p:cBhvr>
                                        <p:cTn id="78" dur="1" fill="hold">
                                          <p:stCondLst>
                                            <p:cond delay="0"/>
                                          </p:stCondLst>
                                        </p:cTn>
                                        <p:tgtEl>
                                          <p:spTgt spid="64"/>
                                        </p:tgtEl>
                                        <p:attrNameLst>
                                          <p:attrName>style.visibility</p:attrName>
                                        </p:attrNameLst>
                                      </p:cBhvr>
                                      <p:to>
                                        <p:strVal val="visible"/>
                                      </p:to>
                                    </p:set>
                                    <p:anim calcmode="lin" valueType="num">
                                      <p:cBhvr additive="base">
                                        <p:cTn id="79" dur="500" fill="hold"/>
                                        <p:tgtEl>
                                          <p:spTgt spid="64"/>
                                        </p:tgtEl>
                                        <p:attrNameLst>
                                          <p:attrName>ppt_x</p:attrName>
                                        </p:attrNameLst>
                                      </p:cBhvr>
                                      <p:tavLst>
                                        <p:tav tm="0">
                                          <p:val>
                                            <p:strVal val="#ppt_x"/>
                                          </p:val>
                                        </p:tav>
                                        <p:tav tm="100000">
                                          <p:val>
                                            <p:strVal val="#ppt_x"/>
                                          </p:val>
                                        </p:tav>
                                      </p:tavLst>
                                    </p:anim>
                                    <p:anim calcmode="lin" valueType="num">
                                      <p:cBhvr additive="base">
                                        <p:cTn id="80" dur="500" fill="hold"/>
                                        <p:tgtEl>
                                          <p:spTgt spid="64"/>
                                        </p:tgtEl>
                                        <p:attrNameLst>
                                          <p:attrName>ppt_y</p:attrName>
                                        </p:attrNameLst>
                                      </p:cBhvr>
                                      <p:tavLst>
                                        <p:tav tm="0">
                                          <p:val>
                                            <p:strVal val="1+#ppt_h/2"/>
                                          </p:val>
                                        </p:tav>
                                        <p:tav tm="100000">
                                          <p:val>
                                            <p:strVal val="#ppt_y"/>
                                          </p:val>
                                        </p:tav>
                                      </p:tavLst>
                                    </p:anim>
                                  </p:childTnLst>
                                </p:cTn>
                              </p:par>
                            </p:childTnLst>
                          </p:cTn>
                        </p:par>
                        <p:par>
                          <p:cTn id="81" fill="hold">
                            <p:stCondLst>
                              <p:cond delay="6050"/>
                            </p:stCondLst>
                            <p:childTnLst>
                              <p:par>
                                <p:cTn id="82" presetID="2" presetClass="entr" presetSubtype="4" fill="hold" nodeType="afterEffect">
                                  <p:stCondLst>
                                    <p:cond delay="0"/>
                                  </p:stCondLst>
                                  <p:childTnLst>
                                    <p:set>
                                      <p:cBhvr>
                                        <p:cTn id="83" dur="1" fill="hold">
                                          <p:stCondLst>
                                            <p:cond delay="0"/>
                                          </p:stCondLst>
                                        </p:cTn>
                                        <p:tgtEl>
                                          <p:spTgt spid="70"/>
                                        </p:tgtEl>
                                        <p:attrNameLst>
                                          <p:attrName>style.visibility</p:attrName>
                                        </p:attrNameLst>
                                      </p:cBhvr>
                                      <p:to>
                                        <p:strVal val="visible"/>
                                      </p:to>
                                    </p:set>
                                    <p:anim calcmode="lin" valueType="num">
                                      <p:cBhvr additive="base">
                                        <p:cTn id="84" dur="500" fill="hold"/>
                                        <p:tgtEl>
                                          <p:spTgt spid="70"/>
                                        </p:tgtEl>
                                        <p:attrNameLst>
                                          <p:attrName>ppt_x</p:attrName>
                                        </p:attrNameLst>
                                      </p:cBhvr>
                                      <p:tavLst>
                                        <p:tav tm="0">
                                          <p:val>
                                            <p:strVal val="#ppt_x"/>
                                          </p:val>
                                        </p:tav>
                                        <p:tav tm="100000">
                                          <p:val>
                                            <p:strVal val="#ppt_x"/>
                                          </p:val>
                                        </p:tav>
                                      </p:tavLst>
                                    </p:anim>
                                    <p:anim calcmode="lin" valueType="num">
                                      <p:cBhvr additive="base">
                                        <p:cTn id="85"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32325"/>
        </a:solidFill>
        <a:effectLst/>
      </p:bgPr>
    </p:bg>
    <p:spTree>
      <p:nvGrpSpPr>
        <p:cNvPr id="1" name=""/>
        <p:cNvGrpSpPr/>
        <p:nvPr/>
      </p:nvGrpSpPr>
      <p:grpSpPr>
        <a:xfrm>
          <a:off x="0" y="0"/>
          <a:ext cx="0" cy="0"/>
          <a:chOff x="0" y="0"/>
          <a:chExt cx="0" cy="0"/>
        </a:xfrm>
      </p:grpSpPr>
      <p:sp>
        <p:nvSpPr>
          <p:cNvPr id="2" name="!!seg8"/>
          <p:cNvSpPr/>
          <p:nvPr/>
        </p:nvSpPr>
        <p:spPr>
          <a:xfrm>
            <a:off x="16971264"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seg7"/>
          <p:cNvSpPr/>
          <p:nvPr/>
        </p:nvSpPr>
        <p:spPr>
          <a:xfrm>
            <a:off x="16568927"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seg6"/>
          <p:cNvSpPr/>
          <p:nvPr/>
        </p:nvSpPr>
        <p:spPr>
          <a:xfrm>
            <a:off x="15380207" y="566928"/>
            <a:ext cx="1097280" cy="118872"/>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seg5"/>
          <p:cNvSpPr/>
          <p:nvPr/>
        </p:nvSpPr>
        <p:spPr>
          <a:xfrm>
            <a:off x="14977871"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seg4"/>
          <p:cNvSpPr/>
          <p:nvPr/>
        </p:nvSpPr>
        <p:spPr>
          <a:xfrm>
            <a:off x="14575535"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eg3"/>
          <p:cNvSpPr/>
          <p:nvPr/>
        </p:nvSpPr>
        <p:spPr>
          <a:xfrm>
            <a:off x="14173199"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eg2"/>
          <p:cNvSpPr/>
          <p:nvPr/>
        </p:nvSpPr>
        <p:spPr>
          <a:xfrm>
            <a:off x="13770863"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seg1"/>
          <p:cNvSpPr/>
          <p:nvPr/>
        </p:nvSpPr>
        <p:spPr>
          <a:xfrm>
            <a:off x="1336852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egno"/>
          <p:cNvSpPr txBox="1"/>
          <p:nvPr/>
        </p:nvSpPr>
        <p:spPr>
          <a:xfrm>
            <a:off x="10808207" y="429768"/>
            <a:ext cx="2423160" cy="384048"/>
          </a:xfrm>
          <a:prstGeom prst="rect">
            <a:avLst/>
          </a:prstGeom>
          <a:noFill/>
        </p:spPr>
        <p:txBody>
          <a:bodyPr wrap="square" lIns="45720" rIns="45720" anchor="t"/>
          <a:lstStyle/>
          <a:p>
            <a:pPr algn="r">
              <a:lnSpc>
                <a:spcPct val="100000"/>
              </a:lnSpc>
            </a:pPr>
            <a:r>
              <a:rPr sz="1500" b="0" i="0">
                <a:solidFill>
                  <a:srgbClr val="8E8E93"/>
                </a:solidFill>
                <a:latin typeface="Oswald"/>
              </a:rPr>
              <a:t>06 / 08</a:t>
            </a:r>
          </a:p>
        </p:txBody>
      </p:sp>
      <p:sp>
        <p:nvSpPr>
          <p:cNvPr id="11" name="Kicker 136"/>
          <p:cNvSpPr txBox="1"/>
          <p:nvPr/>
        </p:nvSpPr>
        <p:spPr>
          <a:xfrm>
            <a:off x="1005840" y="457200"/>
            <a:ext cx="8229600" cy="411480"/>
          </a:xfrm>
          <a:prstGeom prst="rect">
            <a:avLst/>
          </a:prstGeom>
          <a:noFill/>
        </p:spPr>
        <p:txBody>
          <a:bodyPr wrap="square" lIns="45720" rIns="45720" anchor="t"/>
          <a:lstStyle/>
          <a:p>
            <a:pPr algn="l">
              <a:lnSpc>
                <a:spcPct val="100000"/>
              </a:lnSpc>
            </a:pPr>
            <a:r>
              <a:rPr sz="1600" b="1" i="0">
                <a:solidFill>
                  <a:srgbClr val="C1FF72"/>
                </a:solidFill>
                <a:latin typeface="Titillium Web"/>
              </a:rPr>
              <a:t>06  ·  METHODS AND MATERIALS USED  ·  5 OF 6</a:t>
            </a:r>
          </a:p>
        </p:txBody>
      </p:sp>
      <p:sp>
        <p:nvSpPr>
          <p:cNvPr id="12" name="Title 137"/>
          <p:cNvSpPr txBox="1"/>
          <p:nvPr/>
        </p:nvSpPr>
        <p:spPr>
          <a:xfrm>
            <a:off x="1005840" y="841248"/>
            <a:ext cx="11887200" cy="1051560"/>
          </a:xfrm>
          <a:prstGeom prst="rect">
            <a:avLst/>
          </a:prstGeom>
          <a:noFill/>
        </p:spPr>
        <p:txBody>
          <a:bodyPr wrap="square" lIns="45720" rIns="45720" anchor="t"/>
          <a:lstStyle/>
          <a:p>
            <a:pPr algn="l">
              <a:lnSpc>
                <a:spcPct val="100000"/>
              </a:lnSpc>
            </a:pPr>
            <a:r>
              <a:rPr sz="5400" b="0" i="0">
                <a:solidFill>
                  <a:srgbClr val="EDEDED"/>
                </a:solidFill>
                <a:latin typeface="Oswald"/>
              </a:rPr>
              <a:t>LEARNING &amp; TRAINING</a:t>
            </a:r>
          </a:p>
        </p:txBody>
      </p:sp>
      <p:sp>
        <p:nvSpPr>
          <p:cNvPr id="13" name="Subtitle 138"/>
          <p:cNvSpPr txBox="1"/>
          <p:nvPr/>
        </p:nvSpPr>
        <p:spPr>
          <a:xfrm>
            <a:off x="1005840" y="1828800"/>
            <a:ext cx="11887200" cy="502920"/>
          </a:xfrm>
          <a:prstGeom prst="rect">
            <a:avLst/>
          </a:prstGeom>
          <a:noFill/>
        </p:spPr>
        <p:txBody>
          <a:bodyPr wrap="square" lIns="45720" rIns="45720" anchor="t"/>
          <a:lstStyle/>
          <a:p>
            <a:pPr algn="l">
              <a:lnSpc>
                <a:spcPct val="100000"/>
              </a:lnSpc>
            </a:pPr>
            <a:r>
              <a:rPr sz="2100" b="0" i="0">
                <a:solidFill>
                  <a:srgbClr val="8E8E93"/>
                </a:solidFill>
                <a:latin typeface="Titillium Web"/>
              </a:rPr>
              <a:t>Four kinds of learning, five training phases</a:t>
            </a:r>
          </a:p>
        </p:txBody>
      </p:sp>
      <p:sp>
        <p:nvSpPr>
          <p:cNvPr id="14" name="Source"/>
          <p:cNvSpPr txBox="1"/>
          <p:nvPr/>
        </p:nvSpPr>
        <p:spPr>
          <a:xfrm>
            <a:off x="1005840" y="9710928"/>
            <a:ext cx="14447520" cy="347472"/>
          </a:xfrm>
          <a:prstGeom prst="rect">
            <a:avLst/>
          </a:prstGeom>
          <a:noFill/>
        </p:spPr>
        <p:txBody>
          <a:bodyPr wrap="square" lIns="45720" rIns="45720" anchor="t"/>
          <a:lstStyle/>
          <a:p>
            <a:pPr algn="l">
              <a:lnSpc>
                <a:spcPct val="100000"/>
              </a:lnSpc>
            </a:pPr>
            <a:r>
              <a:rPr sz="1300" b="0" i="0">
                <a:solidFill>
                  <a:srgbClr val="5C5C61"/>
                </a:solidFill>
                <a:latin typeface="Titillium Web"/>
              </a:rPr>
              <a:t>Thesis Appendix C.3–C.4; §2.3.3</a:t>
            </a:r>
          </a:p>
        </p:txBody>
      </p:sp>
      <p:sp>
        <p:nvSpPr>
          <p:cNvPr id="15" name="Page"/>
          <p:cNvSpPr txBox="1"/>
          <p:nvPr/>
        </p:nvSpPr>
        <p:spPr>
          <a:xfrm>
            <a:off x="15453359" y="9710928"/>
            <a:ext cx="1828800" cy="347472"/>
          </a:xfrm>
          <a:prstGeom prst="rect">
            <a:avLst/>
          </a:prstGeom>
          <a:noFill/>
        </p:spPr>
        <p:txBody>
          <a:bodyPr wrap="square" lIns="45720" rIns="45720" anchor="t"/>
          <a:lstStyle/>
          <a:p>
            <a:pPr algn="r">
              <a:lnSpc>
                <a:spcPct val="100000"/>
              </a:lnSpc>
            </a:pPr>
            <a:r>
              <a:rPr sz="1300" b="0" i="0">
                <a:solidFill>
                  <a:srgbClr val="5C5C61"/>
                </a:solidFill>
                <a:latin typeface="Oswald"/>
              </a:rPr>
              <a:t>12</a:t>
            </a:r>
          </a:p>
        </p:txBody>
      </p:sp>
      <p:pic>
        <p:nvPicPr>
          <p:cNvPr id="16" name="!!photo" descr="37564550-2.516-0.50-0.50.jpg"/>
          <p:cNvPicPr>
            <a:picLocks noChangeAspect="1"/>
          </p:cNvPicPr>
          <p:nvPr/>
        </p:nvPicPr>
        <p:blipFill>
          <a:blip r:embed="rId3"/>
          <a:stretch>
            <a:fillRect/>
          </a:stretch>
        </p:blipFill>
        <p:spPr>
          <a:xfrm>
            <a:off x="13716000" y="1051560"/>
            <a:ext cx="3566160" cy="1417320"/>
          </a:xfrm>
          <a:prstGeom prst="roundRect">
            <a:avLst>
              <a:gd name="adj" fmla="val 22580"/>
            </a:avLst>
          </a:prstGeom>
          <a:effectLst>
            <a:outerShdw blurRad="279400" dist="114300" dir="2700000" algn="ctr" rotWithShape="0">
              <a:srgbClr val="0E0E10">
                <a:alpha val="70000"/>
              </a:srgbClr>
            </a:outerShdw>
          </a:effectLst>
        </p:spPr>
      </p:pic>
      <p:grpSp>
        <p:nvGrpSpPr>
          <p:cNvPr id="22" name="Card 139"/>
          <p:cNvGrpSpPr/>
          <p:nvPr/>
        </p:nvGrpSpPr>
        <p:grpSpPr>
          <a:xfrm>
            <a:off x="1005840" y="2606040"/>
            <a:ext cx="3829050" cy="3429000"/>
            <a:chOff x="1005840" y="2606040"/>
            <a:chExt cx="3829050" cy="3429000"/>
          </a:xfrm>
        </p:grpSpPr>
        <p:sp>
          <p:nvSpPr>
            <p:cNvPr id="17" name="Card light"/>
            <p:cNvSpPr/>
            <p:nvPr/>
          </p:nvSpPr>
          <p:spPr>
            <a:xfrm>
              <a:off x="1005840" y="2606040"/>
              <a:ext cx="3829050" cy="3429000"/>
            </a:xfrm>
            <a:prstGeom prst="roundRect">
              <a:avLst>
                <a:gd name="adj" fmla="val 7466"/>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Card"/>
            <p:cNvSpPr/>
            <p:nvPr/>
          </p:nvSpPr>
          <p:spPr>
            <a:xfrm>
              <a:off x="1005840" y="2606040"/>
              <a:ext cx="3829050" cy="3429000"/>
            </a:xfrm>
            <a:prstGeom prst="roundRect">
              <a:avLst>
                <a:gd name="adj" fmla="val 7466"/>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Card label"/>
            <p:cNvSpPr txBox="1"/>
            <p:nvPr/>
          </p:nvSpPr>
          <p:spPr>
            <a:xfrm>
              <a:off x="1298448" y="2880360"/>
              <a:ext cx="3243834" cy="347472"/>
            </a:xfrm>
            <a:prstGeom prst="rect">
              <a:avLst/>
            </a:prstGeom>
            <a:noFill/>
          </p:spPr>
          <p:txBody>
            <a:bodyPr wrap="square" lIns="45720" rIns="45720" anchor="t"/>
            <a:lstStyle/>
            <a:p>
              <a:pPr algn="l">
                <a:lnSpc>
                  <a:spcPct val="100000"/>
                </a:lnSpc>
              </a:pPr>
              <a:r>
                <a:rPr sz="1400" b="1" i="0">
                  <a:solidFill>
                    <a:srgbClr val="C1FF72"/>
                  </a:solidFill>
                  <a:latin typeface="Titillium Web"/>
                </a:rPr>
                <a:t>SUPERVISED</a:t>
              </a:r>
            </a:p>
          </p:txBody>
        </p:sp>
        <p:sp>
          <p:nvSpPr>
            <p:cNvPr id="20" name="Card title"/>
            <p:cNvSpPr txBox="1"/>
            <p:nvPr/>
          </p:nvSpPr>
          <p:spPr>
            <a:xfrm>
              <a:off x="1298448" y="3264408"/>
              <a:ext cx="3243834" cy="784352"/>
            </a:xfrm>
            <a:prstGeom prst="rect">
              <a:avLst/>
            </a:prstGeom>
            <a:noFill/>
          </p:spPr>
          <p:txBody>
            <a:bodyPr wrap="square" lIns="45720" rIns="45720" anchor="t"/>
            <a:lstStyle/>
            <a:p>
              <a:pPr algn="l">
                <a:lnSpc>
                  <a:spcPct val="100000"/>
                </a:lnSpc>
              </a:pPr>
              <a:r>
                <a:rPr sz="2200" b="0" i="0">
                  <a:solidFill>
                    <a:srgbClr val="EDEDED"/>
                  </a:solidFill>
                  <a:latin typeface="Oswald"/>
                </a:rPr>
                <a:t>THREE GRADIENT-BOOSTED CLASSIFIERS</a:t>
              </a:r>
            </a:p>
          </p:txBody>
        </p:sp>
        <p:sp>
          <p:nvSpPr>
            <p:cNvPr id="21" name="Card body"/>
            <p:cNvSpPr txBox="1"/>
            <p:nvPr/>
          </p:nvSpPr>
          <p:spPr>
            <a:xfrm>
              <a:off x="1298448" y="4085335"/>
              <a:ext cx="3243834" cy="1711960"/>
            </a:xfrm>
            <a:prstGeom prst="rect">
              <a:avLst/>
            </a:prstGeom>
            <a:noFill/>
          </p:spPr>
          <p:txBody>
            <a:bodyPr wrap="square" lIns="45720" rIns="45720" anchor="t"/>
            <a:lstStyle/>
            <a:p>
              <a:pPr algn="l">
                <a:lnSpc>
                  <a:spcPct val="98000"/>
                </a:lnSpc>
              </a:pPr>
              <a:r>
                <a:rPr sz="1700" b="0" i="0">
                  <a:solidFill>
                    <a:srgbClr val="BDBDC1"/>
                  </a:solidFill>
                  <a:latin typeface="Titillium Web"/>
                </a:rPr>
                <a:t>Phishing, malware-serving URLs and web-attack payloads (SQLi/XSS), with scikit-learn.</a:t>
              </a:r>
            </a:p>
          </p:txBody>
        </p:sp>
      </p:grpSp>
      <p:grpSp>
        <p:nvGrpSpPr>
          <p:cNvPr id="28" name="Card 140"/>
          <p:cNvGrpSpPr/>
          <p:nvPr/>
        </p:nvGrpSpPr>
        <p:grpSpPr>
          <a:xfrm>
            <a:off x="5154929" y="2606040"/>
            <a:ext cx="3829050" cy="3429000"/>
            <a:chOff x="5154929" y="2606040"/>
            <a:chExt cx="3829050" cy="3429000"/>
          </a:xfrm>
        </p:grpSpPr>
        <p:sp>
          <p:nvSpPr>
            <p:cNvPr id="23" name="Card light"/>
            <p:cNvSpPr/>
            <p:nvPr/>
          </p:nvSpPr>
          <p:spPr>
            <a:xfrm>
              <a:off x="5154929" y="2606040"/>
              <a:ext cx="3829050" cy="3429000"/>
            </a:xfrm>
            <a:prstGeom prst="roundRect">
              <a:avLst>
                <a:gd name="adj" fmla="val 7466"/>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Card"/>
            <p:cNvSpPr/>
            <p:nvPr/>
          </p:nvSpPr>
          <p:spPr>
            <a:xfrm>
              <a:off x="5154929" y="2606040"/>
              <a:ext cx="3829050" cy="3429000"/>
            </a:xfrm>
            <a:prstGeom prst="roundRect">
              <a:avLst>
                <a:gd name="adj" fmla="val 7466"/>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Card label"/>
            <p:cNvSpPr txBox="1"/>
            <p:nvPr/>
          </p:nvSpPr>
          <p:spPr>
            <a:xfrm>
              <a:off x="5447538" y="2880360"/>
              <a:ext cx="3243834" cy="347472"/>
            </a:xfrm>
            <a:prstGeom prst="rect">
              <a:avLst/>
            </a:prstGeom>
            <a:noFill/>
          </p:spPr>
          <p:txBody>
            <a:bodyPr wrap="square" lIns="45720" rIns="45720" anchor="t"/>
            <a:lstStyle/>
            <a:p>
              <a:pPr algn="l">
                <a:lnSpc>
                  <a:spcPct val="100000"/>
                </a:lnSpc>
              </a:pPr>
              <a:r>
                <a:rPr sz="1400" b="1" i="0">
                  <a:solidFill>
                    <a:srgbClr val="C1FF72"/>
                  </a:solidFill>
                  <a:latin typeface="Titillium Web"/>
                </a:rPr>
                <a:t>UNSUPERVISED</a:t>
              </a:r>
            </a:p>
          </p:txBody>
        </p:sp>
        <p:sp>
          <p:nvSpPr>
            <p:cNvPr id="26" name="Card title"/>
            <p:cNvSpPr txBox="1"/>
            <p:nvPr/>
          </p:nvSpPr>
          <p:spPr>
            <a:xfrm>
              <a:off x="5447538" y="3264408"/>
              <a:ext cx="3243834" cy="437896"/>
            </a:xfrm>
            <a:prstGeom prst="rect">
              <a:avLst/>
            </a:prstGeom>
            <a:noFill/>
          </p:spPr>
          <p:txBody>
            <a:bodyPr wrap="square" lIns="45720" rIns="45720" anchor="t"/>
            <a:lstStyle/>
            <a:p>
              <a:pPr algn="l">
                <a:lnSpc>
                  <a:spcPct val="100000"/>
                </a:lnSpc>
              </a:pPr>
              <a:r>
                <a:rPr sz="2200" b="0" i="0">
                  <a:solidFill>
                    <a:srgbClr val="EDEDED"/>
                  </a:solidFill>
                  <a:latin typeface="Oswald"/>
                </a:rPr>
                <a:t>ANOMALY DETECTION</a:t>
              </a:r>
            </a:p>
          </p:txBody>
        </p:sp>
        <p:sp>
          <p:nvSpPr>
            <p:cNvPr id="27" name="Card body"/>
            <p:cNvSpPr txBox="1"/>
            <p:nvPr/>
          </p:nvSpPr>
          <p:spPr>
            <a:xfrm>
              <a:off x="5447538" y="3738879"/>
              <a:ext cx="3243834" cy="2058416"/>
            </a:xfrm>
            <a:prstGeom prst="rect">
              <a:avLst/>
            </a:prstGeom>
            <a:noFill/>
          </p:spPr>
          <p:txBody>
            <a:bodyPr wrap="square" lIns="45720" rIns="45720" anchor="t"/>
            <a:lstStyle/>
            <a:p>
              <a:pPr algn="l">
                <a:lnSpc>
                  <a:spcPct val="98000"/>
                </a:lnSpc>
              </a:pPr>
              <a:r>
                <a:rPr sz="1700" b="0" i="0">
                  <a:solidFill>
                    <a:srgbClr val="BDBDC1"/>
                  </a:solidFill>
                  <a:latin typeface="Titillium Web"/>
                </a:rPr>
                <a:t>IsolationForest on benign URL features: 200 trees, contamination 0.02. Anomaly is not proof of harm.</a:t>
              </a:r>
            </a:p>
          </p:txBody>
        </p:sp>
      </p:grpSp>
      <p:grpSp>
        <p:nvGrpSpPr>
          <p:cNvPr id="34" name="Card 141"/>
          <p:cNvGrpSpPr/>
          <p:nvPr/>
        </p:nvGrpSpPr>
        <p:grpSpPr>
          <a:xfrm>
            <a:off x="9304019" y="2606040"/>
            <a:ext cx="3829050" cy="3429000"/>
            <a:chOff x="9304019" y="2606040"/>
            <a:chExt cx="3829050" cy="3429000"/>
          </a:xfrm>
        </p:grpSpPr>
        <p:sp>
          <p:nvSpPr>
            <p:cNvPr id="29" name="Card light"/>
            <p:cNvSpPr/>
            <p:nvPr/>
          </p:nvSpPr>
          <p:spPr>
            <a:xfrm>
              <a:off x="9304019" y="2606040"/>
              <a:ext cx="3829050" cy="3429000"/>
            </a:xfrm>
            <a:prstGeom prst="roundRect">
              <a:avLst>
                <a:gd name="adj" fmla="val 7466"/>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0" name="Card"/>
            <p:cNvSpPr/>
            <p:nvPr/>
          </p:nvSpPr>
          <p:spPr>
            <a:xfrm>
              <a:off x="9304019" y="2606040"/>
              <a:ext cx="3829050" cy="3429000"/>
            </a:xfrm>
            <a:prstGeom prst="roundRect">
              <a:avLst>
                <a:gd name="adj" fmla="val 7466"/>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Card label"/>
            <p:cNvSpPr txBox="1"/>
            <p:nvPr/>
          </p:nvSpPr>
          <p:spPr>
            <a:xfrm>
              <a:off x="9596628" y="2880360"/>
              <a:ext cx="3243834" cy="347472"/>
            </a:xfrm>
            <a:prstGeom prst="rect">
              <a:avLst/>
            </a:prstGeom>
            <a:noFill/>
          </p:spPr>
          <p:txBody>
            <a:bodyPr wrap="square" lIns="45720" rIns="45720" anchor="t"/>
            <a:lstStyle/>
            <a:p>
              <a:pPr algn="l">
                <a:lnSpc>
                  <a:spcPct val="100000"/>
                </a:lnSpc>
              </a:pPr>
              <a:r>
                <a:rPr sz="1400" b="1" i="0">
                  <a:solidFill>
                    <a:srgbClr val="C1FF72"/>
                  </a:solidFill>
                  <a:latin typeface="Titillium Web"/>
                </a:rPr>
                <a:t>PRETRAINED</a:t>
              </a:r>
            </a:p>
          </p:txBody>
        </p:sp>
        <p:sp>
          <p:nvSpPr>
            <p:cNvPr id="32" name="Card title"/>
            <p:cNvSpPr txBox="1"/>
            <p:nvPr/>
          </p:nvSpPr>
          <p:spPr>
            <a:xfrm>
              <a:off x="9596628" y="3264408"/>
              <a:ext cx="3243834" cy="437896"/>
            </a:xfrm>
            <a:prstGeom prst="rect">
              <a:avLst/>
            </a:prstGeom>
            <a:noFill/>
          </p:spPr>
          <p:txBody>
            <a:bodyPr wrap="square" lIns="45720" rIns="45720" anchor="t"/>
            <a:lstStyle/>
            <a:p>
              <a:pPr algn="l">
                <a:lnSpc>
                  <a:spcPct val="100000"/>
                </a:lnSpc>
              </a:pPr>
              <a:r>
                <a:rPr sz="2200" b="0" i="0">
                  <a:solidFill>
                    <a:srgbClr val="EDEDED"/>
                  </a:solidFill>
                  <a:latin typeface="Oswald"/>
                </a:rPr>
                <a:t>BERT AND QWEN</a:t>
              </a:r>
            </a:p>
          </p:txBody>
        </p:sp>
        <p:sp>
          <p:nvSpPr>
            <p:cNvPr id="33" name="Card body"/>
            <p:cNvSpPr txBox="1"/>
            <p:nvPr/>
          </p:nvSpPr>
          <p:spPr>
            <a:xfrm>
              <a:off x="9596628" y="3738879"/>
              <a:ext cx="3243834" cy="2058416"/>
            </a:xfrm>
            <a:prstGeom prst="rect">
              <a:avLst/>
            </a:prstGeom>
            <a:noFill/>
          </p:spPr>
          <p:txBody>
            <a:bodyPr wrap="square" lIns="45720" rIns="45720" anchor="t"/>
            <a:lstStyle/>
            <a:p>
              <a:pPr algn="l">
                <a:lnSpc>
                  <a:spcPct val="98000"/>
                </a:lnSpc>
              </a:pPr>
              <a:r>
                <a:rPr sz="1700" b="0" i="0">
                  <a:solidFill>
                    <a:srgbClr val="BDBDC1"/>
                  </a:solidFill>
                  <a:latin typeface="Titillium Web"/>
                </a:rPr>
                <a:t>External BERT URL classifier; Qwen3.5-2B explanations through llama.cpp. Used, not fine-tuned.</a:t>
              </a:r>
            </a:p>
          </p:txBody>
        </p:sp>
      </p:grpSp>
      <p:grpSp>
        <p:nvGrpSpPr>
          <p:cNvPr id="40" name="Card 142"/>
          <p:cNvGrpSpPr/>
          <p:nvPr/>
        </p:nvGrpSpPr>
        <p:grpSpPr>
          <a:xfrm>
            <a:off x="13453109" y="2606040"/>
            <a:ext cx="3829050" cy="3429000"/>
            <a:chOff x="13453109" y="2606040"/>
            <a:chExt cx="3829050" cy="3429000"/>
          </a:xfrm>
        </p:grpSpPr>
        <p:sp>
          <p:nvSpPr>
            <p:cNvPr id="35" name="Card light"/>
            <p:cNvSpPr/>
            <p:nvPr/>
          </p:nvSpPr>
          <p:spPr>
            <a:xfrm>
              <a:off x="13453109" y="2606040"/>
              <a:ext cx="3829050" cy="3429000"/>
            </a:xfrm>
            <a:prstGeom prst="roundRect">
              <a:avLst>
                <a:gd name="adj" fmla="val 7466"/>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Card"/>
            <p:cNvSpPr/>
            <p:nvPr/>
          </p:nvSpPr>
          <p:spPr>
            <a:xfrm>
              <a:off x="13453109" y="2606040"/>
              <a:ext cx="3829050" cy="3429000"/>
            </a:xfrm>
            <a:prstGeom prst="roundRect">
              <a:avLst>
                <a:gd name="adj" fmla="val 7466"/>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Card label"/>
            <p:cNvSpPr txBox="1"/>
            <p:nvPr/>
          </p:nvSpPr>
          <p:spPr>
            <a:xfrm>
              <a:off x="13745717" y="2880360"/>
              <a:ext cx="3243834" cy="347472"/>
            </a:xfrm>
            <a:prstGeom prst="rect">
              <a:avLst/>
            </a:prstGeom>
            <a:noFill/>
          </p:spPr>
          <p:txBody>
            <a:bodyPr wrap="square" lIns="45720" rIns="45720" anchor="t"/>
            <a:lstStyle/>
            <a:p>
              <a:pPr algn="l">
                <a:lnSpc>
                  <a:spcPct val="100000"/>
                </a:lnSpc>
              </a:pPr>
              <a:r>
                <a:rPr sz="1400" b="1" i="0">
                  <a:solidFill>
                    <a:srgbClr val="C1FF72"/>
                  </a:solidFill>
                  <a:latin typeface="Titillium Web"/>
                </a:rPr>
                <a:t>RULES &amp; RETRIEVAL</a:t>
              </a:r>
            </a:p>
          </p:txBody>
        </p:sp>
        <p:sp>
          <p:nvSpPr>
            <p:cNvPr id="38" name="Card title"/>
            <p:cNvSpPr txBox="1"/>
            <p:nvPr/>
          </p:nvSpPr>
          <p:spPr>
            <a:xfrm>
              <a:off x="13745717" y="3264408"/>
              <a:ext cx="3243834" cy="437896"/>
            </a:xfrm>
            <a:prstGeom prst="rect">
              <a:avLst/>
            </a:prstGeom>
            <a:noFill/>
          </p:spPr>
          <p:txBody>
            <a:bodyPr wrap="square" lIns="45720" rIns="45720" anchor="t"/>
            <a:lstStyle/>
            <a:p>
              <a:pPr algn="l">
                <a:lnSpc>
                  <a:spcPct val="100000"/>
                </a:lnSpc>
              </a:pPr>
              <a:r>
                <a:rPr sz="2200" b="0" i="0">
                  <a:solidFill>
                    <a:srgbClr val="EDEDED"/>
                  </a:solidFill>
                  <a:latin typeface="Oswald"/>
                </a:rPr>
                <a:t>HEURISTICS AND MEMORY</a:t>
              </a:r>
            </a:p>
          </p:txBody>
        </p:sp>
        <p:sp>
          <p:nvSpPr>
            <p:cNvPr id="39" name="Card body"/>
            <p:cNvSpPr txBox="1"/>
            <p:nvPr/>
          </p:nvSpPr>
          <p:spPr>
            <a:xfrm>
              <a:off x="13745717" y="3738879"/>
              <a:ext cx="3243834" cy="2058416"/>
            </a:xfrm>
            <a:prstGeom prst="rect">
              <a:avLst/>
            </a:prstGeom>
            <a:noFill/>
          </p:spPr>
          <p:txBody>
            <a:bodyPr wrap="square" lIns="45720" rIns="45720" anchor="t"/>
            <a:lstStyle/>
            <a:p>
              <a:pPr algn="l">
                <a:lnSpc>
                  <a:spcPct val="98000"/>
                </a:lnSpc>
              </a:pPr>
              <a:r>
                <a:rPr sz="1700" b="0" i="0">
                  <a:solidFill>
                    <a:srgbClr val="BDBDC1"/>
                  </a:solidFill>
                  <a:latin typeface="Titillium Web"/>
                </a:rPr>
                <a:t>Entropy DGA rules, regex IOC extraction, memory as context. No online weight updates.</a:t>
              </a:r>
            </a:p>
          </p:txBody>
        </p:sp>
      </p:grpSp>
      <p:grpSp>
        <p:nvGrpSpPr>
          <p:cNvPr id="46" name="Phase 143"/>
          <p:cNvGrpSpPr/>
          <p:nvPr/>
        </p:nvGrpSpPr>
        <p:grpSpPr>
          <a:xfrm>
            <a:off x="1005840" y="6355080"/>
            <a:ext cx="3035808" cy="3063240"/>
            <a:chOff x="1005840" y="6355080"/>
            <a:chExt cx="3035808" cy="3063240"/>
          </a:xfrm>
        </p:grpSpPr>
        <p:sp>
          <p:nvSpPr>
            <p:cNvPr id="41" name="Phase light"/>
            <p:cNvSpPr/>
            <p:nvPr/>
          </p:nvSpPr>
          <p:spPr>
            <a:xfrm>
              <a:off x="1005840" y="6355080"/>
              <a:ext cx="3035808" cy="3063240"/>
            </a:xfrm>
            <a:prstGeom prst="roundRect">
              <a:avLst>
                <a:gd name="adj" fmla="val 9036"/>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2" name="Phase"/>
            <p:cNvSpPr/>
            <p:nvPr/>
          </p:nvSpPr>
          <p:spPr>
            <a:xfrm>
              <a:off x="1005840" y="6355080"/>
              <a:ext cx="3035808" cy="3063240"/>
            </a:xfrm>
            <a:prstGeom prst="roundRect">
              <a:avLst>
                <a:gd name="adj" fmla="val 9036"/>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3" name="Phase n"/>
            <p:cNvSpPr txBox="1"/>
            <p:nvPr/>
          </p:nvSpPr>
          <p:spPr>
            <a:xfrm>
              <a:off x="1280160" y="6446520"/>
              <a:ext cx="1097280" cy="868680"/>
            </a:xfrm>
            <a:prstGeom prst="rect">
              <a:avLst/>
            </a:prstGeom>
            <a:noFill/>
          </p:spPr>
          <p:txBody>
            <a:bodyPr wrap="square" lIns="45720" rIns="45720" anchor="t"/>
            <a:lstStyle/>
            <a:p>
              <a:pPr algn="l">
                <a:lnSpc>
                  <a:spcPct val="100000"/>
                </a:lnSpc>
              </a:pPr>
              <a:r>
                <a:rPr sz="4400" b="0" i="0">
                  <a:solidFill>
                    <a:srgbClr val="C1FF72"/>
                  </a:solidFill>
                  <a:latin typeface="Oswald"/>
                </a:rPr>
                <a:t>1</a:t>
              </a:r>
            </a:p>
          </p:txBody>
        </p:sp>
        <p:sp>
          <p:nvSpPr>
            <p:cNvPr id="44" name="Phase title"/>
            <p:cNvSpPr txBox="1"/>
            <p:nvPr/>
          </p:nvSpPr>
          <p:spPr>
            <a:xfrm>
              <a:off x="1280160" y="7315200"/>
              <a:ext cx="2487168" cy="566928"/>
            </a:xfrm>
            <a:prstGeom prst="rect">
              <a:avLst/>
            </a:prstGeom>
            <a:noFill/>
          </p:spPr>
          <p:txBody>
            <a:bodyPr wrap="square" lIns="45720" rIns="45720" anchor="t"/>
            <a:lstStyle/>
            <a:p>
              <a:pPr algn="l">
                <a:lnSpc>
                  <a:spcPct val="100000"/>
                </a:lnSpc>
              </a:pPr>
              <a:r>
                <a:rPr sz="2100" b="0" i="0">
                  <a:solidFill>
                    <a:srgbClr val="EDEDED"/>
                  </a:solidFill>
                  <a:latin typeface="Oswald"/>
                </a:rPr>
                <a:t>COLLECT &amp; CLEAN</a:t>
              </a:r>
            </a:p>
          </p:txBody>
        </p:sp>
        <p:sp>
          <p:nvSpPr>
            <p:cNvPr id="45" name="Phase text"/>
            <p:cNvSpPr txBox="1"/>
            <p:nvPr/>
          </p:nvSpPr>
          <p:spPr>
            <a:xfrm>
              <a:off x="1280160" y="7882127"/>
              <a:ext cx="2487168" cy="1417320"/>
            </a:xfrm>
            <a:prstGeom prst="rect">
              <a:avLst/>
            </a:prstGeom>
            <a:noFill/>
          </p:spPr>
          <p:txBody>
            <a:bodyPr wrap="square" lIns="45720" rIns="45720" anchor="t"/>
            <a:lstStyle/>
            <a:p>
              <a:pPr algn="l">
                <a:lnSpc>
                  <a:spcPct val="96000"/>
                </a:lnSpc>
              </a:pPr>
              <a:r>
                <a:rPr sz="1600" b="0" i="0">
                  <a:solidFill>
                    <a:srgbClr val="8E8E93"/>
                  </a:solidFill>
                  <a:latin typeface="Titillium Web"/>
                </a:rPr>
                <a:t>public corpora, normalise, de-duplicate</a:t>
              </a:r>
            </a:p>
          </p:txBody>
        </p:sp>
      </p:grpSp>
      <p:grpSp>
        <p:nvGrpSpPr>
          <p:cNvPr id="52" name="Phase 144"/>
          <p:cNvGrpSpPr/>
          <p:nvPr/>
        </p:nvGrpSpPr>
        <p:grpSpPr>
          <a:xfrm>
            <a:off x="4315968" y="6355080"/>
            <a:ext cx="3035808" cy="3063240"/>
            <a:chOff x="4315968" y="6355080"/>
            <a:chExt cx="3035808" cy="3063240"/>
          </a:xfrm>
        </p:grpSpPr>
        <p:sp>
          <p:nvSpPr>
            <p:cNvPr id="47" name="Phase light"/>
            <p:cNvSpPr/>
            <p:nvPr/>
          </p:nvSpPr>
          <p:spPr>
            <a:xfrm>
              <a:off x="4315968" y="6355080"/>
              <a:ext cx="3035808" cy="3063240"/>
            </a:xfrm>
            <a:prstGeom prst="roundRect">
              <a:avLst>
                <a:gd name="adj" fmla="val 9036"/>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8" name="Phase"/>
            <p:cNvSpPr/>
            <p:nvPr/>
          </p:nvSpPr>
          <p:spPr>
            <a:xfrm>
              <a:off x="4315968" y="6355080"/>
              <a:ext cx="3035808" cy="3063240"/>
            </a:xfrm>
            <a:prstGeom prst="roundRect">
              <a:avLst>
                <a:gd name="adj" fmla="val 9036"/>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9" name="Phase n"/>
            <p:cNvSpPr txBox="1"/>
            <p:nvPr/>
          </p:nvSpPr>
          <p:spPr>
            <a:xfrm>
              <a:off x="4590288" y="6446520"/>
              <a:ext cx="1097280" cy="868680"/>
            </a:xfrm>
            <a:prstGeom prst="rect">
              <a:avLst/>
            </a:prstGeom>
            <a:noFill/>
          </p:spPr>
          <p:txBody>
            <a:bodyPr wrap="square" lIns="45720" rIns="45720" anchor="t"/>
            <a:lstStyle/>
            <a:p>
              <a:pPr algn="l">
                <a:lnSpc>
                  <a:spcPct val="100000"/>
                </a:lnSpc>
              </a:pPr>
              <a:r>
                <a:rPr sz="4400" b="0" i="0">
                  <a:solidFill>
                    <a:srgbClr val="C1FF72"/>
                  </a:solidFill>
                  <a:latin typeface="Oswald"/>
                </a:rPr>
                <a:t>2</a:t>
              </a:r>
            </a:p>
          </p:txBody>
        </p:sp>
        <p:sp>
          <p:nvSpPr>
            <p:cNvPr id="50" name="Phase title"/>
            <p:cNvSpPr txBox="1"/>
            <p:nvPr/>
          </p:nvSpPr>
          <p:spPr>
            <a:xfrm>
              <a:off x="4590288" y="7315200"/>
              <a:ext cx="2487168" cy="566928"/>
            </a:xfrm>
            <a:prstGeom prst="rect">
              <a:avLst/>
            </a:prstGeom>
            <a:noFill/>
          </p:spPr>
          <p:txBody>
            <a:bodyPr wrap="square" lIns="45720" rIns="45720" anchor="t"/>
            <a:lstStyle/>
            <a:p>
              <a:pPr algn="l">
                <a:lnSpc>
                  <a:spcPct val="100000"/>
                </a:lnSpc>
              </a:pPr>
              <a:r>
                <a:rPr sz="2100" b="0" i="0">
                  <a:solidFill>
                    <a:srgbClr val="EDEDED"/>
                  </a:solidFill>
                  <a:latin typeface="Oswald"/>
                </a:rPr>
                <a:t>FEATURES &amp; SPLIT</a:t>
              </a:r>
            </a:p>
          </p:txBody>
        </p:sp>
        <p:sp>
          <p:nvSpPr>
            <p:cNvPr id="51" name="Phase text"/>
            <p:cNvSpPr txBox="1"/>
            <p:nvPr/>
          </p:nvSpPr>
          <p:spPr>
            <a:xfrm>
              <a:off x="4590288" y="7882127"/>
              <a:ext cx="2487168" cy="1417320"/>
            </a:xfrm>
            <a:prstGeom prst="rect">
              <a:avLst/>
            </a:prstGeom>
            <a:noFill/>
          </p:spPr>
          <p:txBody>
            <a:bodyPr wrap="square" lIns="45720" rIns="45720" anchor="t"/>
            <a:lstStyle/>
            <a:p>
              <a:pPr algn="l">
                <a:lnSpc>
                  <a:spcPct val="96000"/>
                </a:lnSpc>
              </a:pPr>
              <a:r>
                <a:rPr sz="1600" b="0" i="0">
                  <a:solidFill>
                    <a:srgbClr val="8E8E93"/>
                  </a:solidFill>
                  <a:latin typeface="Titillium Web"/>
                </a:rPr>
                <a:t>shared features; domain-grouped 20% test, 10% thresholds</a:t>
              </a:r>
            </a:p>
          </p:txBody>
        </p:sp>
      </p:grpSp>
      <p:grpSp>
        <p:nvGrpSpPr>
          <p:cNvPr id="58" name="Phase 145"/>
          <p:cNvGrpSpPr/>
          <p:nvPr/>
        </p:nvGrpSpPr>
        <p:grpSpPr>
          <a:xfrm>
            <a:off x="7626096" y="6355080"/>
            <a:ext cx="3035808" cy="3063240"/>
            <a:chOff x="7626096" y="6355080"/>
            <a:chExt cx="3035808" cy="3063240"/>
          </a:xfrm>
        </p:grpSpPr>
        <p:sp>
          <p:nvSpPr>
            <p:cNvPr id="53" name="Phase light"/>
            <p:cNvSpPr/>
            <p:nvPr/>
          </p:nvSpPr>
          <p:spPr>
            <a:xfrm>
              <a:off x="7626096" y="6355080"/>
              <a:ext cx="3035808" cy="3063240"/>
            </a:xfrm>
            <a:prstGeom prst="roundRect">
              <a:avLst>
                <a:gd name="adj" fmla="val 9036"/>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4" name="Phase"/>
            <p:cNvSpPr/>
            <p:nvPr/>
          </p:nvSpPr>
          <p:spPr>
            <a:xfrm>
              <a:off x="7626096" y="6355080"/>
              <a:ext cx="3035808" cy="3063240"/>
            </a:xfrm>
            <a:prstGeom prst="roundRect">
              <a:avLst>
                <a:gd name="adj" fmla="val 9036"/>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5" name="Phase n"/>
            <p:cNvSpPr txBox="1"/>
            <p:nvPr/>
          </p:nvSpPr>
          <p:spPr>
            <a:xfrm>
              <a:off x="7900416" y="6446520"/>
              <a:ext cx="1097280" cy="868680"/>
            </a:xfrm>
            <a:prstGeom prst="rect">
              <a:avLst/>
            </a:prstGeom>
            <a:noFill/>
          </p:spPr>
          <p:txBody>
            <a:bodyPr wrap="square" lIns="45720" rIns="45720" anchor="t"/>
            <a:lstStyle/>
            <a:p>
              <a:pPr algn="l">
                <a:lnSpc>
                  <a:spcPct val="100000"/>
                </a:lnSpc>
              </a:pPr>
              <a:r>
                <a:rPr sz="4400" b="0" i="0">
                  <a:solidFill>
                    <a:srgbClr val="C1FF72"/>
                  </a:solidFill>
                  <a:latin typeface="Oswald"/>
                </a:rPr>
                <a:t>3</a:t>
              </a:r>
            </a:p>
          </p:txBody>
        </p:sp>
        <p:sp>
          <p:nvSpPr>
            <p:cNvPr id="56" name="Phase title"/>
            <p:cNvSpPr txBox="1"/>
            <p:nvPr/>
          </p:nvSpPr>
          <p:spPr>
            <a:xfrm>
              <a:off x="7900416" y="7315200"/>
              <a:ext cx="2487168" cy="566928"/>
            </a:xfrm>
            <a:prstGeom prst="rect">
              <a:avLst/>
            </a:prstGeom>
            <a:noFill/>
          </p:spPr>
          <p:txBody>
            <a:bodyPr wrap="square" lIns="45720" rIns="45720" anchor="t"/>
            <a:lstStyle/>
            <a:p>
              <a:pPr algn="l">
                <a:lnSpc>
                  <a:spcPct val="100000"/>
                </a:lnSpc>
              </a:pPr>
              <a:r>
                <a:rPr sz="2100" b="0" i="0">
                  <a:solidFill>
                    <a:srgbClr val="EDEDED"/>
                  </a:solidFill>
                  <a:latin typeface="Oswald"/>
                </a:rPr>
                <a:t>FIT</a:t>
              </a:r>
            </a:p>
          </p:txBody>
        </p:sp>
        <p:sp>
          <p:nvSpPr>
            <p:cNvPr id="57" name="Phase text"/>
            <p:cNvSpPr txBox="1"/>
            <p:nvPr/>
          </p:nvSpPr>
          <p:spPr>
            <a:xfrm>
              <a:off x="7900416" y="7882127"/>
              <a:ext cx="2487168" cy="1417320"/>
            </a:xfrm>
            <a:prstGeom prst="rect">
              <a:avLst/>
            </a:prstGeom>
            <a:noFill/>
          </p:spPr>
          <p:txBody>
            <a:bodyPr wrap="square" lIns="45720" rIns="45720" anchor="t"/>
            <a:lstStyle/>
            <a:p>
              <a:pPr algn="l">
                <a:lnSpc>
                  <a:spcPct val="96000"/>
                </a:lnSpc>
              </a:pPr>
              <a:r>
                <a:rPr sz="1600" b="0" i="0">
                  <a:solidFill>
                    <a:srgbClr val="8E8E93"/>
                  </a:solidFill>
                  <a:latin typeface="Titillium Web"/>
                </a:rPr>
                <a:t>≤300 iterations, learning rate 0.1, 31 leaves, seed 42</a:t>
              </a:r>
            </a:p>
          </p:txBody>
        </p:sp>
      </p:grpSp>
      <p:grpSp>
        <p:nvGrpSpPr>
          <p:cNvPr id="64" name="Phase 146"/>
          <p:cNvGrpSpPr/>
          <p:nvPr/>
        </p:nvGrpSpPr>
        <p:grpSpPr>
          <a:xfrm>
            <a:off x="10936224" y="6355080"/>
            <a:ext cx="3035808" cy="3063240"/>
            <a:chOff x="10936224" y="6355080"/>
            <a:chExt cx="3035808" cy="3063240"/>
          </a:xfrm>
        </p:grpSpPr>
        <p:sp>
          <p:nvSpPr>
            <p:cNvPr id="59" name="Phase light"/>
            <p:cNvSpPr/>
            <p:nvPr/>
          </p:nvSpPr>
          <p:spPr>
            <a:xfrm>
              <a:off x="10936224" y="6355080"/>
              <a:ext cx="3035808" cy="3063240"/>
            </a:xfrm>
            <a:prstGeom prst="roundRect">
              <a:avLst>
                <a:gd name="adj" fmla="val 9036"/>
              </a:avLst>
            </a:prstGeom>
            <a:solidFill>
              <a:srgbClr val="33402A"/>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0" name="Phase"/>
            <p:cNvSpPr/>
            <p:nvPr/>
          </p:nvSpPr>
          <p:spPr>
            <a:xfrm>
              <a:off x="10936224" y="6355080"/>
              <a:ext cx="3035808" cy="3063240"/>
            </a:xfrm>
            <a:prstGeom prst="roundRect">
              <a:avLst>
                <a:gd name="adj" fmla="val 9036"/>
              </a:avLst>
            </a:prstGeom>
            <a:solidFill>
              <a:srgbClr val="33402A"/>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1" name="Phase n"/>
            <p:cNvSpPr txBox="1"/>
            <p:nvPr/>
          </p:nvSpPr>
          <p:spPr>
            <a:xfrm>
              <a:off x="11210544" y="6446520"/>
              <a:ext cx="1097280" cy="868680"/>
            </a:xfrm>
            <a:prstGeom prst="rect">
              <a:avLst/>
            </a:prstGeom>
            <a:noFill/>
          </p:spPr>
          <p:txBody>
            <a:bodyPr wrap="square" lIns="45720" rIns="45720" anchor="t"/>
            <a:lstStyle/>
            <a:p>
              <a:pPr algn="l">
                <a:lnSpc>
                  <a:spcPct val="100000"/>
                </a:lnSpc>
              </a:pPr>
              <a:r>
                <a:rPr sz="4400" b="0" i="0">
                  <a:solidFill>
                    <a:srgbClr val="C1FF72"/>
                  </a:solidFill>
                  <a:latin typeface="Oswald"/>
                </a:rPr>
                <a:t>4</a:t>
              </a:r>
            </a:p>
          </p:txBody>
        </p:sp>
        <p:sp>
          <p:nvSpPr>
            <p:cNvPr id="62" name="Phase title"/>
            <p:cNvSpPr txBox="1"/>
            <p:nvPr/>
          </p:nvSpPr>
          <p:spPr>
            <a:xfrm>
              <a:off x="11210544" y="7315200"/>
              <a:ext cx="2487168" cy="566928"/>
            </a:xfrm>
            <a:prstGeom prst="rect">
              <a:avLst/>
            </a:prstGeom>
            <a:noFill/>
          </p:spPr>
          <p:txBody>
            <a:bodyPr wrap="square" lIns="45720" rIns="45720" anchor="t"/>
            <a:lstStyle/>
            <a:p>
              <a:pPr algn="l">
                <a:lnSpc>
                  <a:spcPct val="100000"/>
                </a:lnSpc>
              </a:pPr>
              <a:r>
                <a:rPr sz="2100" b="0" i="0">
                  <a:solidFill>
                    <a:srgbClr val="EDEDED"/>
                  </a:solidFill>
                  <a:latin typeface="Oswald"/>
                </a:rPr>
                <a:t>THRESHOLDS</a:t>
              </a:r>
            </a:p>
          </p:txBody>
        </p:sp>
        <p:sp>
          <p:nvSpPr>
            <p:cNvPr id="63" name="Phase text"/>
            <p:cNvSpPr txBox="1"/>
            <p:nvPr/>
          </p:nvSpPr>
          <p:spPr>
            <a:xfrm>
              <a:off x="11210544" y="7882127"/>
              <a:ext cx="2487168" cy="1417320"/>
            </a:xfrm>
            <a:prstGeom prst="rect">
              <a:avLst/>
            </a:prstGeom>
            <a:noFill/>
          </p:spPr>
          <p:txBody>
            <a:bodyPr wrap="square" lIns="45720" rIns="45720" anchor="t"/>
            <a:lstStyle/>
            <a:p>
              <a:pPr algn="l">
                <a:lnSpc>
                  <a:spcPct val="96000"/>
                </a:lnSpc>
              </a:pPr>
              <a:r>
                <a:rPr sz="1600" b="0" i="0">
                  <a:solidFill>
                    <a:srgbClr val="8E8E93"/>
                  </a:solidFill>
                  <a:latin typeface="Titillium Web"/>
                </a:rPr>
                <a:t>at a 2% false-positive target, then held-out check</a:t>
              </a:r>
            </a:p>
          </p:txBody>
        </p:sp>
      </p:grpSp>
      <p:grpSp>
        <p:nvGrpSpPr>
          <p:cNvPr id="70" name="Phase 147"/>
          <p:cNvGrpSpPr/>
          <p:nvPr/>
        </p:nvGrpSpPr>
        <p:grpSpPr>
          <a:xfrm>
            <a:off x="14246352" y="6355080"/>
            <a:ext cx="3035808" cy="3063240"/>
            <a:chOff x="14246352" y="6355080"/>
            <a:chExt cx="3035808" cy="3063240"/>
          </a:xfrm>
        </p:grpSpPr>
        <p:sp>
          <p:nvSpPr>
            <p:cNvPr id="65" name="Phase light"/>
            <p:cNvSpPr/>
            <p:nvPr/>
          </p:nvSpPr>
          <p:spPr>
            <a:xfrm>
              <a:off x="14246352" y="6355080"/>
              <a:ext cx="3035808" cy="3063240"/>
            </a:xfrm>
            <a:prstGeom prst="roundRect">
              <a:avLst>
                <a:gd name="adj" fmla="val 9036"/>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6" name="Phase"/>
            <p:cNvSpPr/>
            <p:nvPr/>
          </p:nvSpPr>
          <p:spPr>
            <a:xfrm>
              <a:off x="14246352" y="6355080"/>
              <a:ext cx="3035808" cy="3063240"/>
            </a:xfrm>
            <a:prstGeom prst="roundRect">
              <a:avLst>
                <a:gd name="adj" fmla="val 9036"/>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7" name="Phase n"/>
            <p:cNvSpPr txBox="1"/>
            <p:nvPr/>
          </p:nvSpPr>
          <p:spPr>
            <a:xfrm>
              <a:off x="14520672" y="6446520"/>
              <a:ext cx="1097280" cy="868680"/>
            </a:xfrm>
            <a:prstGeom prst="rect">
              <a:avLst/>
            </a:prstGeom>
            <a:noFill/>
          </p:spPr>
          <p:txBody>
            <a:bodyPr wrap="square" lIns="45720" rIns="45720" anchor="t"/>
            <a:lstStyle/>
            <a:p>
              <a:pPr algn="l">
                <a:lnSpc>
                  <a:spcPct val="100000"/>
                </a:lnSpc>
              </a:pPr>
              <a:r>
                <a:rPr sz="4400" b="0" i="0">
                  <a:solidFill>
                    <a:srgbClr val="C1FF72"/>
                  </a:solidFill>
                  <a:latin typeface="Oswald"/>
                </a:rPr>
                <a:t>5</a:t>
              </a:r>
            </a:p>
          </p:txBody>
        </p:sp>
        <p:sp>
          <p:nvSpPr>
            <p:cNvPr id="68" name="Phase title"/>
            <p:cNvSpPr txBox="1"/>
            <p:nvPr/>
          </p:nvSpPr>
          <p:spPr>
            <a:xfrm>
              <a:off x="14520672" y="7315200"/>
              <a:ext cx="2487168" cy="566928"/>
            </a:xfrm>
            <a:prstGeom prst="rect">
              <a:avLst/>
            </a:prstGeom>
            <a:noFill/>
          </p:spPr>
          <p:txBody>
            <a:bodyPr wrap="square" lIns="45720" rIns="45720" anchor="t"/>
            <a:lstStyle/>
            <a:p>
              <a:pPr algn="l">
                <a:lnSpc>
                  <a:spcPct val="100000"/>
                </a:lnSpc>
              </a:pPr>
              <a:r>
                <a:rPr sz="2100" b="0" i="0">
                  <a:solidFill>
                    <a:srgbClr val="EDEDED"/>
                  </a:solidFill>
                  <a:latin typeface="Oswald"/>
                </a:rPr>
                <a:t>PUBLISH</a:t>
              </a:r>
            </a:p>
          </p:txBody>
        </p:sp>
        <p:sp>
          <p:nvSpPr>
            <p:cNvPr id="69" name="Phase text"/>
            <p:cNvSpPr txBox="1"/>
            <p:nvPr/>
          </p:nvSpPr>
          <p:spPr>
            <a:xfrm>
              <a:off x="14520672" y="7882127"/>
              <a:ext cx="2487168" cy="1417320"/>
            </a:xfrm>
            <a:prstGeom prst="rect">
              <a:avLst/>
            </a:prstGeom>
            <a:noFill/>
          </p:spPr>
          <p:txBody>
            <a:bodyPr wrap="square" lIns="45720" rIns="45720" anchor="t"/>
            <a:lstStyle/>
            <a:p>
              <a:pPr algn="l">
                <a:lnSpc>
                  <a:spcPct val="96000"/>
                </a:lnSpc>
              </a:pPr>
              <a:r>
                <a:rPr sz="1600" b="0" i="0">
                  <a:solidFill>
                    <a:srgbClr val="8E8E93"/>
                  </a:solidFill>
                  <a:latin typeface="Titillium Web"/>
                </a:rPr>
                <a:t>only accepted models, with their metadata</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anim calcmode="lin" valueType="num">
                                      <p:cBhvr>
                                        <p:cTn id="11" dur="500" fill="hold"/>
                                        <p:tgtEl>
                                          <p:spTgt spid="12"/>
                                        </p:tgtEl>
                                        <p:attrNameLst>
                                          <p:attrName>ppt_x</p:attrName>
                                        </p:attrNameLst>
                                      </p:cBhvr>
                                      <p:tavLst>
                                        <p:tav tm="0">
                                          <p:val>
                                            <p:strVal val="#ppt_x"/>
                                          </p:val>
                                        </p:tav>
                                        <p:tav tm="100000">
                                          <p:val>
                                            <p:strVal val="#ppt_x"/>
                                          </p:val>
                                        </p:tav>
                                      </p:tavLst>
                                    </p:anim>
                                    <p:anim calcmode="lin" valueType="num">
                                      <p:cBhvr>
                                        <p:cTn id="12" dur="450" decel="100000" fill="hold"/>
                                        <p:tgtEl>
                                          <p:spTgt spid="12"/>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par>
                          <p:cTn id="14" fill="hold">
                            <p:stCondLst>
                              <p:cond delay="14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2250"/>
                            </p:stCondLst>
                            <p:childTnLst>
                              <p:par>
                                <p:cTn id="19" presetID="2" presetClass="entr" presetSubtype="4" fill="hold" nodeType="after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additive="base">
                                        <p:cTn id="21" dur="500" fill="hold"/>
                                        <p:tgtEl>
                                          <p:spTgt spid="22"/>
                                        </p:tgtEl>
                                        <p:attrNameLst>
                                          <p:attrName>ppt_x</p:attrName>
                                        </p:attrNameLst>
                                      </p:cBhvr>
                                      <p:tavLst>
                                        <p:tav tm="0">
                                          <p:val>
                                            <p:strVal val="#ppt_x"/>
                                          </p:val>
                                        </p:tav>
                                        <p:tav tm="100000">
                                          <p:val>
                                            <p:strVal val="#ppt_x"/>
                                          </p:val>
                                        </p:tav>
                                      </p:tavLst>
                                    </p:anim>
                                    <p:anim calcmode="lin" valueType="num">
                                      <p:cBhvr additive="base">
                                        <p:cTn id="22" dur="500" fill="hold"/>
                                        <p:tgtEl>
                                          <p:spTgt spid="22"/>
                                        </p:tgtEl>
                                        <p:attrNameLst>
                                          <p:attrName>ppt_y</p:attrName>
                                        </p:attrNameLst>
                                      </p:cBhvr>
                                      <p:tavLst>
                                        <p:tav tm="0">
                                          <p:val>
                                            <p:strVal val="1+#ppt_h/2"/>
                                          </p:val>
                                        </p:tav>
                                        <p:tav tm="100000">
                                          <p:val>
                                            <p:strVal val="#ppt_y"/>
                                          </p:val>
                                        </p:tav>
                                      </p:tavLst>
                                    </p:anim>
                                  </p:childTnLst>
                                </p:cTn>
                              </p:par>
                            </p:childTnLst>
                          </p:cTn>
                        </p:par>
                        <p:par>
                          <p:cTn id="23" fill="hold">
                            <p:stCondLst>
                              <p:cond delay="2750"/>
                            </p:stCondLst>
                            <p:childTnLst>
                              <p:par>
                                <p:cTn id="24" presetID="2" presetClass="entr" presetSubtype="4" fill="hold" nodeType="afterEffect">
                                  <p:stCondLst>
                                    <p:cond delay="0"/>
                                  </p:stCondLst>
                                  <p:childTnLst>
                                    <p:set>
                                      <p:cBhvr>
                                        <p:cTn id="25" dur="1" fill="hold">
                                          <p:stCondLst>
                                            <p:cond delay="0"/>
                                          </p:stCondLst>
                                        </p:cTn>
                                        <p:tgtEl>
                                          <p:spTgt spid="28"/>
                                        </p:tgtEl>
                                        <p:attrNameLst>
                                          <p:attrName>style.visibility</p:attrName>
                                        </p:attrNameLst>
                                      </p:cBhvr>
                                      <p:to>
                                        <p:strVal val="visible"/>
                                      </p:to>
                                    </p:set>
                                    <p:anim calcmode="lin" valueType="num">
                                      <p:cBhvr additive="base">
                                        <p:cTn id="26" dur="500" fill="hold"/>
                                        <p:tgtEl>
                                          <p:spTgt spid="28"/>
                                        </p:tgtEl>
                                        <p:attrNameLst>
                                          <p:attrName>ppt_x</p:attrName>
                                        </p:attrNameLst>
                                      </p:cBhvr>
                                      <p:tavLst>
                                        <p:tav tm="0">
                                          <p:val>
                                            <p:strVal val="#ppt_x"/>
                                          </p:val>
                                        </p:tav>
                                        <p:tav tm="100000">
                                          <p:val>
                                            <p:strVal val="#ppt_x"/>
                                          </p:val>
                                        </p:tav>
                                      </p:tavLst>
                                    </p:anim>
                                    <p:anim calcmode="lin" valueType="num">
                                      <p:cBhvr additive="base">
                                        <p:cTn id="27" dur="500" fill="hold"/>
                                        <p:tgtEl>
                                          <p:spTgt spid="28"/>
                                        </p:tgtEl>
                                        <p:attrNameLst>
                                          <p:attrName>ppt_y</p:attrName>
                                        </p:attrNameLst>
                                      </p:cBhvr>
                                      <p:tavLst>
                                        <p:tav tm="0">
                                          <p:val>
                                            <p:strVal val="1+#ppt_h/2"/>
                                          </p:val>
                                        </p:tav>
                                        <p:tav tm="100000">
                                          <p:val>
                                            <p:strVal val="#ppt_y"/>
                                          </p:val>
                                        </p:tav>
                                      </p:tavLst>
                                    </p:anim>
                                  </p:childTnLst>
                                </p:cTn>
                              </p:par>
                            </p:childTnLst>
                          </p:cTn>
                        </p:par>
                        <p:par>
                          <p:cTn id="28" fill="hold">
                            <p:stCondLst>
                              <p:cond delay="3250"/>
                            </p:stCondLst>
                            <p:childTnLst>
                              <p:par>
                                <p:cTn id="29" presetID="2" presetClass="entr" presetSubtype="4" fill="hold" nodeType="after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additive="base">
                                        <p:cTn id="31" dur="500" fill="hold"/>
                                        <p:tgtEl>
                                          <p:spTgt spid="34"/>
                                        </p:tgtEl>
                                        <p:attrNameLst>
                                          <p:attrName>ppt_x</p:attrName>
                                        </p:attrNameLst>
                                      </p:cBhvr>
                                      <p:tavLst>
                                        <p:tav tm="0">
                                          <p:val>
                                            <p:strVal val="#ppt_x"/>
                                          </p:val>
                                        </p:tav>
                                        <p:tav tm="100000">
                                          <p:val>
                                            <p:strVal val="#ppt_x"/>
                                          </p:val>
                                        </p:tav>
                                      </p:tavLst>
                                    </p:anim>
                                    <p:anim calcmode="lin" valueType="num">
                                      <p:cBhvr additive="base">
                                        <p:cTn id="32" dur="500" fill="hold"/>
                                        <p:tgtEl>
                                          <p:spTgt spid="34"/>
                                        </p:tgtEl>
                                        <p:attrNameLst>
                                          <p:attrName>ppt_y</p:attrName>
                                        </p:attrNameLst>
                                      </p:cBhvr>
                                      <p:tavLst>
                                        <p:tav tm="0">
                                          <p:val>
                                            <p:strVal val="1+#ppt_h/2"/>
                                          </p:val>
                                        </p:tav>
                                        <p:tav tm="100000">
                                          <p:val>
                                            <p:strVal val="#ppt_y"/>
                                          </p:val>
                                        </p:tav>
                                      </p:tavLst>
                                    </p:anim>
                                  </p:childTnLst>
                                </p:cTn>
                              </p:par>
                            </p:childTnLst>
                          </p:cTn>
                        </p:par>
                        <p:par>
                          <p:cTn id="33" fill="hold">
                            <p:stCondLst>
                              <p:cond delay="3750"/>
                            </p:stCondLst>
                            <p:childTnLst>
                              <p:par>
                                <p:cTn id="34" presetID="2" presetClass="entr" presetSubtype="4" fill="hold" nodeType="afterEffect">
                                  <p:stCondLst>
                                    <p:cond delay="0"/>
                                  </p:stCondLst>
                                  <p:childTnLst>
                                    <p:set>
                                      <p:cBhvr>
                                        <p:cTn id="35" dur="1" fill="hold">
                                          <p:stCondLst>
                                            <p:cond delay="0"/>
                                          </p:stCondLst>
                                        </p:cTn>
                                        <p:tgtEl>
                                          <p:spTgt spid="40"/>
                                        </p:tgtEl>
                                        <p:attrNameLst>
                                          <p:attrName>style.visibility</p:attrName>
                                        </p:attrNameLst>
                                      </p:cBhvr>
                                      <p:to>
                                        <p:strVal val="visible"/>
                                      </p:to>
                                    </p:set>
                                    <p:anim calcmode="lin" valueType="num">
                                      <p:cBhvr additive="base">
                                        <p:cTn id="36" dur="500" fill="hold"/>
                                        <p:tgtEl>
                                          <p:spTgt spid="40"/>
                                        </p:tgtEl>
                                        <p:attrNameLst>
                                          <p:attrName>ppt_x</p:attrName>
                                        </p:attrNameLst>
                                      </p:cBhvr>
                                      <p:tavLst>
                                        <p:tav tm="0">
                                          <p:val>
                                            <p:strVal val="#ppt_x"/>
                                          </p:val>
                                        </p:tav>
                                        <p:tav tm="100000">
                                          <p:val>
                                            <p:strVal val="#ppt_x"/>
                                          </p:val>
                                        </p:tav>
                                      </p:tavLst>
                                    </p:anim>
                                    <p:anim calcmode="lin" valueType="num">
                                      <p:cBhvr additive="base">
                                        <p:cTn id="37" dur="500" fill="hold"/>
                                        <p:tgtEl>
                                          <p:spTgt spid="40"/>
                                        </p:tgtEl>
                                        <p:attrNameLst>
                                          <p:attrName>ppt_y</p:attrName>
                                        </p:attrNameLst>
                                      </p:cBhvr>
                                      <p:tavLst>
                                        <p:tav tm="0">
                                          <p:val>
                                            <p:strVal val="1+#ppt_h/2"/>
                                          </p:val>
                                        </p:tav>
                                        <p:tav tm="100000">
                                          <p:val>
                                            <p:strVal val="#ppt_y"/>
                                          </p:val>
                                        </p:tav>
                                      </p:tavLst>
                                    </p:anim>
                                  </p:childTnLst>
                                </p:cTn>
                              </p:par>
                            </p:childTnLst>
                          </p:cTn>
                        </p:par>
                        <p:par>
                          <p:cTn id="38" fill="hold">
                            <p:stCondLst>
                              <p:cond delay="4250"/>
                            </p:stCondLst>
                            <p:childTnLst>
                              <p:par>
                                <p:cTn id="39" presetID="2" presetClass="entr" presetSubtype="8" fill="hold" nodeType="afterEffect">
                                  <p:stCondLst>
                                    <p:cond delay="0"/>
                                  </p:stCondLst>
                                  <p:childTnLst>
                                    <p:set>
                                      <p:cBhvr>
                                        <p:cTn id="40" dur="1" fill="hold">
                                          <p:stCondLst>
                                            <p:cond delay="0"/>
                                          </p:stCondLst>
                                        </p:cTn>
                                        <p:tgtEl>
                                          <p:spTgt spid="46"/>
                                        </p:tgtEl>
                                        <p:attrNameLst>
                                          <p:attrName>style.visibility</p:attrName>
                                        </p:attrNameLst>
                                      </p:cBhvr>
                                      <p:to>
                                        <p:strVal val="visible"/>
                                      </p:to>
                                    </p:set>
                                    <p:anim calcmode="lin" valueType="num">
                                      <p:cBhvr additive="base">
                                        <p:cTn id="41" dur="500" fill="hold"/>
                                        <p:tgtEl>
                                          <p:spTgt spid="46"/>
                                        </p:tgtEl>
                                        <p:attrNameLst>
                                          <p:attrName>ppt_x</p:attrName>
                                        </p:attrNameLst>
                                      </p:cBhvr>
                                      <p:tavLst>
                                        <p:tav tm="0">
                                          <p:val>
                                            <p:strVal val="0-#ppt_w/2"/>
                                          </p:val>
                                        </p:tav>
                                        <p:tav tm="100000">
                                          <p:val>
                                            <p:strVal val="#ppt_x"/>
                                          </p:val>
                                        </p:tav>
                                      </p:tavLst>
                                    </p:anim>
                                    <p:anim calcmode="lin" valueType="num">
                                      <p:cBhvr additive="base">
                                        <p:cTn id="42" dur="500" fill="hold"/>
                                        <p:tgtEl>
                                          <p:spTgt spid="46"/>
                                        </p:tgtEl>
                                        <p:attrNameLst>
                                          <p:attrName>ppt_y</p:attrName>
                                        </p:attrNameLst>
                                      </p:cBhvr>
                                      <p:tavLst>
                                        <p:tav tm="0">
                                          <p:val>
                                            <p:strVal val="#ppt_y"/>
                                          </p:val>
                                        </p:tav>
                                        <p:tav tm="100000">
                                          <p:val>
                                            <p:strVal val="#ppt_y"/>
                                          </p:val>
                                        </p:tav>
                                      </p:tavLst>
                                    </p:anim>
                                  </p:childTnLst>
                                </p:cTn>
                              </p:par>
                            </p:childTnLst>
                          </p:cTn>
                        </p:par>
                        <p:par>
                          <p:cTn id="43" fill="hold">
                            <p:stCondLst>
                              <p:cond delay="4750"/>
                            </p:stCondLst>
                            <p:childTnLst>
                              <p:par>
                                <p:cTn id="44" presetID="2" presetClass="entr" presetSubtype="8" fill="hold" nodeType="afterEffect">
                                  <p:stCondLst>
                                    <p:cond delay="0"/>
                                  </p:stCondLst>
                                  <p:childTnLst>
                                    <p:set>
                                      <p:cBhvr>
                                        <p:cTn id="45" dur="1" fill="hold">
                                          <p:stCondLst>
                                            <p:cond delay="0"/>
                                          </p:stCondLst>
                                        </p:cTn>
                                        <p:tgtEl>
                                          <p:spTgt spid="52"/>
                                        </p:tgtEl>
                                        <p:attrNameLst>
                                          <p:attrName>style.visibility</p:attrName>
                                        </p:attrNameLst>
                                      </p:cBhvr>
                                      <p:to>
                                        <p:strVal val="visible"/>
                                      </p:to>
                                    </p:set>
                                    <p:anim calcmode="lin" valueType="num">
                                      <p:cBhvr additive="base">
                                        <p:cTn id="46" dur="500" fill="hold"/>
                                        <p:tgtEl>
                                          <p:spTgt spid="52"/>
                                        </p:tgtEl>
                                        <p:attrNameLst>
                                          <p:attrName>ppt_x</p:attrName>
                                        </p:attrNameLst>
                                      </p:cBhvr>
                                      <p:tavLst>
                                        <p:tav tm="0">
                                          <p:val>
                                            <p:strVal val="0-#ppt_w/2"/>
                                          </p:val>
                                        </p:tav>
                                        <p:tav tm="100000">
                                          <p:val>
                                            <p:strVal val="#ppt_x"/>
                                          </p:val>
                                        </p:tav>
                                      </p:tavLst>
                                    </p:anim>
                                    <p:anim calcmode="lin" valueType="num">
                                      <p:cBhvr additive="base">
                                        <p:cTn id="47" dur="500" fill="hold"/>
                                        <p:tgtEl>
                                          <p:spTgt spid="52"/>
                                        </p:tgtEl>
                                        <p:attrNameLst>
                                          <p:attrName>ppt_y</p:attrName>
                                        </p:attrNameLst>
                                      </p:cBhvr>
                                      <p:tavLst>
                                        <p:tav tm="0">
                                          <p:val>
                                            <p:strVal val="#ppt_y"/>
                                          </p:val>
                                        </p:tav>
                                        <p:tav tm="100000">
                                          <p:val>
                                            <p:strVal val="#ppt_y"/>
                                          </p:val>
                                        </p:tav>
                                      </p:tavLst>
                                    </p:anim>
                                  </p:childTnLst>
                                </p:cTn>
                              </p:par>
                            </p:childTnLst>
                          </p:cTn>
                        </p:par>
                        <p:par>
                          <p:cTn id="48" fill="hold">
                            <p:stCondLst>
                              <p:cond delay="5250"/>
                            </p:stCondLst>
                            <p:childTnLst>
                              <p:par>
                                <p:cTn id="49" presetID="2" presetClass="entr" presetSubtype="8" fill="hold" nodeType="afterEffect">
                                  <p:stCondLst>
                                    <p:cond delay="0"/>
                                  </p:stCondLst>
                                  <p:childTnLst>
                                    <p:set>
                                      <p:cBhvr>
                                        <p:cTn id="50" dur="1" fill="hold">
                                          <p:stCondLst>
                                            <p:cond delay="0"/>
                                          </p:stCondLst>
                                        </p:cTn>
                                        <p:tgtEl>
                                          <p:spTgt spid="58"/>
                                        </p:tgtEl>
                                        <p:attrNameLst>
                                          <p:attrName>style.visibility</p:attrName>
                                        </p:attrNameLst>
                                      </p:cBhvr>
                                      <p:to>
                                        <p:strVal val="visible"/>
                                      </p:to>
                                    </p:set>
                                    <p:anim calcmode="lin" valueType="num">
                                      <p:cBhvr additive="base">
                                        <p:cTn id="51" dur="500" fill="hold"/>
                                        <p:tgtEl>
                                          <p:spTgt spid="58"/>
                                        </p:tgtEl>
                                        <p:attrNameLst>
                                          <p:attrName>ppt_x</p:attrName>
                                        </p:attrNameLst>
                                      </p:cBhvr>
                                      <p:tavLst>
                                        <p:tav tm="0">
                                          <p:val>
                                            <p:strVal val="0-#ppt_w/2"/>
                                          </p:val>
                                        </p:tav>
                                        <p:tav tm="100000">
                                          <p:val>
                                            <p:strVal val="#ppt_x"/>
                                          </p:val>
                                        </p:tav>
                                      </p:tavLst>
                                    </p:anim>
                                    <p:anim calcmode="lin" valueType="num">
                                      <p:cBhvr additive="base">
                                        <p:cTn id="52" dur="500" fill="hold"/>
                                        <p:tgtEl>
                                          <p:spTgt spid="58"/>
                                        </p:tgtEl>
                                        <p:attrNameLst>
                                          <p:attrName>ppt_y</p:attrName>
                                        </p:attrNameLst>
                                      </p:cBhvr>
                                      <p:tavLst>
                                        <p:tav tm="0">
                                          <p:val>
                                            <p:strVal val="#ppt_y"/>
                                          </p:val>
                                        </p:tav>
                                        <p:tav tm="100000">
                                          <p:val>
                                            <p:strVal val="#ppt_y"/>
                                          </p:val>
                                        </p:tav>
                                      </p:tavLst>
                                    </p:anim>
                                  </p:childTnLst>
                                </p:cTn>
                              </p:par>
                            </p:childTnLst>
                          </p:cTn>
                        </p:par>
                        <p:par>
                          <p:cTn id="53" fill="hold">
                            <p:stCondLst>
                              <p:cond delay="5750"/>
                            </p:stCondLst>
                            <p:childTnLst>
                              <p:par>
                                <p:cTn id="54" presetID="2" presetClass="entr" presetSubtype="8" fill="hold" nodeType="afterEffect">
                                  <p:stCondLst>
                                    <p:cond delay="0"/>
                                  </p:stCondLst>
                                  <p:childTnLst>
                                    <p:set>
                                      <p:cBhvr>
                                        <p:cTn id="55" dur="1" fill="hold">
                                          <p:stCondLst>
                                            <p:cond delay="0"/>
                                          </p:stCondLst>
                                        </p:cTn>
                                        <p:tgtEl>
                                          <p:spTgt spid="64"/>
                                        </p:tgtEl>
                                        <p:attrNameLst>
                                          <p:attrName>style.visibility</p:attrName>
                                        </p:attrNameLst>
                                      </p:cBhvr>
                                      <p:to>
                                        <p:strVal val="visible"/>
                                      </p:to>
                                    </p:set>
                                    <p:anim calcmode="lin" valueType="num">
                                      <p:cBhvr additive="base">
                                        <p:cTn id="56" dur="500" fill="hold"/>
                                        <p:tgtEl>
                                          <p:spTgt spid="64"/>
                                        </p:tgtEl>
                                        <p:attrNameLst>
                                          <p:attrName>ppt_x</p:attrName>
                                        </p:attrNameLst>
                                      </p:cBhvr>
                                      <p:tavLst>
                                        <p:tav tm="0">
                                          <p:val>
                                            <p:strVal val="0-#ppt_w/2"/>
                                          </p:val>
                                        </p:tav>
                                        <p:tav tm="100000">
                                          <p:val>
                                            <p:strVal val="#ppt_x"/>
                                          </p:val>
                                        </p:tav>
                                      </p:tavLst>
                                    </p:anim>
                                    <p:anim calcmode="lin" valueType="num">
                                      <p:cBhvr additive="base">
                                        <p:cTn id="57" dur="500" fill="hold"/>
                                        <p:tgtEl>
                                          <p:spTgt spid="64"/>
                                        </p:tgtEl>
                                        <p:attrNameLst>
                                          <p:attrName>ppt_y</p:attrName>
                                        </p:attrNameLst>
                                      </p:cBhvr>
                                      <p:tavLst>
                                        <p:tav tm="0">
                                          <p:val>
                                            <p:strVal val="#ppt_y"/>
                                          </p:val>
                                        </p:tav>
                                        <p:tav tm="100000">
                                          <p:val>
                                            <p:strVal val="#ppt_y"/>
                                          </p:val>
                                        </p:tav>
                                      </p:tavLst>
                                    </p:anim>
                                  </p:childTnLst>
                                </p:cTn>
                              </p:par>
                            </p:childTnLst>
                          </p:cTn>
                        </p:par>
                        <p:par>
                          <p:cTn id="58" fill="hold">
                            <p:stCondLst>
                              <p:cond delay="6250"/>
                            </p:stCondLst>
                            <p:childTnLst>
                              <p:par>
                                <p:cTn id="59" presetID="2" presetClass="entr" presetSubtype="8" fill="hold" nodeType="afterEffect">
                                  <p:stCondLst>
                                    <p:cond delay="0"/>
                                  </p:stCondLst>
                                  <p:childTnLst>
                                    <p:set>
                                      <p:cBhvr>
                                        <p:cTn id="60" dur="1" fill="hold">
                                          <p:stCondLst>
                                            <p:cond delay="0"/>
                                          </p:stCondLst>
                                        </p:cTn>
                                        <p:tgtEl>
                                          <p:spTgt spid="70"/>
                                        </p:tgtEl>
                                        <p:attrNameLst>
                                          <p:attrName>style.visibility</p:attrName>
                                        </p:attrNameLst>
                                      </p:cBhvr>
                                      <p:to>
                                        <p:strVal val="visible"/>
                                      </p:to>
                                    </p:set>
                                    <p:anim calcmode="lin" valueType="num">
                                      <p:cBhvr additive="base">
                                        <p:cTn id="61" dur="500" fill="hold"/>
                                        <p:tgtEl>
                                          <p:spTgt spid="70"/>
                                        </p:tgtEl>
                                        <p:attrNameLst>
                                          <p:attrName>ppt_x</p:attrName>
                                        </p:attrNameLst>
                                      </p:cBhvr>
                                      <p:tavLst>
                                        <p:tav tm="0">
                                          <p:val>
                                            <p:strVal val="0-#ppt_w/2"/>
                                          </p:val>
                                        </p:tav>
                                        <p:tav tm="100000">
                                          <p:val>
                                            <p:strVal val="#ppt_x"/>
                                          </p:val>
                                        </p:tav>
                                      </p:tavLst>
                                    </p:anim>
                                    <p:anim calcmode="lin" valueType="num">
                                      <p:cBhvr additive="base">
                                        <p:cTn id="62" dur="500" fill="hold"/>
                                        <p:tgtEl>
                                          <p:spTgt spid="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32325"/>
        </a:solidFill>
        <a:effectLst/>
      </p:bgPr>
    </p:bg>
    <p:spTree>
      <p:nvGrpSpPr>
        <p:cNvPr id="1" name=""/>
        <p:cNvGrpSpPr/>
        <p:nvPr/>
      </p:nvGrpSpPr>
      <p:grpSpPr>
        <a:xfrm>
          <a:off x="0" y="0"/>
          <a:ext cx="0" cy="0"/>
          <a:chOff x="0" y="0"/>
          <a:chExt cx="0" cy="0"/>
        </a:xfrm>
      </p:grpSpPr>
      <p:sp>
        <p:nvSpPr>
          <p:cNvPr id="2" name="!!seg8"/>
          <p:cNvSpPr/>
          <p:nvPr/>
        </p:nvSpPr>
        <p:spPr>
          <a:xfrm>
            <a:off x="16971264"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seg7"/>
          <p:cNvSpPr/>
          <p:nvPr/>
        </p:nvSpPr>
        <p:spPr>
          <a:xfrm>
            <a:off x="16568927"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seg6"/>
          <p:cNvSpPr/>
          <p:nvPr/>
        </p:nvSpPr>
        <p:spPr>
          <a:xfrm>
            <a:off x="15380207" y="566928"/>
            <a:ext cx="1097280" cy="118872"/>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seg5"/>
          <p:cNvSpPr/>
          <p:nvPr/>
        </p:nvSpPr>
        <p:spPr>
          <a:xfrm>
            <a:off x="14977871"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seg4"/>
          <p:cNvSpPr/>
          <p:nvPr/>
        </p:nvSpPr>
        <p:spPr>
          <a:xfrm>
            <a:off x="14575535"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eg3"/>
          <p:cNvSpPr/>
          <p:nvPr/>
        </p:nvSpPr>
        <p:spPr>
          <a:xfrm>
            <a:off x="14173199"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eg2"/>
          <p:cNvSpPr/>
          <p:nvPr/>
        </p:nvSpPr>
        <p:spPr>
          <a:xfrm>
            <a:off x="13770863"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seg1"/>
          <p:cNvSpPr/>
          <p:nvPr/>
        </p:nvSpPr>
        <p:spPr>
          <a:xfrm>
            <a:off x="1336852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egno"/>
          <p:cNvSpPr txBox="1"/>
          <p:nvPr/>
        </p:nvSpPr>
        <p:spPr>
          <a:xfrm>
            <a:off x="10808207" y="429768"/>
            <a:ext cx="2423160" cy="384048"/>
          </a:xfrm>
          <a:prstGeom prst="rect">
            <a:avLst/>
          </a:prstGeom>
          <a:noFill/>
        </p:spPr>
        <p:txBody>
          <a:bodyPr wrap="square" lIns="45720" rIns="45720" anchor="t"/>
          <a:lstStyle/>
          <a:p>
            <a:pPr algn="r">
              <a:lnSpc>
                <a:spcPct val="100000"/>
              </a:lnSpc>
            </a:pPr>
            <a:r>
              <a:rPr sz="1500" b="0" i="0">
                <a:solidFill>
                  <a:srgbClr val="8E8E93"/>
                </a:solidFill>
                <a:latin typeface="Oswald"/>
              </a:rPr>
              <a:t>06 / 08</a:t>
            </a:r>
          </a:p>
        </p:txBody>
      </p:sp>
      <p:sp>
        <p:nvSpPr>
          <p:cNvPr id="11" name="Kicker 148"/>
          <p:cNvSpPr txBox="1"/>
          <p:nvPr/>
        </p:nvSpPr>
        <p:spPr>
          <a:xfrm>
            <a:off x="1005840" y="457200"/>
            <a:ext cx="8229600" cy="411480"/>
          </a:xfrm>
          <a:prstGeom prst="rect">
            <a:avLst/>
          </a:prstGeom>
          <a:noFill/>
        </p:spPr>
        <p:txBody>
          <a:bodyPr wrap="square" lIns="45720" rIns="45720" anchor="t"/>
          <a:lstStyle/>
          <a:p>
            <a:pPr algn="l">
              <a:lnSpc>
                <a:spcPct val="100000"/>
              </a:lnSpc>
            </a:pPr>
            <a:r>
              <a:rPr sz="1600" b="1" i="0">
                <a:solidFill>
                  <a:srgbClr val="C1FF72"/>
                </a:solidFill>
                <a:latin typeface="Titillium Web"/>
              </a:rPr>
              <a:t>06  ·  METHODS AND MATERIALS USED  ·  6 OF 6</a:t>
            </a:r>
          </a:p>
        </p:txBody>
      </p:sp>
      <p:sp>
        <p:nvSpPr>
          <p:cNvPr id="12" name="Title 149"/>
          <p:cNvSpPr txBox="1"/>
          <p:nvPr/>
        </p:nvSpPr>
        <p:spPr>
          <a:xfrm>
            <a:off x="1005840" y="841248"/>
            <a:ext cx="10972800" cy="1051560"/>
          </a:xfrm>
          <a:prstGeom prst="rect">
            <a:avLst/>
          </a:prstGeom>
          <a:noFill/>
        </p:spPr>
        <p:txBody>
          <a:bodyPr wrap="square" lIns="45720" rIns="45720" anchor="t"/>
          <a:lstStyle/>
          <a:p>
            <a:pPr algn="l">
              <a:lnSpc>
                <a:spcPct val="100000"/>
              </a:lnSpc>
            </a:pPr>
            <a:r>
              <a:rPr sz="5400" b="0" i="0">
                <a:solidFill>
                  <a:srgbClr val="EDEDED"/>
                </a:solidFill>
                <a:latin typeface="Oswald"/>
              </a:rPr>
              <a:t>EVALUATION DESIGN</a:t>
            </a:r>
          </a:p>
        </p:txBody>
      </p:sp>
      <p:sp>
        <p:nvSpPr>
          <p:cNvPr id="13" name="Subtitle 150"/>
          <p:cNvSpPr txBox="1"/>
          <p:nvPr/>
        </p:nvSpPr>
        <p:spPr>
          <a:xfrm>
            <a:off x="1005840" y="1828800"/>
            <a:ext cx="10972800" cy="502920"/>
          </a:xfrm>
          <a:prstGeom prst="rect">
            <a:avLst/>
          </a:prstGeom>
          <a:noFill/>
        </p:spPr>
        <p:txBody>
          <a:bodyPr wrap="square" lIns="45720" rIns="45720" anchor="t"/>
          <a:lstStyle/>
          <a:p>
            <a:pPr algn="l">
              <a:lnSpc>
                <a:spcPct val="100000"/>
              </a:lnSpc>
            </a:pPr>
            <a:r>
              <a:rPr sz="2100" b="0" i="0">
                <a:solidFill>
                  <a:srgbClr val="8E8E93"/>
                </a:solidFill>
                <a:latin typeface="Titillium Web"/>
              </a:rPr>
              <a:t>300 URLs and four criteria set before testing</a:t>
            </a:r>
          </a:p>
        </p:txBody>
      </p:sp>
      <p:sp>
        <p:nvSpPr>
          <p:cNvPr id="14" name="Source"/>
          <p:cNvSpPr txBox="1"/>
          <p:nvPr/>
        </p:nvSpPr>
        <p:spPr>
          <a:xfrm>
            <a:off x="1005840" y="9710928"/>
            <a:ext cx="14447520" cy="347472"/>
          </a:xfrm>
          <a:prstGeom prst="rect">
            <a:avLst/>
          </a:prstGeom>
          <a:noFill/>
        </p:spPr>
        <p:txBody>
          <a:bodyPr wrap="square" lIns="45720" rIns="45720" anchor="t"/>
          <a:lstStyle/>
          <a:p>
            <a:pPr algn="l">
              <a:lnSpc>
                <a:spcPct val="100000"/>
              </a:lnSpc>
            </a:pPr>
            <a:r>
              <a:rPr sz="1300" b="0" i="0">
                <a:solidFill>
                  <a:srgbClr val="5C5C61"/>
                </a:solidFill>
                <a:latin typeface="Titillium Web"/>
              </a:rPr>
              <a:t>Thesis §3.9 Evaluation Methodology; §4.3</a:t>
            </a:r>
          </a:p>
        </p:txBody>
      </p:sp>
      <p:sp>
        <p:nvSpPr>
          <p:cNvPr id="15" name="Page"/>
          <p:cNvSpPr txBox="1"/>
          <p:nvPr/>
        </p:nvSpPr>
        <p:spPr>
          <a:xfrm>
            <a:off x="15453359" y="9710928"/>
            <a:ext cx="1828800" cy="347472"/>
          </a:xfrm>
          <a:prstGeom prst="rect">
            <a:avLst/>
          </a:prstGeom>
          <a:noFill/>
        </p:spPr>
        <p:txBody>
          <a:bodyPr wrap="square" lIns="45720" rIns="45720" anchor="t"/>
          <a:lstStyle/>
          <a:p>
            <a:pPr algn="r">
              <a:lnSpc>
                <a:spcPct val="100000"/>
              </a:lnSpc>
            </a:pPr>
            <a:r>
              <a:rPr sz="1300" b="0" i="0">
                <a:solidFill>
                  <a:srgbClr val="5C5C61"/>
                </a:solidFill>
                <a:latin typeface="Oswald"/>
              </a:rPr>
              <a:t>13</a:t>
            </a:r>
          </a:p>
        </p:txBody>
      </p:sp>
      <p:pic>
        <p:nvPicPr>
          <p:cNvPr id="16" name="!!photo" descr="5380792-0.475-0.50-0.50.jpg"/>
          <p:cNvPicPr>
            <a:picLocks noChangeAspect="1"/>
          </p:cNvPicPr>
          <p:nvPr/>
        </p:nvPicPr>
        <p:blipFill>
          <a:blip r:embed="rId3"/>
          <a:stretch>
            <a:fillRect/>
          </a:stretch>
        </p:blipFill>
        <p:spPr>
          <a:xfrm>
            <a:off x="13304520" y="1051560"/>
            <a:ext cx="3977639" cy="8366760"/>
          </a:xfrm>
          <a:prstGeom prst="roundRect">
            <a:avLst>
              <a:gd name="adj" fmla="val 8045"/>
            </a:avLst>
          </a:prstGeom>
          <a:effectLst>
            <a:outerShdw blurRad="279400" dist="114300" dir="2700000" algn="ctr" rotWithShape="0">
              <a:srgbClr val="0E0E10">
                <a:alpha val="70000"/>
              </a:srgbClr>
            </a:outerShdw>
          </a:effectLst>
        </p:spPr>
      </p:pic>
      <p:grpSp>
        <p:nvGrpSpPr>
          <p:cNvPr id="21" name="Set 151"/>
          <p:cNvGrpSpPr/>
          <p:nvPr/>
        </p:nvGrpSpPr>
        <p:grpSpPr>
          <a:xfrm>
            <a:off x="1005840" y="2606040"/>
            <a:ext cx="5120640" cy="6812280"/>
            <a:chOff x="1005840" y="2606040"/>
            <a:chExt cx="5120640" cy="6812280"/>
          </a:xfrm>
        </p:grpSpPr>
        <p:sp>
          <p:nvSpPr>
            <p:cNvPr id="17" name="Set light"/>
            <p:cNvSpPr/>
            <p:nvPr/>
          </p:nvSpPr>
          <p:spPr>
            <a:xfrm>
              <a:off x="1005840" y="2606040"/>
              <a:ext cx="5120640" cy="6812280"/>
            </a:xfrm>
            <a:prstGeom prst="roundRect">
              <a:avLst>
                <a:gd name="adj" fmla="val 7142"/>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Set"/>
            <p:cNvSpPr/>
            <p:nvPr/>
          </p:nvSpPr>
          <p:spPr>
            <a:xfrm>
              <a:off x="1005840" y="2606040"/>
              <a:ext cx="5120640" cy="6812280"/>
            </a:xfrm>
            <a:prstGeom prst="roundRect">
              <a:avLst>
                <a:gd name="adj" fmla="val 7142"/>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Big"/>
            <p:cNvSpPr txBox="1"/>
            <p:nvPr/>
          </p:nvSpPr>
          <p:spPr>
            <a:xfrm>
              <a:off x="1417320" y="2697480"/>
              <a:ext cx="4572000" cy="1691640"/>
            </a:xfrm>
            <a:prstGeom prst="rect">
              <a:avLst/>
            </a:prstGeom>
            <a:noFill/>
          </p:spPr>
          <p:txBody>
            <a:bodyPr wrap="square" lIns="45720" rIns="45720" anchor="t"/>
            <a:lstStyle/>
            <a:p>
              <a:pPr algn="l">
                <a:lnSpc>
                  <a:spcPct val="100000"/>
                </a:lnSpc>
              </a:pPr>
              <a:r>
                <a:rPr sz="12000" b="0" i="0">
                  <a:solidFill>
                    <a:srgbClr val="C1FF72"/>
                  </a:solidFill>
                  <a:latin typeface="Oswald"/>
                </a:rPr>
                <a:t>300</a:t>
              </a:r>
            </a:p>
          </p:txBody>
        </p:sp>
        <p:sp>
          <p:nvSpPr>
            <p:cNvPr id="20" name="Big label"/>
            <p:cNvSpPr txBox="1"/>
            <p:nvPr/>
          </p:nvSpPr>
          <p:spPr>
            <a:xfrm>
              <a:off x="1417320" y="4434840"/>
              <a:ext cx="4572000" cy="548640"/>
            </a:xfrm>
            <a:prstGeom prst="rect">
              <a:avLst/>
            </a:prstGeom>
            <a:noFill/>
          </p:spPr>
          <p:txBody>
            <a:bodyPr wrap="square" lIns="45720" rIns="45720" anchor="t"/>
            <a:lstStyle/>
            <a:p>
              <a:pPr algn="l">
                <a:lnSpc>
                  <a:spcPct val="100000"/>
                </a:lnSpc>
              </a:pPr>
              <a:r>
                <a:rPr sz="2400" b="0" i="0">
                  <a:solidFill>
                    <a:srgbClr val="EDEDED"/>
                  </a:solidFill>
                  <a:latin typeface="Oswald"/>
                </a:rPr>
                <a:t>URLS EVALUATED</a:t>
              </a:r>
            </a:p>
          </p:txBody>
        </p:sp>
      </p:grpSp>
      <p:sp>
        <p:nvSpPr>
          <p:cNvPr id="22" name="Set label 152"/>
          <p:cNvSpPr txBox="1"/>
          <p:nvPr/>
        </p:nvSpPr>
        <p:spPr>
          <a:xfrm>
            <a:off x="1417320" y="5303520"/>
            <a:ext cx="3291840" cy="411480"/>
          </a:xfrm>
          <a:prstGeom prst="rect">
            <a:avLst/>
          </a:prstGeom>
          <a:noFill/>
        </p:spPr>
        <p:txBody>
          <a:bodyPr wrap="square" lIns="45720" rIns="45720" anchor="t"/>
          <a:lstStyle/>
          <a:p>
            <a:pPr algn="l">
              <a:lnSpc>
                <a:spcPct val="100000"/>
              </a:lnSpc>
            </a:pPr>
            <a:r>
              <a:rPr sz="1700" b="0" i="0">
                <a:solidFill>
                  <a:srgbClr val="BDBDC1"/>
                </a:solidFill>
                <a:latin typeface="Titillium Web"/>
              </a:rPr>
              <a:t>Benign websites</a:t>
            </a:r>
          </a:p>
        </p:txBody>
      </p:sp>
      <p:sp>
        <p:nvSpPr>
          <p:cNvPr id="23" name="Set bar track 153"/>
          <p:cNvSpPr/>
          <p:nvPr/>
        </p:nvSpPr>
        <p:spPr>
          <a:xfrm>
            <a:off x="1417320" y="5760720"/>
            <a:ext cx="3566160" cy="310896"/>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Set bar 154"/>
          <p:cNvSpPr/>
          <p:nvPr/>
        </p:nvSpPr>
        <p:spPr>
          <a:xfrm>
            <a:off x="1417320" y="5760720"/>
            <a:ext cx="3566160" cy="310896"/>
          </a:xfrm>
          <a:prstGeom prst="roundRect">
            <a:avLst>
              <a:gd name="adj" fmla="val 50000"/>
            </a:avLst>
          </a:prstGeom>
          <a:solidFill>
            <a:srgbClr val="BDBDC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Set value 155"/>
          <p:cNvSpPr txBox="1"/>
          <p:nvPr/>
        </p:nvSpPr>
        <p:spPr>
          <a:xfrm>
            <a:off x="5074920" y="5632704"/>
            <a:ext cx="914400" cy="502920"/>
          </a:xfrm>
          <a:prstGeom prst="rect">
            <a:avLst/>
          </a:prstGeom>
          <a:noFill/>
        </p:spPr>
        <p:txBody>
          <a:bodyPr wrap="square" lIns="45720" rIns="45720" anchor="t"/>
          <a:lstStyle/>
          <a:p>
            <a:pPr algn="l">
              <a:lnSpc>
                <a:spcPct val="100000"/>
              </a:lnSpc>
            </a:pPr>
            <a:r>
              <a:rPr sz="2200" b="0" i="0">
                <a:solidFill>
                  <a:srgbClr val="EDEDED"/>
                </a:solidFill>
                <a:latin typeface="Oswald"/>
              </a:rPr>
              <a:t>150</a:t>
            </a:r>
          </a:p>
        </p:txBody>
      </p:sp>
      <p:sp>
        <p:nvSpPr>
          <p:cNvPr id="26" name="Set label 156"/>
          <p:cNvSpPr txBox="1"/>
          <p:nvPr/>
        </p:nvSpPr>
        <p:spPr>
          <a:xfrm>
            <a:off x="1417320" y="6400800"/>
            <a:ext cx="3291840" cy="411480"/>
          </a:xfrm>
          <a:prstGeom prst="rect">
            <a:avLst/>
          </a:prstGeom>
          <a:noFill/>
        </p:spPr>
        <p:txBody>
          <a:bodyPr wrap="square" lIns="45720" rIns="45720" anchor="t"/>
          <a:lstStyle/>
          <a:p>
            <a:pPr algn="l">
              <a:lnSpc>
                <a:spcPct val="100000"/>
              </a:lnSpc>
            </a:pPr>
            <a:r>
              <a:rPr sz="1700" b="0" i="0">
                <a:solidFill>
                  <a:srgbClr val="BDBDC1"/>
                </a:solidFill>
                <a:latin typeface="Titillium Web"/>
              </a:rPr>
              <a:t>Phishing websites</a:t>
            </a:r>
          </a:p>
        </p:txBody>
      </p:sp>
      <p:sp>
        <p:nvSpPr>
          <p:cNvPr id="27" name="Set bar track 157"/>
          <p:cNvSpPr/>
          <p:nvPr/>
        </p:nvSpPr>
        <p:spPr>
          <a:xfrm>
            <a:off x="1417320" y="6858000"/>
            <a:ext cx="2377440" cy="310896"/>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Set bar 158"/>
          <p:cNvSpPr/>
          <p:nvPr/>
        </p:nvSpPr>
        <p:spPr>
          <a:xfrm>
            <a:off x="1417320" y="6858000"/>
            <a:ext cx="2377440" cy="310896"/>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9" name="Set value 159"/>
          <p:cNvSpPr txBox="1"/>
          <p:nvPr/>
        </p:nvSpPr>
        <p:spPr>
          <a:xfrm>
            <a:off x="3886200" y="6729984"/>
            <a:ext cx="914400" cy="502920"/>
          </a:xfrm>
          <a:prstGeom prst="rect">
            <a:avLst/>
          </a:prstGeom>
          <a:noFill/>
        </p:spPr>
        <p:txBody>
          <a:bodyPr wrap="square" lIns="45720" rIns="45720" anchor="t"/>
          <a:lstStyle/>
          <a:p>
            <a:pPr algn="l">
              <a:lnSpc>
                <a:spcPct val="100000"/>
              </a:lnSpc>
            </a:pPr>
            <a:r>
              <a:rPr sz="2200" b="0" i="0">
                <a:solidFill>
                  <a:srgbClr val="EDEDED"/>
                </a:solidFill>
                <a:latin typeface="Oswald"/>
              </a:rPr>
              <a:t>100</a:t>
            </a:r>
          </a:p>
        </p:txBody>
      </p:sp>
      <p:sp>
        <p:nvSpPr>
          <p:cNvPr id="30" name="Set label 160"/>
          <p:cNvSpPr txBox="1"/>
          <p:nvPr/>
        </p:nvSpPr>
        <p:spPr>
          <a:xfrm>
            <a:off x="1417320" y="7498079"/>
            <a:ext cx="3291840" cy="411480"/>
          </a:xfrm>
          <a:prstGeom prst="rect">
            <a:avLst/>
          </a:prstGeom>
          <a:noFill/>
        </p:spPr>
        <p:txBody>
          <a:bodyPr wrap="square" lIns="45720" rIns="45720" anchor="t"/>
          <a:lstStyle/>
          <a:p>
            <a:pPr algn="l">
              <a:lnSpc>
                <a:spcPct val="100000"/>
              </a:lnSpc>
            </a:pPr>
            <a:r>
              <a:rPr sz="1700" b="0" i="0">
                <a:solidFill>
                  <a:srgbClr val="BDBDC1"/>
                </a:solidFill>
                <a:latin typeface="Titillium Web"/>
              </a:rPr>
              <a:t>Malware / DGA domains</a:t>
            </a:r>
          </a:p>
        </p:txBody>
      </p:sp>
      <p:sp>
        <p:nvSpPr>
          <p:cNvPr id="31" name="Set bar track 161"/>
          <p:cNvSpPr/>
          <p:nvPr/>
        </p:nvSpPr>
        <p:spPr>
          <a:xfrm>
            <a:off x="1417320" y="7955279"/>
            <a:ext cx="1188720" cy="310896"/>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2" name="Set bar 162"/>
          <p:cNvSpPr/>
          <p:nvPr/>
        </p:nvSpPr>
        <p:spPr>
          <a:xfrm>
            <a:off x="1417320" y="7955279"/>
            <a:ext cx="1188720" cy="310896"/>
          </a:xfrm>
          <a:prstGeom prst="roundRect">
            <a:avLst>
              <a:gd name="adj" fmla="val 50000"/>
            </a:avLst>
          </a:prstGeom>
          <a:solidFill>
            <a:srgbClr val="9BD1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Set value 163"/>
          <p:cNvSpPr txBox="1"/>
          <p:nvPr/>
        </p:nvSpPr>
        <p:spPr>
          <a:xfrm>
            <a:off x="2697480" y="7827263"/>
            <a:ext cx="914400" cy="502920"/>
          </a:xfrm>
          <a:prstGeom prst="rect">
            <a:avLst/>
          </a:prstGeom>
          <a:noFill/>
        </p:spPr>
        <p:txBody>
          <a:bodyPr wrap="square" lIns="45720" rIns="45720" anchor="t"/>
          <a:lstStyle/>
          <a:p>
            <a:pPr algn="l">
              <a:lnSpc>
                <a:spcPct val="100000"/>
              </a:lnSpc>
            </a:pPr>
            <a:r>
              <a:rPr sz="2200" b="0" i="0">
                <a:solidFill>
                  <a:srgbClr val="EDEDED"/>
                </a:solidFill>
                <a:latin typeface="Oswald"/>
              </a:rPr>
              <a:t>50</a:t>
            </a:r>
          </a:p>
        </p:txBody>
      </p:sp>
      <p:sp>
        <p:nvSpPr>
          <p:cNvPr id="34" name="Positive 164"/>
          <p:cNvSpPr txBox="1"/>
          <p:nvPr/>
        </p:nvSpPr>
        <p:spPr>
          <a:xfrm>
            <a:off x="1417320" y="8641080"/>
            <a:ext cx="4572000" cy="548640"/>
          </a:xfrm>
          <a:prstGeom prst="rect">
            <a:avLst/>
          </a:prstGeom>
          <a:noFill/>
        </p:spPr>
        <p:txBody>
          <a:bodyPr wrap="square" lIns="45720" rIns="45720" anchor="t"/>
          <a:lstStyle/>
          <a:p>
            <a:pPr algn="l">
              <a:lnSpc>
                <a:spcPct val="100000"/>
              </a:lnSpc>
            </a:pPr>
            <a:r>
              <a:rPr sz="1500" b="0" i="0">
                <a:solidFill>
                  <a:srgbClr val="8E8E93"/>
                </a:solidFill>
                <a:latin typeface="Titillium Web"/>
              </a:rPr>
              <a:t>Positive class = the 150 harmful URLs</a:t>
            </a:r>
          </a:p>
        </p:txBody>
      </p:sp>
      <p:grpSp>
        <p:nvGrpSpPr>
          <p:cNvPr id="39" name="Card 165"/>
          <p:cNvGrpSpPr/>
          <p:nvPr/>
        </p:nvGrpSpPr>
        <p:grpSpPr>
          <a:xfrm>
            <a:off x="6492240" y="2606040"/>
            <a:ext cx="6446520" cy="1572768"/>
            <a:chOff x="6492240" y="2606040"/>
            <a:chExt cx="6446520" cy="1572768"/>
          </a:xfrm>
        </p:grpSpPr>
        <p:sp>
          <p:nvSpPr>
            <p:cNvPr id="35" name="Card light"/>
            <p:cNvSpPr/>
            <p:nvPr/>
          </p:nvSpPr>
          <p:spPr>
            <a:xfrm>
              <a:off x="6492240" y="2606040"/>
              <a:ext cx="6446520" cy="1572768"/>
            </a:xfrm>
            <a:prstGeom prst="roundRect">
              <a:avLst>
                <a:gd name="adj" fmla="val 16279"/>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Card"/>
            <p:cNvSpPr/>
            <p:nvPr/>
          </p:nvSpPr>
          <p:spPr>
            <a:xfrm>
              <a:off x="6492240" y="2606040"/>
              <a:ext cx="6446520" cy="1572768"/>
            </a:xfrm>
            <a:prstGeom prst="roundRect">
              <a:avLst>
                <a:gd name="adj" fmla="val 16279"/>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Card title"/>
            <p:cNvSpPr txBox="1"/>
            <p:nvPr/>
          </p:nvSpPr>
          <p:spPr>
            <a:xfrm>
              <a:off x="6784848" y="2880360"/>
              <a:ext cx="5861304" cy="422148"/>
            </a:xfrm>
            <a:prstGeom prst="rect">
              <a:avLst/>
            </a:prstGeom>
            <a:noFill/>
          </p:spPr>
          <p:txBody>
            <a:bodyPr wrap="square" lIns="45720" rIns="45720" anchor="t"/>
            <a:lstStyle/>
            <a:p>
              <a:pPr algn="l">
                <a:lnSpc>
                  <a:spcPct val="100000"/>
                </a:lnSpc>
              </a:pPr>
              <a:r>
                <a:rPr sz="2100" b="0" i="0">
                  <a:solidFill>
                    <a:srgbClr val="EDEDED"/>
                  </a:solidFill>
                  <a:latin typeface="Oswald"/>
                </a:rPr>
                <a:t>FUNCTIONAL CORRECTNESS</a:t>
              </a:r>
            </a:p>
          </p:txBody>
        </p:sp>
        <p:sp>
          <p:nvSpPr>
            <p:cNvPr id="38" name="Card body"/>
            <p:cNvSpPr txBox="1"/>
            <p:nvPr/>
          </p:nvSpPr>
          <p:spPr>
            <a:xfrm>
              <a:off x="6784848" y="3339083"/>
              <a:ext cx="5861304" cy="601980"/>
            </a:xfrm>
            <a:prstGeom prst="rect">
              <a:avLst/>
            </a:prstGeom>
            <a:noFill/>
          </p:spPr>
          <p:txBody>
            <a:bodyPr wrap="square" lIns="45720" rIns="45720" anchor="t"/>
            <a:lstStyle/>
            <a:p>
              <a:pPr algn="l">
                <a:lnSpc>
                  <a:spcPct val="98000"/>
                </a:lnSpc>
              </a:pPr>
              <a:r>
                <a:rPr sz="1650" b="0" i="0">
                  <a:solidFill>
                    <a:srgbClr val="BDBDC1"/>
                  </a:solidFill>
                  <a:latin typeface="Titillium Web"/>
                </a:rPr>
                <a:t>Every agent returns its documented shape; the Reporter matches the expected verdicts.</a:t>
              </a:r>
            </a:p>
          </p:txBody>
        </p:sp>
      </p:grpSp>
      <p:grpSp>
        <p:nvGrpSpPr>
          <p:cNvPr id="44" name="Card 166"/>
          <p:cNvGrpSpPr/>
          <p:nvPr/>
        </p:nvGrpSpPr>
        <p:grpSpPr>
          <a:xfrm>
            <a:off x="6492240" y="4343400"/>
            <a:ext cx="6446520" cy="1572768"/>
            <a:chOff x="6492240" y="4343400"/>
            <a:chExt cx="6446520" cy="1572768"/>
          </a:xfrm>
        </p:grpSpPr>
        <p:sp>
          <p:nvSpPr>
            <p:cNvPr id="40" name="Card light"/>
            <p:cNvSpPr/>
            <p:nvPr/>
          </p:nvSpPr>
          <p:spPr>
            <a:xfrm>
              <a:off x="6492240" y="4343400"/>
              <a:ext cx="6446520" cy="1572768"/>
            </a:xfrm>
            <a:prstGeom prst="roundRect">
              <a:avLst>
                <a:gd name="adj" fmla="val 16279"/>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1" name="Card"/>
            <p:cNvSpPr/>
            <p:nvPr/>
          </p:nvSpPr>
          <p:spPr>
            <a:xfrm>
              <a:off x="6492240" y="4343400"/>
              <a:ext cx="6446520" cy="1572768"/>
            </a:xfrm>
            <a:prstGeom prst="roundRect">
              <a:avLst>
                <a:gd name="adj" fmla="val 16279"/>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2" name="Card title"/>
            <p:cNvSpPr txBox="1"/>
            <p:nvPr/>
          </p:nvSpPr>
          <p:spPr>
            <a:xfrm>
              <a:off x="6784848" y="4617720"/>
              <a:ext cx="5861304" cy="422148"/>
            </a:xfrm>
            <a:prstGeom prst="rect">
              <a:avLst/>
            </a:prstGeom>
            <a:noFill/>
          </p:spPr>
          <p:txBody>
            <a:bodyPr wrap="square" lIns="45720" rIns="45720" anchor="t"/>
            <a:lstStyle/>
            <a:p>
              <a:pPr algn="l">
                <a:lnSpc>
                  <a:spcPct val="100000"/>
                </a:lnSpc>
              </a:pPr>
              <a:r>
                <a:rPr sz="2100" b="0" i="0">
                  <a:solidFill>
                    <a:srgbClr val="EDEDED"/>
                  </a:solidFill>
                  <a:latin typeface="Oswald"/>
                </a:rPr>
                <a:t>FALSE-POSITIVE RATE</a:t>
              </a:r>
            </a:p>
          </p:txBody>
        </p:sp>
        <p:sp>
          <p:nvSpPr>
            <p:cNvPr id="43" name="Card body"/>
            <p:cNvSpPr txBox="1"/>
            <p:nvPr/>
          </p:nvSpPr>
          <p:spPr>
            <a:xfrm>
              <a:off x="6784848" y="5076444"/>
              <a:ext cx="5861304" cy="601980"/>
            </a:xfrm>
            <a:prstGeom prst="rect">
              <a:avLst/>
            </a:prstGeom>
            <a:noFill/>
          </p:spPr>
          <p:txBody>
            <a:bodyPr wrap="square" lIns="45720" rIns="45720" anchor="t"/>
            <a:lstStyle/>
            <a:p>
              <a:pPr algn="l">
                <a:lnSpc>
                  <a:spcPct val="98000"/>
                </a:lnSpc>
              </a:pPr>
              <a:r>
                <a:rPr sz="1650" b="0" i="0">
                  <a:solidFill>
                    <a:srgbClr val="BDBDC1"/>
                  </a:solidFill>
                  <a:latin typeface="Titillium Web"/>
                </a:rPr>
                <a:t>Common benign sites (google.com, github.com, wikipedia.org…) judged clean or low risk 100% of the time.</a:t>
              </a:r>
            </a:p>
          </p:txBody>
        </p:sp>
      </p:grpSp>
      <p:grpSp>
        <p:nvGrpSpPr>
          <p:cNvPr id="49" name="Card 167"/>
          <p:cNvGrpSpPr/>
          <p:nvPr/>
        </p:nvGrpSpPr>
        <p:grpSpPr>
          <a:xfrm>
            <a:off x="6492240" y="6080760"/>
            <a:ext cx="6446520" cy="1572768"/>
            <a:chOff x="6492240" y="6080760"/>
            <a:chExt cx="6446520" cy="1572768"/>
          </a:xfrm>
        </p:grpSpPr>
        <p:sp>
          <p:nvSpPr>
            <p:cNvPr id="45" name="Card light"/>
            <p:cNvSpPr/>
            <p:nvPr/>
          </p:nvSpPr>
          <p:spPr>
            <a:xfrm>
              <a:off x="6492240" y="6080760"/>
              <a:ext cx="6446520" cy="1572768"/>
            </a:xfrm>
            <a:prstGeom prst="roundRect">
              <a:avLst>
                <a:gd name="adj" fmla="val 16279"/>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6" name="Card"/>
            <p:cNvSpPr/>
            <p:nvPr/>
          </p:nvSpPr>
          <p:spPr>
            <a:xfrm>
              <a:off x="6492240" y="6080760"/>
              <a:ext cx="6446520" cy="1572768"/>
            </a:xfrm>
            <a:prstGeom prst="roundRect">
              <a:avLst>
                <a:gd name="adj" fmla="val 16279"/>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7" name="Card title"/>
            <p:cNvSpPr txBox="1"/>
            <p:nvPr/>
          </p:nvSpPr>
          <p:spPr>
            <a:xfrm>
              <a:off x="6784848" y="6355080"/>
              <a:ext cx="5861304" cy="422148"/>
            </a:xfrm>
            <a:prstGeom prst="rect">
              <a:avLst/>
            </a:prstGeom>
            <a:noFill/>
          </p:spPr>
          <p:txBody>
            <a:bodyPr wrap="square" lIns="45720" rIns="45720" anchor="t"/>
            <a:lstStyle/>
            <a:p>
              <a:pPr algn="l">
                <a:lnSpc>
                  <a:spcPct val="100000"/>
                </a:lnSpc>
              </a:pPr>
              <a:r>
                <a:rPr sz="2100" b="0" i="0">
                  <a:solidFill>
                    <a:srgbClr val="EDEDED"/>
                  </a:solidFill>
                  <a:latin typeface="Oswald"/>
                </a:rPr>
                <a:t>TRUE-POSITIVE COVERAGE</a:t>
              </a:r>
            </a:p>
          </p:txBody>
        </p:sp>
        <p:sp>
          <p:nvSpPr>
            <p:cNvPr id="48" name="Card body"/>
            <p:cNvSpPr txBox="1"/>
            <p:nvPr/>
          </p:nvSpPr>
          <p:spPr>
            <a:xfrm>
              <a:off x="6784848" y="6813804"/>
              <a:ext cx="5861304" cy="601980"/>
            </a:xfrm>
            <a:prstGeom prst="rect">
              <a:avLst/>
            </a:prstGeom>
            <a:noFill/>
          </p:spPr>
          <p:txBody>
            <a:bodyPr wrap="square" lIns="45720" rIns="45720" anchor="t"/>
            <a:lstStyle/>
            <a:p>
              <a:pPr algn="l">
                <a:lnSpc>
                  <a:spcPct val="98000"/>
                </a:lnSpc>
              </a:pPr>
              <a:r>
                <a:rPr sz="1650" b="0" i="0">
                  <a:solidFill>
                    <a:srgbClr val="BDBDC1"/>
                  </a:solidFill>
                  <a:latin typeface="Titillium Web"/>
                </a:rPr>
                <a:t>Curated phishing URLs judged suspicious or malicious at least 80% of the time.</a:t>
              </a:r>
            </a:p>
          </p:txBody>
        </p:sp>
      </p:grpSp>
      <p:grpSp>
        <p:nvGrpSpPr>
          <p:cNvPr id="54" name="Card 168"/>
          <p:cNvGrpSpPr/>
          <p:nvPr/>
        </p:nvGrpSpPr>
        <p:grpSpPr>
          <a:xfrm>
            <a:off x="6492240" y="7818119"/>
            <a:ext cx="6446520" cy="1572768"/>
            <a:chOff x="6492240" y="7818119"/>
            <a:chExt cx="6446520" cy="1572768"/>
          </a:xfrm>
        </p:grpSpPr>
        <p:sp>
          <p:nvSpPr>
            <p:cNvPr id="50" name="Card light"/>
            <p:cNvSpPr/>
            <p:nvPr/>
          </p:nvSpPr>
          <p:spPr>
            <a:xfrm>
              <a:off x="6492240" y="7818119"/>
              <a:ext cx="6446520" cy="1572768"/>
            </a:xfrm>
            <a:prstGeom prst="roundRect">
              <a:avLst>
                <a:gd name="adj" fmla="val 16279"/>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1" name="Card"/>
            <p:cNvSpPr/>
            <p:nvPr/>
          </p:nvSpPr>
          <p:spPr>
            <a:xfrm>
              <a:off x="6492240" y="7818119"/>
              <a:ext cx="6446520" cy="1572768"/>
            </a:xfrm>
            <a:prstGeom prst="roundRect">
              <a:avLst>
                <a:gd name="adj" fmla="val 16279"/>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2" name="Card title"/>
            <p:cNvSpPr txBox="1"/>
            <p:nvPr/>
          </p:nvSpPr>
          <p:spPr>
            <a:xfrm>
              <a:off x="6784848" y="8092440"/>
              <a:ext cx="5861304" cy="422148"/>
            </a:xfrm>
            <a:prstGeom prst="rect">
              <a:avLst/>
            </a:prstGeom>
            <a:noFill/>
          </p:spPr>
          <p:txBody>
            <a:bodyPr wrap="square" lIns="45720" rIns="45720" anchor="t"/>
            <a:lstStyle/>
            <a:p>
              <a:pPr algn="l">
                <a:lnSpc>
                  <a:spcPct val="100000"/>
                </a:lnSpc>
              </a:pPr>
              <a:r>
                <a:rPr sz="2100" b="0" i="0">
                  <a:solidFill>
                    <a:srgbClr val="EDEDED"/>
                  </a:solidFill>
                  <a:latin typeface="Oswald"/>
                </a:rPr>
                <a:t>END-TO-END LATENCY</a:t>
              </a:r>
            </a:p>
          </p:txBody>
        </p:sp>
        <p:sp>
          <p:nvSpPr>
            <p:cNvPr id="53" name="Card body"/>
            <p:cNvSpPr txBox="1"/>
            <p:nvPr/>
          </p:nvSpPr>
          <p:spPr>
            <a:xfrm>
              <a:off x="6784848" y="8551163"/>
              <a:ext cx="5861304" cy="601979"/>
            </a:xfrm>
            <a:prstGeom prst="rect">
              <a:avLst/>
            </a:prstGeom>
            <a:noFill/>
          </p:spPr>
          <p:txBody>
            <a:bodyPr wrap="square" lIns="45720" rIns="45720" anchor="t"/>
            <a:lstStyle/>
            <a:p>
              <a:pPr algn="l">
                <a:lnSpc>
                  <a:spcPct val="98000"/>
                </a:lnSpc>
              </a:pPr>
              <a:r>
                <a:rPr sz="1650" b="0" i="0">
                  <a:solidFill>
                    <a:srgbClr val="BDBDC1"/>
                  </a:solidFill>
                  <a:latin typeface="Titillium Web"/>
                </a:rPr>
                <a:t>Mean over 100 requests: at most 10 s from a cold start, 4 s when warm.</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anim calcmode="lin" valueType="num">
                                      <p:cBhvr>
                                        <p:cTn id="11" dur="500" fill="hold"/>
                                        <p:tgtEl>
                                          <p:spTgt spid="12"/>
                                        </p:tgtEl>
                                        <p:attrNameLst>
                                          <p:attrName>ppt_x</p:attrName>
                                        </p:attrNameLst>
                                      </p:cBhvr>
                                      <p:tavLst>
                                        <p:tav tm="0">
                                          <p:val>
                                            <p:strVal val="#ppt_x"/>
                                          </p:val>
                                        </p:tav>
                                        <p:tav tm="100000">
                                          <p:val>
                                            <p:strVal val="#ppt_x"/>
                                          </p:val>
                                        </p:tav>
                                      </p:tavLst>
                                    </p:anim>
                                    <p:anim calcmode="lin" valueType="num">
                                      <p:cBhvr>
                                        <p:cTn id="12" dur="450" decel="100000" fill="hold"/>
                                        <p:tgtEl>
                                          <p:spTgt spid="12"/>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par>
                          <p:cTn id="14" fill="hold">
                            <p:stCondLst>
                              <p:cond delay="135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2200"/>
                            </p:stCondLst>
                            <p:childTnLst>
                              <p:par>
                                <p:cTn id="19" presetID="53" presetClass="entr" presetSubtype="16" fill="hold" nodeType="after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p:cTn id="21" dur="500" fill="hold"/>
                                        <p:tgtEl>
                                          <p:spTgt spid="21"/>
                                        </p:tgtEl>
                                        <p:attrNameLst>
                                          <p:attrName>ppt_w</p:attrName>
                                        </p:attrNameLst>
                                      </p:cBhvr>
                                      <p:tavLst>
                                        <p:tav tm="0">
                                          <p:val>
                                            <p:fltVal val="0"/>
                                          </p:val>
                                        </p:tav>
                                        <p:tav tm="100000">
                                          <p:val>
                                            <p:strVal val="#ppt_w"/>
                                          </p:val>
                                        </p:tav>
                                      </p:tavLst>
                                    </p:anim>
                                    <p:anim calcmode="lin" valueType="num">
                                      <p:cBhvr>
                                        <p:cTn id="22" dur="500" fill="hold"/>
                                        <p:tgtEl>
                                          <p:spTgt spid="21"/>
                                        </p:tgtEl>
                                        <p:attrNameLst>
                                          <p:attrName>ppt_h</p:attrName>
                                        </p:attrNameLst>
                                      </p:cBhvr>
                                      <p:tavLst>
                                        <p:tav tm="0">
                                          <p:val>
                                            <p:fltVal val="0"/>
                                          </p:val>
                                        </p:tav>
                                        <p:tav tm="100000">
                                          <p:val>
                                            <p:strVal val="#ppt_h"/>
                                          </p:val>
                                        </p:tav>
                                      </p:tavLst>
                                    </p:anim>
                                    <p:animEffect transition="in" filter="fade">
                                      <p:cBhvr>
                                        <p:cTn id="23" dur="500"/>
                                        <p:tgtEl>
                                          <p:spTgt spid="21"/>
                                        </p:tgtEl>
                                      </p:cBhvr>
                                    </p:animEffect>
                                  </p:childTnLst>
                                </p:cTn>
                              </p:par>
                            </p:childTnLst>
                          </p:cTn>
                        </p:par>
                        <p:par>
                          <p:cTn id="24" fill="hold">
                            <p:stCondLst>
                              <p:cond delay="2700"/>
                            </p:stCondLst>
                            <p:childTnLst>
                              <p:par>
                                <p:cTn id="25" presetID="10" presetClass="entr" presetSubtype="0" fill="hold" grpId="0"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200"/>
                                        <p:tgtEl>
                                          <p:spTgt spid="2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200"/>
                                        <p:tgtEl>
                                          <p:spTgt spid="23"/>
                                        </p:tgtEl>
                                      </p:cBhvr>
                                    </p:animEffect>
                                  </p:childTnLst>
                                </p:cTn>
                              </p:par>
                            </p:childTnLst>
                          </p:cTn>
                        </p:par>
                        <p:par>
                          <p:cTn id="31" fill="hold">
                            <p:stCondLst>
                              <p:cond delay="2900"/>
                            </p:stCondLst>
                            <p:childTnLst>
                              <p:par>
                                <p:cTn id="32" presetID="22" presetClass="entr" presetSubtype="8" fill="hold" grpId="0" nodeType="after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wipe(left)">
                                      <p:cBhvr>
                                        <p:cTn id="34" dur="500"/>
                                        <p:tgtEl>
                                          <p:spTgt spid="24"/>
                                        </p:tgtEl>
                                      </p:cBhvr>
                                    </p:animEffect>
                                  </p:childTnLst>
                                </p:cTn>
                              </p:par>
                            </p:childTnLst>
                          </p:cTn>
                        </p:par>
                        <p:par>
                          <p:cTn id="35" fill="hold">
                            <p:stCondLst>
                              <p:cond delay="3400"/>
                            </p:stCondLst>
                            <p:childTnLst>
                              <p:par>
                                <p:cTn id="36" presetID="10" presetClass="entr" presetSubtype="0" fill="hold" grpId="0" nodeType="after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200"/>
                                        <p:tgtEl>
                                          <p:spTgt spid="25"/>
                                        </p:tgtEl>
                                      </p:cBhvr>
                                    </p:animEffect>
                                  </p:childTnLst>
                                </p:cTn>
                              </p:par>
                            </p:childTnLst>
                          </p:cTn>
                        </p:par>
                        <p:par>
                          <p:cTn id="39" fill="hold">
                            <p:stCondLst>
                              <p:cond delay="3600"/>
                            </p:stCondLst>
                            <p:childTnLst>
                              <p:par>
                                <p:cTn id="40" presetID="10" presetClass="entr" presetSubtype="0" fill="hold" grpId="0" nodeType="after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200"/>
                                        <p:tgtEl>
                                          <p:spTgt spid="2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200"/>
                                        <p:tgtEl>
                                          <p:spTgt spid="27"/>
                                        </p:tgtEl>
                                      </p:cBhvr>
                                    </p:animEffect>
                                  </p:childTnLst>
                                </p:cTn>
                              </p:par>
                            </p:childTnLst>
                          </p:cTn>
                        </p:par>
                        <p:par>
                          <p:cTn id="46" fill="hold">
                            <p:stCondLst>
                              <p:cond delay="3800"/>
                            </p:stCondLst>
                            <p:childTnLst>
                              <p:par>
                                <p:cTn id="47" presetID="22" presetClass="entr" presetSubtype="8" fill="hold" grpId="0" nodeType="after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wipe(left)">
                                      <p:cBhvr>
                                        <p:cTn id="49" dur="500"/>
                                        <p:tgtEl>
                                          <p:spTgt spid="28"/>
                                        </p:tgtEl>
                                      </p:cBhvr>
                                    </p:animEffect>
                                  </p:childTnLst>
                                </p:cTn>
                              </p:par>
                            </p:childTnLst>
                          </p:cTn>
                        </p:par>
                        <p:par>
                          <p:cTn id="50" fill="hold">
                            <p:stCondLst>
                              <p:cond delay="4300"/>
                            </p:stCondLst>
                            <p:childTnLst>
                              <p:par>
                                <p:cTn id="51" presetID="10" presetClass="entr" presetSubtype="0" fill="hold" grpId="0" nodeType="after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200"/>
                                        <p:tgtEl>
                                          <p:spTgt spid="29"/>
                                        </p:tgtEl>
                                      </p:cBhvr>
                                    </p:animEffect>
                                  </p:childTnLst>
                                </p:cTn>
                              </p:par>
                            </p:childTnLst>
                          </p:cTn>
                        </p:par>
                        <p:par>
                          <p:cTn id="54" fill="hold">
                            <p:stCondLst>
                              <p:cond delay="4500"/>
                            </p:stCondLst>
                            <p:childTnLst>
                              <p:par>
                                <p:cTn id="55" presetID="10" presetClass="entr" presetSubtype="0" fill="hold" grpId="0" nodeType="after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200"/>
                                        <p:tgtEl>
                                          <p:spTgt spid="3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200"/>
                                        <p:tgtEl>
                                          <p:spTgt spid="31"/>
                                        </p:tgtEl>
                                      </p:cBhvr>
                                    </p:animEffect>
                                  </p:childTnLst>
                                </p:cTn>
                              </p:par>
                            </p:childTnLst>
                          </p:cTn>
                        </p:par>
                        <p:par>
                          <p:cTn id="61" fill="hold">
                            <p:stCondLst>
                              <p:cond delay="4700"/>
                            </p:stCondLst>
                            <p:childTnLst>
                              <p:par>
                                <p:cTn id="62" presetID="22" presetClass="entr" presetSubtype="8" fill="hold" grpId="0" nodeType="after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wipe(left)">
                                      <p:cBhvr>
                                        <p:cTn id="64" dur="500"/>
                                        <p:tgtEl>
                                          <p:spTgt spid="32"/>
                                        </p:tgtEl>
                                      </p:cBhvr>
                                    </p:animEffect>
                                  </p:childTnLst>
                                </p:cTn>
                              </p:par>
                            </p:childTnLst>
                          </p:cTn>
                        </p:par>
                        <p:par>
                          <p:cTn id="65" fill="hold">
                            <p:stCondLst>
                              <p:cond delay="5200"/>
                            </p:stCondLst>
                            <p:childTnLst>
                              <p:par>
                                <p:cTn id="66" presetID="10" presetClass="entr" presetSubtype="0" fill="hold" grpId="0" nodeType="afterEffect">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fade">
                                      <p:cBhvr>
                                        <p:cTn id="68" dur="200"/>
                                        <p:tgtEl>
                                          <p:spTgt spid="33"/>
                                        </p:tgtEl>
                                      </p:cBhvr>
                                    </p:animEffect>
                                  </p:childTnLst>
                                </p:cTn>
                              </p:par>
                            </p:childTnLst>
                          </p:cTn>
                        </p:par>
                        <p:par>
                          <p:cTn id="69" fill="hold">
                            <p:stCondLst>
                              <p:cond delay="5400"/>
                            </p:stCondLst>
                            <p:childTnLst>
                              <p:par>
                                <p:cTn id="70" presetID="10" presetClass="entr" presetSubtype="0" fill="hold" grpId="0" nodeType="afterEffect">
                                  <p:stCondLst>
                                    <p:cond delay="0"/>
                                  </p:stCondLst>
                                  <p:childTnLst>
                                    <p:set>
                                      <p:cBhvr>
                                        <p:cTn id="71" dur="1" fill="hold">
                                          <p:stCondLst>
                                            <p:cond delay="0"/>
                                          </p:stCondLst>
                                        </p:cTn>
                                        <p:tgtEl>
                                          <p:spTgt spid="34"/>
                                        </p:tgtEl>
                                        <p:attrNameLst>
                                          <p:attrName>style.visibility</p:attrName>
                                        </p:attrNameLst>
                                      </p:cBhvr>
                                      <p:to>
                                        <p:strVal val="visible"/>
                                      </p:to>
                                    </p:set>
                                    <p:animEffect transition="in" filter="fade">
                                      <p:cBhvr>
                                        <p:cTn id="72" dur="300"/>
                                        <p:tgtEl>
                                          <p:spTgt spid="34"/>
                                        </p:tgtEl>
                                      </p:cBhvr>
                                    </p:animEffect>
                                  </p:childTnLst>
                                </p:cTn>
                              </p:par>
                            </p:childTnLst>
                          </p:cTn>
                        </p:par>
                        <p:par>
                          <p:cTn id="73" fill="hold">
                            <p:stCondLst>
                              <p:cond delay="5700"/>
                            </p:stCondLst>
                            <p:childTnLst>
                              <p:par>
                                <p:cTn id="74" presetID="2" presetClass="entr" presetSubtype="2" fill="hold" nodeType="afterEffect">
                                  <p:stCondLst>
                                    <p:cond delay="0"/>
                                  </p:stCondLst>
                                  <p:childTnLst>
                                    <p:set>
                                      <p:cBhvr>
                                        <p:cTn id="75" dur="1" fill="hold">
                                          <p:stCondLst>
                                            <p:cond delay="0"/>
                                          </p:stCondLst>
                                        </p:cTn>
                                        <p:tgtEl>
                                          <p:spTgt spid="39"/>
                                        </p:tgtEl>
                                        <p:attrNameLst>
                                          <p:attrName>style.visibility</p:attrName>
                                        </p:attrNameLst>
                                      </p:cBhvr>
                                      <p:to>
                                        <p:strVal val="visible"/>
                                      </p:to>
                                    </p:set>
                                    <p:anim calcmode="lin" valueType="num">
                                      <p:cBhvr additive="base">
                                        <p:cTn id="76" dur="500" fill="hold"/>
                                        <p:tgtEl>
                                          <p:spTgt spid="39"/>
                                        </p:tgtEl>
                                        <p:attrNameLst>
                                          <p:attrName>ppt_x</p:attrName>
                                        </p:attrNameLst>
                                      </p:cBhvr>
                                      <p:tavLst>
                                        <p:tav tm="0">
                                          <p:val>
                                            <p:strVal val="1+#ppt_w/2"/>
                                          </p:val>
                                        </p:tav>
                                        <p:tav tm="100000">
                                          <p:val>
                                            <p:strVal val="#ppt_x"/>
                                          </p:val>
                                        </p:tav>
                                      </p:tavLst>
                                    </p:anim>
                                    <p:anim calcmode="lin" valueType="num">
                                      <p:cBhvr additive="base">
                                        <p:cTn id="77" dur="500" fill="hold"/>
                                        <p:tgtEl>
                                          <p:spTgt spid="39"/>
                                        </p:tgtEl>
                                        <p:attrNameLst>
                                          <p:attrName>ppt_y</p:attrName>
                                        </p:attrNameLst>
                                      </p:cBhvr>
                                      <p:tavLst>
                                        <p:tav tm="0">
                                          <p:val>
                                            <p:strVal val="#ppt_y"/>
                                          </p:val>
                                        </p:tav>
                                        <p:tav tm="100000">
                                          <p:val>
                                            <p:strVal val="#ppt_y"/>
                                          </p:val>
                                        </p:tav>
                                      </p:tavLst>
                                    </p:anim>
                                  </p:childTnLst>
                                </p:cTn>
                              </p:par>
                            </p:childTnLst>
                          </p:cTn>
                        </p:par>
                        <p:par>
                          <p:cTn id="78" fill="hold">
                            <p:stCondLst>
                              <p:cond delay="6200"/>
                            </p:stCondLst>
                            <p:childTnLst>
                              <p:par>
                                <p:cTn id="79" presetID="2" presetClass="entr" presetSubtype="2" fill="hold" nodeType="afterEffect">
                                  <p:stCondLst>
                                    <p:cond delay="0"/>
                                  </p:stCondLst>
                                  <p:childTnLst>
                                    <p:set>
                                      <p:cBhvr>
                                        <p:cTn id="80" dur="1" fill="hold">
                                          <p:stCondLst>
                                            <p:cond delay="0"/>
                                          </p:stCondLst>
                                        </p:cTn>
                                        <p:tgtEl>
                                          <p:spTgt spid="44"/>
                                        </p:tgtEl>
                                        <p:attrNameLst>
                                          <p:attrName>style.visibility</p:attrName>
                                        </p:attrNameLst>
                                      </p:cBhvr>
                                      <p:to>
                                        <p:strVal val="visible"/>
                                      </p:to>
                                    </p:set>
                                    <p:anim calcmode="lin" valueType="num">
                                      <p:cBhvr additive="base">
                                        <p:cTn id="81" dur="500" fill="hold"/>
                                        <p:tgtEl>
                                          <p:spTgt spid="44"/>
                                        </p:tgtEl>
                                        <p:attrNameLst>
                                          <p:attrName>ppt_x</p:attrName>
                                        </p:attrNameLst>
                                      </p:cBhvr>
                                      <p:tavLst>
                                        <p:tav tm="0">
                                          <p:val>
                                            <p:strVal val="1+#ppt_w/2"/>
                                          </p:val>
                                        </p:tav>
                                        <p:tav tm="100000">
                                          <p:val>
                                            <p:strVal val="#ppt_x"/>
                                          </p:val>
                                        </p:tav>
                                      </p:tavLst>
                                    </p:anim>
                                    <p:anim calcmode="lin" valueType="num">
                                      <p:cBhvr additive="base">
                                        <p:cTn id="82" dur="500" fill="hold"/>
                                        <p:tgtEl>
                                          <p:spTgt spid="44"/>
                                        </p:tgtEl>
                                        <p:attrNameLst>
                                          <p:attrName>ppt_y</p:attrName>
                                        </p:attrNameLst>
                                      </p:cBhvr>
                                      <p:tavLst>
                                        <p:tav tm="0">
                                          <p:val>
                                            <p:strVal val="#ppt_y"/>
                                          </p:val>
                                        </p:tav>
                                        <p:tav tm="100000">
                                          <p:val>
                                            <p:strVal val="#ppt_y"/>
                                          </p:val>
                                        </p:tav>
                                      </p:tavLst>
                                    </p:anim>
                                  </p:childTnLst>
                                </p:cTn>
                              </p:par>
                            </p:childTnLst>
                          </p:cTn>
                        </p:par>
                        <p:par>
                          <p:cTn id="83" fill="hold">
                            <p:stCondLst>
                              <p:cond delay="6700"/>
                            </p:stCondLst>
                            <p:childTnLst>
                              <p:par>
                                <p:cTn id="84" presetID="2" presetClass="entr" presetSubtype="2" fill="hold" nodeType="afterEffect">
                                  <p:stCondLst>
                                    <p:cond delay="0"/>
                                  </p:stCondLst>
                                  <p:childTnLst>
                                    <p:set>
                                      <p:cBhvr>
                                        <p:cTn id="85" dur="1" fill="hold">
                                          <p:stCondLst>
                                            <p:cond delay="0"/>
                                          </p:stCondLst>
                                        </p:cTn>
                                        <p:tgtEl>
                                          <p:spTgt spid="49"/>
                                        </p:tgtEl>
                                        <p:attrNameLst>
                                          <p:attrName>style.visibility</p:attrName>
                                        </p:attrNameLst>
                                      </p:cBhvr>
                                      <p:to>
                                        <p:strVal val="visible"/>
                                      </p:to>
                                    </p:set>
                                    <p:anim calcmode="lin" valueType="num">
                                      <p:cBhvr additive="base">
                                        <p:cTn id="86" dur="500" fill="hold"/>
                                        <p:tgtEl>
                                          <p:spTgt spid="49"/>
                                        </p:tgtEl>
                                        <p:attrNameLst>
                                          <p:attrName>ppt_x</p:attrName>
                                        </p:attrNameLst>
                                      </p:cBhvr>
                                      <p:tavLst>
                                        <p:tav tm="0">
                                          <p:val>
                                            <p:strVal val="1+#ppt_w/2"/>
                                          </p:val>
                                        </p:tav>
                                        <p:tav tm="100000">
                                          <p:val>
                                            <p:strVal val="#ppt_x"/>
                                          </p:val>
                                        </p:tav>
                                      </p:tavLst>
                                    </p:anim>
                                    <p:anim calcmode="lin" valueType="num">
                                      <p:cBhvr additive="base">
                                        <p:cTn id="87" dur="500" fill="hold"/>
                                        <p:tgtEl>
                                          <p:spTgt spid="49"/>
                                        </p:tgtEl>
                                        <p:attrNameLst>
                                          <p:attrName>ppt_y</p:attrName>
                                        </p:attrNameLst>
                                      </p:cBhvr>
                                      <p:tavLst>
                                        <p:tav tm="0">
                                          <p:val>
                                            <p:strVal val="#ppt_y"/>
                                          </p:val>
                                        </p:tav>
                                        <p:tav tm="100000">
                                          <p:val>
                                            <p:strVal val="#ppt_y"/>
                                          </p:val>
                                        </p:tav>
                                      </p:tavLst>
                                    </p:anim>
                                  </p:childTnLst>
                                </p:cTn>
                              </p:par>
                            </p:childTnLst>
                          </p:cTn>
                        </p:par>
                        <p:par>
                          <p:cTn id="88" fill="hold">
                            <p:stCondLst>
                              <p:cond delay="7200"/>
                            </p:stCondLst>
                            <p:childTnLst>
                              <p:par>
                                <p:cTn id="89" presetID="2" presetClass="entr" presetSubtype="2" fill="hold" nodeType="afterEffect">
                                  <p:stCondLst>
                                    <p:cond delay="0"/>
                                  </p:stCondLst>
                                  <p:childTnLst>
                                    <p:set>
                                      <p:cBhvr>
                                        <p:cTn id="90" dur="1" fill="hold">
                                          <p:stCondLst>
                                            <p:cond delay="0"/>
                                          </p:stCondLst>
                                        </p:cTn>
                                        <p:tgtEl>
                                          <p:spTgt spid="54"/>
                                        </p:tgtEl>
                                        <p:attrNameLst>
                                          <p:attrName>style.visibility</p:attrName>
                                        </p:attrNameLst>
                                      </p:cBhvr>
                                      <p:to>
                                        <p:strVal val="visible"/>
                                      </p:to>
                                    </p:set>
                                    <p:anim calcmode="lin" valueType="num">
                                      <p:cBhvr additive="base">
                                        <p:cTn id="91" dur="500" fill="hold"/>
                                        <p:tgtEl>
                                          <p:spTgt spid="54"/>
                                        </p:tgtEl>
                                        <p:attrNameLst>
                                          <p:attrName>ppt_x</p:attrName>
                                        </p:attrNameLst>
                                      </p:cBhvr>
                                      <p:tavLst>
                                        <p:tav tm="0">
                                          <p:val>
                                            <p:strVal val="1+#ppt_w/2"/>
                                          </p:val>
                                        </p:tav>
                                        <p:tav tm="100000">
                                          <p:val>
                                            <p:strVal val="#ppt_x"/>
                                          </p:val>
                                        </p:tav>
                                      </p:tavLst>
                                    </p:anim>
                                    <p:anim calcmode="lin" valueType="num">
                                      <p:cBhvr additive="base">
                                        <p:cTn id="92" dur="50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22" grpId="0"/>
      <p:bldP spid="23" grpId="0" animBg="1"/>
      <p:bldP spid="24" grpId="0" animBg="1"/>
      <p:bldP spid="25" grpId="0"/>
      <p:bldP spid="26" grpId="0"/>
      <p:bldP spid="27" grpId="0" animBg="1"/>
      <p:bldP spid="28" grpId="0" animBg="1"/>
      <p:bldP spid="29" grpId="0"/>
      <p:bldP spid="30" grpId="0"/>
      <p:bldP spid="31" grpId="0" animBg="1"/>
      <p:bldP spid="32" grpId="0" animBg="1"/>
      <p:bldP spid="33" grpId="0"/>
      <p:bldP spid="3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32325"/>
        </a:solidFill>
        <a:effectLst/>
      </p:bgPr>
    </p:bg>
    <p:spTree>
      <p:nvGrpSpPr>
        <p:cNvPr id="1" name=""/>
        <p:cNvGrpSpPr/>
        <p:nvPr/>
      </p:nvGrpSpPr>
      <p:grpSpPr>
        <a:xfrm>
          <a:off x="0" y="0"/>
          <a:ext cx="0" cy="0"/>
          <a:chOff x="0" y="0"/>
          <a:chExt cx="0" cy="0"/>
        </a:xfrm>
      </p:grpSpPr>
      <p:sp>
        <p:nvSpPr>
          <p:cNvPr id="2" name="!!seg8"/>
          <p:cNvSpPr/>
          <p:nvPr/>
        </p:nvSpPr>
        <p:spPr>
          <a:xfrm>
            <a:off x="16971264"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seg7"/>
          <p:cNvSpPr/>
          <p:nvPr/>
        </p:nvSpPr>
        <p:spPr>
          <a:xfrm>
            <a:off x="15782543" y="566928"/>
            <a:ext cx="1097280" cy="118872"/>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seg6"/>
          <p:cNvSpPr/>
          <p:nvPr/>
        </p:nvSpPr>
        <p:spPr>
          <a:xfrm>
            <a:off x="1538020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seg5"/>
          <p:cNvSpPr/>
          <p:nvPr/>
        </p:nvSpPr>
        <p:spPr>
          <a:xfrm>
            <a:off x="14977871"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seg4"/>
          <p:cNvSpPr/>
          <p:nvPr/>
        </p:nvSpPr>
        <p:spPr>
          <a:xfrm>
            <a:off x="14575535"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eg3"/>
          <p:cNvSpPr/>
          <p:nvPr/>
        </p:nvSpPr>
        <p:spPr>
          <a:xfrm>
            <a:off x="14173199"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eg2"/>
          <p:cNvSpPr/>
          <p:nvPr/>
        </p:nvSpPr>
        <p:spPr>
          <a:xfrm>
            <a:off x="13770863"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seg1"/>
          <p:cNvSpPr/>
          <p:nvPr/>
        </p:nvSpPr>
        <p:spPr>
          <a:xfrm>
            <a:off x="1336852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egno"/>
          <p:cNvSpPr txBox="1"/>
          <p:nvPr/>
        </p:nvSpPr>
        <p:spPr>
          <a:xfrm>
            <a:off x="10808207" y="429768"/>
            <a:ext cx="2423160" cy="384048"/>
          </a:xfrm>
          <a:prstGeom prst="rect">
            <a:avLst/>
          </a:prstGeom>
          <a:noFill/>
        </p:spPr>
        <p:txBody>
          <a:bodyPr wrap="square" lIns="45720" rIns="45720" anchor="t"/>
          <a:lstStyle/>
          <a:p>
            <a:pPr algn="r">
              <a:lnSpc>
                <a:spcPct val="100000"/>
              </a:lnSpc>
            </a:pPr>
            <a:r>
              <a:rPr sz="1500" b="0" i="0">
                <a:solidFill>
                  <a:srgbClr val="8E8E93"/>
                </a:solidFill>
                <a:latin typeface="Oswald"/>
              </a:rPr>
              <a:t>07 / 08</a:t>
            </a:r>
          </a:p>
        </p:txBody>
      </p:sp>
      <p:sp>
        <p:nvSpPr>
          <p:cNvPr id="11" name="Kicker 169"/>
          <p:cNvSpPr txBox="1"/>
          <p:nvPr/>
        </p:nvSpPr>
        <p:spPr>
          <a:xfrm>
            <a:off x="1005840" y="457200"/>
            <a:ext cx="8229600" cy="411480"/>
          </a:xfrm>
          <a:prstGeom prst="rect">
            <a:avLst/>
          </a:prstGeom>
          <a:noFill/>
        </p:spPr>
        <p:txBody>
          <a:bodyPr wrap="square" lIns="45720" rIns="45720" anchor="t"/>
          <a:lstStyle/>
          <a:p>
            <a:pPr algn="l">
              <a:lnSpc>
                <a:spcPct val="100000"/>
              </a:lnSpc>
            </a:pPr>
            <a:r>
              <a:rPr sz="1600" b="1" i="0">
                <a:solidFill>
                  <a:srgbClr val="C1FF72"/>
                </a:solidFill>
                <a:latin typeface="Titillium Web"/>
              </a:rPr>
              <a:t>07  ·  RESULTS  ·  1 OF 4</a:t>
            </a:r>
          </a:p>
        </p:txBody>
      </p:sp>
      <p:sp>
        <p:nvSpPr>
          <p:cNvPr id="12" name="Title 170"/>
          <p:cNvSpPr txBox="1"/>
          <p:nvPr/>
        </p:nvSpPr>
        <p:spPr>
          <a:xfrm>
            <a:off x="1005840" y="841248"/>
            <a:ext cx="11887200" cy="1051560"/>
          </a:xfrm>
          <a:prstGeom prst="rect">
            <a:avLst/>
          </a:prstGeom>
          <a:noFill/>
        </p:spPr>
        <p:txBody>
          <a:bodyPr wrap="square" lIns="45720" rIns="45720" anchor="t"/>
          <a:lstStyle/>
          <a:p>
            <a:pPr algn="l">
              <a:lnSpc>
                <a:spcPct val="100000"/>
              </a:lnSpc>
            </a:pPr>
            <a:r>
              <a:rPr sz="5400" b="0" i="0">
                <a:solidFill>
                  <a:srgbClr val="EDEDED"/>
                </a:solidFill>
                <a:latin typeface="Oswald"/>
              </a:rPr>
              <a:t>DETECTION PERFORMANCE</a:t>
            </a:r>
          </a:p>
        </p:txBody>
      </p:sp>
      <p:sp>
        <p:nvSpPr>
          <p:cNvPr id="13" name="Subtitle 171"/>
          <p:cNvSpPr txBox="1"/>
          <p:nvPr/>
        </p:nvSpPr>
        <p:spPr>
          <a:xfrm>
            <a:off x="1005840" y="1828800"/>
            <a:ext cx="11887200" cy="502920"/>
          </a:xfrm>
          <a:prstGeom prst="rect">
            <a:avLst/>
          </a:prstGeom>
          <a:noFill/>
        </p:spPr>
        <p:txBody>
          <a:bodyPr wrap="square" lIns="45720" rIns="45720" anchor="t"/>
          <a:lstStyle/>
          <a:p>
            <a:pPr algn="l">
              <a:lnSpc>
                <a:spcPct val="100000"/>
              </a:lnSpc>
            </a:pPr>
            <a:r>
              <a:rPr sz="2100" b="0" i="0">
                <a:solidFill>
                  <a:srgbClr val="8E8E93"/>
                </a:solidFill>
                <a:latin typeface="Titillium Web"/>
              </a:rPr>
              <a:t>300-URL evaluation of the prototype</a:t>
            </a:r>
          </a:p>
        </p:txBody>
      </p:sp>
      <p:sp>
        <p:nvSpPr>
          <p:cNvPr id="14" name="Source"/>
          <p:cNvSpPr txBox="1"/>
          <p:nvPr/>
        </p:nvSpPr>
        <p:spPr>
          <a:xfrm>
            <a:off x="1005840" y="9710928"/>
            <a:ext cx="14447520" cy="347472"/>
          </a:xfrm>
          <a:prstGeom prst="rect">
            <a:avLst/>
          </a:prstGeom>
          <a:noFill/>
        </p:spPr>
        <p:txBody>
          <a:bodyPr wrap="square" lIns="45720" rIns="45720" anchor="t"/>
          <a:lstStyle/>
          <a:p>
            <a:pPr algn="l">
              <a:lnSpc>
                <a:spcPct val="100000"/>
              </a:lnSpc>
            </a:pPr>
            <a:r>
              <a:rPr sz="1300" b="0" i="0">
                <a:solidFill>
                  <a:srgbClr val="5C5C61"/>
                </a:solidFill>
                <a:latin typeface="Titillium Web"/>
              </a:rPr>
              <a:t>Thesis Tables 4.3 and 4.4 (historical prototype results)</a:t>
            </a:r>
          </a:p>
        </p:txBody>
      </p:sp>
      <p:sp>
        <p:nvSpPr>
          <p:cNvPr id="15" name="Page"/>
          <p:cNvSpPr txBox="1"/>
          <p:nvPr/>
        </p:nvSpPr>
        <p:spPr>
          <a:xfrm>
            <a:off x="15453359" y="9710928"/>
            <a:ext cx="1828800" cy="347472"/>
          </a:xfrm>
          <a:prstGeom prst="rect">
            <a:avLst/>
          </a:prstGeom>
          <a:noFill/>
        </p:spPr>
        <p:txBody>
          <a:bodyPr wrap="square" lIns="45720" rIns="45720" anchor="t"/>
          <a:lstStyle/>
          <a:p>
            <a:pPr algn="r">
              <a:lnSpc>
                <a:spcPct val="100000"/>
              </a:lnSpc>
            </a:pPr>
            <a:r>
              <a:rPr sz="1300" b="0" i="0">
                <a:solidFill>
                  <a:srgbClr val="5C5C61"/>
                </a:solidFill>
                <a:latin typeface="Oswald"/>
              </a:rPr>
              <a:t>14</a:t>
            </a:r>
          </a:p>
        </p:txBody>
      </p:sp>
      <p:pic>
        <p:nvPicPr>
          <p:cNvPr id="16" name="!!photo" descr="38808473-2.516-0.50-0.50.jpg"/>
          <p:cNvPicPr>
            <a:picLocks noChangeAspect="1"/>
          </p:cNvPicPr>
          <p:nvPr/>
        </p:nvPicPr>
        <p:blipFill>
          <a:blip r:embed="rId3"/>
          <a:stretch>
            <a:fillRect/>
          </a:stretch>
        </p:blipFill>
        <p:spPr>
          <a:xfrm>
            <a:off x="13716000" y="1051560"/>
            <a:ext cx="3566160" cy="1417320"/>
          </a:xfrm>
          <a:prstGeom prst="roundRect">
            <a:avLst>
              <a:gd name="adj" fmla="val 22580"/>
            </a:avLst>
          </a:prstGeom>
          <a:effectLst>
            <a:outerShdw blurRad="279400" dist="114300" dir="2700000" algn="ctr" rotWithShape="0">
              <a:srgbClr val="0E0E10">
                <a:alpha val="70000"/>
              </a:srgbClr>
            </a:outerShdw>
          </a:effectLst>
        </p:spPr>
      </p:pic>
      <p:grpSp>
        <p:nvGrpSpPr>
          <p:cNvPr id="22" name="Metric 172"/>
          <p:cNvGrpSpPr/>
          <p:nvPr/>
        </p:nvGrpSpPr>
        <p:grpSpPr>
          <a:xfrm>
            <a:off x="1005840" y="2606040"/>
            <a:ext cx="2484120" cy="2240280"/>
            <a:chOff x="1005840" y="2606040"/>
            <a:chExt cx="2484120" cy="2240280"/>
          </a:xfrm>
        </p:grpSpPr>
        <p:sp>
          <p:nvSpPr>
            <p:cNvPr id="17" name="Metric light"/>
            <p:cNvSpPr/>
            <p:nvPr/>
          </p:nvSpPr>
          <p:spPr>
            <a:xfrm>
              <a:off x="1005840" y="2606040"/>
              <a:ext cx="2484120" cy="2240280"/>
            </a:xfrm>
            <a:prstGeom prst="roundRect">
              <a:avLst>
                <a:gd name="adj" fmla="val 12244"/>
              </a:avLst>
            </a:prstGeom>
            <a:solidFill>
              <a:srgbClr val="33402A"/>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Metric"/>
            <p:cNvSpPr/>
            <p:nvPr/>
          </p:nvSpPr>
          <p:spPr>
            <a:xfrm>
              <a:off x="1005840" y="2606040"/>
              <a:ext cx="2484120" cy="2240280"/>
            </a:xfrm>
            <a:prstGeom prst="roundRect">
              <a:avLst>
                <a:gd name="adj" fmla="val 12244"/>
              </a:avLst>
            </a:prstGeom>
            <a:solidFill>
              <a:srgbClr val="33402A"/>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Metric value"/>
            <p:cNvSpPr txBox="1"/>
            <p:nvPr/>
          </p:nvSpPr>
          <p:spPr>
            <a:xfrm>
              <a:off x="1097280" y="2724912"/>
              <a:ext cx="2301240" cy="960120"/>
            </a:xfrm>
            <a:prstGeom prst="rect">
              <a:avLst/>
            </a:prstGeom>
            <a:noFill/>
          </p:spPr>
          <p:txBody>
            <a:bodyPr wrap="square" lIns="45720" rIns="45720" anchor="t"/>
            <a:lstStyle/>
            <a:p>
              <a:pPr algn="ctr">
                <a:lnSpc>
                  <a:spcPct val="100000"/>
                </a:lnSpc>
              </a:pPr>
              <a:r>
                <a:rPr sz="4600" b="0" i="0">
                  <a:solidFill>
                    <a:srgbClr val="C1FF72"/>
                  </a:solidFill>
                  <a:latin typeface="Oswald"/>
                </a:rPr>
                <a:t>94.7%</a:t>
              </a:r>
            </a:p>
          </p:txBody>
        </p:sp>
        <p:sp>
          <p:nvSpPr>
            <p:cNvPr id="20" name="Metric key"/>
            <p:cNvSpPr txBox="1"/>
            <p:nvPr/>
          </p:nvSpPr>
          <p:spPr>
            <a:xfrm>
              <a:off x="1097280" y="3657600"/>
              <a:ext cx="2301240" cy="502920"/>
            </a:xfrm>
            <a:prstGeom prst="rect">
              <a:avLst/>
            </a:prstGeom>
            <a:noFill/>
          </p:spPr>
          <p:txBody>
            <a:bodyPr wrap="square" lIns="45720" rIns="45720" anchor="t"/>
            <a:lstStyle/>
            <a:p>
              <a:pPr algn="ctr">
                <a:lnSpc>
                  <a:spcPct val="100000"/>
                </a:lnSpc>
              </a:pPr>
              <a:r>
                <a:rPr sz="2000" b="0" i="0">
                  <a:solidFill>
                    <a:srgbClr val="EDEDED"/>
                  </a:solidFill>
                  <a:latin typeface="Oswald"/>
                </a:rPr>
                <a:t>ACCURACY</a:t>
              </a:r>
            </a:p>
          </p:txBody>
        </p:sp>
        <p:sp>
          <p:nvSpPr>
            <p:cNvPr id="21" name="Metric text"/>
            <p:cNvSpPr txBox="1"/>
            <p:nvPr/>
          </p:nvSpPr>
          <p:spPr>
            <a:xfrm>
              <a:off x="1097280" y="4114800"/>
              <a:ext cx="2301240" cy="502920"/>
            </a:xfrm>
            <a:prstGeom prst="rect">
              <a:avLst/>
            </a:prstGeom>
            <a:noFill/>
          </p:spPr>
          <p:txBody>
            <a:bodyPr wrap="square" lIns="45720" rIns="45720" anchor="t"/>
            <a:lstStyle/>
            <a:p>
              <a:pPr algn="ctr">
                <a:lnSpc>
                  <a:spcPct val="100000"/>
                </a:lnSpc>
              </a:pPr>
              <a:r>
                <a:rPr sz="1550" b="0" i="0">
                  <a:solidFill>
                    <a:srgbClr val="BDBDC1"/>
                  </a:solidFill>
                  <a:latin typeface="Titillium Web"/>
                </a:rPr>
                <a:t>284 of 300 correct</a:t>
              </a:r>
            </a:p>
          </p:txBody>
        </p:sp>
      </p:grpSp>
      <p:grpSp>
        <p:nvGrpSpPr>
          <p:cNvPr id="28" name="Metric 173"/>
          <p:cNvGrpSpPr/>
          <p:nvPr/>
        </p:nvGrpSpPr>
        <p:grpSpPr>
          <a:xfrm>
            <a:off x="3764280" y="2606040"/>
            <a:ext cx="2484120" cy="2240280"/>
            <a:chOff x="3764280" y="2606040"/>
            <a:chExt cx="2484120" cy="2240280"/>
          </a:xfrm>
        </p:grpSpPr>
        <p:sp>
          <p:nvSpPr>
            <p:cNvPr id="23" name="Metric light"/>
            <p:cNvSpPr/>
            <p:nvPr/>
          </p:nvSpPr>
          <p:spPr>
            <a:xfrm>
              <a:off x="3764280" y="2606040"/>
              <a:ext cx="2484120" cy="2240280"/>
            </a:xfrm>
            <a:prstGeom prst="roundRect">
              <a:avLst>
                <a:gd name="adj" fmla="val 12244"/>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Metric"/>
            <p:cNvSpPr/>
            <p:nvPr/>
          </p:nvSpPr>
          <p:spPr>
            <a:xfrm>
              <a:off x="3764280" y="2606040"/>
              <a:ext cx="2484120" cy="2240280"/>
            </a:xfrm>
            <a:prstGeom prst="roundRect">
              <a:avLst>
                <a:gd name="adj" fmla="val 12244"/>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Metric value"/>
            <p:cNvSpPr txBox="1"/>
            <p:nvPr/>
          </p:nvSpPr>
          <p:spPr>
            <a:xfrm>
              <a:off x="3855720" y="2724912"/>
              <a:ext cx="2301240" cy="960120"/>
            </a:xfrm>
            <a:prstGeom prst="rect">
              <a:avLst/>
            </a:prstGeom>
            <a:noFill/>
          </p:spPr>
          <p:txBody>
            <a:bodyPr wrap="square" lIns="45720" rIns="45720" anchor="t"/>
            <a:lstStyle/>
            <a:p>
              <a:pPr algn="ctr">
                <a:lnSpc>
                  <a:spcPct val="100000"/>
                </a:lnSpc>
              </a:pPr>
              <a:r>
                <a:rPr sz="4600" b="0" i="0">
                  <a:solidFill>
                    <a:srgbClr val="EDEDED"/>
                  </a:solidFill>
                  <a:latin typeface="Oswald"/>
                </a:rPr>
                <a:t>97.9%</a:t>
              </a:r>
            </a:p>
          </p:txBody>
        </p:sp>
        <p:sp>
          <p:nvSpPr>
            <p:cNvPr id="26" name="Metric key"/>
            <p:cNvSpPr txBox="1"/>
            <p:nvPr/>
          </p:nvSpPr>
          <p:spPr>
            <a:xfrm>
              <a:off x="3855720" y="3657600"/>
              <a:ext cx="2301240" cy="502920"/>
            </a:xfrm>
            <a:prstGeom prst="rect">
              <a:avLst/>
            </a:prstGeom>
            <a:noFill/>
          </p:spPr>
          <p:txBody>
            <a:bodyPr wrap="square" lIns="45720" rIns="45720" anchor="t"/>
            <a:lstStyle/>
            <a:p>
              <a:pPr algn="ctr">
                <a:lnSpc>
                  <a:spcPct val="100000"/>
                </a:lnSpc>
              </a:pPr>
              <a:r>
                <a:rPr sz="2000" b="0" i="0">
                  <a:solidFill>
                    <a:srgbClr val="EDEDED"/>
                  </a:solidFill>
                  <a:latin typeface="Oswald"/>
                </a:rPr>
                <a:t>PRECISION</a:t>
              </a:r>
            </a:p>
          </p:txBody>
        </p:sp>
        <p:sp>
          <p:nvSpPr>
            <p:cNvPr id="27" name="Metric text"/>
            <p:cNvSpPr txBox="1"/>
            <p:nvPr/>
          </p:nvSpPr>
          <p:spPr>
            <a:xfrm>
              <a:off x="3855720" y="4114800"/>
              <a:ext cx="2301240" cy="502920"/>
            </a:xfrm>
            <a:prstGeom prst="rect">
              <a:avLst/>
            </a:prstGeom>
            <a:noFill/>
          </p:spPr>
          <p:txBody>
            <a:bodyPr wrap="square" lIns="45720" rIns="45720" anchor="t"/>
            <a:lstStyle/>
            <a:p>
              <a:pPr algn="ctr">
                <a:lnSpc>
                  <a:spcPct val="100000"/>
                </a:lnSpc>
              </a:pPr>
              <a:r>
                <a:rPr sz="1550" b="0" i="0">
                  <a:solidFill>
                    <a:srgbClr val="BDBDC1"/>
                  </a:solidFill>
                  <a:latin typeface="Titillium Web"/>
                </a:rPr>
                <a:t>alerts that were right</a:t>
              </a:r>
            </a:p>
          </p:txBody>
        </p:sp>
      </p:grpSp>
      <p:grpSp>
        <p:nvGrpSpPr>
          <p:cNvPr id="34" name="Metric 174"/>
          <p:cNvGrpSpPr/>
          <p:nvPr/>
        </p:nvGrpSpPr>
        <p:grpSpPr>
          <a:xfrm>
            <a:off x="6522720" y="2606040"/>
            <a:ext cx="2484120" cy="2240280"/>
            <a:chOff x="6522720" y="2606040"/>
            <a:chExt cx="2484120" cy="2240280"/>
          </a:xfrm>
        </p:grpSpPr>
        <p:sp>
          <p:nvSpPr>
            <p:cNvPr id="29" name="Metric light"/>
            <p:cNvSpPr/>
            <p:nvPr/>
          </p:nvSpPr>
          <p:spPr>
            <a:xfrm>
              <a:off x="6522720" y="2606040"/>
              <a:ext cx="2484120" cy="2240280"/>
            </a:xfrm>
            <a:prstGeom prst="roundRect">
              <a:avLst>
                <a:gd name="adj" fmla="val 12244"/>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0" name="Metric"/>
            <p:cNvSpPr/>
            <p:nvPr/>
          </p:nvSpPr>
          <p:spPr>
            <a:xfrm>
              <a:off x="6522720" y="2606040"/>
              <a:ext cx="2484120" cy="2240280"/>
            </a:xfrm>
            <a:prstGeom prst="roundRect">
              <a:avLst>
                <a:gd name="adj" fmla="val 12244"/>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Metric value"/>
            <p:cNvSpPr txBox="1"/>
            <p:nvPr/>
          </p:nvSpPr>
          <p:spPr>
            <a:xfrm>
              <a:off x="6614159" y="2724912"/>
              <a:ext cx="2301240" cy="960120"/>
            </a:xfrm>
            <a:prstGeom prst="rect">
              <a:avLst/>
            </a:prstGeom>
            <a:noFill/>
          </p:spPr>
          <p:txBody>
            <a:bodyPr wrap="square" lIns="45720" rIns="45720" anchor="t"/>
            <a:lstStyle/>
            <a:p>
              <a:pPr algn="ctr">
                <a:lnSpc>
                  <a:spcPct val="100000"/>
                </a:lnSpc>
              </a:pPr>
              <a:r>
                <a:rPr sz="4600" b="0" i="0">
                  <a:solidFill>
                    <a:srgbClr val="EDEDED"/>
                  </a:solidFill>
                  <a:latin typeface="Oswald"/>
                </a:rPr>
                <a:t>91.3%</a:t>
              </a:r>
            </a:p>
          </p:txBody>
        </p:sp>
        <p:sp>
          <p:nvSpPr>
            <p:cNvPr id="32" name="Metric key"/>
            <p:cNvSpPr txBox="1"/>
            <p:nvPr/>
          </p:nvSpPr>
          <p:spPr>
            <a:xfrm>
              <a:off x="6614159" y="3657600"/>
              <a:ext cx="2301240" cy="502920"/>
            </a:xfrm>
            <a:prstGeom prst="rect">
              <a:avLst/>
            </a:prstGeom>
            <a:noFill/>
          </p:spPr>
          <p:txBody>
            <a:bodyPr wrap="square" lIns="45720" rIns="45720" anchor="t"/>
            <a:lstStyle/>
            <a:p>
              <a:pPr algn="ctr">
                <a:lnSpc>
                  <a:spcPct val="100000"/>
                </a:lnSpc>
              </a:pPr>
              <a:r>
                <a:rPr sz="2000" b="0" i="0">
                  <a:solidFill>
                    <a:srgbClr val="EDEDED"/>
                  </a:solidFill>
                  <a:latin typeface="Oswald"/>
                </a:rPr>
                <a:t>RECALL</a:t>
              </a:r>
            </a:p>
          </p:txBody>
        </p:sp>
        <p:sp>
          <p:nvSpPr>
            <p:cNvPr id="33" name="Metric text"/>
            <p:cNvSpPr txBox="1"/>
            <p:nvPr/>
          </p:nvSpPr>
          <p:spPr>
            <a:xfrm>
              <a:off x="6614159" y="4114800"/>
              <a:ext cx="2301240" cy="502920"/>
            </a:xfrm>
            <a:prstGeom prst="rect">
              <a:avLst/>
            </a:prstGeom>
            <a:noFill/>
          </p:spPr>
          <p:txBody>
            <a:bodyPr wrap="square" lIns="45720" rIns="45720" anchor="t"/>
            <a:lstStyle/>
            <a:p>
              <a:pPr algn="ctr">
                <a:lnSpc>
                  <a:spcPct val="100000"/>
                </a:lnSpc>
              </a:pPr>
              <a:r>
                <a:rPr sz="1550" b="0" i="0">
                  <a:solidFill>
                    <a:srgbClr val="BDBDC1"/>
                  </a:solidFill>
                  <a:latin typeface="Titillium Web"/>
                </a:rPr>
                <a:t>harmful sites caught</a:t>
              </a:r>
            </a:p>
          </p:txBody>
        </p:sp>
      </p:grpSp>
      <p:grpSp>
        <p:nvGrpSpPr>
          <p:cNvPr id="40" name="Metric 175"/>
          <p:cNvGrpSpPr/>
          <p:nvPr/>
        </p:nvGrpSpPr>
        <p:grpSpPr>
          <a:xfrm>
            <a:off x="9281160" y="2606040"/>
            <a:ext cx="2484120" cy="2240280"/>
            <a:chOff x="9281160" y="2606040"/>
            <a:chExt cx="2484120" cy="2240280"/>
          </a:xfrm>
        </p:grpSpPr>
        <p:sp>
          <p:nvSpPr>
            <p:cNvPr id="35" name="Metric light"/>
            <p:cNvSpPr/>
            <p:nvPr/>
          </p:nvSpPr>
          <p:spPr>
            <a:xfrm>
              <a:off x="9281160" y="2606040"/>
              <a:ext cx="2484120" cy="2240280"/>
            </a:xfrm>
            <a:prstGeom prst="roundRect">
              <a:avLst>
                <a:gd name="adj" fmla="val 12244"/>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Metric"/>
            <p:cNvSpPr/>
            <p:nvPr/>
          </p:nvSpPr>
          <p:spPr>
            <a:xfrm>
              <a:off x="9281160" y="2606040"/>
              <a:ext cx="2484120" cy="2240280"/>
            </a:xfrm>
            <a:prstGeom prst="roundRect">
              <a:avLst>
                <a:gd name="adj" fmla="val 12244"/>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Metric value"/>
            <p:cNvSpPr txBox="1"/>
            <p:nvPr/>
          </p:nvSpPr>
          <p:spPr>
            <a:xfrm>
              <a:off x="9372600" y="2724912"/>
              <a:ext cx="2301240" cy="960120"/>
            </a:xfrm>
            <a:prstGeom prst="rect">
              <a:avLst/>
            </a:prstGeom>
            <a:noFill/>
          </p:spPr>
          <p:txBody>
            <a:bodyPr wrap="square" lIns="45720" rIns="45720" anchor="t"/>
            <a:lstStyle/>
            <a:p>
              <a:pPr algn="ctr">
                <a:lnSpc>
                  <a:spcPct val="100000"/>
                </a:lnSpc>
              </a:pPr>
              <a:r>
                <a:rPr sz="4600" b="0" i="0">
                  <a:solidFill>
                    <a:srgbClr val="EDEDED"/>
                  </a:solidFill>
                  <a:latin typeface="Oswald"/>
                </a:rPr>
                <a:t>98.0%</a:t>
              </a:r>
            </a:p>
          </p:txBody>
        </p:sp>
        <p:sp>
          <p:nvSpPr>
            <p:cNvPr id="38" name="Metric key"/>
            <p:cNvSpPr txBox="1"/>
            <p:nvPr/>
          </p:nvSpPr>
          <p:spPr>
            <a:xfrm>
              <a:off x="9372600" y="3657600"/>
              <a:ext cx="2301240" cy="502920"/>
            </a:xfrm>
            <a:prstGeom prst="rect">
              <a:avLst/>
            </a:prstGeom>
            <a:noFill/>
          </p:spPr>
          <p:txBody>
            <a:bodyPr wrap="square" lIns="45720" rIns="45720" anchor="t"/>
            <a:lstStyle/>
            <a:p>
              <a:pPr algn="ctr">
                <a:lnSpc>
                  <a:spcPct val="100000"/>
                </a:lnSpc>
              </a:pPr>
              <a:r>
                <a:rPr sz="2000" b="0" i="0">
                  <a:solidFill>
                    <a:srgbClr val="EDEDED"/>
                  </a:solidFill>
                  <a:latin typeface="Oswald"/>
                </a:rPr>
                <a:t>SPECIFICITY</a:t>
              </a:r>
            </a:p>
          </p:txBody>
        </p:sp>
        <p:sp>
          <p:nvSpPr>
            <p:cNvPr id="39" name="Metric text"/>
            <p:cNvSpPr txBox="1"/>
            <p:nvPr/>
          </p:nvSpPr>
          <p:spPr>
            <a:xfrm>
              <a:off x="9372600" y="4114800"/>
              <a:ext cx="2301240" cy="502920"/>
            </a:xfrm>
            <a:prstGeom prst="rect">
              <a:avLst/>
            </a:prstGeom>
            <a:noFill/>
          </p:spPr>
          <p:txBody>
            <a:bodyPr wrap="square" lIns="45720" rIns="45720" anchor="t"/>
            <a:lstStyle/>
            <a:p>
              <a:pPr algn="ctr">
                <a:lnSpc>
                  <a:spcPct val="100000"/>
                </a:lnSpc>
              </a:pPr>
              <a:r>
                <a:rPr sz="1550" b="0" i="0">
                  <a:solidFill>
                    <a:srgbClr val="BDBDC1"/>
                  </a:solidFill>
                  <a:latin typeface="Titillium Web"/>
                </a:rPr>
                <a:t>safe sites left alone</a:t>
              </a:r>
            </a:p>
          </p:txBody>
        </p:sp>
      </p:grpSp>
      <p:grpSp>
        <p:nvGrpSpPr>
          <p:cNvPr id="46" name="Metric 176"/>
          <p:cNvGrpSpPr/>
          <p:nvPr/>
        </p:nvGrpSpPr>
        <p:grpSpPr>
          <a:xfrm>
            <a:off x="12039600" y="2606040"/>
            <a:ext cx="2484120" cy="2240280"/>
            <a:chOff x="12039600" y="2606040"/>
            <a:chExt cx="2484120" cy="2240280"/>
          </a:xfrm>
        </p:grpSpPr>
        <p:sp>
          <p:nvSpPr>
            <p:cNvPr id="41" name="Metric light"/>
            <p:cNvSpPr/>
            <p:nvPr/>
          </p:nvSpPr>
          <p:spPr>
            <a:xfrm>
              <a:off x="12039600" y="2606040"/>
              <a:ext cx="2484120" cy="2240280"/>
            </a:xfrm>
            <a:prstGeom prst="roundRect">
              <a:avLst>
                <a:gd name="adj" fmla="val 12244"/>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2" name="Metric"/>
            <p:cNvSpPr/>
            <p:nvPr/>
          </p:nvSpPr>
          <p:spPr>
            <a:xfrm>
              <a:off x="12039600" y="2606040"/>
              <a:ext cx="2484120" cy="2240280"/>
            </a:xfrm>
            <a:prstGeom prst="roundRect">
              <a:avLst>
                <a:gd name="adj" fmla="val 12244"/>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3" name="Metric value"/>
            <p:cNvSpPr txBox="1"/>
            <p:nvPr/>
          </p:nvSpPr>
          <p:spPr>
            <a:xfrm>
              <a:off x="12131040" y="2724912"/>
              <a:ext cx="2301240" cy="960120"/>
            </a:xfrm>
            <a:prstGeom prst="rect">
              <a:avLst/>
            </a:prstGeom>
            <a:noFill/>
          </p:spPr>
          <p:txBody>
            <a:bodyPr wrap="square" lIns="45720" rIns="45720" anchor="t"/>
            <a:lstStyle/>
            <a:p>
              <a:pPr algn="ctr">
                <a:lnSpc>
                  <a:spcPct val="100000"/>
                </a:lnSpc>
              </a:pPr>
              <a:r>
                <a:rPr sz="4600" b="0" i="0">
                  <a:solidFill>
                    <a:srgbClr val="EDEDED"/>
                  </a:solidFill>
                  <a:latin typeface="Oswald"/>
                </a:rPr>
                <a:t>94.5%</a:t>
              </a:r>
            </a:p>
          </p:txBody>
        </p:sp>
        <p:sp>
          <p:nvSpPr>
            <p:cNvPr id="44" name="Metric key"/>
            <p:cNvSpPr txBox="1"/>
            <p:nvPr/>
          </p:nvSpPr>
          <p:spPr>
            <a:xfrm>
              <a:off x="12131040" y="3657600"/>
              <a:ext cx="2301240" cy="502920"/>
            </a:xfrm>
            <a:prstGeom prst="rect">
              <a:avLst/>
            </a:prstGeom>
            <a:noFill/>
          </p:spPr>
          <p:txBody>
            <a:bodyPr wrap="square" lIns="45720" rIns="45720" anchor="t"/>
            <a:lstStyle/>
            <a:p>
              <a:pPr algn="ctr">
                <a:lnSpc>
                  <a:spcPct val="100000"/>
                </a:lnSpc>
              </a:pPr>
              <a:r>
                <a:rPr sz="2000" b="0" i="0">
                  <a:solidFill>
                    <a:srgbClr val="EDEDED"/>
                  </a:solidFill>
                  <a:latin typeface="Oswald"/>
                </a:rPr>
                <a:t>F1 SCORE</a:t>
              </a:r>
            </a:p>
          </p:txBody>
        </p:sp>
        <p:sp>
          <p:nvSpPr>
            <p:cNvPr id="45" name="Metric text"/>
            <p:cNvSpPr txBox="1"/>
            <p:nvPr/>
          </p:nvSpPr>
          <p:spPr>
            <a:xfrm>
              <a:off x="12131040" y="4114800"/>
              <a:ext cx="2301240" cy="502920"/>
            </a:xfrm>
            <a:prstGeom prst="rect">
              <a:avLst/>
            </a:prstGeom>
            <a:noFill/>
          </p:spPr>
          <p:txBody>
            <a:bodyPr wrap="square" lIns="45720" rIns="45720" anchor="t"/>
            <a:lstStyle/>
            <a:p>
              <a:pPr algn="ctr">
                <a:lnSpc>
                  <a:spcPct val="100000"/>
                </a:lnSpc>
              </a:pPr>
              <a:r>
                <a:rPr sz="1550" b="0" i="0">
                  <a:solidFill>
                    <a:srgbClr val="BDBDC1"/>
                  </a:solidFill>
                  <a:latin typeface="Titillium Web"/>
                </a:rPr>
                <a:t>precision–recall balance</a:t>
              </a:r>
            </a:p>
          </p:txBody>
        </p:sp>
      </p:grpSp>
      <p:grpSp>
        <p:nvGrpSpPr>
          <p:cNvPr id="52" name="Metric 177"/>
          <p:cNvGrpSpPr/>
          <p:nvPr/>
        </p:nvGrpSpPr>
        <p:grpSpPr>
          <a:xfrm>
            <a:off x="14798040" y="2606040"/>
            <a:ext cx="2484120" cy="2240280"/>
            <a:chOff x="14798040" y="2606040"/>
            <a:chExt cx="2484120" cy="2240280"/>
          </a:xfrm>
        </p:grpSpPr>
        <p:sp>
          <p:nvSpPr>
            <p:cNvPr id="47" name="Metric light"/>
            <p:cNvSpPr/>
            <p:nvPr/>
          </p:nvSpPr>
          <p:spPr>
            <a:xfrm>
              <a:off x="14798040" y="2606040"/>
              <a:ext cx="2484120" cy="2240280"/>
            </a:xfrm>
            <a:prstGeom prst="roundRect">
              <a:avLst>
                <a:gd name="adj" fmla="val 12244"/>
              </a:avLst>
            </a:prstGeom>
            <a:solidFill>
              <a:srgbClr val="33402A"/>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8" name="Metric"/>
            <p:cNvSpPr/>
            <p:nvPr/>
          </p:nvSpPr>
          <p:spPr>
            <a:xfrm>
              <a:off x="14798040" y="2606040"/>
              <a:ext cx="2484120" cy="2240280"/>
            </a:xfrm>
            <a:prstGeom prst="roundRect">
              <a:avLst>
                <a:gd name="adj" fmla="val 12244"/>
              </a:avLst>
            </a:prstGeom>
            <a:solidFill>
              <a:srgbClr val="33402A"/>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9" name="Metric value"/>
            <p:cNvSpPr txBox="1"/>
            <p:nvPr/>
          </p:nvSpPr>
          <p:spPr>
            <a:xfrm>
              <a:off x="14889480" y="2724912"/>
              <a:ext cx="2301240" cy="960120"/>
            </a:xfrm>
            <a:prstGeom prst="rect">
              <a:avLst/>
            </a:prstGeom>
            <a:noFill/>
          </p:spPr>
          <p:txBody>
            <a:bodyPr wrap="square" lIns="45720" rIns="45720" anchor="t"/>
            <a:lstStyle/>
            <a:p>
              <a:pPr algn="ctr">
                <a:lnSpc>
                  <a:spcPct val="100000"/>
                </a:lnSpc>
              </a:pPr>
              <a:r>
                <a:rPr sz="4600" b="0" i="0">
                  <a:solidFill>
                    <a:srgbClr val="C1FF72"/>
                  </a:solidFill>
                  <a:latin typeface="Oswald"/>
                </a:rPr>
                <a:t>2.0%</a:t>
              </a:r>
            </a:p>
          </p:txBody>
        </p:sp>
        <p:sp>
          <p:nvSpPr>
            <p:cNvPr id="50" name="Metric key"/>
            <p:cNvSpPr txBox="1"/>
            <p:nvPr/>
          </p:nvSpPr>
          <p:spPr>
            <a:xfrm>
              <a:off x="14889480" y="3657600"/>
              <a:ext cx="2301240" cy="502920"/>
            </a:xfrm>
            <a:prstGeom prst="rect">
              <a:avLst/>
            </a:prstGeom>
            <a:noFill/>
          </p:spPr>
          <p:txBody>
            <a:bodyPr wrap="square" lIns="45720" rIns="45720" anchor="t"/>
            <a:lstStyle/>
            <a:p>
              <a:pPr algn="ctr">
                <a:lnSpc>
                  <a:spcPct val="100000"/>
                </a:lnSpc>
              </a:pPr>
              <a:r>
                <a:rPr sz="2000" b="0" i="0">
                  <a:solidFill>
                    <a:srgbClr val="EDEDED"/>
                  </a:solidFill>
                  <a:latin typeface="Oswald"/>
                </a:rPr>
                <a:t>FP RATE</a:t>
              </a:r>
            </a:p>
          </p:txBody>
        </p:sp>
        <p:sp>
          <p:nvSpPr>
            <p:cNvPr id="51" name="Metric text"/>
            <p:cNvSpPr txBox="1"/>
            <p:nvPr/>
          </p:nvSpPr>
          <p:spPr>
            <a:xfrm>
              <a:off x="14889480" y="4114800"/>
              <a:ext cx="2301240" cy="502920"/>
            </a:xfrm>
            <a:prstGeom prst="rect">
              <a:avLst/>
            </a:prstGeom>
            <a:noFill/>
          </p:spPr>
          <p:txBody>
            <a:bodyPr wrap="square" lIns="45720" rIns="45720" anchor="t"/>
            <a:lstStyle/>
            <a:p>
              <a:pPr algn="ctr">
                <a:lnSpc>
                  <a:spcPct val="100000"/>
                </a:lnSpc>
              </a:pPr>
              <a:r>
                <a:rPr sz="1550" b="0" i="0">
                  <a:solidFill>
                    <a:srgbClr val="BDBDC1"/>
                  </a:solidFill>
                  <a:latin typeface="Titillium Web"/>
                </a:rPr>
                <a:t>3 of 150 benign</a:t>
              </a:r>
            </a:p>
          </p:txBody>
        </p:sp>
      </p:grpSp>
      <p:sp>
        <p:nvSpPr>
          <p:cNvPr id="53" name="CM label 178"/>
          <p:cNvSpPr txBox="1"/>
          <p:nvPr/>
        </p:nvSpPr>
        <p:spPr>
          <a:xfrm>
            <a:off x="1005840" y="5212080"/>
            <a:ext cx="6400800" cy="411480"/>
          </a:xfrm>
          <a:prstGeom prst="rect">
            <a:avLst/>
          </a:prstGeom>
          <a:noFill/>
        </p:spPr>
        <p:txBody>
          <a:bodyPr wrap="square" lIns="45720" rIns="45720" anchor="t"/>
          <a:lstStyle/>
          <a:p>
            <a:pPr algn="l">
              <a:lnSpc>
                <a:spcPct val="100000"/>
              </a:lnSpc>
            </a:pPr>
            <a:r>
              <a:rPr sz="1600" b="1" i="0">
                <a:solidFill>
                  <a:srgbClr val="C1FF72"/>
                </a:solidFill>
                <a:latin typeface="Titillium Web"/>
              </a:rPr>
              <a:t>CONFUSION MATRIX</a:t>
            </a:r>
          </a:p>
        </p:txBody>
      </p:sp>
      <p:grpSp>
        <p:nvGrpSpPr>
          <p:cNvPr id="58" name="Cell 179"/>
          <p:cNvGrpSpPr/>
          <p:nvPr/>
        </p:nvGrpSpPr>
        <p:grpSpPr>
          <a:xfrm>
            <a:off x="2743200" y="5715000"/>
            <a:ext cx="2560320" cy="1691640"/>
            <a:chOff x="2743200" y="5715000"/>
            <a:chExt cx="2560320" cy="1691640"/>
          </a:xfrm>
        </p:grpSpPr>
        <p:sp>
          <p:nvSpPr>
            <p:cNvPr id="54" name="Cell light"/>
            <p:cNvSpPr/>
            <p:nvPr/>
          </p:nvSpPr>
          <p:spPr>
            <a:xfrm>
              <a:off x="2743200" y="5715000"/>
              <a:ext cx="2560320" cy="1691640"/>
            </a:xfrm>
            <a:prstGeom prst="roundRect">
              <a:avLst>
                <a:gd name="adj" fmla="val 16216"/>
              </a:avLst>
            </a:prstGeom>
            <a:solidFill>
              <a:srgbClr val="33402A"/>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5" name="Cell"/>
            <p:cNvSpPr/>
            <p:nvPr/>
          </p:nvSpPr>
          <p:spPr>
            <a:xfrm>
              <a:off x="2743200" y="5715000"/>
              <a:ext cx="2560320" cy="1691640"/>
            </a:xfrm>
            <a:prstGeom prst="roundRect">
              <a:avLst>
                <a:gd name="adj" fmla="val 16216"/>
              </a:avLst>
            </a:prstGeom>
            <a:solidFill>
              <a:srgbClr val="33402A"/>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6" name="Cell value"/>
            <p:cNvSpPr txBox="1"/>
            <p:nvPr/>
          </p:nvSpPr>
          <p:spPr>
            <a:xfrm>
              <a:off x="2743200" y="5824728"/>
              <a:ext cx="2560320" cy="914400"/>
            </a:xfrm>
            <a:prstGeom prst="rect">
              <a:avLst/>
            </a:prstGeom>
            <a:noFill/>
          </p:spPr>
          <p:txBody>
            <a:bodyPr wrap="square" lIns="45720" rIns="45720" anchor="t"/>
            <a:lstStyle/>
            <a:p>
              <a:pPr algn="ctr">
                <a:lnSpc>
                  <a:spcPct val="100000"/>
                </a:lnSpc>
              </a:pPr>
              <a:r>
                <a:rPr sz="4400" b="0" i="0">
                  <a:solidFill>
                    <a:srgbClr val="C1FF72"/>
                  </a:solidFill>
                  <a:latin typeface="Oswald"/>
                </a:rPr>
                <a:t>137</a:t>
              </a:r>
            </a:p>
          </p:txBody>
        </p:sp>
        <p:sp>
          <p:nvSpPr>
            <p:cNvPr id="57" name="Cell key"/>
            <p:cNvSpPr txBox="1"/>
            <p:nvPr/>
          </p:nvSpPr>
          <p:spPr>
            <a:xfrm>
              <a:off x="2743200" y="6720840"/>
              <a:ext cx="2560320" cy="502920"/>
            </a:xfrm>
            <a:prstGeom prst="rect">
              <a:avLst/>
            </a:prstGeom>
            <a:noFill/>
          </p:spPr>
          <p:txBody>
            <a:bodyPr wrap="square" lIns="45720" rIns="45720" anchor="t"/>
            <a:lstStyle/>
            <a:p>
              <a:pPr algn="ctr">
                <a:lnSpc>
                  <a:spcPct val="100000"/>
                </a:lnSpc>
              </a:pPr>
              <a:r>
                <a:rPr sz="1550" b="0" i="0">
                  <a:solidFill>
                    <a:srgbClr val="8E8E93"/>
                  </a:solidFill>
                  <a:latin typeface="Titillium Web"/>
                </a:rPr>
                <a:t>True positives</a:t>
              </a:r>
            </a:p>
          </p:txBody>
        </p:sp>
      </p:grpSp>
      <p:grpSp>
        <p:nvGrpSpPr>
          <p:cNvPr id="63" name="Cell 180"/>
          <p:cNvGrpSpPr/>
          <p:nvPr/>
        </p:nvGrpSpPr>
        <p:grpSpPr>
          <a:xfrm>
            <a:off x="5486400" y="5715000"/>
            <a:ext cx="2560320" cy="1691640"/>
            <a:chOff x="5486400" y="5715000"/>
            <a:chExt cx="2560320" cy="1691640"/>
          </a:xfrm>
        </p:grpSpPr>
        <p:sp>
          <p:nvSpPr>
            <p:cNvPr id="59" name="Cell light"/>
            <p:cNvSpPr/>
            <p:nvPr/>
          </p:nvSpPr>
          <p:spPr>
            <a:xfrm>
              <a:off x="5486400" y="5715000"/>
              <a:ext cx="2560320" cy="1691640"/>
            </a:xfrm>
            <a:prstGeom prst="roundRect">
              <a:avLst>
                <a:gd name="adj" fmla="val 16216"/>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0" name="Cell"/>
            <p:cNvSpPr/>
            <p:nvPr/>
          </p:nvSpPr>
          <p:spPr>
            <a:xfrm>
              <a:off x="5486400" y="5715000"/>
              <a:ext cx="2560320" cy="1691640"/>
            </a:xfrm>
            <a:prstGeom prst="roundRect">
              <a:avLst>
                <a:gd name="adj" fmla="val 16216"/>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1" name="Cell value"/>
            <p:cNvSpPr txBox="1"/>
            <p:nvPr/>
          </p:nvSpPr>
          <p:spPr>
            <a:xfrm>
              <a:off x="5486400" y="5824728"/>
              <a:ext cx="2560320" cy="914400"/>
            </a:xfrm>
            <a:prstGeom prst="rect">
              <a:avLst/>
            </a:prstGeom>
            <a:noFill/>
          </p:spPr>
          <p:txBody>
            <a:bodyPr wrap="square" lIns="45720" rIns="45720" anchor="t"/>
            <a:lstStyle/>
            <a:p>
              <a:pPr algn="ctr">
                <a:lnSpc>
                  <a:spcPct val="100000"/>
                </a:lnSpc>
              </a:pPr>
              <a:r>
                <a:rPr sz="4400" b="0" i="0">
                  <a:solidFill>
                    <a:srgbClr val="EDEDED"/>
                  </a:solidFill>
                  <a:latin typeface="Oswald"/>
                </a:rPr>
                <a:t>13</a:t>
              </a:r>
            </a:p>
          </p:txBody>
        </p:sp>
        <p:sp>
          <p:nvSpPr>
            <p:cNvPr id="62" name="Cell key"/>
            <p:cNvSpPr txBox="1"/>
            <p:nvPr/>
          </p:nvSpPr>
          <p:spPr>
            <a:xfrm>
              <a:off x="5486400" y="6720840"/>
              <a:ext cx="2560320" cy="502920"/>
            </a:xfrm>
            <a:prstGeom prst="rect">
              <a:avLst/>
            </a:prstGeom>
            <a:noFill/>
          </p:spPr>
          <p:txBody>
            <a:bodyPr wrap="square" lIns="45720" rIns="45720" anchor="t"/>
            <a:lstStyle/>
            <a:p>
              <a:pPr algn="ctr">
                <a:lnSpc>
                  <a:spcPct val="100000"/>
                </a:lnSpc>
              </a:pPr>
              <a:r>
                <a:rPr sz="1550" b="0" i="0">
                  <a:solidFill>
                    <a:srgbClr val="8E8E93"/>
                  </a:solidFill>
                  <a:latin typeface="Titillium Web"/>
                </a:rPr>
                <a:t>False negatives</a:t>
              </a:r>
            </a:p>
          </p:txBody>
        </p:sp>
      </p:grpSp>
      <p:grpSp>
        <p:nvGrpSpPr>
          <p:cNvPr id="68" name="Cell 181"/>
          <p:cNvGrpSpPr/>
          <p:nvPr/>
        </p:nvGrpSpPr>
        <p:grpSpPr>
          <a:xfrm>
            <a:off x="2743200" y="7589520"/>
            <a:ext cx="2560320" cy="1691640"/>
            <a:chOff x="2743200" y="7589520"/>
            <a:chExt cx="2560320" cy="1691640"/>
          </a:xfrm>
        </p:grpSpPr>
        <p:sp>
          <p:nvSpPr>
            <p:cNvPr id="64" name="Cell light"/>
            <p:cNvSpPr/>
            <p:nvPr/>
          </p:nvSpPr>
          <p:spPr>
            <a:xfrm>
              <a:off x="2743200" y="7589520"/>
              <a:ext cx="2560320" cy="1691640"/>
            </a:xfrm>
            <a:prstGeom prst="roundRect">
              <a:avLst>
                <a:gd name="adj" fmla="val 16216"/>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5" name="Cell"/>
            <p:cNvSpPr/>
            <p:nvPr/>
          </p:nvSpPr>
          <p:spPr>
            <a:xfrm>
              <a:off x="2743200" y="7589520"/>
              <a:ext cx="2560320" cy="1691640"/>
            </a:xfrm>
            <a:prstGeom prst="roundRect">
              <a:avLst>
                <a:gd name="adj" fmla="val 16216"/>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6" name="Cell value"/>
            <p:cNvSpPr txBox="1"/>
            <p:nvPr/>
          </p:nvSpPr>
          <p:spPr>
            <a:xfrm>
              <a:off x="2743200" y="7699248"/>
              <a:ext cx="2560320" cy="914400"/>
            </a:xfrm>
            <a:prstGeom prst="rect">
              <a:avLst/>
            </a:prstGeom>
            <a:noFill/>
          </p:spPr>
          <p:txBody>
            <a:bodyPr wrap="square" lIns="45720" rIns="45720" anchor="t"/>
            <a:lstStyle/>
            <a:p>
              <a:pPr algn="ctr">
                <a:lnSpc>
                  <a:spcPct val="100000"/>
                </a:lnSpc>
              </a:pPr>
              <a:r>
                <a:rPr sz="4400" b="0" i="0">
                  <a:solidFill>
                    <a:srgbClr val="EDEDED"/>
                  </a:solidFill>
                  <a:latin typeface="Oswald"/>
                </a:rPr>
                <a:t>3</a:t>
              </a:r>
            </a:p>
          </p:txBody>
        </p:sp>
        <p:sp>
          <p:nvSpPr>
            <p:cNvPr id="67" name="Cell key"/>
            <p:cNvSpPr txBox="1"/>
            <p:nvPr/>
          </p:nvSpPr>
          <p:spPr>
            <a:xfrm>
              <a:off x="2743200" y="8595360"/>
              <a:ext cx="2560320" cy="502920"/>
            </a:xfrm>
            <a:prstGeom prst="rect">
              <a:avLst/>
            </a:prstGeom>
            <a:noFill/>
          </p:spPr>
          <p:txBody>
            <a:bodyPr wrap="square" lIns="45720" rIns="45720" anchor="t"/>
            <a:lstStyle/>
            <a:p>
              <a:pPr algn="ctr">
                <a:lnSpc>
                  <a:spcPct val="100000"/>
                </a:lnSpc>
              </a:pPr>
              <a:r>
                <a:rPr sz="1550" b="0" i="0">
                  <a:solidFill>
                    <a:srgbClr val="8E8E93"/>
                  </a:solidFill>
                  <a:latin typeface="Titillium Web"/>
                </a:rPr>
                <a:t>False positives</a:t>
              </a:r>
            </a:p>
          </p:txBody>
        </p:sp>
      </p:grpSp>
      <p:grpSp>
        <p:nvGrpSpPr>
          <p:cNvPr id="73" name="Cell 182"/>
          <p:cNvGrpSpPr/>
          <p:nvPr/>
        </p:nvGrpSpPr>
        <p:grpSpPr>
          <a:xfrm>
            <a:off x="5486400" y="7589520"/>
            <a:ext cx="2560320" cy="1691640"/>
            <a:chOff x="5486400" y="7589520"/>
            <a:chExt cx="2560320" cy="1691640"/>
          </a:xfrm>
        </p:grpSpPr>
        <p:sp>
          <p:nvSpPr>
            <p:cNvPr id="69" name="Cell light"/>
            <p:cNvSpPr/>
            <p:nvPr/>
          </p:nvSpPr>
          <p:spPr>
            <a:xfrm>
              <a:off x="5486400" y="7589520"/>
              <a:ext cx="2560320" cy="1691640"/>
            </a:xfrm>
            <a:prstGeom prst="roundRect">
              <a:avLst>
                <a:gd name="adj" fmla="val 16216"/>
              </a:avLst>
            </a:prstGeom>
            <a:solidFill>
              <a:srgbClr val="33402A"/>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0" name="Cell"/>
            <p:cNvSpPr/>
            <p:nvPr/>
          </p:nvSpPr>
          <p:spPr>
            <a:xfrm>
              <a:off x="5486400" y="7589520"/>
              <a:ext cx="2560320" cy="1691640"/>
            </a:xfrm>
            <a:prstGeom prst="roundRect">
              <a:avLst>
                <a:gd name="adj" fmla="val 16216"/>
              </a:avLst>
            </a:prstGeom>
            <a:solidFill>
              <a:srgbClr val="33402A"/>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1" name="Cell value"/>
            <p:cNvSpPr txBox="1"/>
            <p:nvPr/>
          </p:nvSpPr>
          <p:spPr>
            <a:xfrm>
              <a:off x="5486400" y="7699248"/>
              <a:ext cx="2560320" cy="914400"/>
            </a:xfrm>
            <a:prstGeom prst="rect">
              <a:avLst/>
            </a:prstGeom>
            <a:noFill/>
          </p:spPr>
          <p:txBody>
            <a:bodyPr wrap="square" lIns="45720" rIns="45720" anchor="t"/>
            <a:lstStyle/>
            <a:p>
              <a:pPr algn="ctr">
                <a:lnSpc>
                  <a:spcPct val="100000"/>
                </a:lnSpc>
              </a:pPr>
              <a:r>
                <a:rPr sz="4400" b="0" i="0">
                  <a:solidFill>
                    <a:srgbClr val="C1FF72"/>
                  </a:solidFill>
                  <a:latin typeface="Oswald"/>
                </a:rPr>
                <a:t>147</a:t>
              </a:r>
            </a:p>
          </p:txBody>
        </p:sp>
        <p:sp>
          <p:nvSpPr>
            <p:cNvPr id="72" name="Cell key"/>
            <p:cNvSpPr txBox="1"/>
            <p:nvPr/>
          </p:nvSpPr>
          <p:spPr>
            <a:xfrm>
              <a:off x="5486400" y="8595360"/>
              <a:ext cx="2560320" cy="502920"/>
            </a:xfrm>
            <a:prstGeom prst="rect">
              <a:avLst/>
            </a:prstGeom>
            <a:noFill/>
          </p:spPr>
          <p:txBody>
            <a:bodyPr wrap="square" lIns="45720" rIns="45720" anchor="t"/>
            <a:lstStyle/>
            <a:p>
              <a:pPr algn="ctr">
                <a:lnSpc>
                  <a:spcPct val="100000"/>
                </a:lnSpc>
              </a:pPr>
              <a:r>
                <a:rPr sz="1550" b="0" i="0">
                  <a:solidFill>
                    <a:srgbClr val="8E8E93"/>
                  </a:solidFill>
                  <a:latin typeface="Titillium Web"/>
                </a:rPr>
                <a:t>True negatives</a:t>
              </a:r>
            </a:p>
          </p:txBody>
        </p:sp>
      </p:grpSp>
      <p:sp>
        <p:nvSpPr>
          <p:cNvPr id="74" name="Axis 183"/>
          <p:cNvSpPr txBox="1"/>
          <p:nvPr/>
        </p:nvSpPr>
        <p:spPr>
          <a:xfrm>
            <a:off x="1005840" y="6080760"/>
            <a:ext cx="1645920" cy="914400"/>
          </a:xfrm>
          <a:prstGeom prst="rect">
            <a:avLst/>
          </a:prstGeom>
          <a:noFill/>
        </p:spPr>
        <p:txBody>
          <a:bodyPr wrap="square" lIns="45720" rIns="45720" anchor="t"/>
          <a:lstStyle/>
          <a:p>
            <a:pPr algn="r">
              <a:lnSpc>
                <a:spcPct val="100000"/>
              </a:lnSpc>
            </a:pPr>
            <a:r>
              <a:rPr sz="1500" b="0" i="0">
                <a:solidFill>
                  <a:srgbClr val="8E8E93"/>
                </a:solidFill>
                <a:latin typeface="Titillium Web"/>
              </a:rPr>
              <a:t>Actual harmful</a:t>
            </a:r>
          </a:p>
        </p:txBody>
      </p:sp>
      <p:sp>
        <p:nvSpPr>
          <p:cNvPr id="75" name="Axis 184"/>
          <p:cNvSpPr txBox="1"/>
          <p:nvPr/>
        </p:nvSpPr>
        <p:spPr>
          <a:xfrm>
            <a:off x="1005840" y="7955279"/>
            <a:ext cx="1645920" cy="914400"/>
          </a:xfrm>
          <a:prstGeom prst="rect">
            <a:avLst/>
          </a:prstGeom>
          <a:noFill/>
        </p:spPr>
        <p:txBody>
          <a:bodyPr wrap="square" lIns="45720" rIns="45720" anchor="t"/>
          <a:lstStyle/>
          <a:p>
            <a:pPr algn="r">
              <a:lnSpc>
                <a:spcPct val="100000"/>
              </a:lnSpc>
            </a:pPr>
            <a:r>
              <a:rPr sz="1500" b="0" i="0">
                <a:solidFill>
                  <a:srgbClr val="8E8E93"/>
                </a:solidFill>
                <a:latin typeface="Titillium Web"/>
              </a:rPr>
              <a:t>Actual benign</a:t>
            </a:r>
          </a:p>
        </p:txBody>
      </p:sp>
      <p:sp>
        <p:nvSpPr>
          <p:cNvPr id="76" name="Cat label 185"/>
          <p:cNvSpPr txBox="1"/>
          <p:nvPr/>
        </p:nvSpPr>
        <p:spPr>
          <a:xfrm>
            <a:off x="8686800" y="5212080"/>
            <a:ext cx="6400800" cy="411480"/>
          </a:xfrm>
          <a:prstGeom prst="rect">
            <a:avLst/>
          </a:prstGeom>
          <a:noFill/>
        </p:spPr>
        <p:txBody>
          <a:bodyPr wrap="square" lIns="45720" rIns="45720" anchor="t"/>
          <a:lstStyle/>
          <a:p>
            <a:pPr algn="l">
              <a:lnSpc>
                <a:spcPct val="100000"/>
              </a:lnSpc>
            </a:pPr>
            <a:r>
              <a:rPr sz="1600" b="1" i="0">
                <a:solidFill>
                  <a:srgbClr val="C1FF72"/>
                </a:solidFill>
                <a:latin typeface="Titillium Web"/>
              </a:rPr>
              <a:t>DETECTION BY CATEGORY</a:t>
            </a:r>
          </a:p>
        </p:txBody>
      </p:sp>
      <p:sp>
        <p:nvSpPr>
          <p:cNvPr id="77" name="Cat name 186"/>
          <p:cNvSpPr txBox="1"/>
          <p:nvPr/>
        </p:nvSpPr>
        <p:spPr>
          <a:xfrm>
            <a:off x="8686800" y="5760720"/>
            <a:ext cx="6400800" cy="457200"/>
          </a:xfrm>
          <a:prstGeom prst="rect">
            <a:avLst/>
          </a:prstGeom>
          <a:noFill/>
        </p:spPr>
        <p:txBody>
          <a:bodyPr wrap="square" lIns="45720" rIns="45720" anchor="t"/>
          <a:lstStyle/>
          <a:p>
            <a:pPr algn="l">
              <a:lnSpc>
                <a:spcPct val="100000"/>
              </a:lnSpc>
            </a:pPr>
            <a:r>
              <a:rPr sz="2000" b="0" i="0">
                <a:solidFill>
                  <a:srgbClr val="EDEDED"/>
                </a:solidFill>
                <a:latin typeface="Oswald"/>
              </a:rPr>
              <a:t>Safe (benign) websites</a:t>
            </a:r>
            <a:r>
              <a:rPr sz="2000" b="0" i="0">
                <a:solidFill>
                  <a:srgbClr val="8E8E93"/>
                </a:solidFill>
                <a:latin typeface="Titillium Web"/>
              </a:rPr>
              <a:t>    147 / 150</a:t>
            </a:r>
          </a:p>
        </p:txBody>
      </p:sp>
      <p:sp>
        <p:nvSpPr>
          <p:cNvPr id="78" name="Cat bar track 187"/>
          <p:cNvSpPr/>
          <p:nvPr/>
        </p:nvSpPr>
        <p:spPr>
          <a:xfrm>
            <a:off x="8686800" y="6309359"/>
            <a:ext cx="6675120" cy="365760"/>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9" name="Cat bar 188"/>
          <p:cNvSpPr/>
          <p:nvPr/>
        </p:nvSpPr>
        <p:spPr>
          <a:xfrm>
            <a:off x="8686800" y="6309359"/>
            <a:ext cx="6541617" cy="365760"/>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0" name="Cat pct 189"/>
          <p:cNvSpPr txBox="1"/>
          <p:nvPr/>
        </p:nvSpPr>
        <p:spPr>
          <a:xfrm>
            <a:off x="15499080" y="6144768"/>
            <a:ext cx="1737360" cy="640080"/>
          </a:xfrm>
          <a:prstGeom prst="rect">
            <a:avLst/>
          </a:prstGeom>
          <a:noFill/>
        </p:spPr>
        <p:txBody>
          <a:bodyPr wrap="square" lIns="45720" rIns="45720" anchor="t"/>
          <a:lstStyle/>
          <a:p>
            <a:pPr algn="r">
              <a:lnSpc>
                <a:spcPct val="100000"/>
              </a:lnSpc>
            </a:pPr>
            <a:r>
              <a:rPr sz="2400" b="0" i="0">
                <a:solidFill>
                  <a:srgbClr val="C1FF72"/>
                </a:solidFill>
                <a:latin typeface="Oswald"/>
              </a:rPr>
              <a:t>98.0%</a:t>
            </a:r>
          </a:p>
        </p:txBody>
      </p:sp>
      <p:sp>
        <p:nvSpPr>
          <p:cNvPr id="81" name="Cat name 190"/>
          <p:cNvSpPr txBox="1"/>
          <p:nvPr/>
        </p:nvSpPr>
        <p:spPr>
          <a:xfrm>
            <a:off x="8686800" y="6995160"/>
            <a:ext cx="6400800" cy="457200"/>
          </a:xfrm>
          <a:prstGeom prst="rect">
            <a:avLst/>
          </a:prstGeom>
          <a:noFill/>
        </p:spPr>
        <p:txBody>
          <a:bodyPr wrap="square" lIns="45720" rIns="45720" anchor="t"/>
          <a:lstStyle/>
          <a:p>
            <a:pPr algn="l">
              <a:lnSpc>
                <a:spcPct val="100000"/>
              </a:lnSpc>
            </a:pPr>
            <a:r>
              <a:rPr sz="2000" b="0" i="0">
                <a:solidFill>
                  <a:srgbClr val="EDEDED"/>
                </a:solidFill>
                <a:latin typeface="Oswald"/>
              </a:rPr>
              <a:t>Phishing websites</a:t>
            </a:r>
            <a:r>
              <a:rPr sz="2000" b="0" i="0">
                <a:solidFill>
                  <a:srgbClr val="8E8E93"/>
                </a:solidFill>
                <a:latin typeface="Titillium Web"/>
              </a:rPr>
              <a:t>    92 / 100</a:t>
            </a:r>
          </a:p>
        </p:txBody>
      </p:sp>
      <p:sp>
        <p:nvSpPr>
          <p:cNvPr id="82" name="Cat bar track 191"/>
          <p:cNvSpPr/>
          <p:nvPr/>
        </p:nvSpPr>
        <p:spPr>
          <a:xfrm>
            <a:off x="8686800" y="7543800"/>
            <a:ext cx="6675120" cy="365760"/>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3" name="Cat bar 192"/>
          <p:cNvSpPr/>
          <p:nvPr/>
        </p:nvSpPr>
        <p:spPr>
          <a:xfrm>
            <a:off x="8686800" y="7543800"/>
            <a:ext cx="6141110" cy="365760"/>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4" name="Cat pct 193"/>
          <p:cNvSpPr txBox="1"/>
          <p:nvPr/>
        </p:nvSpPr>
        <p:spPr>
          <a:xfrm>
            <a:off x="15499080" y="7379208"/>
            <a:ext cx="1737360" cy="640080"/>
          </a:xfrm>
          <a:prstGeom prst="rect">
            <a:avLst/>
          </a:prstGeom>
          <a:noFill/>
        </p:spPr>
        <p:txBody>
          <a:bodyPr wrap="square" lIns="45720" rIns="45720" anchor="t"/>
          <a:lstStyle/>
          <a:p>
            <a:pPr algn="r">
              <a:lnSpc>
                <a:spcPct val="100000"/>
              </a:lnSpc>
            </a:pPr>
            <a:r>
              <a:rPr sz="2400" b="0" i="0">
                <a:solidFill>
                  <a:srgbClr val="C1FF72"/>
                </a:solidFill>
                <a:latin typeface="Oswald"/>
              </a:rPr>
              <a:t>92.0%</a:t>
            </a:r>
          </a:p>
        </p:txBody>
      </p:sp>
      <p:sp>
        <p:nvSpPr>
          <p:cNvPr id="85" name="Cat name 194"/>
          <p:cNvSpPr txBox="1"/>
          <p:nvPr/>
        </p:nvSpPr>
        <p:spPr>
          <a:xfrm>
            <a:off x="8686800" y="8229600"/>
            <a:ext cx="6400800" cy="457200"/>
          </a:xfrm>
          <a:prstGeom prst="rect">
            <a:avLst/>
          </a:prstGeom>
          <a:noFill/>
        </p:spPr>
        <p:txBody>
          <a:bodyPr wrap="square" lIns="45720" rIns="45720" anchor="t"/>
          <a:lstStyle/>
          <a:p>
            <a:pPr algn="l">
              <a:lnSpc>
                <a:spcPct val="100000"/>
              </a:lnSpc>
            </a:pPr>
            <a:r>
              <a:rPr sz="2000" b="0" i="0">
                <a:solidFill>
                  <a:srgbClr val="EDEDED"/>
                </a:solidFill>
                <a:latin typeface="Oswald"/>
              </a:rPr>
              <a:t>Malware and DGA domains</a:t>
            </a:r>
            <a:r>
              <a:rPr sz="2000" b="0" i="0">
                <a:solidFill>
                  <a:srgbClr val="8E8E93"/>
                </a:solidFill>
                <a:latin typeface="Titillium Web"/>
              </a:rPr>
              <a:t>    45 / 50</a:t>
            </a:r>
          </a:p>
        </p:txBody>
      </p:sp>
      <p:sp>
        <p:nvSpPr>
          <p:cNvPr id="86" name="Cat bar track 195"/>
          <p:cNvSpPr/>
          <p:nvPr/>
        </p:nvSpPr>
        <p:spPr>
          <a:xfrm>
            <a:off x="8686800" y="8778240"/>
            <a:ext cx="6675120" cy="365760"/>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7" name="Cat bar 196"/>
          <p:cNvSpPr/>
          <p:nvPr/>
        </p:nvSpPr>
        <p:spPr>
          <a:xfrm>
            <a:off x="8686800" y="8778240"/>
            <a:ext cx="6007608" cy="365760"/>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8" name="Cat pct 197"/>
          <p:cNvSpPr txBox="1"/>
          <p:nvPr/>
        </p:nvSpPr>
        <p:spPr>
          <a:xfrm>
            <a:off x="15499080" y="8613648"/>
            <a:ext cx="1737360" cy="640080"/>
          </a:xfrm>
          <a:prstGeom prst="rect">
            <a:avLst/>
          </a:prstGeom>
          <a:noFill/>
        </p:spPr>
        <p:txBody>
          <a:bodyPr wrap="square" lIns="45720" rIns="45720" anchor="t"/>
          <a:lstStyle/>
          <a:p>
            <a:pPr algn="r">
              <a:lnSpc>
                <a:spcPct val="100000"/>
              </a:lnSpc>
            </a:pPr>
            <a:r>
              <a:rPr sz="2400" b="0" i="0">
                <a:solidFill>
                  <a:srgbClr val="C1FF72"/>
                </a:solidFill>
                <a:latin typeface="Oswald"/>
              </a:rPr>
              <a:t>90.0%</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anim calcmode="lin" valueType="num">
                                      <p:cBhvr>
                                        <p:cTn id="11" dur="500" fill="hold"/>
                                        <p:tgtEl>
                                          <p:spTgt spid="12"/>
                                        </p:tgtEl>
                                        <p:attrNameLst>
                                          <p:attrName>ppt_x</p:attrName>
                                        </p:attrNameLst>
                                      </p:cBhvr>
                                      <p:tavLst>
                                        <p:tav tm="0">
                                          <p:val>
                                            <p:strVal val="#ppt_x"/>
                                          </p:val>
                                        </p:tav>
                                        <p:tav tm="100000">
                                          <p:val>
                                            <p:strVal val="#ppt_x"/>
                                          </p:val>
                                        </p:tav>
                                      </p:tavLst>
                                    </p:anim>
                                    <p:anim calcmode="lin" valueType="num">
                                      <p:cBhvr>
                                        <p:cTn id="12" dur="450" decel="100000" fill="hold"/>
                                        <p:tgtEl>
                                          <p:spTgt spid="12"/>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par>
                          <p:cTn id="14" fill="hold">
                            <p:stCondLst>
                              <p:cond delay="155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2250"/>
                            </p:stCondLst>
                            <p:childTnLst>
                              <p:par>
                                <p:cTn id="19" presetID="53" presetClass="entr" presetSubtype="16" fill="hold" nodeType="after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p:cTn id="21" dur="350" fill="hold"/>
                                        <p:tgtEl>
                                          <p:spTgt spid="22"/>
                                        </p:tgtEl>
                                        <p:attrNameLst>
                                          <p:attrName>ppt_w</p:attrName>
                                        </p:attrNameLst>
                                      </p:cBhvr>
                                      <p:tavLst>
                                        <p:tav tm="0">
                                          <p:val>
                                            <p:fltVal val="0"/>
                                          </p:val>
                                        </p:tav>
                                        <p:tav tm="100000">
                                          <p:val>
                                            <p:strVal val="#ppt_w"/>
                                          </p:val>
                                        </p:tav>
                                      </p:tavLst>
                                    </p:anim>
                                    <p:anim calcmode="lin" valueType="num">
                                      <p:cBhvr>
                                        <p:cTn id="22" dur="350" fill="hold"/>
                                        <p:tgtEl>
                                          <p:spTgt spid="22"/>
                                        </p:tgtEl>
                                        <p:attrNameLst>
                                          <p:attrName>ppt_h</p:attrName>
                                        </p:attrNameLst>
                                      </p:cBhvr>
                                      <p:tavLst>
                                        <p:tav tm="0">
                                          <p:val>
                                            <p:fltVal val="0"/>
                                          </p:val>
                                        </p:tav>
                                        <p:tav tm="100000">
                                          <p:val>
                                            <p:strVal val="#ppt_h"/>
                                          </p:val>
                                        </p:tav>
                                      </p:tavLst>
                                    </p:anim>
                                    <p:animEffect transition="in" filter="fade">
                                      <p:cBhvr>
                                        <p:cTn id="23" dur="350"/>
                                        <p:tgtEl>
                                          <p:spTgt spid="22"/>
                                        </p:tgtEl>
                                      </p:cBhvr>
                                    </p:animEffect>
                                  </p:childTnLst>
                                </p:cTn>
                              </p:par>
                            </p:childTnLst>
                          </p:cTn>
                        </p:par>
                        <p:par>
                          <p:cTn id="24" fill="hold">
                            <p:stCondLst>
                              <p:cond delay="2600"/>
                            </p:stCondLst>
                            <p:childTnLst>
                              <p:par>
                                <p:cTn id="25" presetID="26" presetClass="emph" presetSubtype="0" fill="hold" nodeType="afterEffect">
                                  <p:stCondLst>
                                    <p:cond delay="0"/>
                                  </p:stCondLst>
                                  <p:childTnLst>
                                    <p:animEffect transition="out" filter="fade">
                                      <p:cBhvr>
                                        <p:cTn id="26" dur="600" tmFilter="0, 0; .2, .5; .8, .5; 1, 0"/>
                                        <p:tgtEl>
                                          <p:spTgt spid="22"/>
                                        </p:tgtEl>
                                      </p:cBhvr>
                                    </p:animEffect>
                                    <p:animScale>
                                      <p:cBhvr>
                                        <p:cTn id="27" dur="300" autoRev="1" fill="hold"/>
                                        <p:tgtEl>
                                          <p:spTgt spid="22"/>
                                        </p:tgtEl>
                                      </p:cBhvr>
                                      <p:by x="105000" y="105000"/>
                                    </p:animScale>
                                  </p:childTnLst>
                                </p:cTn>
                              </p:par>
                            </p:childTnLst>
                          </p:cTn>
                        </p:par>
                        <p:par>
                          <p:cTn id="28" fill="hold">
                            <p:stCondLst>
                              <p:cond delay="3200"/>
                            </p:stCondLst>
                            <p:childTnLst>
                              <p:par>
                                <p:cTn id="29" presetID="53" presetClass="entr" presetSubtype="16" fill="hold" nodeType="afterEffect">
                                  <p:stCondLst>
                                    <p:cond delay="0"/>
                                  </p:stCondLst>
                                  <p:childTnLst>
                                    <p:set>
                                      <p:cBhvr>
                                        <p:cTn id="30" dur="1" fill="hold">
                                          <p:stCondLst>
                                            <p:cond delay="0"/>
                                          </p:stCondLst>
                                        </p:cTn>
                                        <p:tgtEl>
                                          <p:spTgt spid="28"/>
                                        </p:tgtEl>
                                        <p:attrNameLst>
                                          <p:attrName>style.visibility</p:attrName>
                                        </p:attrNameLst>
                                      </p:cBhvr>
                                      <p:to>
                                        <p:strVal val="visible"/>
                                      </p:to>
                                    </p:set>
                                    <p:anim calcmode="lin" valueType="num">
                                      <p:cBhvr>
                                        <p:cTn id="31" dur="350" fill="hold"/>
                                        <p:tgtEl>
                                          <p:spTgt spid="28"/>
                                        </p:tgtEl>
                                        <p:attrNameLst>
                                          <p:attrName>ppt_w</p:attrName>
                                        </p:attrNameLst>
                                      </p:cBhvr>
                                      <p:tavLst>
                                        <p:tav tm="0">
                                          <p:val>
                                            <p:fltVal val="0"/>
                                          </p:val>
                                        </p:tav>
                                        <p:tav tm="100000">
                                          <p:val>
                                            <p:strVal val="#ppt_w"/>
                                          </p:val>
                                        </p:tav>
                                      </p:tavLst>
                                    </p:anim>
                                    <p:anim calcmode="lin" valueType="num">
                                      <p:cBhvr>
                                        <p:cTn id="32" dur="350" fill="hold"/>
                                        <p:tgtEl>
                                          <p:spTgt spid="28"/>
                                        </p:tgtEl>
                                        <p:attrNameLst>
                                          <p:attrName>ppt_h</p:attrName>
                                        </p:attrNameLst>
                                      </p:cBhvr>
                                      <p:tavLst>
                                        <p:tav tm="0">
                                          <p:val>
                                            <p:fltVal val="0"/>
                                          </p:val>
                                        </p:tav>
                                        <p:tav tm="100000">
                                          <p:val>
                                            <p:strVal val="#ppt_h"/>
                                          </p:val>
                                        </p:tav>
                                      </p:tavLst>
                                    </p:anim>
                                    <p:animEffect transition="in" filter="fade">
                                      <p:cBhvr>
                                        <p:cTn id="33" dur="350"/>
                                        <p:tgtEl>
                                          <p:spTgt spid="28"/>
                                        </p:tgtEl>
                                      </p:cBhvr>
                                    </p:animEffect>
                                  </p:childTnLst>
                                </p:cTn>
                              </p:par>
                            </p:childTnLst>
                          </p:cTn>
                        </p:par>
                        <p:par>
                          <p:cTn id="34" fill="hold">
                            <p:stCondLst>
                              <p:cond delay="3550"/>
                            </p:stCondLst>
                            <p:childTnLst>
                              <p:par>
                                <p:cTn id="35" presetID="53" presetClass="entr" presetSubtype="16" fill="hold" nodeType="afterEffect">
                                  <p:stCondLst>
                                    <p:cond delay="0"/>
                                  </p:stCondLst>
                                  <p:childTnLst>
                                    <p:set>
                                      <p:cBhvr>
                                        <p:cTn id="36" dur="1" fill="hold">
                                          <p:stCondLst>
                                            <p:cond delay="0"/>
                                          </p:stCondLst>
                                        </p:cTn>
                                        <p:tgtEl>
                                          <p:spTgt spid="34"/>
                                        </p:tgtEl>
                                        <p:attrNameLst>
                                          <p:attrName>style.visibility</p:attrName>
                                        </p:attrNameLst>
                                      </p:cBhvr>
                                      <p:to>
                                        <p:strVal val="visible"/>
                                      </p:to>
                                    </p:set>
                                    <p:anim calcmode="lin" valueType="num">
                                      <p:cBhvr>
                                        <p:cTn id="37" dur="350" fill="hold"/>
                                        <p:tgtEl>
                                          <p:spTgt spid="34"/>
                                        </p:tgtEl>
                                        <p:attrNameLst>
                                          <p:attrName>ppt_w</p:attrName>
                                        </p:attrNameLst>
                                      </p:cBhvr>
                                      <p:tavLst>
                                        <p:tav tm="0">
                                          <p:val>
                                            <p:fltVal val="0"/>
                                          </p:val>
                                        </p:tav>
                                        <p:tav tm="100000">
                                          <p:val>
                                            <p:strVal val="#ppt_w"/>
                                          </p:val>
                                        </p:tav>
                                      </p:tavLst>
                                    </p:anim>
                                    <p:anim calcmode="lin" valueType="num">
                                      <p:cBhvr>
                                        <p:cTn id="38" dur="350" fill="hold"/>
                                        <p:tgtEl>
                                          <p:spTgt spid="34"/>
                                        </p:tgtEl>
                                        <p:attrNameLst>
                                          <p:attrName>ppt_h</p:attrName>
                                        </p:attrNameLst>
                                      </p:cBhvr>
                                      <p:tavLst>
                                        <p:tav tm="0">
                                          <p:val>
                                            <p:fltVal val="0"/>
                                          </p:val>
                                        </p:tav>
                                        <p:tav tm="100000">
                                          <p:val>
                                            <p:strVal val="#ppt_h"/>
                                          </p:val>
                                        </p:tav>
                                      </p:tavLst>
                                    </p:anim>
                                    <p:animEffect transition="in" filter="fade">
                                      <p:cBhvr>
                                        <p:cTn id="39" dur="350"/>
                                        <p:tgtEl>
                                          <p:spTgt spid="34"/>
                                        </p:tgtEl>
                                      </p:cBhvr>
                                    </p:animEffect>
                                  </p:childTnLst>
                                </p:cTn>
                              </p:par>
                            </p:childTnLst>
                          </p:cTn>
                        </p:par>
                        <p:par>
                          <p:cTn id="40" fill="hold">
                            <p:stCondLst>
                              <p:cond delay="3900"/>
                            </p:stCondLst>
                            <p:childTnLst>
                              <p:par>
                                <p:cTn id="41" presetID="53" presetClass="entr" presetSubtype="16" fill="hold" nodeType="afterEffect">
                                  <p:stCondLst>
                                    <p:cond delay="0"/>
                                  </p:stCondLst>
                                  <p:childTnLst>
                                    <p:set>
                                      <p:cBhvr>
                                        <p:cTn id="42" dur="1" fill="hold">
                                          <p:stCondLst>
                                            <p:cond delay="0"/>
                                          </p:stCondLst>
                                        </p:cTn>
                                        <p:tgtEl>
                                          <p:spTgt spid="40"/>
                                        </p:tgtEl>
                                        <p:attrNameLst>
                                          <p:attrName>style.visibility</p:attrName>
                                        </p:attrNameLst>
                                      </p:cBhvr>
                                      <p:to>
                                        <p:strVal val="visible"/>
                                      </p:to>
                                    </p:set>
                                    <p:anim calcmode="lin" valueType="num">
                                      <p:cBhvr>
                                        <p:cTn id="43" dur="350" fill="hold"/>
                                        <p:tgtEl>
                                          <p:spTgt spid="40"/>
                                        </p:tgtEl>
                                        <p:attrNameLst>
                                          <p:attrName>ppt_w</p:attrName>
                                        </p:attrNameLst>
                                      </p:cBhvr>
                                      <p:tavLst>
                                        <p:tav tm="0">
                                          <p:val>
                                            <p:fltVal val="0"/>
                                          </p:val>
                                        </p:tav>
                                        <p:tav tm="100000">
                                          <p:val>
                                            <p:strVal val="#ppt_w"/>
                                          </p:val>
                                        </p:tav>
                                      </p:tavLst>
                                    </p:anim>
                                    <p:anim calcmode="lin" valueType="num">
                                      <p:cBhvr>
                                        <p:cTn id="44" dur="350" fill="hold"/>
                                        <p:tgtEl>
                                          <p:spTgt spid="40"/>
                                        </p:tgtEl>
                                        <p:attrNameLst>
                                          <p:attrName>ppt_h</p:attrName>
                                        </p:attrNameLst>
                                      </p:cBhvr>
                                      <p:tavLst>
                                        <p:tav tm="0">
                                          <p:val>
                                            <p:fltVal val="0"/>
                                          </p:val>
                                        </p:tav>
                                        <p:tav tm="100000">
                                          <p:val>
                                            <p:strVal val="#ppt_h"/>
                                          </p:val>
                                        </p:tav>
                                      </p:tavLst>
                                    </p:anim>
                                    <p:animEffect transition="in" filter="fade">
                                      <p:cBhvr>
                                        <p:cTn id="45" dur="350"/>
                                        <p:tgtEl>
                                          <p:spTgt spid="40"/>
                                        </p:tgtEl>
                                      </p:cBhvr>
                                    </p:animEffect>
                                  </p:childTnLst>
                                </p:cTn>
                              </p:par>
                            </p:childTnLst>
                          </p:cTn>
                        </p:par>
                        <p:par>
                          <p:cTn id="46" fill="hold">
                            <p:stCondLst>
                              <p:cond delay="4250"/>
                            </p:stCondLst>
                            <p:childTnLst>
                              <p:par>
                                <p:cTn id="47" presetID="53" presetClass="entr" presetSubtype="16" fill="hold" nodeType="afterEffect">
                                  <p:stCondLst>
                                    <p:cond delay="0"/>
                                  </p:stCondLst>
                                  <p:childTnLst>
                                    <p:set>
                                      <p:cBhvr>
                                        <p:cTn id="48" dur="1" fill="hold">
                                          <p:stCondLst>
                                            <p:cond delay="0"/>
                                          </p:stCondLst>
                                        </p:cTn>
                                        <p:tgtEl>
                                          <p:spTgt spid="46"/>
                                        </p:tgtEl>
                                        <p:attrNameLst>
                                          <p:attrName>style.visibility</p:attrName>
                                        </p:attrNameLst>
                                      </p:cBhvr>
                                      <p:to>
                                        <p:strVal val="visible"/>
                                      </p:to>
                                    </p:set>
                                    <p:anim calcmode="lin" valueType="num">
                                      <p:cBhvr>
                                        <p:cTn id="49" dur="350" fill="hold"/>
                                        <p:tgtEl>
                                          <p:spTgt spid="46"/>
                                        </p:tgtEl>
                                        <p:attrNameLst>
                                          <p:attrName>ppt_w</p:attrName>
                                        </p:attrNameLst>
                                      </p:cBhvr>
                                      <p:tavLst>
                                        <p:tav tm="0">
                                          <p:val>
                                            <p:fltVal val="0"/>
                                          </p:val>
                                        </p:tav>
                                        <p:tav tm="100000">
                                          <p:val>
                                            <p:strVal val="#ppt_w"/>
                                          </p:val>
                                        </p:tav>
                                      </p:tavLst>
                                    </p:anim>
                                    <p:anim calcmode="lin" valueType="num">
                                      <p:cBhvr>
                                        <p:cTn id="50" dur="350" fill="hold"/>
                                        <p:tgtEl>
                                          <p:spTgt spid="46"/>
                                        </p:tgtEl>
                                        <p:attrNameLst>
                                          <p:attrName>ppt_h</p:attrName>
                                        </p:attrNameLst>
                                      </p:cBhvr>
                                      <p:tavLst>
                                        <p:tav tm="0">
                                          <p:val>
                                            <p:fltVal val="0"/>
                                          </p:val>
                                        </p:tav>
                                        <p:tav tm="100000">
                                          <p:val>
                                            <p:strVal val="#ppt_h"/>
                                          </p:val>
                                        </p:tav>
                                      </p:tavLst>
                                    </p:anim>
                                    <p:animEffect transition="in" filter="fade">
                                      <p:cBhvr>
                                        <p:cTn id="51" dur="350"/>
                                        <p:tgtEl>
                                          <p:spTgt spid="46"/>
                                        </p:tgtEl>
                                      </p:cBhvr>
                                    </p:animEffect>
                                  </p:childTnLst>
                                </p:cTn>
                              </p:par>
                            </p:childTnLst>
                          </p:cTn>
                        </p:par>
                        <p:par>
                          <p:cTn id="52" fill="hold">
                            <p:stCondLst>
                              <p:cond delay="4600"/>
                            </p:stCondLst>
                            <p:childTnLst>
                              <p:par>
                                <p:cTn id="53" presetID="53" presetClass="entr" presetSubtype="16" fill="hold" nodeType="afterEffect">
                                  <p:stCondLst>
                                    <p:cond delay="0"/>
                                  </p:stCondLst>
                                  <p:childTnLst>
                                    <p:set>
                                      <p:cBhvr>
                                        <p:cTn id="54" dur="1" fill="hold">
                                          <p:stCondLst>
                                            <p:cond delay="0"/>
                                          </p:stCondLst>
                                        </p:cTn>
                                        <p:tgtEl>
                                          <p:spTgt spid="52"/>
                                        </p:tgtEl>
                                        <p:attrNameLst>
                                          <p:attrName>style.visibility</p:attrName>
                                        </p:attrNameLst>
                                      </p:cBhvr>
                                      <p:to>
                                        <p:strVal val="visible"/>
                                      </p:to>
                                    </p:set>
                                    <p:anim calcmode="lin" valueType="num">
                                      <p:cBhvr>
                                        <p:cTn id="55" dur="350" fill="hold"/>
                                        <p:tgtEl>
                                          <p:spTgt spid="52"/>
                                        </p:tgtEl>
                                        <p:attrNameLst>
                                          <p:attrName>ppt_w</p:attrName>
                                        </p:attrNameLst>
                                      </p:cBhvr>
                                      <p:tavLst>
                                        <p:tav tm="0">
                                          <p:val>
                                            <p:fltVal val="0"/>
                                          </p:val>
                                        </p:tav>
                                        <p:tav tm="100000">
                                          <p:val>
                                            <p:strVal val="#ppt_w"/>
                                          </p:val>
                                        </p:tav>
                                      </p:tavLst>
                                    </p:anim>
                                    <p:anim calcmode="lin" valueType="num">
                                      <p:cBhvr>
                                        <p:cTn id="56" dur="350" fill="hold"/>
                                        <p:tgtEl>
                                          <p:spTgt spid="52"/>
                                        </p:tgtEl>
                                        <p:attrNameLst>
                                          <p:attrName>ppt_h</p:attrName>
                                        </p:attrNameLst>
                                      </p:cBhvr>
                                      <p:tavLst>
                                        <p:tav tm="0">
                                          <p:val>
                                            <p:fltVal val="0"/>
                                          </p:val>
                                        </p:tav>
                                        <p:tav tm="100000">
                                          <p:val>
                                            <p:strVal val="#ppt_h"/>
                                          </p:val>
                                        </p:tav>
                                      </p:tavLst>
                                    </p:anim>
                                    <p:animEffect transition="in" filter="fade">
                                      <p:cBhvr>
                                        <p:cTn id="57" dur="350"/>
                                        <p:tgtEl>
                                          <p:spTgt spid="52"/>
                                        </p:tgtEl>
                                      </p:cBhvr>
                                    </p:animEffect>
                                  </p:childTnLst>
                                </p:cTn>
                              </p:par>
                            </p:childTnLst>
                          </p:cTn>
                        </p:par>
                        <p:par>
                          <p:cTn id="58" fill="hold">
                            <p:stCondLst>
                              <p:cond delay="4950"/>
                            </p:stCondLst>
                            <p:childTnLst>
                              <p:par>
                                <p:cTn id="59" presetID="10" presetClass="entr" presetSubtype="0" fill="hold" grpId="0" nodeType="afterEffect">
                                  <p:stCondLst>
                                    <p:cond delay="0"/>
                                  </p:stCondLst>
                                  <p:childTnLst>
                                    <p:set>
                                      <p:cBhvr>
                                        <p:cTn id="60" dur="1" fill="hold">
                                          <p:stCondLst>
                                            <p:cond delay="0"/>
                                          </p:stCondLst>
                                        </p:cTn>
                                        <p:tgtEl>
                                          <p:spTgt spid="53"/>
                                        </p:tgtEl>
                                        <p:attrNameLst>
                                          <p:attrName>style.visibility</p:attrName>
                                        </p:attrNameLst>
                                      </p:cBhvr>
                                      <p:to>
                                        <p:strVal val="visible"/>
                                      </p:to>
                                    </p:set>
                                    <p:animEffect transition="in" filter="fade">
                                      <p:cBhvr>
                                        <p:cTn id="61" dur="300"/>
                                        <p:tgtEl>
                                          <p:spTgt spid="53"/>
                                        </p:tgtEl>
                                      </p:cBhvr>
                                    </p:animEffect>
                                  </p:childTnLst>
                                </p:cTn>
                              </p:par>
                            </p:childTnLst>
                          </p:cTn>
                        </p:par>
                        <p:par>
                          <p:cTn id="62" fill="hold">
                            <p:stCondLst>
                              <p:cond delay="5250"/>
                            </p:stCondLst>
                            <p:childTnLst>
                              <p:par>
                                <p:cTn id="63" presetID="23" presetClass="entr" presetSubtype="16" fill="hold" nodeType="afterEffect">
                                  <p:stCondLst>
                                    <p:cond delay="0"/>
                                  </p:stCondLst>
                                  <p:childTnLst>
                                    <p:set>
                                      <p:cBhvr>
                                        <p:cTn id="64" dur="1" fill="hold">
                                          <p:stCondLst>
                                            <p:cond delay="0"/>
                                          </p:stCondLst>
                                        </p:cTn>
                                        <p:tgtEl>
                                          <p:spTgt spid="58"/>
                                        </p:tgtEl>
                                        <p:attrNameLst>
                                          <p:attrName>style.visibility</p:attrName>
                                        </p:attrNameLst>
                                      </p:cBhvr>
                                      <p:to>
                                        <p:strVal val="visible"/>
                                      </p:to>
                                    </p:set>
                                    <p:anim calcmode="lin" valueType="num">
                                      <p:cBhvr>
                                        <p:cTn id="65" dur="250" fill="hold"/>
                                        <p:tgtEl>
                                          <p:spTgt spid="58"/>
                                        </p:tgtEl>
                                        <p:attrNameLst>
                                          <p:attrName>ppt_w</p:attrName>
                                        </p:attrNameLst>
                                      </p:cBhvr>
                                      <p:tavLst>
                                        <p:tav tm="0">
                                          <p:val>
                                            <p:fltVal val="0"/>
                                          </p:val>
                                        </p:tav>
                                        <p:tav tm="100000">
                                          <p:val>
                                            <p:strVal val="#ppt_w"/>
                                          </p:val>
                                        </p:tav>
                                      </p:tavLst>
                                    </p:anim>
                                    <p:anim calcmode="lin" valueType="num">
                                      <p:cBhvr>
                                        <p:cTn id="66" dur="250" fill="hold"/>
                                        <p:tgtEl>
                                          <p:spTgt spid="58"/>
                                        </p:tgtEl>
                                        <p:attrNameLst>
                                          <p:attrName>ppt_h</p:attrName>
                                        </p:attrNameLst>
                                      </p:cBhvr>
                                      <p:tavLst>
                                        <p:tav tm="0">
                                          <p:val>
                                            <p:fltVal val="0"/>
                                          </p:val>
                                        </p:tav>
                                        <p:tav tm="100000">
                                          <p:val>
                                            <p:strVal val="#ppt_h"/>
                                          </p:val>
                                        </p:tav>
                                      </p:tavLst>
                                    </p:anim>
                                  </p:childTnLst>
                                </p:cTn>
                              </p:par>
                            </p:childTnLst>
                          </p:cTn>
                        </p:par>
                        <p:par>
                          <p:cTn id="67" fill="hold">
                            <p:stCondLst>
                              <p:cond delay="5500"/>
                            </p:stCondLst>
                            <p:childTnLst>
                              <p:par>
                                <p:cTn id="68" presetID="23" presetClass="entr" presetSubtype="16" fill="hold" nodeType="afterEffect">
                                  <p:stCondLst>
                                    <p:cond delay="0"/>
                                  </p:stCondLst>
                                  <p:childTnLst>
                                    <p:set>
                                      <p:cBhvr>
                                        <p:cTn id="69" dur="1" fill="hold">
                                          <p:stCondLst>
                                            <p:cond delay="0"/>
                                          </p:stCondLst>
                                        </p:cTn>
                                        <p:tgtEl>
                                          <p:spTgt spid="63"/>
                                        </p:tgtEl>
                                        <p:attrNameLst>
                                          <p:attrName>style.visibility</p:attrName>
                                        </p:attrNameLst>
                                      </p:cBhvr>
                                      <p:to>
                                        <p:strVal val="visible"/>
                                      </p:to>
                                    </p:set>
                                    <p:anim calcmode="lin" valueType="num">
                                      <p:cBhvr>
                                        <p:cTn id="70" dur="250" fill="hold"/>
                                        <p:tgtEl>
                                          <p:spTgt spid="63"/>
                                        </p:tgtEl>
                                        <p:attrNameLst>
                                          <p:attrName>ppt_w</p:attrName>
                                        </p:attrNameLst>
                                      </p:cBhvr>
                                      <p:tavLst>
                                        <p:tav tm="0">
                                          <p:val>
                                            <p:fltVal val="0"/>
                                          </p:val>
                                        </p:tav>
                                        <p:tav tm="100000">
                                          <p:val>
                                            <p:strVal val="#ppt_w"/>
                                          </p:val>
                                        </p:tav>
                                      </p:tavLst>
                                    </p:anim>
                                    <p:anim calcmode="lin" valueType="num">
                                      <p:cBhvr>
                                        <p:cTn id="71" dur="250" fill="hold"/>
                                        <p:tgtEl>
                                          <p:spTgt spid="63"/>
                                        </p:tgtEl>
                                        <p:attrNameLst>
                                          <p:attrName>ppt_h</p:attrName>
                                        </p:attrNameLst>
                                      </p:cBhvr>
                                      <p:tavLst>
                                        <p:tav tm="0">
                                          <p:val>
                                            <p:fltVal val="0"/>
                                          </p:val>
                                        </p:tav>
                                        <p:tav tm="100000">
                                          <p:val>
                                            <p:strVal val="#ppt_h"/>
                                          </p:val>
                                        </p:tav>
                                      </p:tavLst>
                                    </p:anim>
                                  </p:childTnLst>
                                </p:cTn>
                              </p:par>
                            </p:childTnLst>
                          </p:cTn>
                        </p:par>
                        <p:par>
                          <p:cTn id="72" fill="hold">
                            <p:stCondLst>
                              <p:cond delay="5750"/>
                            </p:stCondLst>
                            <p:childTnLst>
                              <p:par>
                                <p:cTn id="73" presetID="23" presetClass="entr" presetSubtype="16" fill="hold" nodeType="afterEffect">
                                  <p:stCondLst>
                                    <p:cond delay="0"/>
                                  </p:stCondLst>
                                  <p:childTnLst>
                                    <p:set>
                                      <p:cBhvr>
                                        <p:cTn id="74" dur="1" fill="hold">
                                          <p:stCondLst>
                                            <p:cond delay="0"/>
                                          </p:stCondLst>
                                        </p:cTn>
                                        <p:tgtEl>
                                          <p:spTgt spid="68"/>
                                        </p:tgtEl>
                                        <p:attrNameLst>
                                          <p:attrName>style.visibility</p:attrName>
                                        </p:attrNameLst>
                                      </p:cBhvr>
                                      <p:to>
                                        <p:strVal val="visible"/>
                                      </p:to>
                                    </p:set>
                                    <p:anim calcmode="lin" valueType="num">
                                      <p:cBhvr>
                                        <p:cTn id="75" dur="250" fill="hold"/>
                                        <p:tgtEl>
                                          <p:spTgt spid="68"/>
                                        </p:tgtEl>
                                        <p:attrNameLst>
                                          <p:attrName>ppt_w</p:attrName>
                                        </p:attrNameLst>
                                      </p:cBhvr>
                                      <p:tavLst>
                                        <p:tav tm="0">
                                          <p:val>
                                            <p:fltVal val="0"/>
                                          </p:val>
                                        </p:tav>
                                        <p:tav tm="100000">
                                          <p:val>
                                            <p:strVal val="#ppt_w"/>
                                          </p:val>
                                        </p:tav>
                                      </p:tavLst>
                                    </p:anim>
                                    <p:anim calcmode="lin" valueType="num">
                                      <p:cBhvr>
                                        <p:cTn id="76" dur="250" fill="hold"/>
                                        <p:tgtEl>
                                          <p:spTgt spid="68"/>
                                        </p:tgtEl>
                                        <p:attrNameLst>
                                          <p:attrName>ppt_h</p:attrName>
                                        </p:attrNameLst>
                                      </p:cBhvr>
                                      <p:tavLst>
                                        <p:tav tm="0">
                                          <p:val>
                                            <p:fltVal val="0"/>
                                          </p:val>
                                        </p:tav>
                                        <p:tav tm="100000">
                                          <p:val>
                                            <p:strVal val="#ppt_h"/>
                                          </p:val>
                                        </p:tav>
                                      </p:tavLst>
                                    </p:anim>
                                  </p:childTnLst>
                                </p:cTn>
                              </p:par>
                            </p:childTnLst>
                          </p:cTn>
                        </p:par>
                        <p:par>
                          <p:cTn id="77" fill="hold">
                            <p:stCondLst>
                              <p:cond delay="6000"/>
                            </p:stCondLst>
                            <p:childTnLst>
                              <p:par>
                                <p:cTn id="78" presetID="23" presetClass="entr" presetSubtype="16" fill="hold" nodeType="afterEffect">
                                  <p:stCondLst>
                                    <p:cond delay="0"/>
                                  </p:stCondLst>
                                  <p:childTnLst>
                                    <p:set>
                                      <p:cBhvr>
                                        <p:cTn id="79" dur="1" fill="hold">
                                          <p:stCondLst>
                                            <p:cond delay="0"/>
                                          </p:stCondLst>
                                        </p:cTn>
                                        <p:tgtEl>
                                          <p:spTgt spid="73"/>
                                        </p:tgtEl>
                                        <p:attrNameLst>
                                          <p:attrName>style.visibility</p:attrName>
                                        </p:attrNameLst>
                                      </p:cBhvr>
                                      <p:to>
                                        <p:strVal val="visible"/>
                                      </p:to>
                                    </p:set>
                                    <p:anim calcmode="lin" valueType="num">
                                      <p:cBhvr>
                                        <p:cTn id="80" dur="250" fill="hold"/>
                                        <p:tgtEl>
                                          <p:spTgt spid="73"/>
                                        </p:tgtEl>
                                        <p:attrNameLst>
                                          <p:attrName>ppt_w</p:attrName>
                                        </p:attrNameLst>
                                      </p:cBhvr>
                                      <p:tavLst>
                                        <p:tav tm="0">
                                          <p:val>
                                            <p:fltVal val="0"/>
                                          </p:val>
                                        </p:tav>
                                        <p:tav tm="100000">
                                          <p:val>
                                            <p:strVal val="#ppt_w"/>
                                          </p:val>
                                        </p:tav>
                                      </p:tavLst>
                                    </p:anim>
                                    <p:anim calcmode="lin" valueType="num">
                                      <p:cBhvr>
                                        <p:cTn id="81" dur="250" fill="hold"/>
                                        <p:tgtEl>
                                          <p:spTgt spid="73"/>
                                        </p:tgtEl>
                                        <p:attrNameLst>
                                          <p:attrName>ppt_h</p:attrName>
                                        </p:attrNameLst>
                                      </p:cBhvr>
                                      <p:tavLst>
                                        <p:tav tm="0">
                                          <p:val>
                                            <p:fltVal val="0"/>
                                          </p:val>
                                        </p:tav>
                                        <p:tav tm="100000">
                                          <p:val>
                                            <p:strVal val="#ppt_h"/>
                                          </p:val>
                                        </p:tav>
                                      </p:tavLst>
                                    </p:anim>
                                  </p:childTnLst>
                                </p:cTn>
                              </p:par>
                              <p:par>
                                <p:cTn id="82" presetID="10" presetClass="entr" presetSubtype="0" fill="hold" grpId="0" nodeType="withEffect">
                                  <p:stCondLst>
                                    <p:cond delay="0"/>
                                  </p:stCondLst>
                                  <p:childTnLst>
                                    <p:set>
                                      <p:cBhvr>
                                        <p:cTn id="83" dur="1" fill="hold">
                                          <p:stCondLst>
                                            <p:cond delay="0"/>
                                          </p:stCondLst>
                                        </p:cTn>
                                        <p:tgtEl>
                                          <p:spTgt spid="74"/>
                                        </p:tgtEl>
                                        <p:attrNameLst>
                                          <p:attrName>style.visibility</p:attrName>
                                        </p:attrNameLst>
                                      </p:cBhvr>
                                      <p:to>
                                        <p:strVal val="visible"/>
                                      </p:to>
                                    </p:set>
                                    <p:animEffect transition="in" filter="fade">
                                      <p:cBhvr>
                                        <p:cTn id="84" dur="300"/>
                                        <p:tgtEl>
                                          <p:spTgt spid="7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75"/>
                                        </p:tgtEl>
                                        <p:attrNameLst>
                                          <p:attrName>style.visibility</p:attrName>
                                        </p:attrNameLst>
                                      </p:cBhvr>
                                      <p:to>
                                        <p:strVal val="visible"/>
                                      </p:to>
                                    </p:set>
                                    <p:animEffect transition="in" filter="fade">
                                      <p:cBhvr>
                                        <p:cTn id="87" dur="300"/>
                                        <p:tgtEl>
                                          <p:spTgt spid="75"/>
                                        </p:tgtEl>
                                      </p:cBhvr>
                                    </p:animEffect>
                                  </p:childTnLst>
                                </p:cTn>
                              </p:par>
                            </p:childTnLst>
                          </p:cTn>
                        </p:par>
                        <p:par>
                          <p:cTn id="88" fill="hold">
                            <p:stCondLst>
                              <p:cond delay="6300"/>
                            </p:stCondLst>
                            <p:childTnLst>
                              <p:par>
                                <p:cTn id="89" presetID="10" presetClass="entr" presetSubtype="0" fill="hold" grpId="0" nodeType="afterEffect">
                                  <p:stCondLst>
                                    <p:cond delay="0"/>
                                  </p:stCondLst>
                                  <p:childTnLst>
                                    <p:set>
                                      <p:cBhvr>
                                        <p:cTn id="90" dur="1" fill="hold">
                                          <p:stCondLst>
                                            <p:cond delay="0"/>
                                          </p:stCondLst>
                                        </p:cTn>
                                        <p:tgtEl>
                                          <p:spTgt spid="76"/>
                                        </p:tgtEl>
                                        <p:attrNameLst>
                                          <p:attrName>style.visibility</p:attrName>
                                        </p:attrNameLst>
                                      </p:cBhvr>
                                      <p:to>
                                        <p:strVal val="visible"/>
                                      </p:to>
                                    </p:set>
                                    <p:animEffect transition="in" filter="fade">
                                      <p:cBhvr>
                                        <p:cTn id="91" dur="300"/>
                                        <p:tgtEl>
                                          <p:spTgt spid="76"/>
                                        </p:tgtEl>
                                      </p:cBhvr>
                                    </p:animEffect>
                                  </p:childTnLst>
                                </p:cTn>
                              </p:par>
                            </p:childTnLst>
                          </p:cTn>
                        </p:par>
                        <p:par>
                          <p:cTn id="92" fill="hold">
                            <p:stCondLst>
                              <p:cond delay="6600"/>
                            </p:stCondLst>
                            <p:childTnLst>
                              <p:par>
                                <p:cTn id="93" presetID="10" presetClass="entr" presetSubtype="0" fill="hold" grpId="0" nodeType="afterEffect">
                                  <p:stCondLst>
                                    <p:cond delay="0"/>
                                  </p:stCondLst>
                                  <p:childTnLst>
                                    <p:set>
                                      <p:cBhvr>
                                        <p:cTn id="94" dur="1" fill="hold">
                                          <p:stCondLst>
                                            <p:cond delay="0"/>
                                          </p:stCondLst>
                                        </p:cTn>
                                        <p:tgtEl>
                                          <p:spTgt spid="77"/>
                                        </p:tgtEl>
                                        <p:attrNameLst>
                                          <p:attrName>style.visibility</p:attrName>
                                        </p:attrNameLst>
                                      </p:cBhvr>
                                      <p:to>
                                        <p:strVal val="visible"/>
                                      </p:to>
                                    </p:set>
                                    <p:animEffect transition="in" filter="fade">
                                      <p:cBhvr>
                                        <p:cTn id="95" dur="200"/>
                                        <p:tgtEl>
                                          <p:spTgt spid="7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78"/>
                                        </p:tgtEl>
                                        <p:attrNameLst>
                                          <p:attrName>style.visibility</p:attrName>
                                        </p:attrNameLst>
                                      </p:cBhvr>
                                      <p:to>
                                        <p:strVal val="visible"/>
                                      </p:to>
                                    </p:set>
                                    <p:animEffect transition="in" filter="fade">
                                      <p:cBhvr>
                                        <p:cTn id="98" dur="200"/>
                                        <p:tgtEl>
                                          <p:spTgt spid="78"/>
                                        </p:tgtEl>
                                      </p:cBhvr>
                                    </p:animEffect>
                                  </p:childTnLst>
                                </p:cTn>
                              </p:par>
                            </p:childTnLst>
                          </p:cTn>
                        </p:par>
                        <p:par>
                          <p:cTn id="99" fill="hold">
                            <p:stCondLst>
                              <p:cond delay="6800"/>
                            </p:stCondLst>
                            <p:childTnLst>
                              <p:par>
                                <p:cTn id="100" presetID="22" presetClass="entr" presetSubtype="8" fill="hold" grpId="0" nodeType="afterEffect">
                                  <p:stCondLst>
                                    <p:cond delay="0"/>
                                  </p:stCondLst>
                                  <p:childTnLst>
                                    <p:set>
                                      <p:cBhvr>
                                        <p:cTn id="101" dur="1" fill="hold">
                                          <p:stCondLst>
                                            <p:cond delay="0"/>
                                          </p:stCondLst>
                                        </p:cTn>
                                        <p:tgtEl>
                                          <p:spTgt spid="79"/>
                                        </p:tgtEl>
                                        <p:attrNameLst>
                                          <p:attrName>style.visibility</p:attrName>
                                        </p:attrNameLst>
                                      </p:cBhvr>
                                      <p:to>
                                        <p:strVal val="visible"/>
                                      </p:to>
                                    </p:set>
                                    <p:animEffect transition="in" filter="wipe(left)">
                                      <p:cBhvr>
                                        <p:cTn id="102" dur="500"/>
                                        <p:tgtEl>
                                          <p:spTgt spid="79"/>
                                        </p:tgtEl>
                                      </p:cBhvr>
                                    </p:animEffect>
                                  </p:childTnLst>
                                </p:cTn>
                              </p:par>
                              <p:par>
                                <p:cTn id="103" presetID="10" presetClass="entr" presetSubtype="0" fill="hold" grpId="0" nodeType="withEffect">
                                  <p:stCondLst>
                                    <p:cond delay="400"/>
                                  </p:stCondLst>
                                  <p:childTnLst>
                                    <p:set>
                                      <p:cBhvr>
                                        <p:cTn id="104" dur="1" fill="hold">
                                          <p:stCondLst>
                                            <p:cond delay="0"/>
                                          </p:stCondLst>
                                        </p:cTn>
                                        <p:tgtEl>
                                          <p:spTgt spid="80"/>
                                        </p:tgtEl>
                                        <p:attrNameLst>
                                          <p:attrName>style.visibility</p:attrName>
                                        </p:attrNameLst>
                                      </p:cBhvr>
                                      <p:to>
                                        <p:strVal val="visible"/>
                                      </p:to>
                                    </p:set>
                                    <p:animEffect transition="in" filter="fade">
                                      <p:cBhvr>
                                        <p:cTn id="105" dur="300"/>
                                        <p:tgtEl>
                                          <p:spTgt spid="80"/>
                                        </p:tgtEl>
                                      </p:cBhvr>
                                    </p:animEffect>
                                  </p:childTnLst>
                                </p:cTn>
                              </p:par>
                            </p:childTnLst>
                          </p:cTn>
                        </p:par>
                        <p:par>
                          <p:cTn id="106" fill="hold">
                            <p:stCondLst>
                              <p:cond delay="7500"/>
                            </p:stCondLst>
                            <p:childTnLst>
                              <p:par>
                                <p:cTn id="107" presetID="10" presetClass="entr" presetSubtype="0" fill="hold" grpId="0" nodeType="afterEffect">
                                  <p:stCondLst>
                                    <p:cond delay="0"/>
                                  </p:stCondLst>
                                  <p:childTnLst>
                                    <p:set>
                                      <p:cBhvr>
                                        <p:cTn id="108" dur="1" fill="hold">
                                          <p:stCondLst>
                                            <p:cond delay="0"/>
                                          </p:stCondLst>
                                        </p:cTn>
                                        <p:tgtEl>
                                          <p:spTgt spid="81"/>
                                        </p:tgtEl>
                                        <p:attrNameLst>
                                          <p:attrName>style.visibility</p:attrName>
                                        </p:attrNameLst>
                                      </p:cBhvr>
                                      <p:to>
                                        <p:strVal val="visible"/>
                                      </p:to>
                                    </p:set>
                                    <p:animEffect transition="in" filter="fade">
                                      <p:cBhvr>
                                        <p:cTn id="109" dur="200"/>
                                        <p:tgtEl>
                                          <p:spTgt spid="81"/>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82"/>
                                        </p:tgtEl>
                                        <p:attrNameLst>
                                          <p:attrName>style.visibility</p:attrName>
                                        </p:attrNameLst>
                                      </p:cBhvr>
                                      <p:to>
                                        <p:strVal val="visible"/>
                                      </p:to>
                                    </p:set>
                                    <p:animEffect transition="in" filter="fade">
                                      <p:cBhvr>
                                        <p:cTn id="112" dur="200"/>
                                        <p:tgtEl>
                                          <p:spTgt spid="82"/>
                                        </p:tgtEl>
                                      </p:cBhvr>
                                    </p:animEffect>
                                  </p:childTnLst>
                                </p:cTn>
                              </p:par>
                            </p:childTnLst>
                          </p:cTn>
                        </p:par>
                        <p:par>
                          <p:cTn id="113" fill="hold">
                            <p:stCondLst>
                              <p:cond delay="7700"/>
                            </p:stCondLst>
                            <p:childTnLst>
                              <p:par>
                                <p:cTn id="114" presetID="22" presetClass="entr" presetSubtype="8" fill="hold" grpId="0" nodeType="afterEffect">
                                  <p:stCondLst>
                                    <p:cond delay="0"/>
                                  </p:stCondLst>
                                  <p:childTnLst>
                                    <p:set>
                                      <p:cBhvr>
                                        <p:cTn id="115" dur="1" fill="hold">
                                          <p:stCondLst>
                                            <p:cond delay="0"/>
                                          </p:stCondLst>
                                        </p:cTn>
                                        <p:tgtEl>
                                          <p:spTgt spid="83"/>
                                        </p:tgtEl>
                                        <p:attrNameLst>
                                          <p:attrName>style.visibility</p:attrName>
                                        </p:attrNameLst>
                                      </p:cBhvr>
                                      <p:to>
                                        <p:strVal val="visible"/>
                                      </p:to>
                                    </p:set>
                                    <p:animEffect transition="in" filter="wipe(left)">
                                      <p:cBhvr>
                                        <p:cTn id="116" dur="500"/>
                                        <p:tgtEl>
                                          <p:spTgt spid="83"/>
                                        </p:tgtEl>
                                      </p:cBhvr>
                                    </p:animEffect>
                                  </p:childTnLst>
                                </p:cTn>
                              </p:par>
                              <p:par>
                                <p:cTn id="117" presetID="10" presetClass="entr" presetSubtype="0" fill="hold" grpId="0" nodeType="withEffect">
                                  <p:stCondLst>
                                    <p:cond delay="400"/>
                                  </p:stCondLst>
                                  <p:childTnLst>
                                    <p:set>
                                      <p:cBhvr>
                                        <p:cTn id="118" dur="1" fill="hold">
                                          <p:stCondLst>
                                            <p:cond delay="0"/>
                                          </p:stCondLst>
                                        </p:cTn>
                                        <p:tgtEl>
                                          <p:spTgt spid="84"/>
                                        </p:tgtEl>
                                        <p:attrNameLst>
                                          <p:attrName>style.visibility</p:attrName>
                                        </p:attrNameLst>
                                      </p:cBhvr>
                                      <p:to>
                                        <p:strVal val="visible"/>
                                      </p:to>
                                    </p:set>
                                    <p:animEffect transition="in" filter="fade">
                                      <p:cBhvr>
                                        <p:cTn id="119" dur="300"/>
                                        <p:tgtEl>
                                          <p:spTgt spid="84"/>
                                        </p:tgtEl>
                                      </p:cBhvr>
                                    </p:animEffect>
                                  </p:childTnLst>
                                </p:cTn>
                              </p:par>
                            </p:childTnLst>
                          </p:cTn>
                        </p:par>
                        <p:par>
                          <p:cTn id="120" fill="hold">
                            <p:stCondLst>
                              <p:cond delay="8400"/>
                            </p:stCondLst>
                            <p:childTnLst>
                              <p:par>
                                <p:cTn id="121" presetID="10" presetClass="entr" presetSubtype="0" fill="hold" grpId="0" nodeType="afterEffect">
                                  <p:stCondLst>
                                    <p:cond delay="0"/>
                                  </p:stCondLst>
                                  <p:childTnLst>
                                    <p:set>
                                      <p:cBhvr>
                                        <p:cTn id="122" dur="1" fill="hold">
                                          <p:stCondLst>
                                            <p:cond delay="0"/>
                                          </p:stCondLst>
                                        </p:cTn>
                                        <p:tgtEl>
                                          <p:spTgt spid="85"/>
                                        </p:tgtEl>
                                        <p:attrNameLst>
                                          <p:attrName>style.visibility</p:attrName>
                                        </p:attrNameLst>
                                      </p:cBhvr>
                                      <p:to>
                                        <p:strVal val="visible"/>
                                      </p:to>
                                    </p:set>
                                    <p:animEffect transition="in" filter="fade">
                                      <p:cBhvr>
                                        <p:cTn id="123" dur="200"/>
                                        <p:tgtEl>
                                          <p:spTgt spid="8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86"/>
                                        </p:tgtEl>
                                        <p:attrNameLst>
                                          <p:attrName>style.visibility</p:attrName>
                                        </p:attrNameLst>
                                      </p:cBhvr>
                                      <p:to>
                                        <p:strVal val="visible"/>
                                      </p:to>
                                    </p:set>
                                    <p:animEffect transition="in" filter="fade">
                                      <p:cBhvr>
                                        <p:cTn id="126" dur="200"/>
                                        <p:tgtEl>
                                          <p:spTgt spid="86"/>
                                        </p:tgtEl>
                                      </p:cBhvr>
                                    </p:animEffect>
                                  </p:childTnLst>
                                </p:cTn>
                              </p:par>
                            </p:childTnLst>
                          </p:cTn>
                        </p:par>
                        <p:par>
                          <p:cTn id="127" fill="hold">
                            <p:stCondLst>
                              <p:cond delay="8600"/>
                            </p:stCondLst>
                            <p:childTnLst>
                              <p:par>
                                <p:cTn id="128" presetID="22" presetClass="entr" presetSubtype="8" fill="hold" grpId="0" nodeType="afterEffect">
                                  <p:stCondLst>
                                    <p:cond delay="0"/>
                                  </p:stCondLst>
                                  <p:childTnLst>
                                    <p:set>
                                      <p:cBhvr>
                                        <p:cTn id="129" dur="1" fill="hold">
                                          <p:stCondLst>
                                            <p:cond delay="0"/>
                                          </p:stCondLst>
                                        </p:cTn>
                                        <p:tgtEl>
                                          <p:spTgt spid="87"/>
                                        </p:tgtEl>
                                        <p:attrNameLst>
                                          <p:attrName>style.visibility</p:attrName>
                                        </p:attrNameLst>
                                      </p:cBhvr>
                                      <p:to>
                                        <p:strVal val="visible"/>
                                      </p:to>
                                    </p:set>
                                    <p:animEffect transition="in" filter="wipe(left)">
                                      <p:cBhvr>
                                        <p:cTn id="130" dur="500"/>
                                        <p:tgtEl>
                                          <p:spTgt spid="87"/>
                                        </p:tgtEl>
                                      </p:cBhvr>
                                    </p:animEffect>
                                  </p:childTnLst>
                                </p:cTn>
                              </p:par>
                              <p:par>
                                <p:cTn id="131" presetID="10" presetClass="entr" presetSubtype="0" fill="hold" grpId="0" nodeType="withEffect">
                                  <p:stCondLst>
                                    <p:cond delay="400"/>
                                  </p:stCondLst>
                                  <p:childTnLst>
                                    <p:set>
                                      <p:cBhvr>
                                        <p:cTn id="132" dur="1" fill="hold">
                                          <p:stCondLst>
                                            <p:cond delay="0"/>
                                          </p:stCondLst>
                                        </p:cTn>
                                        <p:tgtEl>
                                          <p:spTgt spid="88"/>
                                        </p:tgtEl>
                                        <p:attrNameLst>
                                          <p:attrName>style.visibility</p:attrName>
                                        </p:attrNameLst>
                                      </p:cBhvr>
                                      <p:to>
                                        <p:strVal val="visible"/>
                                      </p:to>
                                    </p:set>
                                    <p:animEffect transition="in" filter="fade">
                                      <p:cBhvr>
                                        <p:cTn id="133" dur="3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53" grpId="0"/>
      <p:bldP spid="74" grpId="0"/>
      <p:bldP spid="75" grpId="0"/>
      <p:bldP spid="76" grpId="0"/>
      <p:bldP spid="77" grpId="0"/>
      <p:bldP spid="78" grpId="0" animBg="1"/>
      <p:bldP spid="79" grpId="0" animBg="1"/>
      <p:bldP spid="80" grpId="0"/>
      <p:bldP spid="81" grpId="0"/>
      <p:bldP spid="82" grpId="0" animBg="1"/>
      <p:bldP spid="83" grpId="0" animBg="1"/>
      <p:bldP spid="84" grpId="0"/>
      <p:bldP spid="85" grpId="0"/>
      <p:bldP spid="86" grpId="0" animBg="1"/>
      <p:bldP spid="87" grpId="0" animBg="1"/>
      <p:bldP spid="88"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32325"/>
        </a:solidFill>
        <a:effectLst/>
      </p:bgPr>
    </p:bg>
    <p:spTree>
      <p:nvGrpSpPr>
        <p:cNvPr id="1" name=""/>
        <p:cNvGrpSpPr/>
        <p:nvPr/>
      </p:nvGrpSpPr>
      <p:grpSpPr>
        <a:xfrm>
          <a:off x="0" y="0"/>
          <a:ext cx="0" cy="0"/>
          <a:chOff x="0" y="0"/>
          <a:chExt cx="0" cy="0"/>
        </a:xfrm>
      </p:grpSpPr>
      <p:sp>
        <p:nvSpPr>
          <p:cNvPr id="2" name="!!seg8"/>
          <p:cNvSpPr/>
          <p:nvPr/>
        </p:nvSpPr>
        <p:spPr>
          <a:xfrm>
            <a:off x="16971264"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seg7"/>
          <p:cNvSpPr/>
          <p:nvPr/>
        </p:nvSpPr>
        <p:spPr>
          <a:xfrm>
            <a:off x="15782543" y="566928"/>
            <a:ext cx="1097280" cy="118872"/>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seg6"/>
          <p:cNvSpPr/>
          <p:nvPr/>
        </p:nvSpPr>
        <p:spPr>
          <a:xfrm>
            <a:off x="1538020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seg5"/>
          <p:cNvSpPr/>
          <p:nvPr/>
        </p:nvSpPr>
        <p:spPr>
          <a:xfrm>
            <a:off x="14977871"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seg4"/>
          <p:cNvSpPr/>
          <p:nvPr/>
        </p:nvSpPr>
        <p:spPr>
          <a:xfrm>
            <a:off x="14575535"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eg3"/>
          <p:cNvSpPr/>
          <p:nvPr/>
        </p:nvSpPr>
        <p:spPr>
          <a:xfrm>
            <a:off x="14173199"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eg2"/>
          <p:cNvSpPr/>
          <p:nvPr/>
        </p:nvSpPr>
        <p:spPr>
          <a:xfrm>
            <a:off x="13770863"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seg1"/>
          <p:cNvSpPr/>
          <p:nvPr/>
        </p:nvSpPr>
        <p:spPr>
          <a:xfrm>
            <a:off x="1336852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egno"/>
          <p:cNvSpPr txBox="1"/>
          <p:nvPr/>
        </p:nvSpPr>
        <p:spPr>
          <a:xfrm>
            <a:off x="10808207" y="429768"/>
            <a:ext cx="2423160" cy="384048"/>
          </a:xfrm>
          <a:prstGeom prst="rect">
            <a:avLst/>
          </a:prstGeom>
          <a:noFill/>
        </p:spPr>
        <p:txBody>
          <a:bodyPr wrap="square" lIns="45720" rIns="45720" anchor="t"/>
          <a:lstStyle/>
          <a:p>
            <a:pPr algn="r">
              <a:lnSpc>
                <a:spcPct val="100000"/>
              </a:lnSpc>
            </a:pPr>
            <a:r>
              <a:rPr sz="1500" b="0" i="0">
                <a:solidFill>
                  <a:srgbClr val="8E8E93"/>
                </a:solidFill>
                <a:latin typeface="Oswald"/>
              </a:rPr>
              <a:t>07 / 08</a:t>
            </a:r>
          </a:p>
        </p:txBody>
      </p:sp>
      <p:sp>
        <p:nvSpPr>
          <p:cNvPr id="11" name="Kicker 198"/>
          <p:cNvSpPr txBox="1"/>
          <p:nvPr/>
        </p:nvSpPr>
        <p:spPr>
          <a:xfrm>
            <a:off x="1005840" y="457200"/>
            <a:ext cx="8229600" cy="411480"/>
          </a:xfrm>
          <a:prstGeom prst="rect">
            <a:avLst/>
          </a:prstGeom>
          <a:noFill/>
        </p:spPr>
        <p:txBody>
          <a:bodyPr wrap="square" lIns="45720" rIns="45720" anchor="t"/>
          <a:lstStyle/>
          <a:p>
            <a:pPr algn="l">
              <a:lnSpc>
                <a:spcPct val="100000"/>
              </a:lnSpc>
            </a:pPr>
            <a:r>
              <a:rPr sz="1600" b="1" i="0">
                <a:solidFill>
                  <a:srgbClr val="C1FF72"/>
                </a:solidFill>
                <a:latin typeface="Titillium Web"/>
              </a:rPr>
              <a:t>07  ·  RESULTS  ·  2 OF 4</a:t>
            </a:r>
          </a:p>
        </p:txBody>
      </p:sp>
      <p:sp>
        <p:nvSpPr>
          <p:cNvPr id="12" name="Title 199"/>
          <p:cNvSpPr txBox="1"/>
          <p:nvPr/>
        </p:nvSpPr>
        <p:spPr>
          <a:xfrm>
            <a:off x="1005840" y="841248"/>
            <a:ext cx="10972800" cy="1051560"/>
          </a:xfrm>
          <a:prstGeom prst="rect">
            <a:avLst/>
          </a:prstGeom>
          <a:noFill/>
        </p:spPr>
        <p:txBody>
          <a:bodyPr wrap="square" lIns="45720" rIns="45720" anchor="t"/>
          <a:lstStyle/>
          <a:p>
            <a:pPr algn="l">
              <a:lnSpc>
                <a:spcPct val="100000"/>
              </a:lnSpc>
            </a:pPr>
            <a:r>
              <a:rPr sz="5400" b="0" i="0">
                <a:solidFill>
                  <a:srgbClr val="EDEDED"/>
                </a:solidFill>
                <a:latin typeface="Oswald"/>
              </a:rPr>
              <a:t>PROCESSING SPEED</a:t>
            </a:r>
          </a:p>
        </p:txBody>
      </p:sp>
      <p:sp>
        <p:nvSpPr>
          <p:cNvPr id="13" name="Subtitle 200"/>
          <p:cNvSpPr txBox="1"/>
          <p:nvPr/>
        </p:nvSpPr>
        <p:spPr>
          <a:xfrm>
            <a:off x="1005840" y="1828800"/>
            <a:ext cx="10972800" cy="502920"/>
          </a:xfrm>
          <a:prstGeom prst="rect">
            <a:avLst/>
          </a:prstGeom>
          <a:noFill/>
        </p:spPr>
        <p:txBody>
          <a:bodyPr wrap="square" lIns="45720" rIns="45720" anchor="t"/>
          <a:lstStyle/>
          <a:p>
            <a:pPr algn="l">
              <a:lnSpc>
                <a:spcPct val="100000"/>
              </a:lnSpc>
            </a:pPr>
            <a:r>
              <a:rPr sz="2100" b="0" i="0">
                <a:solidFill>
                  <a:srgbClr val="8E8E93"/>
                </a:solidFill>
                <a:latin typeface="Titillium Web"/>
              </a:rPr>
              <a:t>Where the 4.05 seconds go</a:t>
            </a:r>
          </a:p>
        </p:txBody>
      </p:sp>
      <p:sp>
        <p:nvSpPr>
          <p:cNvPr id="14" name="Source"/>
          <p:cNvSpPr txBox="1"/>
          <p:nvPr/>
        </p:nvSpPr>
        <p:spPr>
          <a:xfrm>
            <a:off x="1005840" y="9710928"/>
            <a:ext cx="14447520" cy="347472"/>
          </a:xfrm>
          <a:prstGeom prst="rect">
            <a:avLst/>
          </a:prstGeom>
          <a:noFill/>
        </p:spPr>
        <p:txBody>
          <a:bodyPr wrap="square" lIns="45720" rIns="45720" anchor="t"/>
          <a:lstStyle/>
          <a:p>
            <a:pPr algn="l">
              <a:lnSpc>
                <a:spcPct val="100000"/>
              </a:lnSpc>
            </a:pPr>
            <a:r>
              <a:rPr sz="1300" b="0" i="0">
                <a:solidFill>
                  <a:srgbClr val="5C5C61"/>
                </a:solidFill>
                <a:latin typeface="Titillium Web"/>
              </a:rPr>
              <a:t>Thesis Tables 4.1 and 4.2 (historical prototype results)</a:t>
            </a:r>
          </a:p>
        </p:txBody>
      </p:sp>
      <p:sp>
        <p:nvSpPr>
          <p:cNvPr id="15" name="Page"/>
          <p:cNvSpPr txBox="1"/>
          <p:nvPr/>
        </p:nvSpPr>
        <p:spPr>
          <a:xfrm>
            <a:off x="15453359" y="9710928"/>
            <a:ext cx="1828800" cy="347472"/>
          </a:xfrm>
          <a:prstGeom prst="rect">
            <a:avLst/>
          </a:prstGeom>
          <a:noFill/>
        </p:spPr>
        <p:txBody>
          <a:bodyPr wrap="square" lIns="45720" rIns="45720" anchor="t"/>
          <a:lstStyle/>
          <a:p>
            <a:pPr algn="r">
              <a:lnSpc>
                <a:spcPct val="100000"/>
              </a:lnSpc>
            </a:pPr>
            <a:r>
              <a:rPr sz="1300" b="0" i="0">
                <a:solidFill>
                  <a:srgbClr val="5C5C61"/>
                </a:solidFill>
                <a:latin typeface="Oswald"/>
              </a:rPr>
              <a:t>15</a:t>
            </a:r>
          </a:p>
        </p:txBody>
      </p:sp>
      <p:sp>
        <p:nvSpPr>
          <p:cNvPr id="16" name="Speed label 201"/>
          <p:cNvSpPr txBox="1"/>
          <p:nvPr/>
        </p:nvSpPr>
        <p:spPr>
          <a:xfrm>
            <a:off x="1005840" y="2697480"/>
            <a:ext cx="4206240" cy="502920"/>
          </a:xfrm>
          <a:prstGeom prst="rect">
            <a:avLst/>
          </a:prstGeom>
          <a:noFill/>
        </p:spPr>
        <p:txBody>
          <a:bodyPr wrap="square" lIns="45720" rIns="45720" anchor="t"/>
          <a:lstStyle/>
          <a:p>
            <a:pPr algn="l">
              <a:lnSpc>
                <a:spcPct val="100000"/>
              </a:lnSpc>
            </a:pPr>
            <a:r>
              <a:rPr sz="2000" b="0" i="0">
                <a:solidFill>
                  <a:srgbClr val="EDEDED"/>
                </a:solidFill>
                <a:latin typeface="Oswald"/>
              </a:rPr>
              <a:t>STAGE 1 · URL &amp; CONTEXT</a:t>
            </a:r>
          </a:p>
        </p:txBody>
      </p:sp>
      <p:sp>
        <p:nvSpPr>
          <p:cNvPr id="17" name="Speed bar track 202"/>
          <p:cNvSpPr/>
          <p:nvPr/>
        </p:nvSpPr>
        <p:spPr>
          <a:xfrm>
            <a:off x="5303520" y="2788920"/>
            <a:ext cx="4937760" cy="384048"/>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Speed bar 203"/>
          <p:cNvSpPr/>
          <p:nvPr/>
        </p:nvSpPr>
        <p:spPr>
          <a:xfrm>
            <a:off x="5303520" y="2788920"/>
            <a:ext cx="2997925" cy="384048"/>
          </a:xfrm>
          <a:prstGeom prst="roundRect">
            <a:avLst>
              <a:gd name="adj" fmla="val 50000"/>
            </a:avLst>
          </a:prstGeom>
          <a:solidFill>
            <a:srgbClr val="BDBDC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Speed value 204"/>
          <p:cNvSpPr txBox="1"/>
          <p:nvPr/>
        </p:nvSpPr>
        <p:spPr>
          <a:xfrm>
            <a:off x="10378440" y="2679192"/>
            <a:ext cx="2560320" cy="548640"/>
          </a:xfrm>
          <a:prstGeom prst="rect">
            <a:avLst/>
          </a:prstGeom>
          <a:noFill/>
        </p:spPr>
        <p:txBody>
          <a:bodyPr wrap="square" lIns="45720" rIns="45720" anchor="t"/>
          <a:lstStyle/>
          <a:p>
            <a:pPr algn="l">
              <a:lnSpc>
                <a:spcPct val="100000"/>
              </a:lnSpc>
            </a:pPr>
            <a:r>
              <a:rPr sz="2100" b="0" i="0">
                <a:solidFill>
                  <a:srgbClr val="EDEDED"/>
                </a:solidFill>
                <a:latin typeface="Oswald"/>
              </a:rPr>
              <a:t>850 ms</a:t>
            </a:r>
            <a:r>
              <a:rPr sz="2100" b="0" i="0">
                <a:solidFill>
                  <a:srgbClr val="8E8E93"/>
                </a:solidFill>
                <a:latin typeface="Titillium Web"/>
              </a:rPr>
              <a:t>   21%</a:t>
            </a:r>
          </a:p>
        </p:txBody>
      </p:sp>
      <p:sp>
        <p:nvSpPr>
          <p:cNvPr id="20" name="Speed label 205"/>
          <p:cNvSpPr txBox="1"/>
          <p:nvPr/>
        </p:nvSpPr>
        <p:spPr>
          <a:xfrm>
            <a:off x="1005840" y="3657600"/>
            <a:ext cx="4206240" cy="502920"/>
          </a:xfrm>
          <a:prstGeom prst="rect">
            <a:avLst/>
          </a:prstGeom>
          <a:noFill/>
        </p:spPr>
        <p:txBody>
          <a:bodyPr wrap="square" lIns="45720" rIns="45720" anchor="t"/>
          <a:lstStyle/>
          <a:p>
            <a:pPr algn="l">
              <a:lnSpc>
                <a:spcPct val="100000"/>
              </a:lnSpc>
            </a:pPr>
            <a:r>
              <a:rPr sz="2000" b="0" i="0">
                <a:solidFill>
                  <a:srgbClr val="EDEDED"/>
                </a:solidFill>
                <a:latin typeface="Oswald"/>
              </a:rPr>
              <a:t>STAGE 2 · CONTENT ANALYSIS</a:t>
            </a:r>
          </a:p>
        </p:txBody>
      </p:sp>
      <p:sp>
        <p:nvSpPr>
          <p:cNvPr id="21" name="Speed bar track 206"/>
          <p:cNvSpPr/>
          <p:nvPr/>
        </p:nvSpPr>
        <p:spPr>
          <a:xfrm>
            <a:off x="5303520" y="3749039"/>
            <a:ext cx="4937760" cy="384048"/>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Speed bar 207"/>
          <p:cNvSpPr/>
          <p:nvPr/>
        </p:nvSpPr>
        <p:spPr>
          <a:xfrm>
            <a:off x="5303520" y="3749039"/>
            <a:ext cx="4232365" cy="384048"/>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3" name="Speed value 208"/>
          <p:cNvSpPr txBox="1"/>
          <p:nvPr/>
        </p:nvSpPr>
        <p:spPr>
          <a:xfrm>
            <a:off x="10378440" y="3639312"/>
            <a:ext cx="2560320" cy="548640"/>
          </a:xfrm>
          <a:prstGeom prst="rect">
            <a:avLst/>
          </a:prstGeom>
          <a:noFill/>
        </p:spPr>
        <p:txBody>
          <a:bodyPr wrap="square" lIns="45720" rIns="45720" anchor="t"/>
          <a:lstStyle/>
          <a:p>
            <a:pPr algn="l">
              <a:lnSpc>
                <a:spcPct val="100000"/>
              </a:lnSpc>
            </a:pPr>
            <a:r>
              <a:rPr sz="2100" b="0" i="0">
                <a:solidFill>
                  <a:srgbClr val="EDEDED"/>
                </a:solidFill>
                <a:latin typeface="Oswald"/>
              </a:rPr>
              <a:t>1,200 ms</a:t>
            </a:r>
            <a:r>
              <a:rPr sz="2100" b="0" i="0">
                <a:solidFill>
                  <a:srgbClr val="8E8E93"/>
                </a:solidFill>
                <a:latin typeface="Titillium Web"/>
              </a:rPr>
              <a:t>   30%</a:t>
            </a:r>
          </a:p>
        </p:txBody>
      </p:sp>
      <p:sp>
        <p:nvSpPr>
          <p:cNvPr id="24" name="Speed label 209"/>
          <p:cNvSpPr txBox="1"/>
          <p:nvPr/>
        </p:nvSpPr>
        <p:spPr>
          <a:xfrm>
            <a:off x="1005840" y="4617720"/>
            <a:ext cx="4206240" cy="502920"/>
          </a:xfrm>
          <a:prstGeom prst="rect">
            <a:avLst/>
          </a:prstGeom>
          <a:noFill/>
        </p:spPr>
        <p:txBody>
          <a:bodyPr wrap="square" lIns="45720" rIns="45720" anchor="t"/>
          <a:lstStyle/>
          <a:p>
            <a:pPr algn="l">
              <a:lnSpc>
                <a:spcPct val="100000"/>
              </a:lnSpc>
            </a:pPr>
            <a:r>
              <a:rPr sz="2000" b="0" i="0">
                <a:solidFill>
                  <a:srgbClr val="EDEDED"/>
                </a:solidFill>
                <a:latin typeface="Oswald"/>
              </a:rPr>
              <a:t>STAGE 3 · THREAT INTELLIGENCE</a:t>
            </a:r>
          </a:p>
        </p:txBody>
      </p:sp>
      <p:sp>
        <p:nvSpPr>
          <p:cNvPr id="25" name="Speed bar track 210"/>
          <p:cNvSpPr/>
          <p:nvPr/>
        </p:nvSpPr>
        <p:spPr>
          <a:xfrm>
            <a:off x="5303520" y="4709159"/>
            <a:ext cx="4937760" cy="384048"/>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6" name="Speed bar 211"/>
          <p:cNvSpPr/>
          <p:nvPr/>
        </p:nvSpPr>
        <p:spPr>
          <a:xfrm>
            <a:off x="5303520" y="4709159"/>
            <a:ext cx="2116182" cy="384048"/>
          </a:xfrm>
          <a:prstGeom prst="roundRect">
            <a:avLst>
              <a:gd name="adj" fmla="val 50000"/>
            </a:avLst>
          </a:prstGeom>
          <a:solidFill>
            <a:srgbClr val="BDBDC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Speed value 212"/>
          <p:cNvSpPr txBox="1"/>
          <p:nvPr/>
        </p:nvSpPr>
        <p:spPr>
          <a:xfrm>
            <a:off x="10378440" y="4599432"/>
            <a:ext cx="2560320" cy="548640"/>
          </a:xfrm>
          <a:prstGeom prst="rect">
            <a:avLst/>
          </a:prstGeom>
          <a:noFill/>
        </p:spPr>
        <p:txBody>
          <a:bodyPr wrap="square" lIns="45720" rIns="45720" anchor="t"/>
          <a:lstStyle/>
          <a:p>
            <a:pPr algn="l">
              <a:lnSpc>
                <a:spcPct val="100000"/>
              </a:lnSpc>
            </a:pPr>
            <a:r>
              <a:rPr sz="2100" b="0" i="0">
                <a:solidFill>
                  <a:srgbClr val="EDEDED"/>
                </a:solidFill>
                <a:latin typeface="Oswald"/>
              </a:rPr>
              <a:t>600 ms</a:t>
            </a:r>
            <a:r>
              <a:rPr sz="2100" b="0" i="0">
                <a:solidFill>
                  <a:srgbClr val="8E8E93"/>
                </a:solidFill>
                <a:latin typeface="Titillium Web"/>
              </a:rPr>
              <a:t>   15%</a:t>
            </a:r>
          </a:p>
        </p:txBody>
      </p:sp>
      <p:sp>
        <p:nvSpPr>
          <p:cNvPr id="28" name="Speed label 213"/>
          <p:cNvSpPr txBox="1"/>
          <p:nvPr/>
        </p:nvSpPr>
        <p:spPr>
          <a:xfrm>
            <a:off x="1005840" y="5577840"/>
            <a:ext cx="4206240" cy="502920"/>
          </a:xfrm>
          <a:prstGeom prst="rect">
            <a:avLst/>
          </a:prstGeom>
          <a:noFill/>
        </p:spPr>
        <p:txBody>
          <a:bodyPr wrap="square" lIns="45720" rIns="45720" anchor="t"/>
          <a:lstStyle/>
          <a:p>
            <a:pPr algn="l">
              <a:lnSpc>
                <a:spcPct val="100000"/>
              </a:lnSpc>
            </a:pPr>
            <a:r>
              <a:rPr sz="2000" b="0" i="0">
                <a:solidFill>
                  <a:srgbClr val="EDEDED"/>
                </a:solidFill>
                <a:latin typeface="Oswald"/>
              </a:rPr>
              <a:t>REPORTER · REPORT GENERATION</a:t>
            </a:r>
          </a:p>
        </p:txBody>
      </p:sp>
      <p:sp>
        <p:nvSpPr>
          <p:cNvPr id="29" name="Speed bar track 214"/>
          <p:cNvSpPr/>
          <p:nvPr/>
        </p:nvSpPr>
        <p:spPr>
          <a:xfrm>
            <a:off x="5303520" y="5669279"/>
            <a:ext cx="4937760" cy="384048"/>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0" name="Speed bar 215"/>
          <p:cNvSpPr/>
          <p:nvPr/>
        </p:nvSpPr>
        <p:spPr>
          <a:xfrm>
            <a:off x="5303520" y="5669279"/>
            <a:ext cx="4937760" cy="384048"/>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Speed value 216"/>
          <p:cNvSpPr txBox="1"/>
          <p:nvPr/>
        </p:nvSpPr>
        <p:spPr>
          <a:xfrm>
            <a:off x="10378440" y="5559552"/>
            <a:ext cx="2560320" cy="548640"/>
          </a:xfrm>
          <a:prstGeom prst="rect">
            <a:avLst/>
          </a:prstGeom>
          <a:noFill/>
        </p:spPr>
        <p:txBody>
          <a:bodyPr wrap="square" lIns="45720" rIns="45720" anchor="t"/>
          <a:lstStyle/>
          <a:p>
            <a:pPr algn="l">
              <a:lnSpc>
                <a:spcPct val="100000"/>
              </a:lnSpc>
            </a:pPr>
            <a:r>
              <a:rPr sz="2100" b="0" i="0">
                <a:solidFill>
                  <a:srgbClr val="EDEDED"/>
                </a:solidFill>
                <a:latin typeface="Oswald"/>
              </a:rPr>
              <a:t>1,400 ms</a:t>
            </a:r>
            <a:r>
              <a:rPr sz="2100" b="0" i="0">
                <a:solidFill>
                  <a:srgbClr val="8E8E93"/>
                </a:solidFill>
                <a:latin typeface="Titillium Web"/>
              </a:rPr>
              <a:t>   34%</a:t>
            </a:r>
          </a:p>
        </p:txBody>
      </p:sp>
      <p:grpSp>
        <p:nvGrpSpPr>
          <p:cNvPr id="37" name="Total 217"/>
          <p:cNvGrpSpPr/>
          <p:nvPr/>
        </p:nvGrpSpPr>
        <p:grpSpPr>
          <a:xfrm>
            <a:off x="13213080" y="2514600"/>
            <a:ext cx="4069080" cy="3794760"/>
            <a:chOff x="13213080" y="2514600"/>
            <a:chExt cx="4069080" cy="3794760"/>
          </a:xfrm>
        </p:grpSpPr>
        <p:sp>
          <p:nvSpPr>
            <p:cNvPr id="32" name="Total light"/>
            <p:cNvSpPr/>
            <p:nvPr/>
          </p:nvSpPr>
          <p:spPr>
            <a:xfrm>
              <a:off x="13213080" y="2514600"/>
              <a:ext cx="4069080" cy="3794760"/>
            </a:xfrm>
            <a:prstGeom prst="roundRect">
              <a:avLst>
                <a:gd name="adj" fmla="val 9638"/>
              </a:avLst>
            </a:prstGeom>
            <a:solidFill>
              <a:srgbClr val="33402A"/>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Total"/>
            <p:cNvSpPr/>
            <p:nvPr/>
          </p:nvSpPr>
          <p:spPr>
            <a:xfrm>
              <a:off x="13213080" y="2514600"/>
              <a:ext cx="4069080" cy="3794760"/>
            </a:xfrm>
            <a:prstGeom prst="roundRect">
              <a:avLst>
                <a:gd name="adj" fmla="val 9638"/>
              </a:avLst>
            </a:prstGeom>
            <a:solidFill>
              <a:srgbClr val="33402A"/>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4" name="Total label"/>
            <p:cNvSpPr txBox="1"/>
            <p:nvPr/>
          </p:nvSpPr>
          <p:spPr>
            <a:xfrm>
              <a:off x="13533119" y="2697480"/>
              <a:ext cx="3474720" cy="411480"/>
            </a:xfrm>
            <a:prstGeom prst="rect">
              <a:avLst/>
            </a:prstGeom>
            <a:noFill/>
          </p:spPr>
          <p:txBody>
            <a:bodyPr wrap="square" lIns="45720" rIns="45720" anchor="t"/>
            <a:lstStyle/>
            <a:p>
              <a:pPr algn="l">
                <a:lnSpc>
                  <a:spcPct val="100000"/>
                </a:lnSpc>
              </a:pPr>
              <a:r>
                <a:rPr sz="1500" b="1" i="0">
                  <a:solidFill>
                    <a:srgbClr val="C1FF72"/>
                  </a:solidFill>
                  <a:latin typeface="Titillium Web"/>
                </a:rPr>
                <a:t>MEAN END TO END</a:t>
              </a:r>
            </a:p>
          </p:txBody>
        </p:sp>
        <p:sp>
          <p:nvSpPr>
            <p:cNvPr id="35" name="Total value"/>
            <p:cNvSpPr txBox="1"/>
            <p:nvPr/>
          </p:nvSpPr>
          <p:spPr>
            <a:xfrm>
              <a:off x="13533119" y="3063240"/>
              <a:ext cx="3566160" cy="1280160"/>
            </a:xfrm>
            <a:prstGeom prst="rect">
              <a:avLst/>
            </a:prstGeom>
            <a:noFill/>
          </p:spPr>
          <p:txBody>
            <a:bodyPr wrap="square" lIns="45720" rIns="45720" anchor="t"/>
            <a:lstStyle/>
            <a:p>
              <a:pPr algn="l">
                <a:lnSpc>
                  <a:spcPct val="100000"/>
                </a:lnSpc>
              </a:pPr>
              <a:r>
                <a:rPr sz="7200" b="0" i="0">
                  <a:solidFill>
                    <a:srgbClr val="EDEDED"/>
                  </a:solidFill>
                  <a:latin typeface="Oswald"/>
                </a:rPr>
                <a:t>4.05 s</a:t>
              </a:r>
            </a:p>
          </p:txBody>
        </p:sp>
        <p:sp>
          <p:nvSpPr>
            <p:cNvPr id="36" name="Total text"/>
            <p:cNvSpPr txBox="1"/>
            <p:nvPr/>
          </p:nvSpPr>
          <p:spPr>
            <a:xfrm>
              <a:off x="13533119" y="4434840"/>
              <a:ext cx="3474720" cy="1737360"/>
            </a:xfrm>
            <a:prstGeom prst="rect">
              <a:avLst/>
            </a:prstGeom>
            <a:noFill/>
          </p:spPr>
          <p:txBody>
            <a:bodyPr wrap="square" lIns="45720" rIns="45720" anchor="t"/>
            <a:lstStyle/>
            <a:p>
              <a:pPr algn="l">
                <a:lnSpc>
                  <a:spcPct val="100000"/>
                </a:lnSpc>
                <a:spcAft>
                  <a:spcPts val="500"/>
                </a:spcAft>
              </a:pPr>
              <a:r>
                <a:rPr sz="1700" b="0" i="0">
                  <a:solidFill>
                    <a:srgbClr val="C1FF72"/>
                  </a:solidFill>
                  <a:latin typeface="Titillium Web"/>
                </a:rPr>
                <a:t>Warm target 4.00 s: missed by 0.05 s</a:t>
              </a:r>
            </a:p>
            <a:p>
              <a:pPr algn="l">
                <a:lnSpc>
                  <a:spcPct val="100000"/>
                </a:lnSpc>
              </a:pPr>
              <a:r>
                <a:rPr sz="1600" b="0" i="0">
                  <a:solidFill>
                    <a:srgbClr val="BDBDC1"/>
                  </a:solidFill>
                  <a:latin typeface="Titillium Web"/>
                </a:rPr>
                <a:t>Cached repeat visits: under 100 ms, about 15% of queries</a:t>
              </a:r>
            </a:p>
          </p:txBody>
        </p:sp>
      </p:grpSp>
      <p:sp>
        <p:nvSpPr>
          <p:cNvPr id="38" name="Agents label 218"/>
          <p:cNvSpPr txBox="1"/>
          <p:nvPr/>
        </p:nvSpPr>
        <p:spPr>
          <a:xfrm>
            <a:off x="1005840" y="6537960"/>
            <a:ext cx="7315200" cy="411480"/>
          </a:xfrm>
          <a:prstGeom prst="rect">
            <a:avLst/>
          </a:prstGeom>
          <a:noFill/>
        </p:spPr>
        <p:txBody>
          <a:bodyPr wrap="square" lIns="45720" rIns="45720" anchor="t"/>
          <a:lstStyle/>
          <a:p>
            <a:pPr algn="l">
              <a:lnSpc>
                <a:spcPct val="100000"/>
              </a:lnSpc>
            </a:pPr>
            <a:r>
              <a:rPr sz="1600" b="1" i="0">
                <a:solidFill>
                  <a:srgbClr val="C1FF72"/>
                </a:solidFill>
                <a:latin typeface="Titillium Web"/>
              </a:rPr>
              <a:t>SLOWEST AGENT IN EACH STAGE</a:t>
            </a:r>
          </a:p>
        </p:txBody>
      </p:sp>
      <p:grpSp>
        <p:nvGrpSpPr>
          <p:cNvPr id="44" name="Card 219"/>
          <p:cNvGrpSpPr/>
          <p:nvPr/>
        </p:nvGrpSpPr>
        <p:grpSpPr>
          <a:xfrm>
            <a:off x="1005840" y="7040880"/>
            <a:ext cx="3863340" cy="2377440"/>
            <a:chOff x="1005840" y="7040880"/>
            <a:chExt cx="3863340" cy="2377440"/>
          </a:xfrm>
        </p:grpSpPr>
        <p:sp>
          <p:nvSpPr>
            <p:cNvPr id="39" name="Card light"/>
            <p:cNvSpPr/>
            <p:nvPr/>
          </p:nvSpPr>
          <p:spPr>
            <a:xfrm>
              <a:off x="1005840" y="7040880"/>
              <a:ext cx="3863340" cy="2377440"/>
            </a:xfrm>
            <a:prstGeom prst="roundRect">
              <a:avLst>
                <a:gd name="adj" fmla="val 10769"/>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0" name="Card"/>
            <p:cNvSpPr/>
            <p:nvPr/>
          </p:nvSpPr>
          <p:spPr>
            <a:xfrm>
              <a:off x="1005840" y="7040880"/>
              <a:ext cx="3863340" cy="2377440"/>
            </a:xfrm>
            <a:prstGeom prst="roundRect">
              <a:avLst>
                <a:gd name="adj" fmla="val 10769"/>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1" name="Card num"/>
            <p:cNvSpPr txBox="1"/>
            <p:nvPr/>
          </p:nvSpPr>
          <p:spPr>
            <a:xfrm>
              <a:off x="1298448" y="7242048"/>
              <a:ext cx="3278124" cy="731520"/>
            </a:xfrm>
            <a:prstGeom prst="rect">
              <a:avLst/>
            </a:prstGeom>
            <a:noFill/>
          </p:spPr>
          <p:txBody>
            <a:bodyPr wrap="square" lIns="45720" rIns="45720" anchor="t"/>
            <a:lstStyle/>
            <a:p>
              <a:pPr algn="l">
                <a:lnSpc>
                  <a:spcPct val="100000"/>
                </a:lnSpc>
              </a:pPr>
              <a:r>
                <a:rPr sz="3600" b="0" i="0">
                  <a:solidFill>
                    <a:srgbClr val="C1FF72"/>
                  </a:solidFill>
                  <a:latin typeface="Oswald"/>
                </a:rPr>
                <a:t>720 ms</a:t>
              </a:r>
            </a:p>
          </p:txBody>
        </p:sp>
        <p:sp>
          <p:nvSpPr>
            <p:cNvPr id="42" name="Card title"/>
            <p:cNvSpPr txBox="1"/>
            <p:nvPr/>
          </p:nvSpPr>
          <p:spPr>
            <a:xfrm>
              <a:off x="1298448" y="7973568"/>
              <a:ext cx="3278124" cy="422148"/>
            </a:xfrm>
            <a:prstGeom prst="rect">
              <a:avLst/>
            </a:prstGeom>
            <a:noFill/>
          </p:spPr>
          <p:txBody>
            <a:bodyPr wrap="square" lIns="45720" rIns="45720" anchor="t"/>
            <a:lstStyle/>
            <a:p>
              <a:pPr algn="l">
                <a:lnSpc>
                  <a:spcPct val="100000"/>
                </a:lnSpc>
              </a:pPr>
              <a:r>
                <a:rPr sz="2100" b="0" i="0">
                  <a:solidFill>
                    <a:srgbClr val="EDEDED"/>
                  </a:solidFill>
                  <a:latin typeface="Oswald"/>
                </a:rPr>
                <a:t>URL CLASSIFIER</a:t>
              </a:r>
            </a:p>
          </p:txBody>
        </p:sp>
        <p:sp>
          <p:nvSpPr>
            <p:cNvPr id="43" name="Card body"/>
            <p:cNvSpPr txBox="1"/>
            <p:nvPr/>
          </p:nvSpPr>
          <p:spPr>
            <a:xfrm>
              <a:off x="1298448" y="8432292"/>
              <a:ext cx="3278124" cy="748283"/>
            </a:xfrm>
            <a:prstGeom prst="rect">
              <a:avLst/>
            </a:prstGeom>
            <a:noFill/>
          </p:spPr>
          <p:txBody>
            <a:bodyPr wrap="square" lIns="45720" rIns="45720" anchor="t"/>
            <a:lstStyle/>
            <a:p>
              <a:pPr algn="l">
                <a:lnSpc>
                  <a:spcPct val="98000"/>
                </a:lnSpc>
              </a:pPr>
              <a:r>
                <a:rPr sz="1650" b="0" i="0">
                  <a:solidFill>
                    <a:srgbClr val="BDBDC1"/>
                  </a:solidFill>
                  <a:latin typeface="Titillium Web"/>
                </a:rPr>
                <a:t>BERT, Stage 1</a:t>
              </a:r>
            </a:p>
          </p:txBody>
        </p:sp>
      </p:grpSp>
      <p:grpSp>
        <p:nvGrpSpPr>
          <p:cNvPr id="50" name="Card 220"/>
          <p:cNvGrpSpPr/>
          <p:nvPr/>
        </p:nvGrpSpPr>
        <p:grpSpPr>
          <a:xfrm>
            <a:off x="5143500" y="7040880"/>
            <a:ext cx="3863340" cy="2377440"/>
            <a:chOff x="5143500" y="7040880"/>
            <a:chExt cx="3863340" cy="2377440"/>
          </a:xfrm>
        </p:grpSpPr>
        <p:sp>
          <p:nvSpPr>
            <p:cNvPr id="45" name="Card light"/>
            <p:cNvSpPr/>
            <p:nvPr/>
          </p:nvSpPr>
          <p:spPr>
            <a:xfrm>
              <a:off x="5143500" y="7040880"/>
              <a:ext cx="3863340" cy="2377440"/>
            </a:xfrm>
            <a:prstGeom prst="roundRect">
              <a:avLst>
                <a:gd name="adj" fmla="val 10769"/>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6" name="Card"/>
            <p:cNvSpPr/>
            <p:nvPr/>
          </p:nvSpPr>
          <p:spPr>
            <a:xfrm>
              <a:off x="5143500" y="7040880"/>
              <a:ext cx="3863340" cy="2377440"/>
            </a:xfrm>
            <a:prstGeom prst="roundRect">
              <a:avLst>
                <a:gd name="adj" fmla="val 10769"/>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7" name="Card num"/>
            <p:cNvSpPr txBox="1"/>
            <p:nvPr/>
          </p:nvSpPr>
          <p:spPr>
            <a:xfrm>
              <a:off x="5436108" y="7242048"/>
              <a:ext cx="3278124" cy="731520"/>
            </a:xfrm>
            <a:prstGeom prst="rect">
              <a:avLst/>
            </a:prstGeom>
            <a:noFill/>
          </p:spPr>
          <p:txBody>
            <a:bodyPr wrap="square" lIns="45720" rIns="45720" anchor="t"/>
            <a:lstStyle/>
            <a:p>
              <a:pPr algn="l">
                <a:lnSpc>
                  <a:spcPct val="100000"/>
                </a:lnSpc>
              </a:pPr>
              <a:r>
                <a:rPr sz="3600" b="0" i="0">
                  <a:solidFill>
                    <a:srgbClr val="C1FF72"/>
                  </a:solidFill>
                  <a:latin typeface="Oswald"/>
                </a:rPr>
                <a:t>900 ms</a:t>
              </a:r>
            </a:p>
          </p:txBody>
        </p:sp>
        <p:sp>
          <p:nvSpPr>
            <p:cNvPr id="48" name="Card title"/>
            <p:cNvSpPr txBox="1"/>
            <p:nvPr/>
          </p:nvSpPr>
          <p:spPr>
            <a:xfrm>
              <a:off x="5436108" y="7973568"/>
              <a:ext cx="3278124" cy="422148"/>
            </a:xfrm>
            <a:prstGeom prst="rect">
              <a:avLst/>
            </a:prstGeom>
            <a:noFill/>
          </p:spPr>
          <p:txBody>
            <a:bodyPr wrap="square" lIns="45720" rIns="45720" anchor="t"/>
            <a:lstStyle/>
            <a:p>
              <a:pPr algn="l">
                <a:lnSpc>
                  <a:spcPct val="100000"/>
                </a:lnSpc>
              </a:pPr>
              <a:r>
                <a:rPr sz="2100" b="0" i="0">
                  <a:solidFill>
                    <a:srgbClr val="EDEDED"/>
                  </a:solidFill>
                  <a:latin typeface="Oswald"/>
                </a:rPr>
                <a:t>WEB SCRAPER</a:t>
              </a:r>
            </a:p>
          </p:txBody>
        </p:sp>
        <p:sp>
          <p:nvSpPr>
            <p:cNvPr id="49" name="Card body"/>
            <p:cNvSpPr txBox="1"/>
            <p:nvPr/>
          </p:nvSpPr>
          <p:spPr>
            <a:xfrm>
              <a:off x="5436108" y="8432292"/>
              <a:ext cx="3278124" cy="748283"/>
            </a:xfrm>
            <a:prstGeom prst="rect">
              <a:avLst/>
            </a:prstGeom>
            <a:noFill/>
          </p:spPr>
          <p:txBody>
            <a:bodyPr wrap="square" lIns="45720" rIns="45720" anchor="t"/>
            <a:lstStyle/>
            <a:p>
              <a:pPr algn="l">
                <a:lnSpc>
                  <a:spcPct val="98000"/>
                </a:lnSpc>
              </a:pPr>
              <a:r>
                <a:rPr sz="1650" b="0" i="0">
                  <a:solidFill>
                    <a:srgbClr val="BDBDC1"/>
                  </a:solidFill>
                  <a:latin typeface="Titillium Web"/>
                </a:rPr>
                <a:t>page acquisition</a:t>
              </a:r>
            </a:p>
          </p:txBody>
        </p:sp>
      </p:grpSp>
      <p:grpSp>
        <p:nvGrpSpPr>
          <p:cNvPr id="56" name="Card 221"/>
          <p:cNvGrpSpPr/>
          <p:nvPr/>
        </p:nvGrpSpPr>
        <p:grpSpPr>
          <a:xfrm>
            <a:off x="9281160" y="7040880"/>
            <a:ext cx="3863340" cy="2377440"/>
            <a:chOff x="9281160" y="7040880"/>
            <a:chExt cx="3863340" cy="2377440"/>
          </a:xfrm>
        </p:grpSpPr>
        <p:sp>
          <p:nvSpPr>
            <p:cNvPr id="51" name="Card light"/>
            <p:cNvSpPr/>
            <p:nvPr/>
          </p:nvSpPr>
          <p:spPr>
            <a:xfrm>
              <a:off x="9281160" y="7040880"/>
              <a:ext cx="3863340" cy="2377440"/>
            </a:xfrm>
            <a:prstGeom prst="roundRect">
              <a:avLst>
                <a:gd name="adj" fmla="val 10769"/>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2" name="Card"/>
            <p:cNvSpPr/>
            <p:nvPr/>
          </p:nvSpPr>
          <p:spPr>
            <a:xfrm>
              <a:off x="9281160" y="7040880"/>
              <a:ext cx="3863340" cy="2377440"/>
            </a:xfrm>
            <a:prstGeom prst="roundRect">
              <a:avLst>
                <a:gd name="adj" fmla="val 10769"/>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3" name="Card num"/>
            <p:cNvSpPr txBox="1"/>
            <p:nvPr/>
          </p:nvSpPr>
          <p:spPr>
            <a:xfrm>
              <a:off x="9573768" y="7242048"/>
              <a:ext cx="3278124" cy="731520"/>
            </a:xfrm>
            <a:prstGeom prst="rect">
              <a:avLst/>
            </a:prstGeom>
            <a:noFill/>
          </p:spPr>
          <p:txBody>
            <a:bodyPr wrap="square" lIns="45720" rIns="45720" anchor="t"/>
            <a:lstStyle/>
            <a:p>
              <a:pPr algn="l">
                <a:lnSpc>
                  <a:spcPct val="100000"/>
                </a:lnSpc>
              </a:pPr>
              <a:r>
                <a:rPr sz="3600" b="0" i="0">
                  <a:solidFill>
                    <a:srgbClr val="C1FF72"/>
                  </a:solidFill>
                  <a:latin typeface="Oswald"/>
                </a:rPr>
                <a:t>600 ms</a:t>
              </a:r>
            </a:p>
          </p:txBody>
        </p:sp>
        <p:sp>
          <p:nvSpPr>
            <p:cNvPr id="54" name="Card title"/>
            <p:cNvSpPr txBox="1"/>
            <p:nvPr/>
          </p:nvSpPr>
          <p:spPr>
            <a:xfrm>
              <a:off x="9573768" y="7973568"/>
              <a:ext cx="3278124" cy="422148"/>
            </a:xfrm>
            <a:prstGeom prst="rect">
              <a:avLst/>
            </a:prstGeom>
            <a:noFill/>
          </p:spPr>
          <p:txBody>
            <a:bodyPr wrap="square" lIns="45720" rIns="45720" anchor="t"/>
            <a:lstStyle/>
            <a:p>
              <a:pPr algn="l">
                <a:lnSpc>
                  <a:spcPct val="100000"/>
                </a:lnSpc>
              </a:pPr>
              <a:r>
                <a:rPr sz="2100" b="0" i="0">
                  <a:solidFill>
                    <a:srgbClr val="EDEDED"/>
                  </a:solidFill>
                  <a:latin typeface="Oswald"/>
                </a:rPr>
                <a:t>THREAT INTELLIGENCE</a:t>
              </a:r>
            </a:p>
          </p:txBody>
        </p:sp>
        <p:sp>
          <p:nvSpPr>
            <p:cNvPr id="55" name="Card body"/>
            <p:cNvSpPr txBox="1"/>
            <p:nvPr/>
          </p:nvSpPr>
          <p:spPr>
            <a:xfrm>
              <a:off x="9573768" y="8432292"/>
              <a:ext cx="3278124" cy="748283"/>
            </a:xfrm>
            <a:prstGeom prst="rect">
              <a:avLst/>
            </a:prstGeom>
            <a:noFill/>
          </p:spPr>
          <p:txBody>
            <a:bodyPr wrap="square" lIns="45720" rIns="45720" anchor="t"/>
            <a:lstStyle/>
            <a:p>
              <a:pPr algn="l">
                <a:lnSpc>
                  <a:spcPct val="98000"/>
                </a:lnSpc>
              </a:pPr>
              <a:r>
                <a:rPr sz="1650" b="0" i="0">
                  <a:solidFill>
                    <a:srgbClr val="BDBDC1"/>
                  </a:solidFill>
                  <a:latin typeface="Titillium Web"/>
                </a:rPr>
                <a:t>OTX lookups</a:t>
              </a:r>
            </a:p>
          </p:txBody>
        </p:sp>
      </p:grpSp>
      <p:grpSp>
        <p:nvGrpSpPr>
          <p:cNvPr id="62" name="Card 222"/>
          <p:cNvGrpSpPr/>
          <p:nvPr/>
        </p:nvGrpSpPr>
        <p:grpSpPr>
          <a:xfrm>
            <a:off x="13418820" y="7040880"/>
            <a:ext cx="3863340" cy="2377440"/>
            <a:chOff x="13418820" y="7040880"/>
            <a:chExt cx="3863340" cy="2377440"/>
          </a:xfrm>
        </p:grpSpPr>
        <p:sp>
          <p:nvSpPr>
            <p:cNvPr id="57" name="Card light"/>
            <p:cNvSpPr/>
            <p:nvPr/>
          </p:nvSpPr>
          <p:spPr>
            <a:xfrm>
              <a:off x="13418820" y="7040880"/>
              <a:ext cx="3863340" cy="2377440"/>
            </a:xfrm>
            <a:prstGeom prst="roundRect">
              <a:avLst>
                <a:gd name="adj" fmla="val 10769"/>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8" name="Card"/>
            <p:cNvSpPr/>
            <p:nvPr/>
          </p:nvSpPr>
          <p:spPr>
            <a:xfrm>
              <a:off x="13418820" y="7040880"/>
              <a:ext cx="3863340" cy="2377440"/>
            </a:xfrm>
            <a:prstGeom prst="roundRect">
              <a:avLst>
                <a:gd name="adj" fmla="val 10769"/>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9" name="Card num"/>
            <p:cNvSpPr txBox="1"/>
            <p:nvPr/>
          </p:nvSpPr>
          <p:spPr>
            <a:xfrm>
              <a:off x="13711428" y="7242048"/>
              <a:ext cx="3278124" cy="731520"/>
            </a:xfrm>
            <a:prstGeom prst="rect">
              <a:avLst/>
            </a:prstGeom>
            <a:noFill/>
          </p:spPr>
          <p:txBody>
            <a:bodyPr wrap="square" lIns="45720" rIns="45720" anchor="t"/>
            <a:lstStyle/>
            <a:p>
              <a:pPr algn="l">
                <a:lnSpc>
                  <a:spcPct val="100000"/>
                </a:lnSpc>
              </a:pPr>
              <a:r>
                <a:rPr sz="3600" b="0" i="0">
                  <a:solidFill>
                    <a:srgbClr val="C1FF72"/>
                  </a:solidFill>
                  <a:latin typeface="Oswald"/>
                </a:rPr>
                <a:t>1,400 ms</a:t>
              </a:r>
            </a:p>
          </p:txBody>
        </p:sp>
        <p:sp>
          <p:nvSpPr>
            <p:cNvPr id="60" name="Card title"/>
            <p:cNvSpPr txBox="1"/>
            <p:nvPr/>
          </p:nvSpPr>
          <p:spPr>
            <a:xfrm>
              <a:off x="13711428" y="7973568"/>
              <a:ext cx="3278124" cy="422148"/>
            </a:xfrm>
            <a:prstGeom prst="rect">
              <a:avLst/>
            </a:prstGeom>
            <a:noFill/>
          </p:spPr>
          <p:txBody>
            <a:bodyPr wrap="square" lIns="45720" rIns="45720" anchor="t"/>
            <a:lstStyle/>
            <a:p>
              <a:pPr algn="l">
                <a:lnSpc>
                  <a:spcPct val="100000"/>
                </a:lnSpc>
              </a:pPr>
              <a:r>
                <a:rPr sz="2100" b="0" i="0">
                  <a:solidFill>
                    <a:srgbClr val="EDEDED"/>
                  </a:solidFill>
                  <a:latin typeface="Oswald"/>
                </a:rPr>
                <a:t>REPORTER</a:t>
              </a:r>
            </a:p>
          </p:txBody>
        </p:sp>
        <p:sp>
          <p:nvSpPr>
            <p:cNvPr id="61" name="Card body"/>
            <p:cNvSpPr txBox="1"/>
            <p:nvPr/>
          </p:nvSpPr>
          <p:spPr>
            <a:xfrm>
              <a:off x="13711428" y="8432292"/>
              <a:ext cx="3278124" cy="748283"/>
            </a:xfrm>
            <a:prstGeom prst="rect">
              <a:avLst/>
            </a:prstGeom>
            <a:noFill/>
          </p:spPr>
          <p:txBody>
            <a:bodyPr wrap="square" lIns="45720" rIns="45720" anchor="t"/>
            <a:lstStyle/>
            <a:p>
              <a:pPr algn="l">
                <a:lnSpc>
                  <a:spcPct val="98000"/>
                </a:lnSpc>
              </a:pPr>
              <a:r>
                <a:rPr sz="1650" b="0" i="0">
                  <a:solidFill>
                    <a:srgbClr val="BDBDC1"/>
                  </a:solidFill>
                  <a:latin typeface="Titillium Web"/>
                </a:rPr>
                <a:t>scoring and explanation</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anim calcmode="lin" valueType="num">
                                      <p:cBhvr>
                                        <p:cTn id="11" dur="500" fill="hold"/>
                                        <p:tgtEl>
                                          <p:spTgt spid="12"/>
                                        </p:tgtEl>
                                        <p:attrNameLst>
                                          <p:attrName>ppt_x</p:attrName>
                                        </p:attrNameLst>
                                      </p:cBhvr>
                                      <p:tavLst>
                                        <p:tav tm="0">
                                          <p:val>
                                            <p:strVal val="#ppt_x"/>
                                          </p:val>
                                        </p:tav>
                                        <p:tav tm="100000">
                                          <p:val>
                                            <p:strVal val="#ppt_x"/>
                                          </p:val>
                                        </p:tav>
                                      </p:tavLst>
                                    </p:anim>
                                    <p:anim calcmode="lin" valueType="num">
                                      <p:cBhvr>
                                        <p:cTn id="12" dur="450" decel="100000" fill="hold"/>
                                        <p:tgtEl>
                                          <p:spTgt spid="12"/>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par>
                          <p:cTn id="14" fill="hold">
                            <p:stCondLst>
                              <p:cond delay="13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2000"/>
                            </p:stCondLst>
                            <p:childTnLst>
                              <p:par>
                                <p:cTn id="19" presetID="10" presetClass="entr" presetSubtype="0"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2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200"/>
                                        <p:tgtEl>
                                          <p:spTgt spid="17"/>
                                        </p:tgtEl>
                                      </p:cBhvr>
                                    </p:animEffect>
                                  </p:childTnLst>
                                </p:cTn>
                              </p:par>
                            </p:childTnLst>
                          </p:cTn>
                        </p:par>
                        <p:par>
                          <p:cTn id="25" fill="hold">
                            <p:stCondLst>
                              <p:cond delay="2200"/>
                            </p:stCondLst>
                            <p:childTnLst>
                              <p:par>
                                <p:cTn id="26" presetID="22" presetClass="entr" presetSubtype="8" fill="hold" grpId="0" nodeType="after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left)">
                                      <p:cBhvr>
                                        <p:cTn id="28" dur="500"/>
                                        <p:tgtEl>
                                          <p:spTgt spid="18"/>
                                        </p:tgtEl>
                                      </p:cBhvr>
                                    </p:animEffect>
                                  </p:childTnLst>
                                </p:cTn>
                              </p:par>
                              <p:par>
                                <p:cTn id="29" presetID="10" presetClass="entr" presetSubtype="0" fill="hold" grpId="0" nodeType="withEffect">
                                  <p:stCondLst>
                                    <p:cond delay="40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300"/>
                                        <p:tgtEl>
                                          <p:spTgt spid="19"/>
                                        </p:tgtEl>
                                      </p:cBhvr>
                                    </p:animEffect>
                                  </p:childTnLst>
                                </p:cTn>
                              </p:par>
                            </p:childTnLst>
                          </p:cTn>
                        </p:par>
                        <p:par>
                          <p:cTn id="32" fill="hold">
                            <p:stCondLst>
                              <p:cond delay="2900"/>
                            </p:stCondLst>
                            <p:childTnLst>
                              <p:par>
                                <p:cTn id="33" presetID="10" presetClass="entr" presetSubtype="0" fill="hold" grpId="0" nodeType="after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200"/>
                                        <p:tgtEl>
                                          <p:spTgt spid="2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200"/>
                                        <p:tgtEl>
                                          <p:spTgt spid="21"/>
                                        </p:tgtEl>
                                      </p:cBhvr>
                                    </p:animEffect>
                                  </p:childTnLst>
                                </p:cTn>
                              </p:par>
                            </p:childTnLst>
                          </p:cTn>
                        </p:par>
                        <p:par>
                          <p:cTn id="39" fill="hold">
                            <p:stCondLst>
                              <p:cond delay="3100"/>
                            </p:stCondLst>
                            <p:childTnLst>
                              <p:par>
                                <p:cTn id="40" presetID="22" presetClass="entr" presetSubtype="8" fill="hold" grpId="0" nodeType="after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left)">
                                      <p:cBhvr>
                                        <p:cTn id="42" dur="500"/>
                                        <p:tgtEl>
                                          <p:spTgt spid="22"/>
                                        </p:tgtEl>
                                      </p:cBhvr>
                                    </p:animEffect>
                                  </p:childTnLst>
                                </p:cTn>
                              </p:par>
                              <p:par>
                                <p:cTn id="43" presetID="10" presetClass="entr" presetSubtype="0" fill="hold" grpId="0" nodeType="withEffect">
                                  <p:stCondLst>
                                    <p:cond delay="40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300"/>
                                        <p:tgtEl>
                                          <p:spTgt spid="23"/>
                                        </p:tgtEl>
                                      </p:cBhvr>
                                    </p:animEffect>
                                  </p:childTnLst>
                                </p:cTn>
                              </p:par>
                            </p:childTnLst>
                          </p:cTn>
                        </p:par>
                        <p:par>
                          <p:cTn id="46" fill="hold">
                            <p:stCondLst>
                              <p:cond delay="3800"/>
                            </p:stCondLst>
                            <p:childTnLst>
                              <p:par>
                                <p:cTn id="47" presetID="10" presetClass="entr" presetSubtype="0" fill="hold" grpId="0" nodeType="after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200"/>
                                        <p:tgtEl>
                                          <p:spTgt spid="2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200"/>
                                        <p:tgtEl>
                                          <p:spTgt spid="25"/>
                                        </p:tgtEl>
                                      </p:cBhvr>
                                    </p:animEffect>
                                  </p:childTnLst>
                                </p:cTn>
                              </p:par>
                            </p:childTnLst>
                          </p:cTn>
                        </p:par>
                        <p:par>
                          <p:cTn id="53" fill="hold">
                            <p:stCondLst>
                              <p:cond delay="4000"/>
                            </p:stCondLst>
                            <p:childTnLst>
                              <p:par>
                                <p:cTn id="54" presetID="22" presetClass="entr" presetSubtype="8" fill="hold" grpId="0" nodeType="after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wipe(left)">
                                      <p:cBhvr>
                                        <p:cTn id="56" dur="500"/>
                                        <p:tgtEl>
                                          <p:spTgt spid="26"/>
                                        </p:tgtEl>
                                      </p:cBhvr>
                                    </p:animEffect>
                                  </p:childTnLst>
                                </p:cTn>
                              </p:par>
                              <p:par>
                                <p:cTn id="57" presetID="10" presetClass="entr" presetSubtype="0" fill="hold" grpId="0" nodeType="withEffect">
                                  <p:stCondLst>
                                    <p:cond delay="40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300"/>
                                        <p:tgtEl>
                                          <p:spTgt spid="27"/>
                                        </p:tgtEl>
                                      </p:cBhvr>
                                    </p:animEffect>
                                  </p:childTnLst>
                                </p:cTn>
                              </p:par>
                            </p:childTnLst>
                          </p:cTn>
                        </p:par>
                        <p:par>
                          <p:cTn id="60" fill="hold">
                            <p:stCondLst>
                              <p:cond delay="4700"/>
                            </p:stCondLst>
                            <p:childTnLst>
                              <p:par>
                                <p:cTn id="61" presetID="10" presetClass="entr" presetSubtype="0" fill="hold" grpId="0" nodeType="after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200"/>
                                        <p:tgtEl>
                                          <p:spTgt spid="2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fade">
                                      <p:cBhvr>
                                        <p:cTn id="66" dur="200"/>
                                        <p:tgtEl>
                                          <p:spTgt spid="29"/>
                                        </p:tgtEl>
                                      </p:cBhvr>
                                    </p:animEffect>
                                  </p:childTnLst>
                                </p:cTn>
                              </p:par>
                            </p:childTnLst>
                          </p:cTn>
                        </p:par>
                        <p:par>
                          <p:cTn id="67" fill="hold">
                            <p:stCondLst>
                              <p:cond delay="4900"/>
                            </p:stCondLst>
                            <p:childTnLst>
                              <p:par>
                                <p:cTn id="68" presetID="22" presetClass="entr" presetSubtype="8" fill="hold" grpId="0" nodeType="after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wipe(left)">
                                      <p:cBhvr>
                                        <p:cTn id="70" dur="500"/>
                                        <p:tgtEl>
                                          <p:spTgt spid="30"/>
                                        </p:tgtEl>
                                      </p:cBhvr>
                                    </p:animEffect>
                                  </p:childTnLst>
                                </p:cTn>
                              </p:par>
                              <p:par>
                                <p:cTn id="71" presetID="10" presetClass="entr" presetSubtype="0" fill="hold" grpId="0" nodeType="withEffect">
                                  <p:stCondLst>
                                    <p:cond delay="40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300"/>
                                        <p:tgtEl>
                                          <p:spTgt spid="31"/>
                                        </p:tgtEl>
                                      </p:cBhvr>
                                    </p:animEffect>
                                  </p:childTnLst>
                                </p:cTn>
                              </p:par>
                            </p:childTnLst>
                          </p:cTn>
                        </p:par>
                        <p:par>
                          <p:cTn id="74" fill="hold">
                            <p:stCondLst>
                              <p:cond delay="5600"/>
                            </p:stCondLst>
                            <p:childTnLst>
                              <p:par>
                                <p:cTn id="75" presetID="2" presetClass="entr" presetSubtype="2" fill="hold" nodeType="afterEffect">
                                  <p:stCondLst>
                                    <p:cond delay="0"/>
                                  </p:stCondLst>
                                  <p:childTnLst>
                                    <p:set>
                                      <p:cBhvr>
                                        <p:cTn id="76" dur="1" fill="hold">
                                          <p:stCondLst>
                                            <p:cond delay="0"/>
                                          </p:stCondLst>
                                        </p:cTn>
                                        <p:tgtEl>
                                          <p:spTgt spid="37"/>
                                        </p:tgtEl>
                                        <p:attrNameLst>
                                          <p:attrName>style.visibility</p:attrName>
                                        </p:attrNameLst>
                                      </p:cBhvr>
                                      <p:to>
                                        <p:strVal val="visible"/>
                                      </p:to>
                                    </p:set>
                                    <p:anim calcmode="lin" valueType="num">
                                      <p:cBhvr additive="base">
                                        <p:cTn id="77" dur="500" fill="hold"/>
                                        <p:tgtEl>
                                          <p:spTgt spid="37"/>
                                        </p:tgtEl>
                                        <p:attrNameLst>
                                          <p:attrName>ppt_x</p:attrName>
                                        </p:attrNameLst>
                                      </p:cBhvr>
                                      <p:tavLst>
                                        <p:tav tm="0">
                                          <p:val>
                                            <p:strVal val="1+#ppt_w/2"/>
                                          </p:val>
                                        </p:tav>
                                        <p:tav tm="100000">
                                          <p:val>
                                            <p:strVal val="#ppt_x"/>
                                          </p:val>
                                        </p:tav>
                                      </p:tavLst>
                                    </p:anim>
                                    <p:anim calcmode="lin" valueType="num">
                                      <p:cBhvr additive="base">
                                        <p:cTn id="78" dur="500" fill="hold"/>
                                        <p:tgtEl>
                                          <p:spTgt spid="37"/>
                                        </p:tgtEl>
                                        <p:attrNameLst>
                                          <p:attrName>ppt_y</p:attrName>
                                        </p:attrNameLst>
                                      </p:cBhvr>
                                      <p:tavLst>
                                        <p:tav tm="0">
                                          <p:val>
                                            <p:strVal val="#ppt_y"/>
                                          </p:val>
                                        </p:tav>
                                        <p:tav tm="100000">
                                          <p:val>
                                            <p:strVal val="#ppt_y"/>
                                          </p:val>
                                        </p:tav>
                                      </p:tavLst>
                                    </p:anim>
                                  </p:childTnLst>
                                </p:cTn>
                              </p:par>
                            </p:childTnLst>
                          </p:cTn>
                        </p:par>
                        <p:par>
                          <p:cTn id="79" fill="hold">
                            <p:stCondLst>
                              <p:cond delay="6100"/>
                            </p:stCondLst>
                            <p:childTnLst>
                              <p:par>
                                <p:cTn id="80" presetID="26" presetClass="emph" presetSubtype="0" fill="hold" nodeType="afterEffect">
                                  <p:stCondLst>
                                    <p:cond delay="0"/>
                                  </p:stCondLst>
                                  <p:childTnLst>
                                    <p:animEffect transition="out" filter="fade">
                                      <p:cBhvr>
                                        <p:cTn id="81" dur="600" tmFilter="0, 0; .2, .5; .8, .5; 1, 0"/>
                                        <p:tgtEl>
                                          <p:spTgt spid="37"/>
                                        </p:tgtEl>
                                      </p:cBhvr>
                                    </p:animEffect>
                                    <p:animScale>
                                      <p:cBhvr>
                                        <p:cTn id="82" dur="300" autoRev="1" fill="hold"/>
                                        <p:tgtEl>
                                          <p:spTgt spid="37"/>
                                        </p:tgtEl>
                                      </p:cBhvr>
                                      <p:by x="105000" y="105000"/>
                                    </p:animScale>
                                  </p:childTnLst>
                                </p:cTn>
                              </p:par>
                            </p:childTnLst>
                          </p:cTn>
                        </p:par>
                        <p:par>
                          <p:cTn id="83" fill="hold">
                            <p:stCondLst>
                              <p:cond delay="6700"/>
                            </p:stCondLst>
                            <p:childTnLst>
                              <p:par>
                                <p:cTn id="84" presetID="10" presetClass="entr" presetSubtype="0" fill="hold" grpId="0" nodeType="after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fade">
                                      <p:cBhvr>
                                        <p:cTn id="86" dur="300"/>
                                        <p:tgtEl>
                                          <p:spTgt spid="38"/>
                                        </p:tgtEl>
                                      </p:cBhvr>
                                    </p:animEffect>
                                  </p:childTnLst>
                                </p:cTn>
                              </p:par>
                            </p:childTnLst>
                          </p:cTn>
                        </p:par>
                        <p:par>
                          <p:cTn id="87" fill="hold">
                            <p:stCondLst>
                              <p:cond delay="7000"/>
                            </p:stCondLst>
                            <p:childTnLst>
                              <p:par>
                                <p:cTn id="88" presetID="37" presetClass="entr" presetSubtype="0" fill="hold" nodeType="afterEffect">
                                  <p:stCondLst>
                                    <p:cond delay="0"/>
                                  </p:stCondLst>
                                  <p:childTnLst>
                                    <p:set>
                                      <p:cBhvr>
                                        <p:cTn id="89" dur="1" fill="hold">
                                          <p:stCondLst>
                                            <p:cond delay="0"/>
                                          </p:stCondLst>
                                        </p:cTn>
                                        <p:tgtEl>
                                          <p:spTgt spid="44"/>
                                        </p:tgtEl>
                                        <p:attrNameLst>
                                          <p:attrName>style.visibility</p:attrName>
                                        </p:attrNameLst>
                                      </p:cBhvr>
                                      <p:to>
                                        <p:strVal val="visible"/>
                                      </p:to>
                                    </p:set>
                                    <p:animEffect transition="in" filter="fade">
                                      <p:cBhvr>
                                        <p:cTn id="90" dur="450"/>
                                        <p:tgtEl>
                                          <p:spTgt spid="44"/>
                                        </p:tgtEl>
                                      </p:cBhvr>
                                    </p:animEffect>
                                    <p:anim calcmode="lin" valueType="num">
                                      <p:cBhvr>
                                        <p:cTn id="91" dur="450" fill="hold"/>
                                        <p:tgtEl>
                                          <p:spTgt spid="44"/>
                                        </p:tgtEl>
                                        <p:attrNameLst>
                                          <p:attrName>ppt_x</p:attrName>
                                        </p:attrNameLst>
                                      </p:cBhvr>
                                      <p:tavLst>
                                        <p:tav tm="0">
                                          <p:val>
                                            <p:strVal val="#ppt_x"/>
                                          </p:val>
                                        </p:tav>
                                        <p:tav tm="100000">
                                          <p:val>
                                            <p:strVal val="#ppt_x"/>
                                          </p:val>
                                        </p:tav>
                                      </p:tavLst>
                                    </p:anim>
                                    <p:anim calcmode="lin" valueType="num">
                                      <p:cBhvr>
                                        <p:cTn id="92" dur="405" decel="100000" fill="hold"/>
                                        <p:tgtEl>
                                          <p:spTgt spid="44"/>
                                        </p:tgtEl>
                                        <p:attrNameLst>
                                          <p:attrName>ppt_y</p:attrName>
                                        </p:attrNameLst>
                                      </p:cBhvr>
                                      <p:tavLst>
                                        <p:tav tm="0">
                                          <p:val>
                                            <p:strVal val="#ppt_y+1"/>
                                          </p:val>
                                        </p:tav>
                                        <p:tav tm="100000">
                                          <p:val>
                                            <p:strVal val="#ppt_y-.03"/>
                                          </p:val>
                                        </p:tav>
                                      </p:tavLst>
                                    </p:anim>
                                    <p:anim calcmode="lin" valueType="num">
                                      <p:cBhvr>
                                        <p:cTn id="93" dur="45" accel="100000" fill="hold">
                                          <p:stCondLst>
                                            <p:cond delay="405"/>
                                          </p:stCondLst>
                                        </p:cTn>
                                        <p:tgtEl>
                                          <p:spTgt spid="44"/>
                                        </p:tgtEl>
                                        <p:attrNameLst>
                                          <p:attrName>ppt_y</p:attrName>
                                        </p:attrNameLst>
                                      </p:cBhvr>
                                      <p:tavLst>
                                        <p:tav tm="0">
                                          <p:val>
                                            <p:strVal val="#ppt_y-.03"/>
                                          </p:val>
                                        </p:tav>
                                        <p:tav tm="100000">
                                          <p:val>
                                            <p:strVal val="#ppt_y"/>
                                          </p:val>
                                        </p:tav>
                                      </p:tavLst>
                                    </p:anim>
                                  </p:childTnLst>
                                </p:cTn>
                              </p:par>
                            </p:childTnLst>
                          </p:cTn>
                        </p:par>
                        <p:par>
                          <p:cTn id="94" fill="hold">
                            <p:stCondLst>
                              <p:cond delay="7450"/>
                            </p:stCondLst>
                            <p:childTnLst>
                              <p:par>
                                <p:cTn id="95" presetID="37" presetClass="entr" presetSubtype="0" fill="hold" nodeType="afterEffect">
                                  <p:stCondLst>
                                    <p:cond delay="0"/>
                                  </p:stCondLst>
                                  <p:childTnLst>
                                    <p:set>
                                      <p:cBhvr>
                                        <p:cTn id="96" dur="1" fill="hold">
                                          <p:stCondLst>
                                            <p:cond delay="0"/>
                                          </p:stCondLst>
                                        </p:cTn>
                                        <p:tgtEl>
                                          <p:spTgt spid="50"/>
                                        </p:tgtEl>
                                        <p:attrNameLst>
                                          <p:attrName>style.visibility</p:attrName>
                                        </p:attrNameLst>
                                      </p:cBhvr>
                                      <p:to>
                                        <p:strVal val="visible"/>
                                      </p:to>
                                    </p:set>
                                    <p:animEffect transition="in" filter="fade">
                                      <p:cBhvr>
                                        <p:cTn id="97" dur="450"/>
                                        <p:tgtEl>
                                          <p:spTgt spid="50"/>
                                        </p:tgtEl>
                                      </p:cBhvr>
                                    </p:animEffect>
                                    <p:anim calcmode="lin" valueType="num">
                                      <p:cBhvr>
                                        <p:cTn id="98" dur="450" fill="hold"/>
                                        <p:tgtEl>
                                          <p:spTgt spid="50"/>
                                        </p:tgtEl>
                                        <p:attrNameLst>
                                          <p:attrName>ppt_x</p:attrName>
                                        </p:attrNameLst>
                                      </p:cBhvr>
                                      <p:tavLst>
                                        <p:tav tm="0">
                                          <p:val>
                                            <p:strVal val="#ppt_x"/>
                                          </p:val>
                                        </p:tav>
                                        <p:tav tm="100000">
                                          <p:val>
                                            <p:strVal val="#ppt_x"/>
                                          </p:val>
                                        </p:tav>
                                      </p:tavLst>
                                    </p:anim>
                                    <p:anim calcmode="lin" valueType="num">
                                      <p:cBhvr>
                                        <p:cTn id="99" dur="405" decel="100000" fill="hold"/>
                                        <p:tgtEl>
                                          <p:spTgt spid="50"/>
                                        </p:tgtEl>
                                        <p:attrNameLst>
                                          <p:attrName>ppt_y</p:attrName>
                                        </p:attrNameLst>
                                      </p:cBhvr>
                                      <p:tavLst>
                                        <p:tav tm="0">
                                          <p:val>
                                            <p:strVal val="#ppt_y+1"/>
                                          </p:val>
                                        </p:tav>
                                        <p:tav tm="100000">
                                          <p:val>
                                            <p:strVal val="#ppt_y-.03"/>
                                          </p:val>
                                        </p:tav>
                                      </p:tavLst>
                                    </p:anim>
                                    <p:anim calcmode="lin" valueType="num">
                                      <p:cBhvr>
                                        <p:cTn id="100" dur="45" accel="100000" fill="hold">
                                          <p:stCondLst>
                                            <p:cond delay="405"/>
                                          </p:stCondLst>
                                        </p:cTn>
                                        <p:tgtEl>
                                          <p:spTgt spid="50"/>
                                        </p:tgtEl>
                                        <p:attrNameLst>
                                          <p:attrName>ppt_y</p:attrName>
                                        </p:attrNameLst>
                                      </p:cBhvr>
                                      <p:tavLst>
                                        <p:tav tm="0">
                                          <p:val>
                                            <p:strVal val="#ppt_y-.03"/>
                                          </p:val>
                                        </p:tav>
                                        <p:tav tm="100000">
                                          <p:val>
                                            <p:strVal val="#ppt_y"/>
                                          </p:val>
                                        </p:tav>
                                      </p:tavLst>
                                    </p:anim>
                                  </p:childTnLst>
                                </p:cTn>
                              </p:par>
                            </p:childTnLst>
                          </p:cTn>
                        </p:par>
                        <p:par>
                          <p:cTn id="101" fill="hold">
                            <p:stCondLst>
                              <p:cond delay="7900"/>
                            </p:stCondLst>
                            <p:childTnLst>
                              <p:par>
                                <p:cTn id="102" presetID="37" presetClass="entr" presetSubtype="0" fill="hold" nodeType="afterEffect">
                                  <p:stCondLst>
                                    <p:cond delay="0"/>
                                  </p:stCondLst>
                                  <p:childTnLst>
                                    <p:set>
                                      <p:cBhvr>
                                        <p:cTn id="103" dur="1" fill="hold">
                                          <p:stCondLst>
                                            <p:cond delay="0"/>
                                          </p:stCondLst>
                                        </p:cTn>
                                        <p:tgtEl>
                                          <p:spTgt spid="56"/>
                                        </p:tgtEl>
                                        <p:attrNameLst>
                                          <p:attrName>style.visibility</p:attrName>
                                        </p:attrNameLst>
                                      </p:cBhvr>
                                      <p:to>
                                        <p:strVal val="visible"/>
                                      </p:to>
                                    </p:set>
                                    <p:animEffect transition="in" filter="fade">
                                      <p:cBhvr>
                                        <p:cTn id="104" dur="450"/>
                                        <p:tgtEl>
                                          <p:spTgt spid="56"/>
                                        </p:tgtEl>
                                      </p:cBhvr>
                                    </p:animEffect>
                                    <p:anim calcmode="lin" valueType="num">
                                      <p:cBhvr>
                                        <p:cTn id="105" dur="450" fill="hold"/>
                                        <p:tgtEl>
                                          <p:spTgt spid="56"/>
                                        </p:tgtEl>
                                        <p:attrNameLst>
                                          <p:attrName>ppt_x</p:attrName>
                                        </p:attrNameLst>
                                      </p:cBhvr>
                                      <p:tavLst>
                                        <p:tav tm="0">
                                          <p:val>
                                            <p:strVal val="#ppt_x"/>
                                          </p:val>
                                        </p:tav>
                                        <p:tav tm="100000">
                                          <p:val>
                                            <p:strVal val="#ppt_x"/>
                                          </p:val>
                                        </p:tav>
                                      </p:tavLst>
                                    </p:anim>
                                    <p:anim calcmode="lin" valueType="num">
                                      <p:cBhvr>
                                        <p:cTn id="106" dur="405" decel="100000" fill="hold"/>
                                        <p:tgtEl>
                                          <p:spTgt spid="56"/>
                                        </p:tgtEl>
                                        <p:attrNameLst>
                                          <p:attrName>ppt_y</p:attrName>
                                        </p:attrNameLst>
                                      </p:cBhvr>
                                      <p:tavLst>
                                        <p:tav tm="0">
                                          <p:val>
                                            <p:strVal val="#ppt_y+1"/>
                                          </p:val>
                                        </p:tav>
                                        <p:tav tm="100000">
                                          <p:val>
                                            <p:strVal val="#ppt_y-.03"/>
                                          </p:val>
                                        </p:tav>
                                      </p:tavLst>
                                    </p:anim>
                                    <p:anim calcmode="lin" valueType="num">
                                      <p:cBhvr>
                                        <p:cTn id="107" dur="45" accel="100000" fill="hold">
                                          <p:stCondLst>
                                            <p:cond delay="405"/>
                                          </p:stCondLst>
                                        </p:cTn>
                                        <p:tgtEl>
                                          <p:spTgt spid="56"/>
                                        </p:tgtEl>
                                        <p:attrNameLst>
                                          <p:attrName>ppt_y</p:attrName>
                                        </p:attrNameLst>
                                      </p:cBhvr>
                                      <p:tavLst>
                                        <p:tav tm="0">
                                          <p:val>
                                            <p:strVal val="#ppt_y-.03"/>
                                          </p:val>
                                        </p:tav>
                                        <p:tav tm="100000">
                                          <p:val>
                                            <p:strVal val="#ppt_y"/>
                                          </p:val>
                                        </p:tav>
                                      </p:tavLst>
                                    </p:anim>
                                  </p:childTnLst>
                                </p:cTn>
                              </p:par>
                            </p:childTnLst>
                          </p:cTn>
                        </p:par>
                        <p:par>
                          <p:cTn id="108" fill="hold">
                            <p:stCondLst>
                              <p:cond delay="8350"/>
                            </p:stCondLst>
                            <p:childTnLst>
                              <p:par>
                                <p:cTn id="109" presetID="37" presetClass="entr" presetSubtype="0" fill="hold" nodeType="afterEffect">
                                  <p:stCondLst>
                                    <p:cond delay="0"/>
                                  </p:stCondLst>
                                  <p:childTnLst>
                                    <p:set>
                                      <p:cBhvr>
                                        <p:cTn id="110" dur="1" fill="hold">
                                          <p:stCondLst>
                                            <p:cond delay="0"/>
                                          </p:stCondLst>
                                        </p:cTn>
                                        <p:tgtEl>
                                          <p:spTgt spid="62"/>
                                        </p:tgtEl>
                                        <p:attrNameLst>
                                          <p:attrName>style.visibility</p:attrName>
                                        </p:attrNameLst>
                                      </p:cBhvr>
                                      <p:to>
                                        <p:strVal val="visible"/>
                                      </p:to>
                                    </p:set>
                                    <p:animEffect transition="in" filter="fade">
                                      <p:cBhvr>
                                        <p:cTn id="111" dur="450"/>
                                        <p:tgtEl>
                                          <p:spTgt spid="62"/>
                                        </p:tgtEl>
                                      </p:cBhvr>
                                    </p:animEffect>
                                    <p:anim calcmode="lin" valueType="num">
                                      <p:cBhvr>
                                        <p:cTn id="112" dur="450" fill="hold"/>
                                        <p:tgtEl>
                                          <p:spTgt spid="62"/>
                                        </p:tgtEl>
                                        <p:attrNameLst>
                                          <p:attrName>ppt_x</p:attrName>
                                        </p:attrNameLst>
                                      </p:cBhvr>
                                      <p:tavLst>
                                        <p:tav tm="0">
                                          <p:val>
                                            <p:strVal val="#ppt_x"/>
                                          </p:val>
                                        </p:tav>
                                        <p:tav tm="100000">
                                          <p:val>
                                            <p:strVal val="#ppt_x"/>
                                          </p:val>
                                        </p:tav>
                                      </p:tavLst>
                                    </p:anim>
                                    <p:anim calcmode="lin" valueType="num">
                                      <p:cBhvr>
                                        <p:cTn id="113" dur="405" decel="100000" fill="hold"/>
                                        <p:tgtEl>
                                          <p:spTgt spid="62"/>
                                        </p:tgtEl>
                                        <p:attrNameLst>
                                          <p:attrName>ppt_y</p:attrName>
                                        </p:attrNameLst>
                                      </p:cBhvr>
                                      <p:tavLst>
                                        <p:tav tm="0">
                                          <p:val>
                                            <p:strVal val="#ppt_y+1"/>
                                          </p:val>
                                        </p:tav>
                                        <p:tav tm="100000">
                                          <p:val>
                                            <p:strVal val="#ppt_y-.03"/>
                                          </p:val>
                                        </p:tav>
                                      </p:tavLst>
                                    </p:anim>
                                    <p:anim calcmode="lin" valueType="num">
                                      <p:cBhvr>
                                        <p:cTn id="114" dur="45" accel="100000" fill="hold">
                                          <p:stCondLst>
                                            <p:cond delay="405"/>
                                          </p:stCondLst>
                                        </p:cTn>
                                        <p:tgtEl>
                                          <p:spTgt spid="6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6" grpId="0"/>
      <p:bldP spid="17" grpId="0" animBg="1"/>
      <p:bldP spid="18" grpId="0" animBg="1"/>
      <p:bldP spid="19" grpId="0"/>
      <p:bldP spid="20" grpId="0"/>
      <p:bldP spid="21" grpId="0" animBg="1"/>
      <p:bldP spid="22" grpId="0" animBg="1"/>
      <p:bldP spid="23" grpId="0"/>
      <p:bldP spid="24" grpId="0"/>
      <p:bldP spid="25" grpId="0" animBg="1"/>
      <p:bldP spid="26" grpId="0" animBg="1"/>
      <p:bldP spid="27" grpId="0"/>
      <p:bldP spid="28" grpId="0"/>
      <p:bldP spid="29" grpId="0" animBg="1"/>
      <p:bldP spid="30" grpId="0" animBg="1"/>
      <p:bldP spid="31" grpId="0"/>
      <p:bldP spid="38"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32325"/>
        </a:solidFill>
        <a:effectLst/>
      </p:bgPr>
    </p:bg>
    <p:spTree>
      <p:nvGrpSpPr>
        <p:cNvPr id="1" name=""/>
        <p:cNvGrpSpPr/>
        <p:nvPr/>
      </p:nvGrpSpPr>
      <p:grpSpPr>
        <a:xfrm>
          <a:off x="0" y="0"/>
          <a:ext cx="0" cy="0"/>
          <a:chOff x="0" y="0"/>
          <a:chExt cx="0" cy="0"/>
        </a:xfrm>
      </p:grpSpPr>
      <p:sp>
        <p:nvSpPr>
          <p:cNvPr id="2" name="!!seg8"/>
          <p:cNvSpPr/>
          <p:nvPr/>
        </p:nvSpPr>
        <p:spPr>
          <a:xfrm>
            <a:off x="16971264"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seg7"/>
          <p:cNvSpPr/>
          <p:nvPr/>
        </p:nvSpPr>
        <p:spPr>
          <a:xfrm>
            <a:off x="15782543" y="566928"/>
            <a:ext cx="1097280" cy="118872"/>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seg6"/>
          <p:cNvSpPr/>
          <p:nvPr/>
        </p:nvSpPr>
        <p:spPr>
          <a:xfrm>
            <a:off x="1538020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seg5"/>
          <p:cNvSpPr/>
          <p:nvPr/>
        </p:nvSpPr>
        <p:spPr>
          <a:xfrm>
            <a:off x="14977871"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seg4"/>
          <p:cNvSpPr/>
          <p:nvPr/>
        </p:nvSpPr>
        <p:spPr>
          <a:xfrm>
            <a:off x="14575535"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eg3"/>
          <p:cNvSpPr/>
          <p:nvPr/>
        </p:nvSpPr>
        <p:spPr>
          <a:xfrm>
            <a:off x="14173199"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eg2"/>
          <p:cNvSpPr/>
          <p:nvPr/>
        </p:nvSpPr>
        <p:spPr>
          <a:xfrm>
            <a:off x="13770863"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seg1"/>
          <p:cNvSpPr/>
          <p:nvPr/>
        </p:nvSpPr>
        <p:spPr>
          <a:xfrm>
            <a:off x="1336852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egno"/>
          <p:cNvSpPr txBox="1"/>
          <p:nvPr/>
        </p:nvSpPr>
        <p:spPr>
          <a:xfrm>
            <a:off x="10808207" y="429768"/>
            <a:ext cx="2423160" cy="384048"/>
          </a:xfrm>
          <a:prstGeom prst="rect">
            <a:avLst/>
          </a:prstGeom>
          <a:noFill/>
        </p:spPr>
        <p:txBody>
          <a:bodyPr wrap="square" lIns="45720" rIns="45720" anchor="t"/>
          <a:lstStyle/>
          <a:p>
            <a:pPr algn="r">
              <a:lnSpc>
                <a:spcPct val="100000"/>
              </a:lnSpc>
            </a:pPr>
            <a:r>
              <a:rPr sz="1500" b="0" i="0">
                <a:solidFill>
                  <a:srgbClr val="8E8E93"/>
                </a:solidFill>
                <a:latin typeface="Oswald"/>
              </a:rPr>
              <a:t>07 / 08</a:t>
            </a:r>
          </a:p>
        </p:txBody>
      </p:sp>
      <p:sp>
        <p:nvSpPr>
          <p:cNvPr id="11" name="Kicker 223"/>
          <p:cNvSpPr txBox="1"/>
          <p:nvPr/>
        </p:nvSpPr>
        <p:spPr>
          <a:xfrm>
            <a:off x="1005840" y="457200"/>
            <a:ext cx="8229600" cy="411480"/>
          </a:xfrm>
          <a:prstGeom prst="rect">
            <a:avLst/>
          </a:prstGeom>
          <a:noFill/>
        </p:spPr>
        <p:txBody>
          <a:bodyPr wrap="square" lIns="45720" rIns="45720" anchor="t"/>
          <a:lstStyle/>
          <a:p>
            <a:pPr algn="l">
              <a:lnSpc>
                <a:spcPct val="100000"/>
              </a:lnSpc>
            </a:pPr>
            <a:r>
              <a:rPr sz="1600" b="1" i="0">
                <a:solidFill>
                  <a:srgbClr val="C1FF72"/>
                </a:solidFill>
                <a:latin typeface="Titillium Web"/>
              </a:rPr>
              <a:t>07  ·  RESULTS  ·  3 OF 4</a:t>
            </a:r>
          </a:p>
        </p:txBody>
      </p:sp>
      <p:sp>
        <p:nvSpPr>
          <p:cNvPr id="12" name="Title 224"/>
          <p:cNvSpPr txBox="1"/>
          <p:nvPr/>
        </p:nvSpPr>
        <p:spPr>
          <a:xfrm>
            <a:off x="1005840" y="841248"/>
            <a:ext cx="11887200" cy="1051560"/>
          </a:xfrm>
          <a:prstGeom prst="rect">
            <a:avLst/>
          </a:prstGeom>
          <a:noFill/>
        </p:spPr>
        <p:txBody>
          <a:bodyPr wrap="square" lIns="45720" rIns="45720" anchor="t"/>
          <a:lstStyle/>
          <a:p>
            <a:pPr algn="l">
              <a:lnSpc>
                <a:spcPct val="100000"/>
              </a:lnSpc>
            </a:pPr>
            <a:r>
              <a:rPr sz="5400" b="0" i="0">
                <a:solidFill>
                  <a:srgbClr val="EDEDED"/>
                </a:solidFill>
                <a:latin typeface="Oswald"/>
              </a:rPr>
              <a:t>RELIABILITY</a:t>
            </a:r>
          </a:p>
        </p:txBody>
      </p:sp>
      <p:sp>
        <p:nvSpPr>
          <p:cNvPr id="13" name="Subtitle 225"/>
          <p:cNvSpPr txBox="1"/>
          <p:nvPr/>
        </p:nvSpPr>
        <p:spPr>
          <a:xfrm>
            <a:off x="1005840" y="1828800"/>
            <a:ext cx="11887200" cy="502920"/>
          </a:xfrm>
          <a:prstGeom prst="rect">
            <a:avLst/>
          </a:prstGeom>
          <a:noFill/>
        </p:spPr>
        <p:txBody>
          <a:bodyPr wrap="square" lIns="45720" rIns="45720" anchor="t"/>
          <a:lstStyle/>
          <a:p>
            <a:pPr algn="l">
              <a:lnSpc>
                <a:spcPct val="100000"/>
              </a:lnSpc>
            </a:pPr>
            <a:r>
              <a:rPr sz="2100" b="0" i="0">
                <a:solidFill>
                  <a:srgbClr val="8E8E93"/>
                </a:solidFill>
                <a:latin typeface="Titillium Web"/>
              </a:rPr>
              <a:t>How dependably each agent and service answered</a:t>
            </a:r>
          </a:p>
        </p:txBody>
      </p:sp>
      <p:sp>
        <p:nvSpPr>
          <p:cNvPr id="14" name="Source"/>
          <p:cNvSpPr txBox="1"/>
          <p:nvPr/>
        </p:nvSpPr>
        <p:spPr>
          <a:xfrm>
            <a:off x="1005840" y="9710928"/>
            <a:ext cx="14447520" cy="347472"/>
          </a:xfrm>
          <a:prstGeom prst="rect">
            <a:avLst/>
          </a:prstGeom>
          <a:noFill/>
        </p:spPr>
        <p:txBody>
          <a:bodyPr wrap="square" lIns="45720" rIns="45720" anchor="t"/>
          <a:lstStyle/>
          <a:p>
            <a:pPr algn="l">
              <a:lnSpc>
                <a:spcPct val="100000"/>
              </a:lnSpc>
            </a:pPr>
            <a:r>
              <a:rPr sz="1300" b="0" i="0">
                <a:solidFill>
                  <a:srgbClr val="5C5C61"/>
                </a:solidFill>
                <a:latin typeface="Titillium Web"/>
              </a:rPr>
              <a:t>Thesis Tables 4.5 and 4.7 (historical test period; return-success and uptime, not accuracy)</a:t>
            </a:r>
          </a:p>
        </p:txBody>
      </p:sp>
      <p:sp>
        <p:nvSpPr>
          <p:cNvPr id="15" name="Page"/>
          <p:cNvSpPr txBox="1"/>
          <p:nvPr/>
        </p:nvSpPr>
        <p:spPr>
          <a:xfrm>
            <a:off x="15453359" y="9710928"/>
            <a:ext cx="1828800" cy="347472"/>
          </a:xfrm>
          <a:prstGeom prst="rect">
            <a:avLst/>
          </a:prstGeom>
          <a:noFill/>
        </p:spPr>
        <p:txBody>
          <a:bodyPr wrap="square" lIns="45720" rIns="45720" anchor="t"/>
          <a:lstStyle/>
          <a:p>
            <a:pPr algn="r">
              <a:lnSpc>
                <a:spcPct val="100000"/>
              </a:lnSpc>
            </a:pPr>
            <a:r>
              <a:rPr sz="1300" b="0" i="0">
                <a:solidFill>
                  <a:srgbClr val="5C5C61"/>
                </a:solidFill>
                <a:latin typeface="Oswald"/>
              </a:rPr>
              <a:t>16</a:t>
            </a:r>
          </a:p>
        </p:txBody>
      </p:sp>
      <p:sp>
        <p:nvSpPr>
          <p:cNvPr id="16" name="Rel label 226"/>
          <p:cNvSpPr txBox="1"/>
          <p:nvPr/>
        </p:nvSpPr>
        <p:spPr>
          <a:xfrm>
            <a:off x="1005840" y="2560320"/>
            <a:ext cx="8229600" cy="411480"/>
          </a:xfrm>
          <a:prstGeom prst="rect">
            <a:avLst/>
          </a:prstGeom>
          <a:noFill/>
        </p:spPr>
        <p:txBody>
          <a:bodyPr wrap="square" lIns="45720" rIns="45720" anchor="t"/>
          <a:lstStyle/>
          <a:p>
            <a:pPr algn="l">
              <a:lnSpc>
                <a:spcPct val="100000"/>
              </a:lnSpc>
            </a:pPr>
            <a:r>
              <a:rPr sz="1500" b="1" i="0">
                <a:solidFill>
                  <a:srgbClr val="C1FF72"/>
                </a:solidFill>
                <a:latin typeface="Titillium Web"/>
              </a:rPr>
              <a:t>AGENT RELIABILITY · USABLE RESULT, NOT A TIMEOUT OR ERROR</a:t>
            </a:r>
          </a:p>
        </p:txBody>
      </p:sp>
      <p:sp>
        <p:nvSpPr>
          <p:cNvPr id="17" name="Rel name 227"/>
          <p:cNvSpPr txBox="1"/>
          <p:nvPr/>
        </p:nvSpPr>
        <p:spPr>
          <a:xfrm>
            <a:off x="1005840" y="3063240"/>
            <a:ext cx="3108960" cy="502920"/>
          </a:xfrm>
          <a:prstGeom prst="rect">
            <a:avLst/>
          </a:prstGeom>
          <a:noFill/>
        </p:spPr>
        <p:txBody>
          <a:bodyPr wrap="square" lIns="45720" rIns="45720" anchor="t"/>
          <a:lstStyle/>
          <a:p>
            <a:pPr algn="l">
              <a:lnSpc>
                <a:spcPct val="100000"/>
              </a:lnSpc>
            </a:pPr>
            <a:r>
              <a:rPr sz="1850" b="0" i="0">
                <a:solidFill>
                  <a:srgbClr val="EDEDED"/>
                </a:solidFill>
                <a:latin typeface="Oswald"/>
              </a:rPr>
              <a:t>URL CLASSIFIER</a:t>
            </a:r>
          </a:p>
        </p:txBody>
      </p:sp>
      <p:sp>
        <p:nvSpPr>
          <p:cNvPr id="18" name="Rel bar track 228"/>
          <p:cNvSpPr/>
          <p:nvPr/>
        </p:nvSpPr>
        <p:spPr>
          <a:xfrm>
            <a:off x="4206240" y="3182112"/>
            <a:ext cx="4572000" cy="292608"/>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Rel bar 229"/>
          <p:cNvSpPr/>
          <p:nvPr/>
        </p:nvSpPr>
        <p:spPr>
          <a:xfrm>
            <a:off x="4206240" y="3182112"/>
            <a:ext cx="4343400" cy="292608"/>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0" name="Rel value 230"/>
          <p:cNvSpPr txBox="1"/>
          <p:nvPr/>
        </p:nvSpPr>
        <p:spPr>
          <a:xfrm>
            <a:off x="8915400" y="3063240"/>
            <a:ext cx="1188720" cy="502920"/>
          </a:xfrm>
          <a:prstGeom prst="rect">
            <a:avLst/>
          </a:prstGeom>
          <a:noFill/>
        </p:spPr>
        <p:txBody>
          <a:bodyPr wrap="square" lIns="45720" rIns="45720" anchor="t"/>
          <a:lstStyle/>
          <a:p>
            <a:pPr algn="l">
              <a:lnSpc>
                <a:spcPct val="100000"/>
              </a:lnSpc>
            </a:pPr>
            <a:r>
              <a:rPr sz="1900" b="0" i="0">
                <a:solidFill>
                  <a:srgbClr val="EDEDED"/>
                </a:solidFill>
                <a:latin typeface="Oswald"/>
              </a:rPr>
              <a:t>99.5%</a:t>
            </a:r>
          </a:p>
        </p:txBody>
      </p:sp>
      <p:sp>
        <p:nvSpPr>
          <p:cNvPr id="21" name="Rel name 231"/>
          <p:cNvSpPr txBox="1"/>
          <p:nvPr/>
        </p:nvSpPr>
        <p:spPr>
          <a:xfrm>
            <a:off x="1005840" y="3739896"/>
            <a:ext cx="3108960" cy="502920"/>
          </a:xfrm>
          <a:prstGeom prst="rect">
            <a:avLst/>
          </a:prstGeom>
          <a:noFill/>
        </p:spPr>
        <p:txBody>
          <a:bodyPr wrap="square" lIns="45720" rIns="45720" anchor="t"/>
          <a:lstStyle/>
          <a:p>
            <a:pPr algn="l">
              <a:lnSpc>
                <a:spcPct val="100000"/>
              </a:lnSpc>
            </a:pPr>
            <a:r>
              <a:rPr sz="1850" b="0" i="0">
                <a:solidFill>
                  <a:srgbClr val="EDEDED"/>
                </a:solidFill>
                <a:latin typeface="Oswald"/>
              </a:rPr>
              <a:t>DGA DETECTOR</a:t>
            </a:r>
          </a:p>
        </p:txBody>
      </p:sp>
      <p:sp>
        <p:nvSpPr>
          <p:cNvPr id="22" name="Rel bar track 232"/>
          <p:cNvSpPr/>
          <p:nvPr/>
        </p:nvSpPr>
        <p:spPr>
          <a:xfrm>
            <a:off x="4206240" y="3858768"/>
            <a:ext cx="4572000" cy="292608"/>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3" name="Rel bar 233"/>
          <p:cNvSpPr/>
          <p:nvPr/>
        </p:nvSpPr>
        <p:spPr>
          <a:xfrm>
            <a:off x="4206240" y="3858768"/>
            <a:ext cx="4572000" cy="292608"/>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Rel value 234"/>
          <p:cNvSpPr txBox="1"/>
          <p:nvPr/>
        </p:nvSpPr>
        <p:spPr>
          <a:xfrm>
            <a:off x="8915400" y="3739896"/>
            <a:ext cx="1188720" cy="502920"/>
          </a:xfrm>
          <a:prstGeom prst="rect">
            <a:avLst/>
          </a:prstGeom>
          <a:noFill/>
        </p:spPr>
        <p:txBody>
          <a:bodyPr wrap="square" lIns="45720" rIns="45720" anchor="t"/>
          <a:lstStyle/>
          <a:p>
            <a:pPr algn="l">
              <a:lnSpc>
                <a:spcPct val="100000"/>
              </a:lnSpc>
            </a:pPr>
            <a:r>
              <a:rPr sz="1900" b="0" i="0">
                <a:solidFill>
                  <a:srgbClr val="EDEDED"/>
                </a:solidFill>
                <a:latin typeface="Oswald"/>
              </a:rPr>
              <a:t>100%</a:t>
            </a:r>
          </a:p>
        </p:txBody>
      </p:sp>
      <p:sp>
        <p:nvSpPr>
          <p:cNvPr id="25" name="Rel name 235"/>
          <p:cNvSpPr txBox="1"/>
          <p:nvPr/>
        </p:nvSpPr>
        <p:spPr>
          <a:xfrm>
            <a:off x="1005840" y="4416552"/>
            <a:ext cx="3108960" cy="502920"/>
          </a:xfrm>
          <a:prstGeom prst="rect">
            <a:avLst/>
          </a:prstGeom>
          <a:noFill/>
        </p:spPr>
        <p:txBody>
          <a:bodyPr wrap="square" lIns="45720" rIns="45720" anchor="t"/>
          <a:lstStyle/>
          <a:p>
            <a:pPr algn="l">
              <a:lnSpc>
                <a:spcPct val="100000"/>
              </a:lnSpc>
            </a:pPr>
            <a:r>
              <a:rPr sz="1850" b="0" i="0">
                <a:solidFill>
                  <a:srgbClr val="EDEDED"/>
                </a:solidFill>
                <a:latin typeface="Oswald"/>
              </a:rPr>
              <a:t>WEB SCRAPER</a:t>
            </a:r>
          </a:p>
        </p:txBody>
      </p:sp>
      <p:sp>
        <p:nvSpPr>
          <p:cNvPr id="26" name="Rel bar track 236"/>
          <p:cNvSpPr/>
          <p:nvPr/>
        </p:nvSpPr>
        <p:spPr>
          <a:xfrm>
            <a:off x="4206240" y="4535424"/>
            <a:ext cx="4572000" cy="292608"/>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Rel bar 237"/>
          <p:cNvSpPr/>
          <p:nvPr/>
        </p:nvSpPr>
        <p:spPr>
          <a:xfrm>
            <a:off x="4206240" y="4535424"/>
            <a:ext cx="2743200" cy="292608"/>
          </a:xfrm>
          <a:prstGeom prst="roundRect">
            <a:avLst>
              <a:gd name="adj" fmla="val 50000"/>
            </a:avLst>
          </a:prstGeom>
          <a:solidFill>
            <a:srgbClr val="BDBDC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Rel value 238"/>
          <p:cNvSpPr txBox="1"/>
          <p:nvPr/>
        </p:nvSpPr>
        <p:spPr>
          <a:xfrm>
            <a:off x="8915400" y="4416552"/>
            <a:ext cx="1188720" cy="502920"/>
          </a:xfrm>
          <a:prstGeom prst="rect">
            <a:avLst/>
          </a:prstGeom>
          <a:noFill/>
        </p:spPr>
        <p:txBody>
          <a:bodyPr wrap="square" lIns="45720" rIns="45720" anchor="t"/>
          <a:lstStyle/>
          <a:p>
            <a:pPr algn="l">
              <a:lnSpc>
                <a:spcPct val="100000"/>
              </a:lnSpc>
            </a:pPr>
            <a:r>
              <a:rPr sz="1900" b="0" i="0">
                <a:solidFill>
                  <a:srgbClr val="EDEDED"/>
                </a:solidFill>
                <a:latin typeface="Oswald"/>
              </a:rPr>
              <a:t>96%</a:t>
            </a:r>
          </a:p>
        </p:txBody>
      </p:sp>
      <p:sp>
        <p:nvSpPr>
          <p:cNvPr id="29" name="Rel name 239"/>
          <p:cNvSpPr txBox="1"/>
          <p:nvPr/>
        </p:nvSpPr>
        <p:spPr>
          <a:xfrm>
            <a:off x="1005840" y="5093208"/>
            <a:ext cx="3108960" cy="502920"/>
          </a:xfrm>
          <a:prstGeom prst="rect">
            <a:avLst/>
          </a:prstGeom>
          <a:noFill/>
        </p:spPr>
        <p:txBody>
          <a:bodyPr wrap="square" lIns="45720" rIns="45720" anchor="t"/>
          <a:lstStyle/>
          <a:p>
            <a:pPr algn="l">
              <a:lnSpc>
                <a:spcPct val="100000"/>
              </a:lnSpc>
            </a:pPr>
            <a:r>
              <a:rPr sz="1850" b="0" i="0">
                <a:solidFill>
                  <a:srgbClr val="EDEDED"/>
                </a:solidFill>
                <a:latin typeface="Oswald"/>
              </a:rPr>
              <a:t>MEMORY READER</a:t>
            </a:r>
          </a:p>
        </p:txBody>
      </p:sp>
      <p:sp>
        <p:nvSpPr>
          <p:cNvPr id="30" name="Rel bar track 240"/>
          <p:cNvSpPr/>
          <p:nvPr/>
        </p:nvSpPr>
        <p:spPr>
          <a:xfrm>
            <a:off x="4206240" y="5212080"/>
            <a:ext cx="4572000" cy="292608"/>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Rel bar 241"/>
          <p:cNvSpPr/>
          <p:nvPr/>
        </p:nvSpPr>
        <p:spPr>
          <a:xfrm>
            <a:off x="4206240" y="5212080"/>
            <a:ext cx="4572000" cy="292608"/>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2" name="Rel value 242"/>
          <p:cNvSpPr txBox="1"/>
          <p:nvPr/>
        </p:nvSpPr>
        <p:spPr>
          <a:xfrm>
            <a:off x="8915400" y="5093208"/>
            <a:ext cx="1188720" cy="502920"/>
          </a:xfrm>
          <a:prstGeom prst="rect">
            <a:avLst/>
          </a:prstGeom>
          <a:noFill/>
        </p:spPr>
        <p:txBody>
          <a:bodyPr wrap="square" lIns="45720" rIns="45720" anchor="t"/>
          <a:lstStyle/>
          <a:p>
            <a:pPr algn="l">
              <a:lnSpc>
                <a:spcPct val="100000"/>
              </a:lnSpc>
            </a:pPr>
            <a:r>
              <a:rPr sz="1900" b="0" i="0">
                <a:solidFill>
                  <a:srgbClr val="EDEDED"/>
                </a:solidFill>
                <a:latin typeface="Oswald"/>
              </a:rPr>
              <a:t>100%</a:t>
            </a:r>
          </a:p>
        </p:txBody>
      </p:sp>
      <p:sp>
        <p:nvSpPr>
          <p:cNvPr id="33" name="Rel name 243"/>
          <p:cNvSpPr txBox="1"/>
          <p:nvPr/>
        </p:nvSpPr>
        <p:spPr>
          <a:xfrm>
            <a:off x="1005840" y="5769864"/>
            <a:ext cx="3108960" cy="502920"/>
          </a:xfrm>
          <a:prstGeom prst="rect">
            <a:avLst/>
          </a:prstGeom>
          <a:noFill/>
        </p:spPr>
        <p:txBody>
          <a:bodyPr wrap="square" lIns="45720" rIns="45720" anchor="t"/>
          <a:lstStyle/>
          <a:p>
            <a:pPr algn="l">
              <a:lnSpc>
                <a:spcPct val="100000"/>
              </a:lnSpc>
            </a:pPr>
            <a:r>
              <a:rPr sz="1850" b="0" i="0">
                <a:solidFill>
                  <a:srgbClr val="EDEDED"/>
                </a:solidFill>
                <a:latin typeface="Oswald"/>
              </a:rPr>
              <a:t>IOC EXTRACTOR</a:t>
            </a:r>
          </a:p>
        </p:txBody>
      </p:sp>
      <p:sp>
        <p:nvSpPr>
          <p:cNvPr id="34" name="Rel bar track 244"/>
          <p:cNvSpPr/>
          <p:nvPr/>
        </p:nvSpPr>
        <p:spPr>
          <a:xfrm>
            <a:off x="4206240" y="5888736"/>
            <a:ext cx="4572000" cy="292608"/>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5" name="Rel bar 245"/>
          <p:cNvSpPr/>
          <p:nvPr/>
        </p:nvSpPr>
        <p:spPr>
          <a:xfrm>
            <a:off x="4206240" y="5888736"/>
            <a:ext cx="4114800" cy="292608"/>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Rel value 246"/>
          <p:cNvSpPr txBox="1"/>
          <p:nvPr/>
        </p:nvSpPr>
        <p:spPr>
          <a:xfrm>
            <a:off x="8915400" y="5769864"/>
            <a:ext cx="1188720" cy="502920"/>
          </a:xfrm>
          <a:prstGeom prst="rect">
            <a:avLst/>
          </a:prstGeom>
          <a:noFill/>
        </p:spPr>
        <p:txBody>
          <a:bodyPr wrap="square" lIns="45720" rIns="45720" anchor="t"/>
          <a:lstStyle/>
          <a:p>
            <a:pPr algn="l">
              <a:lnSpc>
                <a:spcPct val="100000"/>
              </a:lnSpc>
            </a:pPr>
            <a:r>
              <a:rPr sz="1900" b="0" i="0">
                <a:solidFill>
                  <a:srgbClr val="EDEDED"/>
                </a:solidFill>
                <a:latin typeface="Oswald"/>
              </a:rPr>
              <a:t>99%</a:t>
            </a:r>
          </a:p>
        </p:txBody>
      </p:sp>
      <p:sp>
        <p:nvSpPr>
          <p:cNvPr id="37" name="Rel name 247"/>
          <p:cNvSpPr txBox="1"/>
          <p:nvPr/>
        </p:nvSpPr>
        <p:spPr>
          <a:xfrm>
            <a:off x="1005840" y="6446520"/>
            <a:ext cx="3108960" cy="502920"/>
          </a:xfrm>
          <a:prstGeom prst="rect">
            <a:avLst/>
          </a:prstGeom>
          <a:noFill/>
        </p:spPr>
        <p:txBody>
          <a:bodyPr wrap="square" lIns="45720" rIns="45720" anchor="t"/>
          <a:lstStyle/>
          <a:p>
            <a:pPr algn="l">
              <a:lnSpc>
                <a:spcPct val="100000"/>
              </a:lnSpc>
            </a:pPr>
            <a:r>
              <a:rPr sz="1850" b="0" i="0">
                <a:solidFill>
                  <a:srgbClr val="EDEDED"/>
                </a:solidFill>
                <a:latin typeface="Oswald"/>
              </a:rPr>
              <a:t>BEHAVIOURAL ANALYSER</a:t>
            </a:r>
          </a:p>
        </p:txBody>
      </p:sp>
      <p:sp>
        <p:nvSpPr>
          <p:cNvPr id="38" name="Rel bar track 248"/>
          <p:cNvSpPr/>
          <p:nvPr/>
        </p:nvSpPr>
        <p:spPr>
          <a:xfrm>
            <a:off x="4206240" y="6565392"/>
            <a:ext cx="4572000" cy="292608"/>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9" name="Rel bar 249"/>
          <p:cNvSpPr/>
          <p:nvPr/>
        </p:nvSpPr>
        <p:spPr>
          <a:xfrm>
            <a:off x="4206240" y="6565392"/>
            <a:ext cx="3886200" cy="292608"/>
          </a:xfrm>
          <a:prstGeom prst="roundRect">
            <a:avLst>
              <a:gd name="adj" fmla="val 50000"/>
            </a:avLst>
          </a:prstGeom>
          <a:solidFill>
            <a:srgbClr val="BDBDC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0" name="Rel value 250"/>
          <p:cNvSpPr txBox="1"/>
          <p:nvPr/>
        </p:nvSpPr>
        <p:spPr>
          <a:xfrm>
            <a:off x="8915400" y="6446520"/>
            <a:ext cx="1188720" cy="502920"/>
          </a:xfrm>
          <a:prstGeom prst="rect">
            <a:avLst/>
          </a:prstGeom>
          <a:noFill/>
        </p:spPr>
        <p:txBody>
          <a:bodyPr wrap="square" lIns="45720" rIns="45720" anchor="t"/>
          <a:lstStyle/>
          <a:p>
            <a:pPr algn="l">
              <a:lnSpc>
                <a:spcPct val="100000"/>
              </a:lnSpc>
            </a:pPr>
            <a:r>
              <a:rPr sz="1900" b="0" i="0">
                <a:solidFill>
                  <a:srgbClr val="EDEDED"/>
                </a:solidFill>
                <a:latin typeface="Oswald"/>
              </a:rPr>
              <a:t>98.5%</a:t>
            </a:r>
          </a:p>
        </p:txBody>
      </p:sp>
      <p:sp>
        <p:nvSpPr>
          <p:cNvPr id="41" name="Rel name 251"/>
          <p:cNvSpPr txBox="1"/>
          <p:nvPr/>
        </p:nvSpPr>
        <p:spPr>
          <a:xfrm>
            <a:off x="1005840" y="7123176"/>
            <a:ext cx="3108960" cy="502920"/>
          </a:xfrm>
          <a:prstGeom prst="rect">
            <a:avLst/>
          </a:prstGeom>
          <a:noFill/>
        </p:spPr>
        <p:txBody>
          <a:bodyPr wrap="square" lIns="45720" rIns="45720" anchor="t"/>
          <a:lstStyle/>
          <a:p>
            <a:pPr algn="l">
              <a:lnSpc>
                <a:spcPct val="100000"/>
              </a:lnSpc>
            </a:pPr>
            <a:r>
              <a:rPr sz="1850" b="0" i="0">
                <a:solidFill>
                  <a:srgbClr val="EDEDED"/>
                </a:solidFill>
                <a:latin typeface="Oswald"/>
              </a:rPr>
              <a:t>MITRE MAPPER</a:t>
            </a:r>
          </a:p>
        </p:txBody>
      </p:sp>
      <p:sp>
        <p:nvSpPr>
          <p:cNvPr id="42" name="Rel bar track 252"/>
          <p:cNvSpPr/>
          <p:nvPr/>
        </p:nvSpPr>
        <p:spPr>
          <a:xfrm>
            <a:off x="4206240" y="7242048"/>
            <a:ext cx="4572000" cy="292608"/>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3" name="Rel bar 253"/>
          <p:cNvSpPr/>
          <p:nvPr/>
        </p:nvSpPr>
        <p:spPr>
          <a:xfrm>
            <a:off x="4206240" y="7242048"/>
            <a:ext cx="4114800" cy="292608"/>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4" name="Rel value 254"/>
          <p:cNvSpPr txBox="1"/>
          <p:nvPr/>
        </p:nvSpPr>
        <p:spPr>
          <a:xfrm>
            <a:off x="8915400" y="7123176"/>
            <a:ext cx="1188720" cy="502920"/>
          </a:xfrm>
          <a:prstGeom prst="rect">
            <a:avLst/>
          </a:prstGeom>
          <a:noFill/>
        </p:spPr>
        <p:txBody>
          <a:bodyPr wrap="square" lIns="45720" rIns="45720" anchor="t"/>
          <a:lstStyle/>
          <a:p>
            <a:pPr algn="l">
              <a:lnSpc>
                <a:spcPct val="100000"/>
              </a:lnSpc>
            </a:pPr>
            <a:r>
              <a:rPr sz="1900" b="0" i="0">
                <a:solidFill>
                  <a:srgbClr val="EDEDED"/>
                </a:solidFill>
                <a:latin typeface="Oswald"/>
              </a:rPr>
              <a:t>99%</a:t>
            </a:r>
          </a:p>
        </p:txBody>
      </p:sp>
      <p:sp>
        <p:nvSpPr>
          <p:cNvPr id="45" name="Rel name 255"/>
          <p:cNvSpPr txBox="1"/>
          <p:nvPr/>
        </p:nvSpPr>
        <p:spPr>
          <a:xfrm>
            <a:off x="1005840" y="7799832"/>
            <a:ext cx="3108960" cy="502920"/>
          </a:xfrm>
          <a:prstGeom prst="rect">
            <a:avLst/>
          </a:prstGeom>
          <a:noFill/>
        </p:spPr>
        <p:txBody>
          <a:bodyPr wrap="square" lIns="45720" rIns="45720" anchor="t"/>
          <a:lstStyle/>
          <a:p>
            <a:pPr algn="l">
              <a:lnSpc>
                <a:spcPct val="100000"/>
              </a:lnSpc>
            </a:pPr>
            <a:r>
              <a:rPr sz="1850" b="0" i="0">
                <a:solidFill>
                  <a:srgbClr val="EDEDED"/>
                </a:solidFill>
                <a:latin typeface="Oswald"/>
              </a:rPr>
              <a:t>THREAT-INTEL ENRICHER</a:t>
            </a:r>
          </a:p>
        </p:txBody>
      </p:sp>
      <p:sp>
        <p:nvSpPr>
          <p:cNvPr id="46" name="Rel bar track 256"/>
          <p:cNvSpPr/>
          <p:nvPr/>
        </p:nvSpPr>
        <p:spPr>
          <a:xfrm>
            <a:off x="4206240" y="7918704"/>
            <a:ext cx="4572000" cy="292608"/>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7" name="Rel bar 257"/>
          <p:cNvSpPr/>
          <p:nvPr/>
        </p:nvSpPr>
        <p:spPr>
          <a:xfrm>
            <a:off x="4206240" y="7918704"/>
            <a:ext cx="2286000" cy="292608"/>
          </a:xfrm>
          <a:prstGeom prst="roundRect">
            <a:avLst>
              <a:gd name="adj" fmla="val 50000"/>
            </a:avLst>
          </a:prstGeom>
          <a:solidFill>
            <a:srgbClr val="BDBDC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8" name="Rel value 258"/>
          <p:cNvSpPr txBox="1"/>
          <p:nvPr/>
        </p:nvSpPr>
        <p:spPr>
          <a:xfrm>
            <a:off x="8915400" y="7799832"/>
            <a:ext cx="1188720" cy="502920"/>
          </a:xfrm>
          <a:prstGeom prst="rect">
            <a:avLst/>
          </a:prstGeom>
          <a:noFill/>
        </p:spPr>
        <p:txBody>
          <a:bodyPr wrap="square" lIns="45720" rIns="45720" anchor="t"/>
          <a:lstStyle/>
          <a:p>
            <a:pPr algn="l">
              <a:lnSpc>
                <a:spcPct val="100000"/>
              </a:lnSpc>
            </a:pPr>
            <a:r>
              <a:rPr sz="1900" b="0" i="0">
                <a:solidFill>
                  <a:srgbClr val="EDEDED"/>
                </a:solidFill>
                <a:latin typeface="Oswald"/>
              </a:rPr>
              <a:t>95%</a:t>
            </a:r>
          </a:p>
        </p:txBody>
      </p:sp>
      <p:sp>
        <p:nvSpPr>
          <p:cNvPr id="49" name="Rel name 259"/>
          <p:cNvSpPr txBox="1"/>
          <p:nvPr/>
        </p:nvSpPr>
        <p:spPr>
          <a:xfrm>
            <a:off x="1005840" y="8476488"/>
            <a:ext cx="3108960" cy="502920"/>
          </a:xfrm>
          <a:prstGeom prst="rect">
            <a:avLst/>
          </a:prstGeom>
          <a:noFill/>
        </p:spPr>
        <p:txBody>
          <a:bodyPr wrap="square" lIns="45720" rIns="45720" anchor="t"/>
          <a:lstStyle/>
          <a:p>
            <a:pPr algn="l">
              <a:lnSpc>
                <a:spcPct val="100000"/>
              </a:lnSpc>
            </a:pPr>
            <a:r>
              <a:rPr sz="1850" b="0" i="0">
                <a:solidFill>
                  <a:srgbClr val="EDEDED"/>
                </a:solidFill>
                <a:latin typeface="Oswald"/>
              </a:rPr>
              <a:t>REPORTER</a:t>
            </a:r>
          </a:p>
        </p:txBody>
      </p:sp>
      <p:sp>
        <p:nvSpPr>
          <p:cNvPr id="50" name="Rel bar track 260"/>
          <p:cNvSpPr/>
          <p:nvPr/>
        </p:nvSpPr>
        <p:spPr>
          <a:xfrm>
            <a:off x="4206240" y="8595360"/>
            <a:ext cx="4572000" cy="292608"/>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1" name="Rel bar 261"/>
          <p:cNvSpPr/>
          <p:nvPr/>
        </p:nvSpPr>
        <p:spPr>
          <a:xfrm>
            <a:off x="4206240" y="8595360"/>
            <a:ext cx="4480559" cy="292608"/>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2" name="Rel value 262"/>
          <p:cNvSpPr txBox="1"/>
          <p:nvPr/>
        </p:nvSpPr>
        <p:spPr>
          <a:xfrm>
            <a:off x="8915400" y="8476488"/>
            <a:ext cx="1188720" cy="502920"/>
          </a:xfrm>
          <a:prstGeom prst="rect">
            <a:avLst/>
          </a:prstGeom>
          <a:noFill/>
        </p:spPr>
        <p:txBody>
          <a:bodyPr wrap="square" lIns="45720" rIns="45720" anchor="t"/>
          <a:lstStyle/>
          <a:p>
            <a:pPr algn="l">
              <a:lnSpc>
                <a:spcPct val="100000"/>
              </a:lnSpc>
            </a:pPr>
            <a:r>
              <a:rPr sz="1900" b="0" i="0">
                <a:solidFill>
                  <a:srgbClr val="EDEDED"/>
                </a:solidFill>
                <a:latin typeface="Oswald"/>
              </a:rPr>
              <a:t>99.8%</a:t>
            </a:r>
          </a:p>
        </p:txBody>
      </p:sp>
      <p:sp>
        <p:nvSpPr>
          <p:cNvPr id="53" name="Scale 263"/>
          <p:cNvSpPr txBox="1"/>
          <p:nvPr/>
        </p:nvSpPr>
        <p:spPr>
          <a:xfrm>
            <a:off x="4206240" y="9107424"/>
            <a:ext cx="4572000" cy="365760"/>
          </a:xfrm>
          <a:prstGeom prst="rect">
            <a:avLst/>
          </a:prstGeom>
          <a:noFill/>
        </p:spPr>
        <p:txBody>
          <a:bodyPr wrap="square" lIns="45720" rIns="45720" anchor="t"/>
          <a:lstStyle/>
          <a:p>
            <a:pPr algn="r">
              <a:lnSpc>
                <a:spcPct val="100000"/>
              </a:lnSpc>
            </a:pPr>
            <a:r>
              <a:rPr sz="1300" b="0" i="0">
                <a:solidFill>
                  <a:srgbClr val="5C5C61"/>
                </a:solidFill>
                <a:latin typeface="Titillium Web"/>
              </a:rPr>
              <a:t>scale 90% → 100%</a:t>
            </a:r>
          </a:p>
        </p:txBody>
      </p:sp>
      <p:sp>
        <p:nvSpPr>
          <p:cNvPr id="54" name="Svc label 264"/>
          <p:cNvSpPr txBox="1"/>
          <p:nvPr/>
        </p:nvSpPr>
        <p:spPr>
          <a:xfrm>
            <a:off x="10515600" y="2560320"/>
            <a:ext cx="6400800" cy="411480"/>
          </a:xfrm>
          <a:prstGeom prst="rect">
            <a:avLst/>
          </a:prstGeom>
          <a:noFill/>
        </p:spPr>
        <p:txBody>
          <a:bodyPr wrap="square" lIns="45720" rIns="45720" anchor="t"/>
          <a:lstStyle/>
          <a:p>
            <a:pPr algn="l">
              <a:lnSpc>
                <a:spcPct val="100000"/>
              </a:lnSpc>
            </a:pPr>
            <a:r>
              <a:rPr sz="1500" b="1" i="0">
                <a:solidFill>
                  <a:srgbClr val="C1FF72"/>
                </a:solidFill>
                <a:latin typeface="Titillium Web"/>
              </a:rPr>
              <a:t>EXTERNAL SERVICES · UPTIME · FALLBACK</a:t>
            </a:r>
          </a:p>
        </p:txBody>
      </p:sp>
      <p:grpSp>
        <p:nvGrpSpPr>
          <p:cNvPr id="60" name="Service 265"/>
          <p:cNvGrpSpPr/>
          <p:nvPr/>
        </p:nvGrpSpPr>
        <p:grpSpPr>
          <a:xfrm>
            <a:off x="10515600" y="3063240"/>
            <a:ext cx="6766560" cy="914400"/>
            <a:chOff x="10515600" y="3063240"/>
            <a:chExt cx="6766560" cy="914400"/>
          </a:xfrm>
        </p:grpSpPr>
        <p:sp>
          <p:nvSpPr>
            <p:cNvPr id="55" name="Service light"/>
            <p:cNvSpPr/>
            <p:nvPr/>
          </p:nvSpPr>
          <p:spPr>
            <a:xfrm>
              <a:off x="10515600" y="3063240"/>
              <a:ext cx="6766560" cy="914400"/>
            </a:xfrm>
            <a:prstGeom prst="roundRect">
              <a:avLst>
                <a:gd name="adj" fmla="val 5000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6" name="Service"/>
            <p:cNvSpPr/>
            <p:nvPr/>
          </p:nvSpPr>
          <p:spPr>
            <a:xfrm>
              <a:off x="10515600" y="3063240"/>
              <a:ext cx="6766560" cy="914400"/>
            </a:xfrm>
            <a:prstGeom prst="roundRect">
              <a:avLst>
                <a:gd name="adj" fmla="val 5000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7" name="Svc name"/>
            <p:cNvSpPr txBox="1"/>
            <p:nvPr/>
          </p:nvSpPr>
          <p:spPr>
            <a:xfrm>
              <a:off x="10835640" y="3063240"/>
              <a:ext cx="2926080" cy="914400"/>
            </a:xfrm>
            <a:prstGeom prst="rect">
              <a:avLst/>
            </a:prstGeom>
            <a:noFill/>
          </p:spPr>
          <p:txBody>
            <a:bodyPr wrap="square" lIns="45720" rIns="45720" anchor="ctr"/>
            <a:lstStyle/>
            <a:p>
              <a:pPr algn="l">
                <a:lnSpc>
                  <a:spcPct val="100000"/>
                </a:lnSpc>
              </a:pPr>
              <a:r>
                <a:rPr sz="1850" b="0" i="0">
                  <a:solidFill>
                    <a:srgbClr val="EDEDED"/>
                  </a:solidFill>
                  <a:latin typeface="Oswald"/>
                </a:rPr>
                <a:t>HEROKU BACKEND</a:t>
              </a:r>
            </a:p>
          </p:txBody>
        </p:sp>
        <p:sp>
          <p:nvSpPr>
            <p:cNvPr id="58" name="Svc up"/>
            <p:cNvSpPr txBox="1"/>
            <p:nvPr/>
          </p:nvSpPr>
          <p:spPr>
            <a:xfrm>
              <a:off x="13761720" y="3063240"/>
              <a:ext cx="1188720" cy="914400"/>
            </a:xfrm>
            <a:prstGeom prst="rect">
              <a:avLst/>
            </a:prstGeom>
            <a:noFill/>
          </p:spPr>
          <p:txBody>
            <a:bodyPr wrap="square" lIns="45720" rIns="45720" anchor="ctr"/>
            <a:lstStyle/>
            <a:p>
              <a:pPr algn="l">
                <a:lnSpc>
                  <a:spcPct val="100000"/>
                </a:lnSpc>
              </a:pPr>
              <a:r>
                <a:rPr sz="2000" b="0" i="0">
                  <a:solidFill>
                    <a:srgbClr val="C1FF72"/>
                  </a:solidFill>
                  <a:latin typeface="Oswald"/>
                </a:rPr>
                <a:t>99.9%</a:t>
              </a:r>
            </a:p>
          </p:txBody>
        </p:sp>
        <p:sp>
          <p:nvSpPr>
            <p:cNvPr id="59" name="Svc fb"/>
            <p:cNvSpPr txBox="1"/>
            <p:nvPr/>
          </p:nvSpPr>
          <p:spPr>
            <a:xfrm>
              <a:off x="14996159" y="3063240"/>
              <a:ext cx="2057400" cy="914400"/>
            </a:xfrm>
            <a:prstGeom prst="rect">
              <a:avLst/>
            </a:prstGeom>
            <a:noFill/>
          </p:spPr>
          <p:txBody>
            <a:bodyPr wrap="square" lIns="45720" rIns="45720" anchor="ctr"/>
            <a:lstStyle/>
            <a:p>
              <a:pPr algn="l">
                <a:lnSpc>
                  <a:spcPct val="92000"/>
                </a:lnSpc>
              </a:pPr>
              <a:r>
                <a:rPr sz="1450" b="0" i="0">
                  <a:solidFill>
                    <a:srgbClr val="8E8E93"/>
                  </a:solidFill>
                  <a:latin typeface="Titillium Web"/>
                </a:rPr>
                <a:t>desktop retries</a:t>
              </a:r>
            </a:p>
          </p:txBody>
        </p:sp>
      </p:grpSp>
      <p:grpSp>
        <p:nvGrpSpPr>
          <p:cNvPr id="66" name="Service 266"/>
          <p:cNvGrpSpPr/>
          <p:nvPr/>
        </p:nvGrpSpPr>
        <p:grpSpPr>
          <a:xfrm>
            <a:off x="10515600" y="4096512"/>
            <a:ext cx="6766560" cy="914400"/>
            <a:chOff x="10515600" y="4096512"/>
            <a:chExt cx="6766560" cy="914400"/>
          </a:xfrm>
        </p:grpSpPr>
        <p:sp>
          <p:nvSpPr>
            <p:cNvPr id="61" name="Service light"/>
            <p:cNvSpPr/>
            <p:nvPr/>
          </p:nvSpPr>
          <p:spPr>
            <a:xfrm>
              <a:off x="10515600" y="4096512"/>
              <a:ext cx="6766560" cy="914400"/>
            </a:xfrm>
            <a:prstGeom prst="roundRect">
              <a:avLst>
                <a:gd name="adj" fmla="val 5000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2" name="Service"/>
            <p:cNvSpPr/>
            <p:nvPr/>
          </p:nvSpPr>
          <p:spPr>
            <a:xfrm>
              <a:off x="10515600" y="4096512"/>
              <a:ext cx="6766560" cy="914400"/>
            </a:xfrm>
            <a:prstGeom prst="roundRect">
              <a:avLst>
                <a:gd name="adj" fmla="val 5000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3" name="Svc name"/>
            <p:cNvSpPr txBox="1"/>
            <p:nvPr/>
          </p:nvSpPr>
          <p:spPr>
            <a:xfrm>
              <a:off x="10835640" y="4096512"/>
              <a:ext cx="2926080" cy="914400"/>
            </a:xfrm>
            <a:prstGeom prst="rect">
              <a:avLst/>
            </a:prstGeom>
            <a:noFill/>
          </p:spPr>
          <p:txBody>
            <a:bodyPr wrap="square" lIns="45720" rIns="45720" anchor="ctr"/>
            <a:lstStyle/>
            <a:p>
              <a:pPr algn="l">
                <a:lnSpc>
                  <a:spcPct val="100000"/>
                </a:lnSpc>
              </a:pPr>
              <a:r>
                <a:rPr sz="1850" b="0" i="0">
                  <a:solidFill>
                    <a:srgbClr val="EDEDED"/>
                  </a:solidFill>
                  <a:latin typeface="Oswald"/>
                </a:rPr>
                <a:t>HUGGING FACE SPACE</a:t>
              </a:r>
            </a:p>
          </p:txBody>
        </p:sp>
        <p:sp>
          <p:nvSpPr>
            <p:cNvPr id="64" name="Svc up"/>
            <p:cNvSpPr txBox="1"/>
            <p:nvPr/>
          </p:nvSpPr>
          <p:spPr>
            <a:xfrm>
              <a:off x="13761720" y="4096512"/>
              <a:ext cx="1188720" cy="914400"/>
            </a:xfrm>
            <a:prstGeom prst="rect">
              <a:avLst/>
            </a:prstGeom>
            <a:noFill/>
          </p:spPr>
          <p:txBody>
            <a:bodyPr wrap="square" lIns="45720" rIns="45720" anchor="ctr"/>
            <a:lstStyle/>
            <a:p>
              <a:pPr algn="l">
                <a:lnSpc>
                  <a:spcPct val="100000"/>
                </a:lnSpc>
              </a:pPr>
              <a:r>
                <a:rPr sz="2000" b="0" i="0">
                  <a:solidFill>
                    <a:srgbClr val="C1FF72"/>
                  </a:solidFill>
                  <a:latin typeface="Oswald"/>
                </a:rPr>
                <a:t>99.2%</a:t>
              </a:r>
            </a:p>
          </p:txBody>
        </p:sp>
        <p:sp>
          <p:nvSpPr>
            <p:cNvPr id="65" name="Svc fb"/>
            <p:cNvSpPr txBox="1"/>
            <p:nvPr/>
          </p:nvSpPr>
          <p:spPr>
            <a:xfrm>
              <a:off x="14996159" y="4096512"/>
              <a:ext cx="2057400" cy="914400"/>
            </a:xfrm>
            <a:prstGeom prst="rect">
              <a:avLst/>
            </a:prstGeom>
            <a:noFill/>
          </p:spPr>
          <p:txBody>
            <a:bodyPr wrap="square" lIns="45720" rIns="45720" anchor="ctr"/>
            <a:lstStyle/>
            <a:p>
              <a:pPr algn="l">
                <a:lnSpc>
                  <a:spcPct val="92000"/>
                </a:lnSpc>
              </a:pPr>
              <a:r>
                <a:rPr sz="1450" b="0" i="0">
                  <a:solidFill>
                    <a:srgbClr val="8E8E93"/>
                  </a:solidFill>
                  <a:latin typeface="Titillium Web"/>
                </a:rPr>
                <a:t>cached or heuristic result</a:t>
              </a:r>
            </a:p>
          </p:txBody>
        </p:sp>
      </p:grpSp>
      <p:grpSp>
        <p:nvGrpSpPr>
          <p:cNvPr id="72" name="Service 267"/>
          <p:cNvGrpSpPr/>
          <p:nvPr/>
        </p:nvGrpSpPr>
        <p:grpSpPr>
          <a:xfrm>
            <a:off x="10515600" y="5129784"/>
            <a:ext cx="6766560" cy="914400"/>
            <a:chOff x="10515600" y="5129784"/>
            <a:chExt cx="6766560" cy="914400"/>
          </a:xfrm>
        </p:grpSpPr>
        <p:sp>
          <p:nvSpPr>
            <p:cNvPr id="67" name="Service light"/>
            <p:cNvSpPr/>
            <p:nvPr/>
          </p:nvSpPr>
          <p:spPr>
            <a:xfrm>
              <a:off x="10515600" y="5129784"/>
              <a:ext cx="6766560" cy="914400"/>
            </a:xfrm>
            <a:prstGeom prst="roundRect">
              <a:avLst>
                <a:gd name="adj" fmla="val 5000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8" name="Service"/>
            <p:cNvSpPr/>
            <p:nvPr/>
          </p:nvSpPr>
          <p:spPr>
            <a:xfrm>
              <a:off x="10515600" y="5129784"/>
              <a:ext cx="6766560" cy="914400"/>
            </a:xfrm>
            <a:prstGeom prst="roundRect">
              <a:avLst>
                <a:gd name="adj" fmla="val 5000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9" name="Svc name"/>
            <p:cNvSpPr txBox="1"/>
            <p:nvPr/>
          </p:nvSpPr>
          <p:spPr>
            <a:xfrm>
              <a:off x="10835640" y="5129784"/>
              <a:ext cx="2926080" cy="914400"/>
            </a:xfrm>
            <a:prstGeom prst="rect">
              <a:avLst/>
            </a:prstGeom>
            <a:noFill/>
          </p:spPr>
          <p:txBody>
            <a:bodyPr wrap="square" lIns="45720" rIns="45720" anchor="ctr"/>
            <a:lstStyle/>
            <a:p>
              <a:pPr algn="l">
                <a:lnSpc>
                  <a:spcPct val="100000"/>
                </a:lnSpc>
              </a:pPr>
              <a:r>
                <a:rPr sz="1850" b="0" i="0">
                  <a:solidFill>
                    <a:srgbClr val="EDEDED"/>
                  </a:solidFill>
                  <a:latin typeface="Oswald"/>
                </a:rPr>
                <a:t>ALIENVAULT OTX</a:t>
              </a:r>
            </a:p>
          </p:txBody>
        </p:sp>
        <p:sp>
          <p:nvSpPr>
            <p:cNvPr id="70" name="Svc up"/>
            <p:cNvSpPr txBox="1"/>
            <p:nvPr/>
          </p:nvSpPr>
          <p:spPr>
            <a:xfrm>
              <a:off x="13761720" y="5129784"/>
              <a:ext cx="1188720" cy="914400"/>
            </a:xfrm>
            <a:prstGeom prst="rect">
              <a:avLst/>
            </a:prstGeom>
            <a:noFill/>
          </p:spPr>
          <p:txBody>
            <a:bodyPr wrap="square" lIns="45720" rIns="45720" anchor="ctr"/>
            <a:lstStyle/>
            <a:p>
              <a:pPr algn="l">
                <a:lnSpc>
                  <a:spcPct val="100000"/>
                </a:lnSpc>
              </a:pPr>
              <a:r>
                <a:rPr sz="2000" b="0" i="0">
                  <a:solidFill>
                    <a:srgbClr val="C1FF72"/>
                  </a:solidFill>
                  <a:latin typeface="Oswald"/>
                </a:rPr>
                <a:t>97.5%</a:t>
              </a:r>
            </a:p>
          </p:txBody>
        </p:sp>
        <p:sp>
          <p:nvSpPr>
            <p:cNvPr id="71" name="Svc fb"/>
            <p:cNvSpPr txBox="1"/>
            <p:nvPr/>
          </p:nvSpPr>
          <p:spPr>
            <a:xfrm>
              <a:off x="14996159" y="5129784"/>
              <a:ext cx="2057400" cy="914400"/>
            </a:xfrm>
            <a:prstGeom prst="rect">
              <a:avLst/>
            </a:prstGeom>
            <a:noFill/>
          </p:spPr>
          <p:txBody>
            <a:bodyPr wrap="square" lIns="45720" rIns="45720" anchor="ctr"/>
            <a:lstStyle/>
            <a:p>
              <a:pPr algn="l">
                <a:lnSpc>
                  <a:spcPct val="92000"/>
                </a:lnSpc>
              </a:pPr>
              <a:r>
                <a:rPr sz="1450" b="0" i="0">
                  <a:solidFill>
                    <a:srgbClr val="8E8E93"/>
                  </a:solidFill>
                  <a:latin typeface="Titillium Web"/>
                </a:rPr>
                <a:t>scan continues unenriched</a:t>
              </a:r>
            </a:p>
          </p:txBody>
        </p:sp>
      </p:grpSp>
      <p:grpSp>
        <p:nvGrpSpPr>
          <p:cNvPr id="78" name="Service 268"/>
          <p:cNvGrpSpPr/>
          <p:nvPr/>
        </p:nvGrpSpPr>
        <p:grpSpPr>
          <a:xfrm>
            <a:off x="10515600" y="6163056"/>
            <a:ext cx="6766560" cy="914400"/>
            <a:chOff x="10515600" y="6163056"/>
            <a:chExt cx="6766560" cy="914400"/>
          </a:xfrm>
        </p:grpSpPr>
        <p:sp>
          <p:nvSpPr>
            <p:cNvPr id="73" name="Service light"/>
            <p:cNvSpPr/>
            <p:nvPr/>
          </p:nvSpPr>
          <p:spPr>
            <a:xfrm>
              <a:off x="10515600" y="6163056"/>
              <a:ext cx="6766560" cy="914400"/>
            </a:xfrm>
            <a:prstGeom prst="roundRect">
              <a:avLst>
                <a:gd name="adj" fmla="val 5000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4" name="Service"/>
            <p:cNvSpPr/>
            <p:nvPr/>
          </p:nvSpPr>
          <p:spPr>
            <a:xfrm>
              <a:off x="10515600" y="6163056"/>
              <a:ext cx="6766560" cy="914400"/>
            </a:xfrm>
            <a:prstGeom prst="roundRect">
              <a:avLst>
                <a:gd name="adj" fmla="val 5000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5" name="Svc name"/>
            <p:cNvSpPr txBox="1"/>
            <p:nvPr/>
          </p:nvSpPr>
          <p:spPr>
            <a:xfrm>
              <a:off x="10835640" y="6163056"/>
              <a:ext cx="2926080" cy="914400"/>
            </a:xfrm>
            <a:prstGeom prst="rect">
              <a:avLst/>
            </a:prstGeom>
            <a:noFill/>
          </p:spPr>
          <p:txBody>
            <a:bodyPr wrap="square" lIns="45720" rIns="45720" anchor="ctr"/>
            <a:lstStyle/>
            <a:p>
              <a:pPr algn="l">
                <a:lnSpc>
                  <a:spcPct val="100000"/>
                </a:lnSpc>
              </a:pPr>
              <a:r>
                <a:rPr sz="1850" b="0" i="0">
                  <a:solidFill>
                    <a:srgbClr val="EDEDED"/>
                  </a:solidFill>
                  <a:latin typeface="Oswald"/>
                </a:rPr>
                <a:t>GOOGLE GEMINI</a:t>
              </a:r>
            </a:p>
          </p:txBody>
        </p:sp>
        <p:sp>
          <p:nvSpPr>
            <p:cNvPr id="76" name="Svc up"/>
            <p:cNvSpPr txBox="1"/>
            <p:nvPr/>
          </p:nvSpPr>
          <p:spPr>
            <a:xfrm>
              <a:off x="13761720" y="6163056"/>
              <a:ext cx="1188720" cy="914400"/>
            </a:xfrm>
            <a:prstGeom prst="rect">
              <a:avLst/>
            </a:prstGeom>
            <a:noFill/>
          </p:spPr>
          <p:txBody>
            <a:bodyPr wrap="square" lIns="45720" rIns="45720" anchor="ctr"/>
            <a:lstStyle/>
            <a:p>
              <a:pPr algn="l">
                <a:lnSpc>
                  <a:spcPct val="100000"/>
                </a:lnSpc>
              </a:pPr>
              <a:r>
                <a:rPr sz="2000" b="0" i="0">
                  <a:solidFill>
                    <a:srgbClr val="C1FF72"/>
                  </a:solidFill>
                  <a:latin typeface="Oswald"/>
                </a:rPr>
                <a:t>98.0%</a:t>
              </a:r>
            </a:p>
          </p:txBody>
        </p:sp>
        <p:sp>
          <p:nvSpPr>
            <p:cNvPr id="77" name="Svc fb"/>
            <p:cNvSpPr txBox="1"/>
            <p:nvPr/>
          </p:nvSpPr>
          <p:spPr>
            <a:xfrm>
              <a:off x="14996159" y="6163056"/>
              <a:ext cx="2057400" cy="914400"/>
            </a:xfrm>
            <a:prstGeom prst="rect">
              <a:avLst/>
            </a:prstGeom>
            <a:noFill/>
          </p:spPr>
          <p:txBody>
            <a:bodyPr wrap="square" lIns="45720" rIns="45720" anchor="ctr"/>
            <a:lstStyle/>
            <a:p>
              <a:pPr algn="l">
                <a:lnSpc>
                  <a:spcPct val="92000"/>
                </a:lnSpc>
              </a:pPr>
              <a:r>
                <a:rPr sz="1450" b="0" i="0">
                  <a:solidFill>
                    <a:srgbClr val="8E8E93"/>
                  </a:solidFill>
                  <a:latin typeface="Titillium Web"/>
                </a:rPr>
                <a:t>Mistral, then rules</a:t>
              </a:r>
            </a:p>
          </p:txBody>
        </p:sp>
      </p:grpSp>
      <p:grpSp>
        <p:nvGrpSpPr>
          <p:cNvPr id="84" name="Service 269"/>
          <p:cNvGrpSpPr/>
          <p:nvPr/>
        </p:nvGrpSpPr>
        <p:grpSpPr>
          <a:xfrm>
            <a:off x="10515600" y="7196328"/>
            <a:ext cx="6766560" cy="914400"/>
            <a:chOff x="10515600" y="7196328"/>
            <a:chExt cx="6766560" cy="914400"/>
          </a:xfrm>
        </p:grpSpPr>
        <p:sp>
          <p:nvSpPr>
            <p:cNvPr id="79" name="Service light"/>
            <p:cNvSpPr/>
            <p:nvPr/>
          </p:nvSpPr>
          <p:spPr>
            <a:xfrm>
              <a:off x="10515600" y="7196328"/>
              <a:ext cx="6766560" cy="914400"/>
            </a:xfrm>
            <a:prstGeom prst="roundRect">
              <a:avLst>
                <a:gd name="adj" fmla="val 5000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0" name="Service"/>
            <p:cNvSpPr/>
            <p:nvPr/>
          </p:nvSpPr>
          <p:spPr>
            <a:xfrm>
              <a:off x="10515600" y="7196328"/>
              <a:ext cx="6766560" cy="914400"/>
            </a:xfrm>
            <a:prstGeom prst="roundRect">
              <a:avLst>
                <a:gd name="adj" fmla="val 5000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1" name="Svc name"/>
            <p:cNvSpPr txBox="1"/>
            <p:nvPr/>
          </p:nvSpPr>
          <p:spPr>
            <a:xfrm>
              <a:off x="10835640" y="7196328"/>
              <a:ext cx="2926080" cy="914400"/>
            </a:xfrm>
            <a:prstGeom prst="rect">
              <a:avLst/>
            </a:prstGeom>
            <a:noFill/>
          </p:spPr>
          <p:txBody>
            <a:bodyPr wrap="square" lIns="45720" rIns="45720" anchor="ctr"/>
            <a:lstStyle/>
            <a:p>
              <a:pPr algn="l">
                <a:lnSpc>
                  <a:spcPct val="100000"/>
                </a:lnSpc>
              </a:pPr>
              <a:r>
                <a:rPr sz="1850" b="0" i="0">
                  <a:solidFill>
                    <a:srgbClr val="EDEDED"/>
                  </a:solidFill>
                  <a:latin typeface="Oswald"/>
                </a:rPr>
                <a:t>APPWRITE CLOUD</a:t>
              </a:r>
            </a:p>
          </p:txBody>
        </p:sp>
        <p:sp>
          <p:nvSpPr>
            <p:cNvPr id="82" name="Svc up"/>
            <p:cNvSpPr txBox="1"/>
            <p:nvPr/>
          </p:nvSpPr>
          <p:spPr>
            <a:xfrm>
              <a:off x="13761720" y="7196328"/>
              <a:ext cx="1188720" cy="914400"/>
            </a:xfrm>
            <a:prstGeom prst="rect">
              <a:avLst/>
            </a:prstGeom>
            <a:noFill/>
          </p:spPr>
          <p:txBody>
            <a:bodyPr wrap="square" lIns="45720" rIns="45720" anchor="ctr"/>
            <a:lstStyle/>
            <a:p>
              <a:pPr algn="l">
                <a:lnSpc>
                  <a:spcPct val="100000"/>
                </a:lnSpc>
              </a:pPr>
              <a:r>
                <a:rPr sz="2000" b="0" i="0">
                  <a:solidFill>
                    <a:srgbClr val="C1FF72"/>
                  </a:solidFill>
                  <a:latin typeface="Oswald"/>
                </a:rPr>
                <a:t>99.7%</a:t>
              </a:r>
            </a:p>
          </p:txBody>
        </p:sp>
        <p:sp>
          <p:nvSpPr>
            <p:cNvPr id="83" name="Svc fb"/>
            <p:cNvSpPr txBox="1"/>
            <p:nvPr/>
          </p:nvSpPr>
          <p:spPr>
            <a:xfrm>
              <a:off x="14996159" y="7196328"/>
              <a:ext cx="2057400" cy="914400"/>
            </a:xfrm>
            <a:prstGeom prst="rect">
              <a:avLst/>
            </a:prstGeom>
            <a:noFill/>
          </p:spPr>
          <p:txBody>
            <a:bodyPr wrap="square" lIns="45720" rIns="45720" anchor="ctr"/>
            <a:lstStyle/>
            <a:p>
              <a:pPr algn="l">
                <a:lnSpc>
                  <a:spcPct val="92000"/>
                </a:lnSpc>
              </a:pPr>
              <a:r>
                <a:rPr sz="1450" b="0" i="0">
                  <a:solidFill>
                    <a:srgbClr val="8E8E93"/>
                  </a:solidFill>
                  <a:latin typeface="Titillium Web"/>
                </a:rPr>
                <a:t>kept locally, synced later</a:t>
              </a:r>
            </a:p>
          </p:txBody>
        </p:sp>
      </p:grpSp>
      <p:grpSp>
        <p:nvGrpSpPr>
          <p:cNvPr id="90" name="Service 270"/>
          <p:cNvGrpSpPr/>
          <p:nvPr/>
        </p:nvGrpSpPr>
        <p:grpSpPr>
          <a:xfrm>
            <a:off x="10515600" y="8229600"/>
            <a:ext cx="6766560" cy="914400"/>
            <a:chOff x="10515600" y="8229600"/>
            <a:chExt cx="6766560" cy="914400"/>
          </a:xfrm>
        </p:grpSpPr>
        <p:sp>
          <p:nvSpPr>
            <p:cNvPr id="85" name="Service light"/>
            <p:cNvSpPr/>
            <p:nvPr/>
          </p:nvSpPr>
          <p:spPr>
            <a:xfrm>
              <a:off x="10515600" y="8229600"/>
              <a:ext cx="6766560" cy="914400"/>
            </a:xfrm>
            <a:prstGeom prst="roundRect">
              <a:avLst>
                <a:gd name="adj" fmla="val 50000"/>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6" name="Service"/>
            <p:cNvSpPr/>
            <p:nvPr/>
          </p:nvSpPr>
          <p:spPr>
            <a:xfrm>
              <a:off x="10515600" y="8229600"/>
              <a:ext cx="6766560" cy="914400"/>
            </a:xfrm>
            <a:prstGeom prst="roundRect">
              <a:avLst>
                <a:gd name="adj" fmla="val 50000"/>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7" name="Svc name"/>
            <p:cNvSpPr txBox="1"/>
            <p:nvPr/>
          </p:nvSpPr>
          <p:spPr>
            <a:xfrm>
              <a:off x="10835640" y="8229600"/>
              <a:ext cx="2926080" cy="914400"/>
            </a:xfrm>
            <a:prstGeom prst="rect">
              <a:avLst/>
            </a:prstGeom>
            <a:noFill/>
          </p:spPr>
          <p:txBody>
            <a:bodyPr wrap="square" lIns="45720" rIns="45720" anchor="ctr"/>
            <a:lstStyle/>
            <a:p>
              <a:pPr algn="l">
                <a:lnSpc>
                  <a:spcPct val="100000"/>
                </a:lnSpc>
              </a:pPr>
              <a:r>
                <a:rPr sz="1850" b="0" i="0">
                  <a:solidFill>
                    <a:srgbClr val="EDEDED"/>
                  </a:solidFill>
                  <a:latin typeface="Oswald"/>
                </a:rPr>
                <a:t>REDIS CACHE</a:t>
              </a:r>
            </a:p>
          </p:txBody>
        </p:sp>
        <p:sp>
          <p:nvSpPr>
            <p:cNvPr id="88" name="Svc up"/>
            <p:cNvSpPr txBox="1"/>
            <p:nvPr/>
          </p:nvSpPr>
          <p:spPr>
            <a:xfrm>
              <a:off x="13761720" y="8229600"/>
              <a:ext cx="1188720" cy="914400"/>
            </a:xfrm>
            <a:prstGeom prst="rect">
              <a:avLst/>
            </a:prstGeom>
            <a:noFill/>
          </p:spPr>
          <p:txBody>
            <a:bodyPr wrap="square" lIns="45720" rIns="45720" anchor="ctr"/>
            <a:lstStyle/>
            <a:p>
              <a:pPr algn="l">
                <a:lnSpc>
                  <a:spcPct val="100000"/>
                </a:lnSpc>
              </a:pPr>
              <a:r>
                <a:rPr sz="2000" b="0" i="0">
                  <a:solidFill>
                    <a:srgbClr val="C1FF72"/>
                  </a:solidFill>
                  <a:latin typeface="Oswald"/>
                </a:rPr>
                <a:t>99.9%</a:t>
              </a:r>
            </a:p>
          </p:txBody>
        </p:sp>
        <p:sp>
          <p:nvSpPr>
            <p:cNvPr id="89" name="Svc fb"/>
            <p:cNvSpPr txBox="1"/>
            <p:nvPr/>
          </p:nvSpPr>
          <p:spPr>
            <a:xfrm>
              <a:off x="14996159" y="8229600"/>
              <a:ext cx="2057400" cy="914400"/>
            </a:xfrm>
            <a:prstGeom prst="rect">
              <a:avLst/>
            </a:prstGeom>
            <a:noFill/>
          </p:spPr>
          <p:txBody>
            <a:bodyPr wrap="square" lIns="45720" rIns="45720" anchor="ctr"/>
            <a:lstStyle/>
            <a:p>
              <a:pPr algn="l">
                <a:lnSpc>
                  <a:spcPct val="92000"/>
                </a:lnSpc>
              </a:pPr>
              <a:r>
                <a:rPr sz="1450" b="0" i="0">
                  <a:solidFill>
                    <a:srgbClr val="8E8E93"/>
                  </a:solidFill>
                  <a:latin typeface="Titillium Web"/>
                </a:rPr>
                <a:t>full pipeline instead</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anim calcmode="lin" valueType="num">
                                      <p:cBhvr>
                                        <p:cTn id="11" dur="500" fill="hold"/>
                                        <p:tgtEl>
                                          <p:spTgt spid="12"/>
                                        </p:tgtEl>
                                        <p:attrNameLst>
                                          <p:attrName>ppt_x</p:attrName>
                                        </p:attrNameLst>
                                      </p:cBhvr>
                                      <p:tavLst>
                                        <p:tav tm="0">
                                          <p:val>
                                            <p:strVal val="#ppt_x"/>
                                          </p:val>
                                        </p:tav>
                                        <p:tav tm="100000">
                                          <p:val>
                                            <p:strVal val="#ppt_x"/>
                                          </p:val>
                                        </p:tav>
                                      </p:tavLst>
                                    </p:anim>
                                    <p:anim calcmode="lin" valueType="num">
                                      <p:cBhvr>
                                        <p:cTn id="12" dur="450" decel="100000" fill="hold"/>
                                        <p:tgtEl>
                                          <p:spTgt spid="12"/>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par>
                          <p:cTn id="14" fill="hold">
                            <p:stCondLst>
                              <p:cond delay="11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1900"/>
                            </p:stCondLst>
                            <p:childTnLst>
                              <p:par>
                                <p:cTn id="19" presetID="10" presetClass="entr" presetSubtype="0"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300"/>
                                        <p:tgtEl>
                                          <p:spTgt spid="16"/>
                                        </p:tgtEl>
                                      </p:cBhvr>
                                    </p:animEffect>
                                  </p:childTnLst>
                                </p:cTn>
                              </p:par>
                            </p:childTnLst>
                          </p:cTn>
                        </p:par>
                        <p:par>
                          <p:cTn id="22" fill="hold">
                            <p:stCondLst>
                              <p:cond delay="2200"/>
                            </p:stCondLst>
                            <p:childTnLst>
                              <p:par>
                                <p:cTn id="23" presetID="10" presetClass="entr" presetSubtype="0" fill="hold" grpId="0" nodeType="after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12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200"/>
                                        <p:tgtEl>
                                          <p:spTgt spid="18"/>
                                        </p:tgtEl>
                                      </p:cBhvr>
                                    </p:animEffect>
                                  </p:childTnLst>
                                </p:cTn>
                              </p:par>
                            </p:childTnLst>
                          </p:cTn>
                        </p:par>
                        <p:par>
                          <p:cTn id="29" fill="hold">
                            <p:stCondLst>
                              <p:cond delay="2400"/>
                            </p:stCondLst>
                            <p:childTnLst>
                              <p:par>
                                <p:cTn id="30" presetID="22" presetClass="entr" presetSubtype="8"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left)">
                                      <p:cBhvr>
                                        <p:cTn id="32" dur="5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200"/>
                                        <p:tgtEl>
                                          <p:spTgt spid="20"/>
                                        </p:tgtEl>
                                      </p:cBhvr>
                                    </p:animEffect>
                                  </p:childTnLst>
                                </p:cTn>
                              </p:par>
                            </p:childTnLst>
                          </p:cTn>
                        </p:par>
                        <p:par>
                          <p:cTn id="36" fill="hold">
                            <p:stCondLst>
                              <p:cond delay="2900"/>
                            </p:stCondLst>
                            <p:childTnLst>
                              <p:par>
                                <p:cTn id="37" presetID="10" presetClass="entr" presetSubtype="0" fill="hold" grpId="0" nodeType="after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12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200"/>
                                        <p:tgtEl>
                                          <p:spTgt spid="22"/>
                                        </p:tgtEl>
                                      </p:cBhvr>
                                    </p:animEffect>
                                  </p:childTnLst>
                                </p:cTn>
                              </p:par>
                            </p:childTnLst>
                          </p:cTn>
                        </p:par>
                        <p:par>
                          <p:cTn id="43" fill="hold">
                            <p:stCondLst>
                              <p:cond delay="3100"/>
                            </p:stCondLst>
                            <p:childTnLst>
                              <p:par>
                                <p:cTn id="44" presetID="22" presetClass="entr" presetSubtype="8" fill="hold" grpId="0" nodeType="after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wipe(left)">
                                      <p:cBhvr>
                                        <p:cTn id="46" dur="5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200"/>
                                        <p:tgtEl>
                                          <p:spTgt spid="24"/>
                                        </p:tgtEl>
                                      </p:cBhvr>
                                    </p:animEffect>
                                  </p:childTnLst>
                                </p:cTn>
                              </p:par>
                            </p:childTnLst>
                          </p:cTn>
                        </p:par>
                        <p:par>
                          <p:cTn id="50" fill="hold">
                            <p:stCondLst>
                              <p:cond delay="3600"/>
                            </p:stCondLst>
                            <p:childTnLst>
                              <p:par>
                                <p:cTn id="51" presetID="10" presetClass="entr" presetSubtype="0" fill="hold" grpId="0" nodeType="after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12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200"/>
                                        <p:tgtEl>
                                          <p:spTgt spid="26"/>
                                        </p:tgtEl>
                                      </p:cBhvr>
                                    </p:animEffect>
                                  </p:childTnLst>
                                </p:cTn>
                              </p:par>
                            </p:childTnLst>
                          </p:cTn>
                        </p:par>
                        <p:par>
                          <p:cTn id="57" fill="hold">
                            <p:stCondLst>
                              <p:cond delay="3800"/>
                            </p:stCondLst>
                            <p:childTnLst>
                              <p:par>
                                <p:cTn id="58" presetID="22" presetClass="entr" presetSubtype="8" fill="hold" grpId="0" nodeType="after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wipe(left)">
                                      <p:cBhvr>
                                        <p:cTn id="60" dur="500"/>
                                        <p:tgtEl>
                                          <p:spTgt spid="2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200"/>
                                        <p:tgtEl>
                                          <p:spTgt spid="28"/>
                                        </p:tgtEl>
                                      </p:cBhvr>
                                    </p:animEffect>
                                  </p:childTnLst>
                                </p:cTn>
                              </p:par>
                            </p:childTnLst>
                          </p:cTn>
                        </p:par>
                        <p:par>
                          <p:cTn id="64" fill="hold">
                            <p:stCondLst>
                              <p:cond delay="4300"/>
                            </p:stCondLst>
                            <p:childTnLst>
                              <p:par>
                                <p:cTn id="65" presetID="10" presetClass="entr" presetSubtype="0" fill="hold" grpId="0" nodeType="after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12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200"/>
                                        <p:tgtEl>
                                          <p:spTgt spid="30"/>
                                        </p:tgtEl>
                                      </p:cBhvr>
                                    </p:animEffect>
                                  </p:childTnLst>
                                </p:cTn>
                              </p:par>
                            </p:childTnLst>
                          </p:cTn>
                        </p:par>
                        <p:par>
                          <p:cTn id="71" fill="hold">
                            <p:stCondLst>
                              <p:cond delay="4500"/>
                            </p:stCondLst>
                            <p:childTnLst>
                              <p:par>
                                <p:cTn id="72" presetID="22" presetClass="entr" presetSubtype="8" fill="hold" grpId="0" nodeType="after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wipe(left)">
                                      <p:cBhvr>
                                        <p:cTn id="74" dur="500"/>
                                        <p:tgtEl>
                                          <p:spTgt spid="3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200"/>
                                        <p:tgtEl>
                                          <p:spTgt spid="32"/>
                                        </p:tgtEl>
                                      </p:cBhvr>
                                    </p:animEffect>
                                  </p:childTnLst>
                                </p:cTn>
                              </p:par>
                            </p:childTnLst>
                          </p:cTn>
                        </p:par>
                        <p:par>
                          <p:cTn id="78" fill="hold">
                            <p:stCondLst>
                              <p:cond delay="5000"/>
                            </p:stCondLst>
                            <p:childTnLst>
                              <p:par>
                                <p:cTn id="79" presetID="10" presetClass="entr" presetSubtype="0" fill="hold" grpId="0" nodeType="after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120"/>
                                        <p:tgtEl>
                                          <p:spTgt spid="3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200"/>
                                        <p:tgtEl>
                                          <p:spTgt spid="34"/>
                                        </p:tgtEl>
                                      </p:cBhvr>
                                    </p:animEffect>
                                  </p:childTnLst>
                                </p:cTn>
                              </p:par>
                            </p:childTnLst>
                          </p:cTn>
                        </p:par>
                        <p:par>
                          <p:cTn id="85" fill="hold">
                            <p:stCondLst>
                              <p:cond delay="5200"/>
                            </p:stCondLst>
                            <p:childTnLst>
                              <p:par>
                                <p:cTn id="86" presetID="22" presetClass="entr" presetSubtype="8" fill="hold" grpId="0" nodeType="after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wipe(left)">
                                      <p:cBhvr>
                                        <p:cTn id="88" dur="500"/>
                                        <p:tgtEl>
                                          <p:spTgt spid="3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200"/>
                                        <p:tgtEl>
                                          <p:spTgt spid="36"/>
                                        </p:tgtEl>
                                      </p:cBhvr>
                                    </p:animEffect>
                                  </p:childTnLst>
                                </p:cTn>
                              </p:par>
                            </p:childTnLst>
                          </p:cTn>
                        </p:par>
                        <p:par>
                          <p:cTn id="92" fill="hold">
                            <p:stCondLst>
                              <p:cond delay="5700"/>
                            </p:stCondLst>
                            <p:childTnLst>
                              <p:par>
                                <p:cTn id="93" presetID="10" presetClass="entr" presetSubtype="0" fill="hold" grpId="0" nodeType="after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120"/>
                                        <p:tgtEl>
                                          <p:spTgt spid="3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8"/>
                                        </p:tgtEl>
                                        <p:attrNameLst>
                                          <p:attrName>style.visibility</p:attrName>
                                        </p:attrNameLst>
                                      </p:cBhvr>
                                      <p:to>
                                        <p:strVal val="visible"/>
                                      </p:to>
                                    </p:set>
                                    <p:animEffect transition="in" filter="fade">
                                      <p:cBhvr>
                                        <p:cTn id="98" dur="200"/>
                                        <p:tgtEl>
                                          <p:spTgt spid="38"/>
                                        </p:tgtEl>
                                      </p:cBhvr>
                                    </p:animEffect>
                                  </p:childTnLst>
                                </p:cTn>
                              </p:par>
                            </p:childTnLst>
                          </p:cTn>
                        </p:par>
                        <p:par>
                          <p:cTn id="99" fill="hold">
                            <p:stCondLst>
                              <p:cond delay="5900"/>
                            </p:stCondLst>
                            <p:childTnLst>
                              <p:par>
                                <p:cTn id="100" presetID="22" presetClass="entr" presetSubtype="8" fill="hold" grpId="0" nodeType="afterEffect">
                                  <p:stCondLst>
                                    <p:cond delay="0"/>
                                  </p:stCondLst>
                                  <p:childTnLst>
                                    <p:set>
                                      <p:cBhvr>
                                        <p:cTn id="101" dur="1" fill="hold">
                                          <p:stCondLst>
                                            <p:cond delay="0"/>
                                          </p:stCondLst>
                                        </p:cTn>
                                        <p:tgtEl>
                                          <p:spTgt spid="39"/>
                                        </p:tgtEl>
                                        <p:attrNameLst>
                                          <p:attrName>style.visibility</p:attrName>
                                        </p:attrNameLst>
                                      </p:cBhvr>
                                      <p:to>
                                        <p:strVal val="visible"/>
                                      </p:to>
                                    </p:set>
                                    <p:animEffect transition="in" filter="wipe(left)">
                                      <p:cBhvr>
                                        <p:cTn id="102" dur="500"/>
                                        <p:tgtEl>
                                          <p:spTgt spid="39"/>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5" dur="200"/>
                                        <p:tgtEl>
                                          <p:spTgt spid="40"/>
                                        </p:tgtEl>
                                      </p:cBhvr>
                                    </p:animEffect>
                                  </p:childTnLst>
                                </p:cTn>
                              </p:par>
                            </p:childTnLst>
                          </p:cTn>
                        </p:par>
                        <p:par>
                          <p:cTn id="106" fill="hold">
                            <p:stCondLst>
                              <p:cond delay="6400"/>
                            </p:stCondLst>
                            <p:childTnLst>
                              <p:par>
                                <p:cTn id="107" presetID="10" presetClass="entr" presetSubtype="0" fill="hold" grpId="0" nodeType="afterEffect">
                                  <p:stCondLst>
                                    <p:cond delay="0"/>
                                  </p:stCondLst>
                                  <p:childTnLst>
                                    <p:set>
                                      <p:cBhvr>
                                        <p:cTn id="108" dur="1" fill="hold">
                                          <p:stCondLst>
                                            <p:cond delay="0"/>
                                          </p:stCondLst>
                                        </p:cTn>
                                        <p:tgtEl>
                                          <p:spTgt spid="41"/>
                                        </p:tgtEl>
                                        <p:attrNameLst>
                                          <p:attrName>style.visibility</p:attrName>
                                        </p:attrNameLst>
                                      </p:cBhvr>
                                      <p:to>
                                        <p:strVal val="visible"/>
                                      </p:to>
                                    </p:set>
                                    <p:animEffect transition="in" filter="fade">
                                      <p:cBhvr>
                                        <p:cTn id="109" dur="120"/>
                                        <p:tgtEl>
                                          <p:spTgt spid="41"/>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2"/>
                                        </p:tgtEl>
                                        <p:attrNameLst>
                                          <p:attrName>style.visibility</p:attrName>
                                        </p:attrNameLst>
                                      </p:cBhvr>
                                      <p:to>
                                        <p:strVal val="visible"/>
                                      </p:to>
                                    </p:set>
                                    <p:animEffect transition="in" filter="fade">
                                      <p:cBhvr>
                                        <p:cTn id="112" dur="200"/>
                                        <p:tgtEl>
                                          <p:spTgt spid="42"/>
                                        </p:tgtEl>
                                      </p:cBhvr>
                                    </p:animEffect>
                                  </p:childTnLst>
                                </p:cTn>
                              </p:par>
                            </p:childTnLst>
                          </p:cTn>
                        </p:par>
                        <p:par>
                          <p:cTn id="113" fill="hold">
                            <p:stCondLst>
                              <p:cond delay="6600"/>
                            </p:stCondLst>
                            <p:childTnLst>
                              <p:par>
                                <p:cTn id="114" presetID="22" presetClass="entr" presetSubtype="8" fill="hold" grpId="0" nodeType="afterEffect">
                                  <p:stCondLst>
                                    <p:cond delay="0"/>
                                  </p:stCondLst>
                                  <p:childTnLst>
                                    <p:set>
                                      <p:cBhvr>
                                        <p:cTn id="115" dur="1" fill="hold">
                                          <p:stCondLst>
                                            <p:cond delay="0"/>
                                          </p:stCondLst>
                                        </p:cTn>
                                        <p:tgtEl>
                                          <p:spTgt spid="43"/>
                                        </p:tgtEl>
                                        <p:attrNameLst>
                                          <p:attrName>style.visibility</p:attrName>
                                        </p:attrNameLst>
                                      </p:cBhvr>
                                      <p:to>
                                        <p:strVal val="visible"/>
                                      </p:to>
                                    </p:set>
                                    <p:animEffect transition="in" filter="wipe(left)">
                                      <p:cBhvr>
                                        <p:cTn id="116" dur="500"/>
                                        <p:tgtEl>
                                          <p:spTgt spid="43"/>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9" dur="200"/>
                                        <p:tgtEl>
                                          <p:spTgt spid="44"/>
                                        </p:tgtEl>
                                      </p:cBhvr>
                                    </p:animEffect>
                                  </p:childTnLst>
                                </p:cTn>
                              </p:par>
                            </p:childTnLst>
                          </p:cTn>
                        </p:par>
                        <p:par>
                          <p:cTn id="120" fill="hold">
                            <p:stCondLst>
                              <p:cond delay="7100"/>
                            </p:stCondLst>
                            <p:childTnLst>
                              <p:par>
                                <p:cTn id="121" presetID="10" presetClass="entr" presetSubtype="0" fill="hold" grpId="0" nodeType="after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120"/>
                                        <p:tgtEl>
                                          <p:spTgt spid="4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6"/>
                                        </p:tgtEl>
                                        <p:attrNameLst>
                                          <p:attrName>style.visibility</p:attrName>
                                        </p:attrNameLst>
                                      </p:cBhvr>
                                      <p:to>
                                        <p:strVal val="visible"/>
                                      </p:to>
                                    </p:set>
                                    <p:animEffect transition="in" filter="fade">
                                      <p:cBhvr>
                                        <p:cTn id="126" dur="200"/>
                                        <p:tgtEl>
                                          <p:spTgt spid="46"/>
                                        </p:tgtEl>
                                      </p:cBhvr>
                                    </p:animEffect>
                                  </p:childTnLst>
                                </p:cTn>
                              </p:par>
                            </p:childTnLst>
                          </p:cTn>
                        </p:par>
                        <p:par>
                          <p:cTn id="127" fill="hold">
                            <p:stCondLst>
                              <p:cond delay="7300"/>
                            </p:stCondLst>
                            <p:childTnLst>
                              <p:par>
                                <p:cTn id="128" presetID="22" presetClass="entr" presetSubtype="8" fill="hold" grpId="0" nodeType="after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wipe(left)">
                                      <p:cBhvr>
                                        <p:cTn id="130" dur="500"/>
                                        <p:tgtEl>
                                          <p:spTgt spid="47"/>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fade">
                                      <p:cBhvr>
                                        <p:cTn id="133" dur="200"/>
                                        <p:tgtEl>
                                          <p:spTgt spid="48"/>
                                        </p:tgtEl>
                                      </p:cBhvr>
                                    </p:animEffect>
                                  </p:childTnLst>
                                </p:cTn>
                              </p:par>
                            </p:childTnLst>
                          </p:cTn>
                        </p:par>
                        <p:par>
                          <p:cTn id="134" fill="hold">
                            <p:stCondLst>
                              <p:cond delay="7800"/>
                            </p:stCondLst>
                            <p:childTnLst>
                              <p:par>
                                <p:cTn id="135" presetID="10" presetClass="entr" presetSubtype="0" fill="hold" grpId="0" nodeType="afterEffect">
                                  <p:stCondLst>
                                    <p:cond delay="0"/>
                                  </p:stCondLst>
                                  <p:childTnLst>
                                    <p:set>
                                      <p:cBhvr>
                                        <p:cTn id="136" dur="1" fill="hold">
                                          <p:stCondLst>
                                            <p:cond delay="0"/>
                                          </p:stCondLst>
                                        </p:cTn>
                                        <p:tgtEl>
                                          <p:spTgt spid="49"/>
                                        </p:tgtEl>
                                        <p:attrNameLst>
                                          <p:attrName>style.visibility</p:attrName>
                                        </p:attrNameLst>
                                      </p:cBhvr>
                                      <p:to>
                                        <p:strVal val="visible"/>
                                      </p:to>
                                    </p:set>
                                    <p:animEffect transition="in" filter="fade">
                                      <p:cBhvr>
                                        <p:cTn id="137" dur="120"/>
                                        <p:tgtEl>
                                          <p:spTgt spid="49"/>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0"/>
                                        </p:tgtEl>
                                        <p:attrNameLst>
                                          <p:attrName>style.visibility</p:attrName>
                                        </p:attrNameLst>
                                      </p:cBhvr>
                                      <p:to>
                                        <p:strVal val="visible"/>
                                      </p:to>
                                    </p:set>
                                    <p:animEffect transition="in" filter="fade">
                                      <p:cBhvr>
                                        <p:cTn id="140" dur="200"/>
                                        <p:tgtEl>
                                          <p:spTgt spid="50"/>
                                        </p:tgtEl>
                                      </p:cBhvr>
                                    </p:animEffect>
                                  </p:childTnLst>
                                </p:cTn>
                              </p:par>
                            </p:childTnLst>
                          </p:cTn>
                        </p:par>
                        <p:par>
                          <p:cTn id="141" fill="hold">
                            <p:stCondLst>
                              <p:cond delay="8000"/>
                            </p:stCondLst>
                            <p:childTnLst>
                              <p:par>
                                <p:cTn id="142" presetID="22" presetClass="entr" presetSubtype="8" fill="hold" grpId="0" nodeType="afterEffect">
                                  <p:stCondLst>
                                    <p:cond delay="0"/>
                                  </p:stCondLst>
                                  <p:childTnLst>
                                    <p:set>
                                      <p:cBhvr>
                                        <p:cTn id="143" dur="1" fill="hold">
                                          <p:stCondLst>
                                            <p:cond delay="0"/>
                                          </p:stCondLst>
                                        </p:cTn>
                                        <p:tgtEl>
                                          <p:spTgt spid="51"/>
                                        </p:tgtEl>
                                        <p:attrNameLst>
                                          <p:attrName>style.visibility</p:attrName>
                                        </p:attrNameLst>
                                      </p:cBhvr>
                                      <p:to>
                                        <p:strVal val="visible"/>
                                      </p:to>
                                    </p:set>
                                    <p:animEffect transition="in" filter="wipe(left)">
                                      <p:cBhvr>
                                        <p:cTn id="144" dur="500"/>
                                        <p:tgtEl>
                                          <p:spTgt spid="51"/>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2"/>
                                        </p:tgtEl>
                                        <p:attrNameLst>
                                          <p:attrName>style.visibility</p:attrName>
                                        </p:attrNameLst>
                                      </p:cBhvr>
                                      <p:to>
                                        <p:strVal val="visible"/>
                                      </p:to>
                                    </p:set>
                                    <p:animEffect transition="in" filter="fade">
                                      <p:cBhvr>
                                        <p:cTn id="147" dur="200"/>
                                        <p:tgtEl>
                                          <p:spTgt spid="52"/>
                                        </p:tgtEl>
                                      </p:cBhvr>
                                    </p:animEffect>
                                  </p:childTnLst>
                                </p:cTn>
                              </p:par>
                            </p:childTnLst>
                          </p:cTn>
                        </p:par>
                        <p:par>
                          <p:cTn id="148" fill="hold">
                            <p:stCondLst>
                              <p:cond delay="8500"/>
                            </p:stCondLst>
                            <p:childTnLst>
                              <p:par>
                                <p:cTn id="149" presetID="10" presetClass="entr" presetSubtype="0" fill="hold" grpId="0" nodeType="afterEffect">
                                  <p:stCondLst>
                                    <p:cond delay="0"/>
                                  </p:stCondLst>
                                  <p:childTnLst>
                                    <p:set>
                                      <p:cBhvr>
                                        <p:cTn id="150" dur="1" fill="hold">
                                          <p:stCondLst>
                                            <p:cond delay="0"/>
                                          </p:stCondLst>
                                        </p:cTn>
                                        <p:tgtEl>
                                          <p:spTgt spid="53"/>
                                        </p:tgtEl>
                                        <p:attrNameLst>
                                          <p:attrName>style.visibility</p:attrName>
                                        </p:attrNameLst>
                                      </p:cBhvr>
                                      <p:to>
                                        <p:strVal val="visible"/>
                                      </p:to>
                                    </p:set>
                                    <p:animEffect transition="in" filter="fade">
                                      <p:cBhvr>
                                        <p:cTn id="151" dur="200"/>
                                        <p:tgtEl>
                                          <p:spTgt spid="53"/>
                                        </p:tgtEl>
                                      </p:cBhvr>
                                    </p:animEffect>
                                  </p:childTnLst>
                                </p:cTn>
                              </p:par>
                            </p:childTnLst>
                          </p:cTn>
                        </p:par>
                        <p:par>
                          <p:cTn id="152" fill="hold">
                            <p:stCondLst>
                              <p:cond delay="8700"/>
                            </p:stCondLst>
                            <p:childTnLst>
                              <p:par>
                                <p:cTn id="153" presetID="10" presetClass="entr" presetSubtype="0" fill="hold" grpId="0" nodeType="afterEffect">
                                  <p:stCondLst>
                                    <p:cond delay="0"/>
                                  </p:stCondLst>
                                  <p:childTnLst>
                                    <p:set>
                                      <p:cBhvr>
                                        <p:cTn id="154" dur="1" fill="hold">
                                          <p:stCondLst>
                                            <p:cond delay="0"/>
                                          </p:stCondLst>
                                        </p:cTn>
                                        <p:tgtEl>
                                          <p:spTgt spid="54"/>
                                        </p:tgtEl>
                                        <p:attrNameLst>
                                          <p:attrName>style.visibility</p:attrName>
                                        </p:attrNameLst>
                                      </p:cBhvr>
                                      <p:to>
                                        <p:strVal val="visible"/>
                                      </p:to>
                                    </p:set>
                                    <p:animEffect transition="in" filter="fade">
                                      <p:cBhvr>
                                        <p:cTn id="155" dur="300"/>
                                        <p:tgtEl>
                                          <p:spTgt spid="54"/>
                                        </p:tgtEl>
                                      </p:cBhvr>
                                    </p:animEffect>
                                  </p:childTnLst>
                                </p:cTn>
                              </p:par>
                            </p:childTnLst>
                          </p:cTn>
                        </p:par>
                        <p:par>
                          <p:cTn id="156" fill="hold">
                            <p:stCondLst>
                              <p:cond delay="9000"/>
                            </p:stCondLst>
                            <p:childTnLst>
                              <p:par>
                                <p:cTn id="157" presetID="2" presetClass="entr" presetSubtype="2" fill="hold" nodeType="afterEffect">
                                  <p:stCondLst>
                                    <p:cond delay="0"/>
                                  </p:stCondLst>
                                  <p:childTnLst>
                                    <p:set>
                                      <p:cBhvr>
                                        <p:cTn id="158" dur="1" fill="hold">
                                          <p:stCondLst>
                                            <p:cond delay="0"/>
                                          </p:stCondLst>
                                        </p:cTn>
                                        <p:tgtEl>
                                          <p:spTgt spid="60"/>
                                        </p:tgtEl>
                                        <p:attrNameLst>
                                          <p:attrName>style.visibility</p:attrName>
                                        </p:attrNameLst>
                                      </p:cBhvr>
                                      <p:to>
                                        <p:strVal val="visible"/>
                                      </p:to>
                                    </p:set>
                                    <p:anim calcmode="lin" valueType="num">
                                      <p:cBhvr additive="base">
                                        <p:cTn id="159" dur="500" fill="hold"/>
                                        <p:tgtEl>
                                          <p:spTgt spid="60"/>
                                        </p:tgtEl>
                                        <p:attrNameLst>
                                          <p:attrName>ppt_x</p:attrName>
                                        </p:attrNameLst>
                                      </p:cBhvr>
                                      <p:tavLst>
                                        <p:tav tm="0">
                                          <p:val>
                                            <p:strVal val="1+#ppt_w/2"/>
                                          </p:val>
                                        </p:tav>
                                        <p:tav tm="100000">
                                          <p:val>
                                            <p:strVal val="#ppt_x"/>
                                          </p:val>
                                        </p:tav>
                                      </p:tavLst>
                                    </p:anim>
                                    <p:anim calcmode="lin" valueType="num">
                                      <p:cBhvr additive="base">
                                        <p:cTn id="160" dur="500" fill="hold"/>
                                        <p:tgtEl>
                                          <p:spTgt spid="60"/>
                                        </p:tgtEl>
                                        <p:attrNameLst>
                                          <p:attrName>ppt_y</p:attrName>
                                        </p:attrNameLst>
                                      </p:cBhvr>
                                      <p:tavLst>
                                        <p:tav tm="0">
                                          <p:val>
                                            <p:strVal val="#ppt_y"/>
                                          </p:val>
                                        </p:tav>
                                        <p:tav tm="100000">
                                          <p:val>
                                            <p:strVal val="#ppt_y"/>
                                          </p:val>
                                        </p:tav>
                                      </p:tavLst>
                                    </p:anim>
                                  </p:childTnLst>
                                </p:cTn>
                              </p:par>
                            </p:childTnLst>
                          </p:cTn>
                        </p:par>
                        <p:par>
                          <p:cTn id="161" fill="hold">
                            <p:stCondLst>
                              <p:cond delay="9500"/>
                            </p:stCondLst>
                            <p:childTnLst>
                              <p:par>
                                <p:cTn id="162" presetID="2" presetClass="entr" presetSubtype="2" fill="hold" nodeType="afterEffect">
                                  <p:stCondLst>
                                    <p:cond delay="0"/>
                                  </p:stCondLst>
                                  <p:childTnLst>
                                    <p:set>
                                      <p:cBhvr>
                                        <p:cTn id="163" dur="1" fill="hold">
                                          <p:stCondLst>
                                            <p:cond delay="0"/>
                                          </p:stCondLst>
                                        </p:cTn>
                                        <p:tgtEl>
                                          <p:spTgt spid="66"/>
                                        </p:tgtEl>
                                        <p:attrNameLst>
                                          <p:attrName>style.visibility</p:attrName>
                                        </p:attrNameLst>
                                      </p:cBhvr>
                                      <p:to>
                                        <p:strVal val="visible"/>
                                      </p:to>
                                    </p:set>
                                    <p:anim calcmode="lin" valueType="num">
                                      <p:cBhvr additive="base">
                                        <p:cTn id="164" dur="500" fill="hold"/>
                                        <p:tgtEl>
                                          <p:spTgt spid="66"/>
                                        </p:tgtEl>
                                        <p:attrNameLst>
                                          <p:attrName>ppt_x</p:attrName>
                                        </p:attrNameLst>
                                      </p:cBhvr>
                                      <p:tavLst>
                                        <p:tav tm="0">
                                          <p:val>
                                            <p:strVal val="1+#ppt_w/2"/>
                                          </p:val>
                                        </p:tav>
                                        <p:tav tm="100000">
                                          <p:val>
                                            <p:strVal val="#ppt_x"/>
                                          </p:val>
                                        </p:tav>
                                      </p:tavLst>
                                    </p:anim>
                                    <p:anim calcmode="lin" valueType="num">
                                      <p:cBhvr additive="base">
                                        <p:cTn id="165" dur="500" fill="hold"/>
                                        <p:tgtEl>
                                          <p:spTgt spid="66"/>
                                        </p:tgtEl>
                                        <p:attrNameLst>
                                          <p:attrName>ppt_y</p:attrName>
                                        </p:attrNameLst>
                                      </p:cBhvr>
                                      <p:tavLst>
                                        <p:tav tm="0">
                                          <p:val>
                                            <p:strVal val="#ppt_y"/>
                                          </p:val>
                                        </p:tav>
                                        <p:tav tm="100000">
                                          <p:val>
                                            <p:strVal val="#ppt_y"/>
                                          </p:val>
                                        </p:tav>
                                      </p:tavLst>
                                    </p:anim>
                                  </p:childTnLst>
                                </p:cTn>
                              </p:par>
                            </p:childTnLst>
                          </p:cTn>
                        </p:par>
                        <p:par>
                          <p:cTn id="166" fill="hold">
                            <p:stCondLst>
                              <p:cond delay="10000"/>
                            </p:stCondLst>
                            <p:childTnLst>
                              <p:par>
                                <p:cTn id="167" presetID="2" presetClass="entr" presetSubtype="2" fill="hold" nodeType="afterEffect">
                                  <p:stCondLst>
                                    <p:cond delay="0"/>
                                  </p:stCondLst>
                                  <p:childTnLst>
                                    <p:set>
                                      <p:cBhvr>
                                        <p:cTn id="168" dur="1" fill="hold">
                                          <p:stCondLst>
                                            <p:cond delay="0"/>
                                          </p:stCondLst>
                                        </p:cTn>
                                        <p:tgtEl>
                                          <p:spTgt spid="72"/>
                                        </p:tgtEl>
                                        <p:attrNameLst>
                                          <p:attrName>style.visibility</p:attrName>
                                        </p:attrNameLst>
                                      </p:cBhvr>
                                      <p:to>
                                        <p:strVal val="visible"/>
                                      </p:to>
                                    </p:set>
                                    <p:anim calcmode="lin" valueType="num">
                                      <p:cBhvr additive="base">
                                        <p:cTn id="169" dur="500" fill="hold"/>
                                        <p:tgtEl>
                                          <p:spTgt spid="72"/>
                                        </p:tgtEl>
                                        <p:attrNameLst>
                                          <p:attrName>ppt_x</p:attrName>
                                        </p:attrNameLst>
                                      </p:cBhvr>
                                      <p:tavLst>
                                        <p:tav tm="0">
                                          <p:val>
                                            <p:strVal val="1+#ppt_w/2"/>
                                          </p:val>
                                        </p:tav>
                                        <p:tav tm="100000">
                                          <p:val>
                                            <p:strVal val="#ppt_x"/>
                                          </p:val>
                                        </p:tav>
                                      </p:tavLst>
                                    </p:anim>
                                    <p:anim calcmode="lin" valueType="num">
                                      <p:cBhvr additive="base">
                                        <p:cTn id="170" dur="500" fill="hold"/>
                                        <p:tgtEl>
                                          <p:spTgt spid="72"/>
                                        </p:tgtEl>
                                        <p:attrNameLst>
                                          <p:attrName>ppt_y</p:attrName>
                                        </p:attrNameLst>
                                      </p:cBhvr>
                                      <p:tavLst>
                                        <p:tav tm="0">
                                          <p:val>
                                            <p:strVal val="#ppt_y"/>
                                          </p:val>
                                        </p:tav>
                                        <p:tav tm="100000">
                                          <p:val>
                                            <p:strVal val="#ppt_y"/>
                                          </p:val>
                                        </p:tav>
                                      </p:tavLst>
                                    </p:anim>
                                  </p:childTnLst>
                                </p:cTn>
                              </p:par>
                            </p:childTnLst>
                          </p:cTn>
                        </p:par>
                        <p:par>
                          <p:cTn id="171" fill="hold">
                            <p:stCondLst>
                              <p:cond delay="10500"/>
                            </p:stCondLst>
                            <p:childTnLst>
                              <p:par>
                                <p:cTn id="172" presetID="2" presetClass="entr" presetSubtype="2" fill="hold" nodeType="afterEffect">
                                  <p:stCondLst>
                                    <p:cond delay="0"/>
                                  </p:stCondLst>
                                  <p:childTnLst>
                                    <p:set>
                                      <p:cBhvr>
                                        <p:cTn id="173" dur="1" fill="hold">
                                          <p:stCondLst>
                                            <p:cond delay="0"/>
                                          </p:stCondLst>
                                        </p:cTn>
                                        <p:tgtEl>
                                          <p:spTgt spid="78"/>
                                        </p:tgtEl>
                                        <p:attrNameLst>
                                          <p:attrName>style.visibility</p:attrName>
                                        </p:attrNameLst>
                                      </p:cBhvr>
                                      <p:to>
                                        <p:strVal val="visible"/>
                                      </p:to>
                                    </p:set>
                                    <p:anim calcmode="lin" valueType="num">
                                      <p:cBhvr additive="base">
                                        <p:cTn id="174" dur="500" fill="hold"/>
                                        <p:tgtEl>
                                          <p:spTgt spid="78"/>
                                        </p:tgtEl>
                                        <p:attrNameLst>
                                          <p:attrName>ppt_x</p:attrName>
                                        </p:attrNameLst>
                                      </p:cBhvr>
                                      <p:tavLst>
                                        <p:tav tm="0">
                                          <p:val>
                                            <p:strVal val="1+#ppt_w/2"/>
                                          </p:val>
                                        </p:tav>
                                        <p:tav tm="100000">
                                          <p:val>
                                            <p:strVal val="#ppt_x"/>
                                          </p:val>
                                        </p:tav>
                                      </p:tavLst>
                                    </p:anim>
                                    <p:anim calcmode="lin" valueType="num">
                                      <p:cBhvr additive="base">
                                        <p:cTn id="175" dur="500" fill="hold"/>
                                        <p:tgtEl>
                                          <p:spTgt spid="78"/>
                                        </p:tgtEl>
                                        <p:attrNameLst>
                                          <p:attrName>ppt_y</p:attrName>
                                        </p:attrNameLst>
                                      </p:cBhvr>
                                      <p:tavLst>
                                        <p:tav tm="0">
                                          <p:val>
                                            <p:strVal val="#ppt_y"/>
                                          </p:val>
                                        </p:tav>
                                        <p:tav tm="100000">
                                          <p:val>
                                            <p:strVal val="#ppt_y"/>
                                          </p:val>
                                        </p:tav>
                                      </p:tavLst>
                                    </p:anim>
                                  </p:childTnLst>
                                </p:cTn>
                              </p:par>
                            </p:childTnLst>
                          </p:cTn>
                        </p:par>
                        <p:par>
                          <p:cTn id="176" fill="hold">
                            <p:stCondLst>
                              <p:cond delay="11000"/>
                            </p:stCondLst>
                            <p:childTnLst>
                              <p:par>
                                <p:cTn id="177" presetID="2" presetClass="entr" presetSubtype="2" fill="hold" nodeType="afterEffect">
                                  <p:stCondLst>
                                    <p:cond delay="0"/>
                                  </p:stCondLst>
                                  <p:childTnLst>
                                    <p:set>
                                      <p:cBhvr>
                                        <p:cTn id="178" dur="1" fill="hold">
                                          <p:stCondLst>
                                            <p:cond delay="0"/>
                                          </p:stCondLst>
                                        </p:cTn>
                                        <p:tgtEl>
                                          <p:spTgt spid="84"/>
                                        </p:tgtEl>
                                        <p:attrNameLst>
                                          <p:attrName>style.visibility</p:attrName>
                                        </p:attrNameLst>
                                      </p:cBhvr>
                                      <p:to>
                                        <p:strVal val="visible"/>
                                      </p:to>
                                    </p:set>
                                    <p:anim calcmode="lin" valueType="num">
                                      <p:cBhvr additive="base">
                                        <p:cTn id="179" dur="500" fill="hold"/>
                                        <p:tgtEl>
                                          <p:spTgt spid="84"/>
                                        </p:tgtEl>
                                        <p:attrNameLst>
                                          <p:attrName>ppt_x</p:attrName>
                                        </p:attrNameLst>
                                      </p:cBhvr>
                                      <p:tavLst>
                                        <p:tav tm="0">
                                          <p:val>
                                            <p:strVal val="1+#ppt_w/2"/>
                                          </p:val>
                                        </p:tav>
                                        <p:tav tm="100000">
                                          <p:val>
                                            <p:strVal val="#ppt_x"/>
                                          </p:val>
                                        </p:tav>
                                      </p:tavLst>
                                    </p:anim>
                                    <p:anim calcmode="lin" valueType="num">
                                      <p:cBhvr additive="base">
                                        <p:cTn id="180" dur="500" fill="hold"/>
                                        <p:tgtEl>
                                          <p:spTgt spid="84"/>
                                        </p:tgtEl>
                                        <p:attrNameLst>
                                          <p:attrName>ppt_y</p:attrName>
                                        </p:attrNameLst>
                                      </p:cBhvr>
                                      <p:tavLst>
                                        <p:tav tm="0">
                                          <p:val>
                                            <p:strVal val="#ppt_y"/>
                                          </p:val>
                                        </p:tav>
                                        <p:tav tm="100000">
                                          <p:val>
                                            <p:strVal val="#ppt_y"/>
                                          </p:val>
                                        </p:tav>
                                      </p:tavLst>
                                    </p:anim>
                                  </p:childTnLst>
                                </p:cTn>
                              </p:par>
                            </p:childTnLst>
                          </p:cTn>
                        </p:par>
                        <p:par>
                          <p:cTn id="181" fill="hold">
                            <p:stCondLst>
                              <p:cond delay="11500"/>
                            </p:stCondLst>
                            <p:childTnLst>
                              <p:par>
                                <p:cTn id="182" presetID="2" presetClass="entr" presetSubtype="2" fill="hold" nodeType="afterEffect">
                                  <p:stCondLst>
                                    <p:cond delay="0"/>
                                  </p:stCondLst>
                                  <p:childTnLst>
                                    <p:set>
                                      <p:cBhvr>
                                        <p:cTn id="183" dur="1" fill="hold">
                                          <p:stCondLst>
                                            <p:cond delay="0"/>
                                          </p:stCondLst>
                                        </p:cTn>
                                        <p:tgtEl>
                                          <p:spTgt spid="90"/>
                                        </p:tgtEl>
                                        <p:attrNameLst>
                                          <p:attrName>style.visibility</p:attrName>
                                        </p:attrNameLst>
                                      </p:cBhvr>
                                      <p:to>
                                        <p:strVal val="visible"/>
                                      </p:to>
                                    </p:set>
                                    <p:anim calcmode="lin" valueType="num">
                                      <p:cBhvr additive="base">
                                        <p:cTn id="184" dur="500" fill="hold"/>
                                        <p:tgtEl>
                                          <p:spTgt spid="90"/>
                                        </p:tgtEl>
                                        <p:attrNameLst>
                                          <p:attrName>ppt_x</p:attrName>
                                        </p:attrNameLst>
                                      </p:cBhvr>
                                      <p:tavLst>
                                        <p:tav tm="0">
                                          <p:val>
                                            <p:strVal val="1+#ppt_w/2"/>
                                          </p:val>
                                        </p:tav>
                                        <p:tav tm="100000">
                                          <p:val>
                                            <p:strVal val="#ppt_x"/>
                                          </p:val>
                                        </p:tav>
                                      </p:tavLst>
                                    </p:anim>
                                    <p:anim calcmode="lin" valueType="num">
                                      <p:cBhvr additive="base">
                                        <p:cTn id="185" dur="500" fill="hold"/>
                                        <p:tgtEl>
                                          <p:spTgt spid="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6" grpId="0"/>
      <p:bldP spid="17" grpId="0"/>
      <p:bldP spid="18" grpId="0" animBg="1"/>
      <p:bldP spid="19" grpId="0" animBg="1"/>
      <p:bldP spid="20" grpId="0"/>
      <p:bldP spid="21" grpId="0"/>
      <p:bldP spid="22" grpId="0" animBg="1"/>
      <p:bldP spid="23" grpId="0" animBg="1"/>
      <p:bldP spid="24" grpId="0"/>
      <p:bldP spid="25" grpId="0"/>
      <p:bldP spid="26" grpId="0" animBg="1"/>
      <p:bldP spid="27" grpId="0" animBg="1"/>
      <p:bldP spid="28" grpId="0"/>
      <p:bldP spid="29" grpId="0"/>
      <p:bldP spid="30" grpId="0" animBg="1"/>
      <p:bldP spid="31" grpId="0" animBg="1"/>
      <p:bldP spid="32" grpId="0"/>
      <p:bldP spid="33" grpId="0"/>
      <p:bldP spid="34" grpId="0" animBg="1"/>
      <p:bldP spid="35" grpId="0" animBg="1"/>
      <p:bldP spid="36" grpId="0"/>
      <p:bldP spid="37" grpId="0"/>
      <p:bldP spid="38" grpId="0" animBg="1"/>
      <p:bldP spid="39" grpId="0" animBg="1"/>
      <p:bldP spid="40" grpId="0"/>
      <p:bldP spid="41" grpId="0"/>
      <p:bldP spid="42" grpId="0" animBg="1"/>
      <p:bldP spid="43" grpId="0" animBg="1"/>
      <p:bldP spid="44" grpId="0"/>
      <p:bldP spid="45" grpId="0"/>
      <p:bldP spid="46" grpId="0" animBg="1"/>
      <p:bldP spid="47" grpId="0" animBg="1"/>
      <p:bldP spid="48" grpId="0"/>
      <p:bldP spid="49" grpId="0"/>
      <p:bldP spid="50" grpId="0" animBg="1"/>
      <p:bldP spid="51" grpId="0" animBg="1"/>
      <p:bldP spid="52" grpId="0"/>
      <p:bldP spid="53" grpId="0"/>
      <p:bldP spid="5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32325"/>
        </a:solidFill>
        <a:effectLst/>
      </p:bgPr>
    </p:bg>
    <p:spTree>
      <p:nvGrpSpPr>
        <p:cNvPr id="1" name=""/>
        <p:cNvGrpSpPr/>
        <p:nvPr/>
      </p:nvGrpSpPr>
      <p:grpSpPr>
        <a:xfrm>
          <a:off x="0" y="0"/>
          <a:ext cx="0" cy="0"/>
          <a:chOff x="0" y="0"/>
          <a:chExt cx="0" cy="0"/>
        </a:xfrm>
      </p:grpSpPr>
      <p:sp>
        <p:nvSpPr>
          <p:cNvPr id="2" name="!!seg8"/>
          <p:cNvSpPr/>
          <p:nvPr/>
        </p:nvSpPr>
        <p:spPr>
          <a:xfrm>
            <a:off x="16971264" y="566928"/>
            <a:ext cx="310896" cy="118872"/>
          </a:xfrm>
          <a:prstGeom prst="roundRect">
            <a:avLst>
              <a:gd name="adj" fmla="val 50000"/>
            </a:avLst>
          </a:prstGeom>
          <a:solidFill>
            <a:srgbClr val="3030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seg7"/>
          <p:cNvSpPr/>
          <p:nvPr/>
        </p:nvSpPr>
        <p:spPr>
          <a:xfrm>
            <a:off x="15782543" y="566928"/>
            <a:ext cx="1097280" cy="118872"/>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seg6"/>
          <p:cNvSpPr/>
          <p:nvPr/>
        </p:nvSpPr>
        <p:spPr>
          <a:xfrm>
            <a:off x="1538020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seg5"/>
          <p:cNvSpPr/>
          <p:nvPr/>
        </p:nvSpPr>
        <p:spPr>
          <a:xfrm>
            <a:off x="14977871"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seg4"/>
          <p:cNvSpPr/>
          <p:nvPr/>
        </p:nvSpPr>
        <p:spPr>
          <a:xfrm>
            <a:off x="14575535"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eg3"/>
          <p:cNvSpPr/>
          <p:nvPr/>
        </p:nvSpPr>
        <p:spPr>
          <a:xfrm>
            <a:off x="14173199"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eg2"/>
          <p:cNvSpPr/>
          <p:nvPr/>
        </p:nvSpPr>
        <p:spPr>
          <a:xfrm>
            <a:off x="13770863"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seg1"/>
          <p:cNvSpPr/>
          <p:nvPr/>
        </p:nvSpPr>
        <p:spPr>
          <a:xfrm>
            <a:off x="1336852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egno"/>
          <p:cNvSpPr txBox="1"/>
          <p:nvPr/>
        </p:nvSpPr>
        <p:spPr>
          <a:xfrm>
            <a:off x="10808207" y="429768"/>
            <a:ext cx="2423160" cy="384048"/>
          </a:xfrm>
          <a:prstGeom prst="rect">
            <a:avLst/>
          </a:prstGeom>
          <a:noFill/>
        </p:spPr>
        <p:txBody>
          <a:bodyPr wrap="square" lIns="45720" rIns="45720" anchor="t"/>
          <a:lstStyle/>
          <a:p>
            <a:pPr algn="r">
              <a:lnSpc>
                <a:spcPct val="100000"/>
              </a:lnSpc>
            </a:pPr>
            <a:r>
              <a:rPr sz="1500" b="0" i="0">
                <a:solidFill>
                  <a:srgbClr val="8E8E93"/>
                </a:solidFill>
                <a:latin typeface="Oswald"/>
              </a:rPr>
              <a:t>07 / 08</a:t>
            </a:r>
          </a:p>
        </p:txBody>
      </p:sp>
      <p:sp>
        <p:nvSpPr>
          <p:cNvPr id="11" name="Kicker 271"/>
          <p:cNvSpPr txBox="1"/>
          <p:nvPr/>
        </p:nvSpPr>
        <p:spPr>
          <a:xfrm>
            <a:off x="1005840" y="457200"/>
            <a:ext cx="8229600" cy="411480"/>
          </a:xfrm>
          <a:prstGeom prst="rect">
            <a:avLst/>
          </a:prstGeom>
          <a:noFill/>
        </p:spPr>
        <p:txBody>
          <a:bodyPr wrap="square" lIns="45720" rIns="45720" anchor="t"/>
          <a:lstStyle/>
          <a:p>
            <a:pPr algn="l">
              <a:lnSpc>
                <a:spcPct val="100000"/>
              </a:lnSpc>
            </a:pPr>
            <a:r>
              <a:rPr sz="1600" b="1" i="0">
                <a:solidFill>
                  <a:srgbClr val="C1FF72"/>
                </a:solidFill>
                <a:latin typeface="Titillium Web"/>
              </a:rPr>
              <a:t>07  ·  RESULTS  ·  4 OF 4</a:t>
            </a:r>
          </a:p>
        </p:txBody>
      </p:sp>
      <p:sp>
        <p:nvSpPr>
          <p:cNvPr id="12" name="Title 272"/>
          <p:cNvSpPr txBox="1"/>
          <p:nvPr/>
        </p:nvSpPr>
        <p:spPr>
          <a:xfrm>
            <a:off x="1005840" y="841248"/>
            <a:ext cx="12801600" cy="1051560"/>
          </a:xfrm>
          <a:prstGeom prst="rect">
            <a:avLst/>
          </a:prstGeom>
          <a:noFill/>
        </p:spPr>
        <p:txBody>
          <a:bodyPr wrap="square" lIns="45720" rIns="45720" anchor="t"/>
          <a:lstStyle/>
          <a:p>
            <a:pPr algn="l">
              <a:lnSpc>
                <a:spcPct val="100000"/>
              </a:lnSpc>
            </a:pPr>
            <a:r>
              <a:rPr sz="5400" b="0" i="0">
                <a:solidFill>
                  <a:srgbClr val="EDEDED"/>
                </a:solidFill>
                <a:latin typeface="Oswald"/>
              </a:rPr>
              <a:t>EXPLANATIONS &amp; OBJECTIVES</a:t>
            </a:r>
          </a:p>
        </p:txBody>
      </p:sp>
      <p:sp>
        <p:nvSpPr>
          <p:cNvPr id="13" name="Subtitle 273"/>
          <p:cNvSpPr txBox="1"/>
          <p:nvPr/>
        </p:nvSpPr>
        <p:spPr>
          <a:xfrm>
            <a:off x="1005840" y="1828800"/>
            <a:ext cx="12801600" cy="502920"/>
          </a:xfrm>
          <a:prstGeom prst="rect">
            <a:avLst/>
          </a:prstGeom>
          <a:noFill/>
        </p:spPr>
        <p:txBody>
          <a:bodyPr wrap="square" lIns="45720" rIns="45720" anchor="t"/>
          <a:lstStyle/>
          <a:p>
            <a:pPr algn="l">
              <a:lnSpc>
                <a:spcPct val="100000"/>
              </a:lnSpc>
            </a:pPr>
            <a:r>
              <a:rPr sz="2100" b="0" i="0">
                <a:solidFill>
                  <a:srgbClr val="8E8E93"/>
                </a:solidFill>
                <a:latin typeface="Titillium Web"/>
              </a:rPr>
              <a:t>Explanation quality and every objective against its target</a:t>
            </a:r>
          </a:p>
        </p:txBody>
      </p:sp>
      <p:sp>
        <p:nvSpPr>
          <p:cNvPr id="14" name="Source"/>
          <p:cNvSpPr txBox="1"/>
          <p:nvPr/>
        </p:nvSpPr>
        <p:spPr>
          <a:xfrm>
            <a:off x="1005840" y="9710928"/>
            <a:ext cx="14447520" cy="347472"/>
          </a:xfrm>
          <a:prstGeom prst="rect">
            <a:avLst/>
          </a:prstGeom>
          <a:noFill/>
        </p:spPr>
        <p:txBody>
          <a:bodyPr wrap="square" lIns="45720" rIns="45720" anchor="t"/>
          <a:lstStyle/>
          <a:p>
            <a:pPr algn="l">
              <a:lnSpc>
                <a:spcPct val="100000"/>
              </a:lnSpc>
            </a:pPr>
            <a:r>
              <a:rPr sz="1300" b="0" i="0">
                <a:solidFill>
                  <a:srgbClr val="5C5C61"/>
                </a:solidFill>
                <a:latin typeface="Titillium Web"/>
              </a:rPr>
              <a:t>Thesis Tables 4.6 and 4.8; Figure 4.3 (historical interface)</a:t>
            </a:r>
          </a:p>
        </p:txBody>
      </p:sp>
      <p:sp>
        <p:nvSpPr>
          <p:cNvPr id="15" name="Page"/>
          <p:cNvSpPr txBox="1"/>
          <p:nvPr/>
        </p:nvSpPr>
        <p:spPr>
          <a:xfrm>
            <a:off x="15453359" y="9710928"/>
            <a:ext cx="1828800" cy="347472"/>
          </a:xfrm>
          <a:prstGeom prst="rect">
            <a:avLst/>
          </a:prstGeom>
          <a:noFill/>
        </p:spPr>
        <p:txBody>
          <a:bodyPr wrap="square" lIns="45720" rIns="45720" anchor="t"/>
          <a:lstStyle/>
          <a:p>
            <a:pPr algn="r">
              <a:lnSpc>
                <a:spcPct val="100000"/>
              </a:lnSpc>
            </a:pPr>
            <a:r>
              <a:rPr sz="1300" b="0" i="0">
                <a:solidFill>
                  <a:srgbClr val="5C5C61"/>
                </a:solidFill>
                <a:latin typeface="Oswald"/>
              </a:rPr>
              <a:t>17</a:t>
            </a:r>
          </a:p>
        </p:txBody>
      </p:sp>
      <p:sp>
        <p:nvSpPr>
          <p:cNvPr id="16" name="Exp label 274"/>
          <p:cNvSpPr txBox="1"/>
          <p:nvPr/>
        </p:nvSpPr>
        <p:spPr>
          <a:xfrm>
            <a:off x="1005840" y="2560320"/>
            <a:ext cx="7315200" cy="411480"/>
          </a:xfrm>
          <a:prstGeom prst="rect">
            <a:avLst/>
          </a:prstGeom>
          <a:noFill/>
        </p:spPr>
        <p:txBody>
          <a:bodyPr wrap="square" lIns="45720" rIns="45720" anchor="t"/>
          <a:lstStyle/>
          <a:p>
            <a:pPr algn="l">
              <a:lnSpc>
                <a:spcPct val="100000"/>
              </a:lnSpc>
            </a:pPr>
            <a:r>
              <a:rPr sz="1500" b="1" i="0">
                <a:solidFill>
                  <a:srgbClr val="C1FF72"/>
                </a:solidFill>
                <a:latin typeface="Titillium Web"/>
              </a:rPr>
              <a:t>AI-WRITTEN EXPLANATIONS · MANUAL 1–10 RATINGS</a:t>
            </a:r>
          </a:p>
        </p:txBody>
      </p:sp>
      <p:sp>
        <p:nvSpPr>
          <p:cNvPr id="17" name="Exp name 275"/>
          <p:cNvSpPr txBox="1"/>
          <p:nvPr/>
        </p:nvSpPr>
        <p:spPr>
          <a:xfrm>
            <a:off x="1005840" y="3108960"/>
            <a:ext cx="3657600" cy="868680"/>
          </a:xfrm>
          <a:prstGeom prst="rect">
            <a:avLst/>
          </a:prstGeom>
          <a:noFill/>
        </p:spPr>
        <p:txBody>
          <a:bodyPr wrap="square" lIns="45720" rIns="45720" anchor="t"/>
          <a:lstStyle/>
          <a:p>
            <a:pPr algn="l">
              <a:lnSpc>
                <a:spcPct val="100000"/>
              </a:lnSpc>
            </a:pPr>
            <a:r>
              <a:rPr sz="2000" b="0" i="0">
                <a:solidFill>
                  <a:srgbClr val="EDEDED"/>
                </a:solidFill>
                <a:latin typeface="Oswald"/>
              </a:rPr>
              <a:t>FACTUAL ACCURACY</a:t>
            </a:r>
          </a:p>
          <a:p>
            <a:pPr algn="l">
              <a:lnSpc>
                <a:spcPct val="100000"/>
              </a:lnSpc>
            </a:pPr>
            <a:r>
              <a:rPr sz="1450" b="0" i="0">
                <a:solidFill>
                  <a:srgbClr val="8E8E93"/>
                </a:solidFill>
                <a:latin typeface="Titillium Web"/>
              </a:rPr>
              <a:t>correct MITRE techniques and IOCs</a:t>
            </a:r>
          </a:p>
        </p:txBody>
      </p:sp>
      <p:sp>
        <p:nvSpPr>
          <p:cNvPr id="18" name="Exp bar track 276"/>
          <p:cNvSpPr/>
          <p:nvPr/>
        </p:nvSpPr>
        <p:spPr>
          <a:xfrm>
            <a:off x="4754879" y="3291840"/>
            <a:ext cx="3017520" cy="329184"/>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Exp bar 277"/>
          <p:cNvSpPr/>
          <p:nvPr/>
        </p:nvSpPr>
        <p:spPr>
          <a:xfrm>
            <a:off x="4754879" y="3291840"/>
            <a:ext cx="2866644" cy="329184"/>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0" name="Exp value 278"/>
          <p:cNvSpPr txBox="1"/>
          <p:nvPr/>
        </p:nvSpPr>
        <p:spPr>
          <a:xfrm>
            <a:off x="7909560" y="3127248"/>
            <a:ext cx="1097280" cy="640080"/>
          </a:xfrm>
          <a:prstGeom prst="rect">
            <a:avLst/>
          </a:prstGeom>
          <a:noFill/>
        </p:spPr>
        <p:txBody>
          <a:bodyPr wrap="square" lIns="45720" rIns="45720" anchor="t"/>
          <a:lstStyle/>
          <a:p>
            <a:pPr algn="l">
              <a:lnSpc>
                <a:spcPct val="100000"/>
              </a:lnSpc>
            </a:pPr>
            <a:r>
              <a:rPr sz="2800" b="0" i="0">
                <a:solidFill>
                  <a:srgbClr val="C1FF72"/>
                </a:solidFill>
                <a:latin typeface="Oswald"/>
              </a:rPr>
              <a:t>9.5</a:t>
            </a:r>
          </a:p>
        </p:txBody>
      </p:sp>
      <p:sp>
        <p:nvSpPr>
          <p:cNvPr id="21" name="Exp name 279"/>
          <p:cNvSpPr txBox="1"/>
          <p:nvPr/>
        </p:nvSpPr>
        <p:spPr>
          <a:xfrm>
            <a:off x="1005840" y="4206240"/>
            <a:ext cx="3657600" cy="868680"/>
          </a:xfrm>
          <a:prstGeom prst="rect">
            <a:avLst/>
          </a:prstGeom>
          <a:noFill/>
        </p:spPr>
        <p:txBody>
          <a:bodyPr wrap="square" lIns="45720" rIns="45720" anchor="t"/>
          <a:lstStyle/>
          <a:p>
            <a:pPr algn="l">
              <a:lnSpc>
                <a:spcPct val="100000"/>
              </a:lnSpc>
            </a:pPr>
            <a:r>
              <a:rPr sz="2000" b="0" i="0">
                <a:solidFill>
                  <a:srgbClr val="EDEDED"/>
                </a:solidFill>
                <a:latin typeface="Oswald"/>
              </a:rPr>
              <a:t>READABILITY</a:t>
            </a:r>
          </a:p>
          <a:p>
            <a:pPr algn="l">
              <a:lnSpc>
                <a:spcPct val="100000"/>
              </a:lnSpc>
            </a:pPr>
            <a:r>
              <a:rPr sz="1450" b="0" i="0">
                <a:solidFill>
                  <a:srgbClr val="8E8E93"/>
                </a:solidFill>
                <a:latin typeface="Titillium Web"/>
              </a:rPr>
              <a:t>a non-expert could follow it</a:t>
            </a:r>
          </a:p>
        </p:txBody>
      </p:sp>
      <p:sp>
        <p:nvSpPr>
          <p:cNvPr id="22" name="Exp bar track 280"/>
          <p:cNvSpPr/>
          <p:nvPr/>
        </p:nvSpPr>
        <p:spPr>
          <a:xfrm>
            <a:off x="4754879" y="4389120"/>
            <a:ext cx="3017520" cy="329184"/>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3" name="Exp bar 281"/>
          <p:cNvSpPr/>
          <p:nvPr/>
        </p:nvSpPr>
        <p:spPr>
          <a:xfrm>
            <a:off x="4754879" y="4389120"/>
            <a:ext cx="2715768" cy="329184"/>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Exp value 282"/>
          <p:cNvSpPr txBox="1"/>
          <p:nvPr/>
        </p:nvSpPr>
        <p:spPr>
          <a:xfrm>
            <a:off x="7909560" y="4224527"/>
            <a:ext cx="1097280" cy="640080"/>
          </a:xfrm>
          <a:prstGeom prst="rect">
            <a:avLst/>
          </a:prstGeom>
          <a:noFill/>
        </p:spPr>
        <p:txBody>
          <a:bodyPr wrap="square" lIns="45720" rIns="45720" anchor="t"/>
          <a:lstStyle/>
          <a:p>
            <a:pPr algn="l">
              <a:lnSpc>
                <a:spcPct val="100000"/>
              </a:lnSpc>
            </a:pPr>
            <a:r>
              <a:rPr sz="2800" b="0" i="0">
                <a:solidFill>
                  <a:srgbClr val="C1FF72"/>
                </a:solidFill>
                <a:latin typeface="Oswald"/>
              </a:rPr>
              <a:t>9.0</a:t>
            </a:r>
          </a:p>
        </p:txBody>
      </p:sp>
      <p:sp>
        <p:nvSpPr>
          <p:cNvPr id="25" name="Exp name 283"/>
          <p:cNvSpPr txBox="1"/>
          <p:nvPr/>
        </p:nvSpPr>
        <p:spPr>
          <a:xfrm>
            <a:off x="1005840" y="5303520"/>
            <a:ext cx="3657600" cy="868680"/>
          </a:xfrm>
          <a:prstGeom prst="rect">
            <a:avLst/>
          </a:prstGeom>
          <a:noFill/>
        </p:spPr>
        <p:txBody>
          <a:bodyPr wrap="square" lIns="45720" rIns="45720" anchor="t"/>
          <a:lstStyle/>
          <a:p>
            <a:pPr algn="l">
              <a:lnSpc>
                <a:spcPct val="100000"/>
              </a:lnSpc>
            </a:pPr>
            <a:r>
              <a:rPr sz="2000" b="0" i="0">
                <a:solidFill>
                  <a:srgbClr val="EDEDED"/>
                </a:solidFill>
                <a:latin typeface="Oswald"/>
              </a:rPr>
              <a:t>USEFULNESS OF ADVICE</a:t>
            </a:r>
          </a:p>
          <a:p>
            <a:pPr algn="l">
              <a:lnSpc>
                <a:spcPct val="100000"/>
              </a:lnSpc>
            </a:pPr>
            <a:r>
              <a:rPr sz="1450" b="0" i="0">
                <a:solidFill>
                  <a:srgbClr val="8E8E93"/>
                </a:solidFill>
                <a:latin typeface="Titillium Web"/>
              </a:rPr>
              <a:t>clear next steps</a:t>
            </a:r>
          </a:p>
        </p:txBody>
      </p:sp>
      <p:sp>
        <p:nvSpPr>
          <p:cNvPr id="26" name="Exp bar track 284"/>
          <p:cNvSpPr/>
          <p:nvPr/>
        </p:nvSpPr>
        <p:spPr>
          <a:xfrm>
            <a:off x="4754879" y="5486400"/>
            <a:ext cx="3017520" cy="329184"/>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Exp bar 285"/>
          <p:cNvSpPr/>
          <p:nvPr/>
        </p:nvSpPr>
        <p:spPr>
          <a:xfrm>
            <a:off x="4754879" y="5486400"/>
            <a:ext cx="2655417" cy="329184"/>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Exp value 286"/>
          <p:cNvSpPr txBox="1"/>
          <p:nvPr/>
        </p:nvSpPr>
        <p:spPr>
          <a:xfrm>
            <a:off x="7909560" y="5321807"/>
            <a:ext cx="1097280" cy="640080"/>
          </a:xfrm>
          <a:prstGeom prst="rect">
            <a:avLst/>
          </a:prstGeom>
          <a:noFill/>
        </p:spPr>
        <p:txBody>
          <a:bodyPr wrap="square" lIns="45720" rIns="45720" anchor="t"/>
          <a:lstStyle/>
          <a:p>
            <a:pPr algn="l">
              <a:lnSpc>
                <a:spcPct val="100000"/>
              </a:lnSpc>
            </a:pPr>
            <a:r>
              <a:rPr sz="2800" b="0" i="0">
                <a:solidFill>
                  <a:srgbClr val="C1FF72"/>
                </a:solidFill>
                <a:latin typeface="Oswald"/>
              </a:rPr>
              <a:t>8.8</a:t>
            </a:r>
          </a:p>
        </p:txBody>
      </p:sp>
      <p:sp>
        <p:nvSpPr>
          <p:cNvPr id="29" name="Exp name 287"/>
          <p:cNvSpPr txBox="1"/>
          <p:nvPr/>
        </p:nvSpPr>
        <p:spPr>
          <a:xfrm>
            <a:off x="1005840" y="6400800"/>
            <a:ext cx="3657600" cy="868680"/>
          </a:xfrm>
          <a:prstGeom prst="rect">
            <a:avLst/>
          </a:prstGeom>
          <a:noFill/>
        </p:spPr>
        <p:txBody>
          <a:bodyPr wrap="square" lIns="45720" rIns="45720" anchor="t"/>
          <a:lstStyle/>
          <a:p>
            <a:pPr algn="l">
              <a:lnSpc>
                <a:spcPct val="100000"/>
              </a:lnSpc>
            </a:pPr>
            <a:r>
              <a:rPr sz="2000" b="0" i="0">
                <a:solidFill>
                  <a:srgbClr val="EDEDED"/>
                </a:solidFill>
                <a:latin typeface="Oswald"/>
              </a:rPr>
              <a:t>SPEED</a:t>
            </a:r>
          </a:p>
          <a:p>
            <a:pPr algn="l">
              <a:lnSpc>
                <a:spcPct val="100000"/>
              </a:lnSpc>
            </a:pPr>
            <a:r>
              <a:rPr sz="1450" b="0" i="0">
                <a:solidFill>
                  <a:srgbClr val="8E8E93"/>
                </a:solidFill>
                <a:latin typeface="Titillium Web"/>
              </a:rPr>
              <a:t>Gemini ≈1.2 s, Mistral ≈2.0 s</a:t>
            </a:r>
          </a:p>
        </p:txBody>
      </p:sp>
      <p:sp>
        <p:nvSpPr>
          <p:cNvPr id="30" name="Exp bar track 288"/>
          <p:cNvSpPr/>
          <p:nvPr/>
        </p:nvSpPr>
        <p:spPr>
          <a:xfrm>
            <a:off x="4754879" y="6583680"/>
            <a:ext cx="3017520" cy="329184"/>
          </a:xfrm>
          <a:prstGeom prst="roundRect">
            <a:avLst>
              <a:gd name="adj" fmla="val 50000"/>
            </a:avLst>
          </a:prstGeom>
          <a:solidFill>
            <a:srgbClr val="3131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Exp bar 289"/>
          <p:cNvSpPr/>
          <p:nvPr/>
        </p:nvSpPr>
        <p:spPr>
          <a:xfrm>
            <a:off x="4754879" y="6583680"/>
            <a:ext cx="2564891" cy="329184"/>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2" name="Exp value 290"/>
          <p:cNvSpPr txBox="1"/>
          <p:nvPr/>
        </p:nvSpPr>
        <p:spPr>
          <a:xfrm>
            <a:off x="7909560" y="6419088"/>
            <a:ext cx="1097280" cy="640080"/>
          </a:xfrm>
          <a:prstGeom prst="rect">
            <a:avLst/>
          </a:prstGeom>
          <a:noFill/>
        </p:spPr>
        <p:txBody>
          <a:bodyPr wrap="square" lIns="45720" rIns="45720" anchor="t"/>
          <a:lstStyle/>
          <a:p>
            <a:pPr algn="l">
              <a:lnSpc>
                <a:spcPct val="100000"/>
              </a:lnSpc>
            </a:pPr>
            <a:r>
              <a:rPr sz="2800" b="0" i="0">
                <a:solidFill>
                  <a:srgbClr val="C1FF72"/>
                </a:solidFill>
                <a:latin typeface="Oswald"/>
              </a:rPr>
              <a:t>8.5</a:t>
            </a:r>
          </a:p>
        </p:txBody>
      </p:sp>
      <p:pic>
        <p:nvPicPr>
          <p:cNvPr id="33" name="Alert 291" descr="image11.png"/>
          <p:cNvPicPr>
            <a:picLocks noChangeAspect="1"/>
          </p:cNvPicPr>
          <p:nvPr/>
        </p:nvPicPr>
        <p:blipFill>
          <a:blip r:embed="rId3"/>
          <a:stretch>
            <a:fillRect/>
          </a:stretch>
        </p:blipFill>
        <p:spPr>
          <a:xfrm>
            <a:off x="1005840" y="7315200"/>
            <a:ext cx="2326856" cy="2103120"/>
          </a:xfrm>
          <a:prstGeom prst="rect">
            <a:avLst/>
          </a:prstGeom>
          <a:effectLst>
            <a:outerShdw blurRad="254000" dist="101600" dir="2700000" algn="ctr" rotWithShape="0">
              <a:srgbClr val="0E0E10">
                <a:alpha val="70000"/>
              </a:srgbClr>
            </a:outerShdw>
          </a:effectLst>
        </p:spPr>
      </p:pic>
      <p:sp>
        <p:nvSpPr>
          <p:cNvPr id="34" name="Alert caption 292"/>
          <p:cNvSpPr txBox="1"/>
          <p:nvPr/>
        </p:nvSpPr>
        <p:spPr>
          <a:xfrm>
            <a:off x="3520440" y="7635240"/>
            <a:ext cx="5303520" cy="1463040"/>
          </a:xfrm>
          <a:prstGeom prst="rect">
            <a:avLst/>
          </a:prstGeom>
          <a:noFill/>
        </p:spPr>
        <p:txBody>
          <a:bodyPr wrap="square" lIns="45720" rIns="45720" anchor="t"/>
          <a:lstStyle/>
          <a:p>
            <a:pPr algn="l">
              <a:lnSpc>
                <a:spcPct val="98000"/>
              </a:lnSpc>
            </a:pPr>
            <a:r>
              <a:rPr sz="1550" b="0" i="0">
                <a:solidFill>
                  <a:srgbClr val="8E8E93"/>
                </a:solidFill>
                <a:latin typeface="Titillium Web"/>
              </a:rPr>
              <a:t>The prototype's real-time alert, with Block, Protect and Allow. A historical interface illustration from the thesis.</a:t>
            </a:r>
          </a:p>
        </p:txBody>
      </p:sp>
      <p:sp>
        <p:nvSpPr>
          <p:cNvPr id="35" name="Obj label 293"/>
          <p:cNvSpPr txBox="1"/>
          <p:nvPr/>
        </p:nvSpPr>
        <p:spPr>
          <a:xfrm>
            <a:off x="9509760" y="2560320"/>
            <a:ext cx="7315200" cy="411480"/>
          </a:xfrm>
          <a:prstGeom prst="rect">
            <a:avLst/>
          </a:prstGeom>
          <a:noFill/>
        </p:spPr>
        <p:txBody>
          <a:bodyPr wrap="square" lIns="45720" rIns="45720" anchor="t"/>
          <a:lstStyle/>
          <a:p>
            <a:pPr algn="l">
              <a:lnSpc>
                <a:spcPct val="100000"/>
              </a:lnSpc>
            </a:pPr>
            <a:r>
              <a:rPr sz="1500" b="1" i="0">
                <a:solidFill>
                  <a:srgbClr val="C1FF72"/>
                </a:solidFill>
                <a:latin typeface="Titillium Web"/>
              </a:rPr>
              <a:t>OBJECTIVES MET · TABLE 4.8</a:t>
            </a:r>
          </a:p>
        </p:txBody>
      </p:sp>
      <p:grpSp>
        <p:nvGrpSpPr>
          <p:cNvPr id="41" name="Objective 294"/>
          <p:cNvGrpSpPr/>
          <p:nvPr/>
        </p:nvGrpSpPr>
        <p:grpSpPr>
          <a:xfrm>
            <a:off x="9509760" y="3108960"/>
            <a:ext cx="7772400" cy="1115568"/>
            <a:chOff x="9509760" y="3108960"/>
            <a:chExt cx="7772400" cy="1115568"/>
          </a:xfrm>
        </p:grpSpPr>
        <p:sp>
          <p:nvSpPr>
            <p:cNvPr id="36" name="Objective light"/>
            <p:cNvSpPr/>
            <p:nvPr/>
          </p:nvSpPr>
          <p:spPr>
            <a:xfrm>
              <a:off x="9509760" y="3108960"/>
              <a:ext cx="7772400" cy="1115568"/>
            </a:xfrm>
            <a:prstGeom prst="roundRect">
              <a:avLst>
                <a:gd name="adj" fmla="val 32786"/>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Objective"/>
            <p:cNvSpPr/>
            <p:nvPr/>
          </p:nvSpPr>
          <p:spPr>
            <a:xfrm>
              <a:off x="9509760" y="3108960"/>
              <a:ext cx="7772400" cy="1115568"/>
            </a:xfrm>
            <a:prstGeom prst="roundRect">
              <a:avLst>
                <a:gd name="adj" fmla="val 32786"/>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8" name="Obj text"/>
            <p:cNvSpPr txBox="1"/>
            <p:nvPr/>
          </p:nvSpPr>
          <p:spPr>
            <a:xfrm>
              <a:off x="9829800" y="3182112"/>
              <a:ext cx="3931920" cy="969264"/>
            </a:xfrm>
            <a:prstGeom prst="rect">
              <a:avLst/>
            </a:prstGeom>
            <a:noFill/>
          </p:spPr>
          <p:txBody>
            <a:bodyPr wrap="square" lIns="45720" rIns="45720" anchor="ctr"/>
            <a:lstStyle/>
            <a:p>
              <a:pPr algn="l">
                <a:lnSpc>
                  <a:spcPct val="100000"/>
                </a:lnSpc>
              </a:pPr>
              <a:r>
                <a:rPr sz="1900" b="0" i="0">
                  <a:solidFill>
                    <a:srgbClr val="EDEDED"/>
                  </a:solidFill>
                  <a:latin typeface="Oswald"/>
                </a:rPr>
                <a:t>REAL-TIME ANALYSIS</a:t>
              </a:r>
            </a:p>
            <a:p>
              <a:pPr algn="l">
                <a:lnSpc>
                  <a:spcPct val="100000"/>
                </a:lnSpc>
              </a:pPr>
              <a:r>
                <a:rPr sz="1400" b="0" i="0">
                  <a:solidFill>
                    <a:srgbClr val="8E8E93"/>
                  </a:solidFill>
                  <a:latin typeface="Titillium Web"/>
                </a:rPr>
                <a:t>warm mean ≤ 4.00 s</a:t>
              </a:r>
            </a:p>
          </p:txBody>
        </p:sp>
        <p:sp>
          <p:nvSpPr>
            <p:cNvPr id="39" name="Obj result"/>
            <p:cNvSpPr txBox="1"/>
            <p:nvPr/>
          </p:nvSpPr>
          <p:spPr>
            <a:xfrm>
              <a:off x="13670280" y="3108960"/>
              <a:ext cx="1737360" cy="1115568"/>
            </a:xfrm>
            <a:prstGeom prst="rect">
              <a:avLst/>
            </a:prstGeom>
            <a:noFill/>
          </p:spPr>
          <p:txBody>
            <a:bodyPr wrap="square" lIns="45720" rIns="45720" anchor="ctr"/>
            <a:lstStyle/>
            <a:p>
              <a:pPr algn="r">
                <a:lnSpc>
                  <a:spcPct val="100000"/>
                </a:lnSpc>
              </a:pPr>
              <a:r>
                <a:rPr sz="2200" b="0" i="0">
                  <a:solidFill>
                    <a:srgbClr val="EDEDED"/>
                  </a:solidFill>
                  <a:latin typeface="Oswald"/>
                </a:rPr>
                <a:t>4.05 s</a:t>
              </a:r>
            </a:p>
          </p:txBody>
        </p:sp>
        <p:sp>
          <p:nvSpPr>
            <p:cNvPr id="40" name="Chip"/>
            <p:cNvSpPr/>
            <p:nvPr/>
          </p:nvSpPr>
          <p:spPr>
            <a:xfrm>
              <a:off x="15893034" y="3456432"/>
              <a:ext cx="1069086" cy="420624"/>
            </a:xfrm>
            <a:prstGeom prst="roundRect">
              <a:avLst>
                <a:gd name="adj" fmla="val 50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232325"/>
                  </a:solidFill>
                  <a:latin typeface="Titillium Web"/>
                </a:rPr>
                <a:t>NOT MET</a:t>
              </a:r>
            </a:p>
          </p:txBody>
        </p:sp>
      </p:grpSp>
      <p:grpSp>
        <p:nvGrpSpPr>
          <p:cNvPr id="47" name="Objective 295"/>
          <p:cNvGrpSpPr/>
          <p:nvPr/>
        </p:nvGrpSpPr>
        <p:grpSpPr>
          <a:xfrm>
            <a:off x="9509760" y="4370831"/>
            <a:ext cx="7772400" cy="1115568"/>
            <a:chOff x="9509760" y="4370831"/>
            <a:chExt cx="7772400" cy="1115568"/>
          </a:xfrm>
        </p:grpSpPr>
        <p:sp>
          <p:nvSpPr>
            <p:cNvPr id="42" name="Objective light"/>
            <p:cNvSpPr/>
            <p:nvPr/>
          </p:nvSpPr>
          <p:spPr>
            <a:xfrm>
              <a:off x="9509760" y="4370831"/>
              <a:ext cx="7772400" cy="1115568"/>
            </a:xfrm>
            <a:prstGeom prst="roundRect">
              <a:avLst>
                <a:gd name="adj" fmla="val 32786"/>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3" name="Objective"/>
            <p:cNvSpPr/>
            <p:nvPr/>
          </p:nvSpPr>
          <p:spPr>
            <a:xfrm>
              <a:off x="9509760" y="4370831"/>
              <a:ext cx="7772400" cy="1115568"/>
            </a:xfrm>
            <a:prstGeom prst="roundRect">
              <a:avLst>
                <a:gd name="adj" fmla="val 32786"/>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4" name="Obj text"/>
            <p:cNvSpPr txBox="1"/>
            <p:nvPr/>
          </p:nvSpPr>
          <p:spPr>
            <a:xfrm>
              <a:off x="9829800" y="4443983"/>
              <a:ext cx="3931920" cy="969264"/>
            </a:xfrm>
            <a:prstGeom prst="rect">
              <a:avLst/>
            </a:prstGeom>
            <a:noFill/>
          </p:spPr>
          <p:txBody>
            <a:bodyPr wrap="square" lIns="45720" rIns="45720" anchor="ctr"/>
            <a:lstStyle/>
            <a:p>
              <a:pPr algn="l">
                <a:lnSpc>
                  <a:spcPct val="100000"/>
                </a:lnSpc>
              </a:pPr>
              <a:r>
                <a:rPr sz="1900" b="0" i="0">
                  <a:solidFill>
                    <a:srgbClr val="EDEDED"/>
                  </a:solidFill>
                  <a:latin typeface="Oswald"/>
                </a:rPr>
                <a:t>ACCURATE DETECTION</a:t>
              </a:r>
            </a:p>
            <a:p>
              <a:pPr algn="l">
                <a:lnSpc>
                  <a:spcPct val="100000"/>
                </a:lnSpc>
              </a:pPr>
              <a:r>
                <a:rPr sz="1400" b="0" i="0">
                  <a:solidFill>
                    <a:srgbClr val="8E8E93"/>
                  </a:solidFill>
                  <a:latin typeface="Titillium Web"/>
                </a:rPr>
                <a:t>above 90% accuracy</a:t>
              </a:r>
            </a:p>
          </p:txBody>
        </p:sp>
        <p:sp>
          <p:nvSpPr>
            <p:cNvPr id="45" name="Obj result"/>
            <p:cNvSpPr txBox="1"/>
            <p:nvPr/>
          </p:nvSpPr>
          <p:spPr>
            <a:xfrm>
              <a:off x="13670280" y="4370831"/>
              <a:ext cx="1737360" cy="1115568"/>
            </a:xfrm>
            <a:prstGeom prst="rect">
              <a:avLst/>
            </a:prstGeom>
            <a:noFill/>
          </p:spPr>
          <p:txBody>
            <a:bodyPr wrap="square" lIns="45720" rIns="45720" anchor="ctr"/>
            <a:lstStyle/>
            <a:p>
              <a:pPr algn="r">
                <a:lnSpc>
                  <a:spcPct val="100000"/>
                </a:lnSpc>
              </a:pPr>
              <a:r>
                <a:rPr sz="2200" b="0" i="0">
                  <a:solidFill>
                    <a:srgbClr val="EDEDED"/>
                  </a:solidFill>
                  <a:latin typeface="Oswald"/>
                </a:rPr>
                <a:t>94.7%</a:t>
              </a:r>
            </a:p>
          </p:txBody>
        </p:sp>
        <p:sp>
          <p:nvSpPr>
            <p:cNvPr id="46" name="Chip"/>
            <p:cNvSpPr/>
            <p:nvPr/>
          </p:nvSpPr>
          <p:spPr>
            <a:xfrm>
              <a:off x="16239109" y="4718303"/>
              <a:ext cx="723010" cy="420624"/>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232325"/>
                  </a:solidFill>
                  <a:latin typeface="Titillium Web"/>
                </a:rPr>
                <a:t>MET</a:t>
              </a:r>
            </a:p>
          </p:txBody>
        </p:sp>
      </p:grpSp>
      <p:grpSp>
        <p:nvGrpSpPr>
          <p:cNvPr id="53" name="Objective 296"/>
          <p:cNvGrpSpPr/>
          <p:nvPr/>
        </p:nvGrpSpPr>
        <p:grpSpPr>
          <a:xfrm>
            <a:off x="9509760" y="5632703"/>
            <a:ext cx="7772400" cy="1115568"/>
            <a:chOff x="9509760" y="5632703"/>
            <a:chExt cx="7772400" cy="1115568"/>
          </a:xfrm>
        </p:grpSpPr>
        <p:sp>
          <p:nvSpPr>
            <p:cNvPr id="48" name="Objective light"/>
            <p:cNvSpPr/>
            <p:nvPr/>
          </p:nvSpPr>
          <p:spPr>
            <a:xfrm>
              <a:off x="9509760" y="5632703"/>
              <a:ext cx="7772400" cy="1115568"/>
            </a:xfrm>
            <a:prstGeom prst="roundRect">
              <a:avLst>
                <a:gd name="adj" fmla="val 32786"/>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9" name="Objective"/>
            <p:cNvSpPr/>
            <p:nvPr/>
          </p:nvSpPr>
          <p:spPr>
            <a:xfrm>
              <a:off x="9509760" y="5632703"/>
              <a:ext cx="7772400" cy="1115568"/>
            </a:xfrm>
            <a:prstGeom prst="roundRect">
              <a:avLst>
                <a:gd name="adj" fmla="val 32786"/>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0" name="Obj text"/>
            <p:cNvSpPr txBox="1"/>
            <p:nvPr/>
          </p:nvSpPr>
          <p:spPr>
            <a:xfrm>
              <a:off x="9829800" y="5705855"/>
              <a:ext cx="3931920" cy="969264"/>
            </a:xfrm>
            <a:prstGeom prst="rect">
              <a:avLst/>
            </a:prstGeom>
            <a:noFill/>
          </p:spPr>
          <p:txBody>
            <a:bodyPr wrap="square" lIns="45720" rIns="45720" anchor="ctr"/>
            <a:lstStyle/>
            <a:p>
              <a:pPr algn="l">
                <a:lnSpc>
                  <a:spcPct val="100000"/>
                </a:lnSpc>
              </a:pPr>
              <a:r>
                <a:rPr sz="1900" b="0" i="0">
                  <a:solidFill>
                    <a:srgbClr val="EDEDED"/>
                  </a:solidFill>
                  <a:latin typeface="Oswald"/>
                </a:rPr>
                <a:t>FEW FALSE ALARMS</a:t>
              </a:r>
            </a:p>
            <a:p>
              <a:pPr algn="l">
                <a:lnSpc>
                  <a:spcPct val="100000"/>
                </a:lnSpc>
              </a:pPr>
              <a:r>
                <a:rPr sz="1400" b="0" i="0">
                  <a:solidFill>
                    <a:srgbClr val="8E8E93"/>
                  </a:solidFill>
                  <a:latin typeface="Titillium Web"/>
                </a:rPr>
                <a:t>keep false alarms low</a:t>
              </a:r>
            </a:p>
          </p:txBody>
        </p:sp>
        <p:sp>
          <p:nvSpPr>
            <p:cNvPr id="51" name="Obj result"/>
            <p:cNvSpPr txBox="1"/>
            <p:nvPr/>
          </p:nvSpPr>
          <p:spPr>
            <a:xfrm>
              <a:off x="13670280" y="5632703"/>
              <a:ext cx="1737360" cy="1115568"/>
            </a:xfrm>
            <a:prstGeom prst="rect">
              <a:avLst/>
            </a:prstGeom>
            <a:noFill/>
          </p:spPr>
          <p:txBody>
            <a:bodyPr wrap="square" lIns="45720" rIns="45720" anchor="ctr"/>
            <a:lstStyle/>
            <a:p>
              <a:pPr algn="r">
                <a:lnSpc>
                  <a:spcPct val="100000"/>
                </a:lnSpc>
              </a:pPr>
              <a:r>
                <a:rPr sz="2200" b="0" i="0">
                  <a:solidFill>
                    <a:srgbClr val="EDEDED"/>
                  </a:solidFill>
                  <a:latin typeface="Oswald"/>
                </a:rPr>
                <a:t>2.0%</a:t>
              </a:r>
            </a:p>
          </p:txBody>
        </p:sp>
        <p:sp>
          <p:nvSpPr>
            <p:cNvPr id="52" name="Chip"/>
            <p:cNvSpPr/>
            <p:nvPr/>
          </p:nvSpPr>
          <p:spPr>
            <a:xfrm>
              <a:off x="16239109" y="5980175"/>
              <a:ext cx="723010" cy="420624"/>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232325"/>
                  </a:solidFill>
                  <a:latin typeface="Titillium Web"/>
                </a:rPr>
                <a:t>MET</a:t>
              </a:r>
            </a:p>
          </p:txBody>
        </p:sp>
      </p:grpSp>
      <p:grpSp>
        <p:nvGrpSpPr>
          <p:cNvPr id="59" name="Objective 297"/>
          <p:cNvGrpSpPr/>
          <p:nvPr/>
        </p:nvGrpSpPr>
        <p:grpSpPr>
          <a:xfrm>
            <a:off x="9509760" y="6894575"/>
            <a:ext cx="7772400" cy="1115568"/>
            <a:chOff x="9509760" y="6894575"/>
            <a:chExt cx="7772400" cy="1115568"/>
          </a:xfrm>
        </p:grpSpPr>
        <p:sp>
          <p:nvSpPr>
            <p:cNvPr id="54" name="Objective light"/>
            <p:cNvSpPr/>
            <p:nvPr/>
          </p:nvSpPr>
          <p:spPr>
            <a:xfrm>
              <a:off x="9509760" y="6894575"/>
              <a:ext cx="7772400" cy="1115568"/>
            </a:xfrm>
            <a:prstGeom prst="roundRect">
              <a:avLst>
                <a:gd name="adj" fmla="val 32786"/>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5" name="Objective"/>
            <p:cNvSpPr/>
            <p:nvPr/>
          </p:nvSpPr>
          <p:spPr>
            <a:xfrm>
              <a:off x="9509760" y="6894575"/>
              <a:ext cx="7772400" cy="1115568"/>
            </a:xfrm>
            <a:prstGeom prst="roundRect">
              <a:avLst>
                <a:gd name="adj" fmla="val 32786"/>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6" name="Obj text"/>
            <p:cNvSpPr txBox="1"/>
            <p:nvPr/>
          </p:nvSpPr>
          <p:spPr>
            <a:xfrm>
              <a:off x="9829800" y="6967727"/>
              <a:ext cx="3931920" cy="969264"/>
            </a:xfrm>
            <a:prstGeom prst="rect">
              <a:avLst/>
            </a:prstGeom>
            <a:noFill/>
          </p:spPr>
          <p:txBody>
            <a:bodyPr wrap="square" lIns="45720" rIns="45720" anchor="ctr"/>
            <a:lstStyle/>
            <a:p>
              <a:pPr algn="l">
                <a:lnSpc>
                  <a:spcPct val="100000"/>
                </a:lnSpc>
              </a:pPr>
              <a:r>
                <a:rPr sz="1900" b="0" i="0">
                  <a:solidFill>
                    <a:srgbClr val="EDEDED"/>
                  </a:solidFill>
                  <a:latin typeface="Oswald"/>
                </a:rPr>
                <a:t>CLEAR EXPLANATIONS</a:t>
              </a:r>
            </a:p>
            <a:p>
              <a:pPr algn="l">
                <a:lnSpc>
                  <a:spcPct val="100000"/>
                </a:lnSpc>
              </a:pPr>
              <a:r>
                <a:rPr sz="1400" b="0" i="0">
                  <a:solidFill>
                    <a:srgbClr val="8E8E93"/>
                  </a:solidFill>
                  <a:latin typeface="Titillium Web"/>
                </a:rPr>
                <a:t>readable by non-experts</a:t>
              </a:r>
            </a:p>
          </p:txBody>
        </p:sp>
        <p:sp>
          <p:nvSpPr>
            <p:cNvPr id="57" name="Obj result"/>
            <p:cNvSpPr txBox="1"/>
            <p:nvPr/>
          </p:nvSpPr>
          <p:spPr>
            <a:xfrm>
              <a:off x="13670280" y="6894575"/>
              <a:ext cx="1737360" cy="1115568"/>
            </a:xfrm>
            <a:prstGeom prst="rect">
              <a:avLst/>
            </a:prstGeom>
            <a:noFill/>
          </p:spPr>
          <p:txBody>
            <a:bodyPr wrap="square" lIns="45720" rIns="45720" anchor="ctr"/>
            <a:lstStyle/>
            <a:p>
              <a:pPr algn="r">
                <a:lnSpc>
                  <a:spcPct val="100000"/>
                </a:lnSpc>
              </a:pPr>
              <a:r>
                <a:rPr sz="2200" b="0" i="0">
                  <a:solidFill>
                    <a:srgbClr val="EDEDED"/>
                  </a:solidFill>
                  <a:latin typeface="Oswald"/>
                </a:rPr>
                <a:t>9.0 / 10</a:t>
              </a:r>
            </a:p>
          </p:txBody>
        </p:sp>
        <p:sp>
          <p:nvSpPr>
            <p:cNvPr id="58" name="Chip"/>
            <p:cNvSpPr/>
            <p:nvPr/>
          </p:nvSpPr>
          <p:spPr>
            <a:xfrm>
              <a:off x="16239109" y="7242047"/>
              <a:ext cx="723010" cy="420624"/>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232325"/>
                  </a:solidFill>
                  <a:latin typeface="Titillium Web"/>
                </a:rPr>
                <a:t>MET</a:t>
              </a:r>
            </a:p>
          </p:txBody>
        </p:sp>
      </p:grpSp>
      <p:grpSp>
        <p:nvGrpSpPr>
          <p:cNvPr id="65" name="Objective 298"/>
          <p:cNvGrpSpPr/>
          <p:nvPr/>
        </p:nvGrpSpPr>
        <p:grpSpPr>
          <a:xfrm>
            <a:off x="9509760" y="8156447"/>
            <a:ext cx="7772400" cy="1115568"/>
            <a:chOff x="9509760" y="8156447"/>
            <a:chExt cx="7772400" cy="1115568"/>
          </a:xfrm>
        </p:grpSpPr>
        <p:sp>
          <p:nvSpPr>
            <p:cNvPr id="60" name="Objective light"/>
            <p:cNvSpPr/>
            <p:nvPr/>
          </p:nvSpPr>
          <p:spPr>
            <a:xfrm>
              <a:off x="9509760" y="8156447"/>
              <a:ext cx="7772400" cy="1115568"/>
            </a:xfrm>
            <a:prstGeom prst="roundRect">
              <a:avLst>
                <a:gd name="adj" fmla="val 32786"/>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1" name="Objective"/>
            <p:cNvSpPr/>
            <p:nvPr/>
          </p:nvSpPr>
          <p:spPr>
            <a:xfrm>
              <a:off x="9509760" y="8156447"/>
              <a:ext cx="7772400" cy="1115568"/>
            </a:xfrm>
            <a:prstGeom prst="roundRect">
              <a:avLst>
                <a:gd name="adj" fmla="val 32786"/>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2" name="Obj text"/>
            <p:cNvSpPr txBox="1"/>
            <p:nvPr/>
          </p:nvSpPr>
          <p:spPr>
            <a:xfrm>
              <a:off x="9829800" y="8229599"/>
              <a:ext cx="3931920" cy="969264"/>
            </a:xfrm>
            <a:prstGeom prst="rect">
              <a:avLst/>
            </a:prstGeom>
            <a:noFill/>
          </p:spPr>
          <p:txBody>
            <a:bodyPr wrap="square" lIns="45720" rIns="45720" anchor="ctr"/>
            <a:lstStyle/>
            <a:p>
              <a:pPr algn="l">
                <a:lnSpc>
                  <a:spcPct val="100000"/>
                </a:lnSpc>
              </a:pPr>
              <a:r>
                <a:rPr sz="1900" b="0" i="0">
                  <a:solidFill>
                    <a:srgbClr val="EDEDED"/>
                  </a:solidFill>
                  <a:latin typeface="Oswald"/>
                </a:rPr>
                <a:t>RELIABLE INTEGRATIONS</a:t>
              </a:r>
            </a:p>
            <a:p>
              <a:pPr algn="l">
                <a:lnSpc>
                  <a:spcPct val="100000"/>
                </a:lnSpc>
              </a:pPr>
              <a:r>
                <a:rPr sz="1400" b="0" i="0">
                  <a:solidFill>
                    <a:srgbClr val="8E8E93"/>
                  </a:solidFill>
                  <a:latin typeface="Titillium Web"/>
                </a:rPr>
                <a:t>stable cloud services</a:t>
              </a:r>
            </a:p>
          </p:txBody>
        </p:sp>
        <p:sp>
          <p:nvSpPr>
            <p:cNvPr id="63" name="Obj result"/>
            <p:cNvSpPr txBox="1"/>
            <p:nvPr/>
          </p:nvSpPr>
          <p:spPr>
            <a:xfrm>
              <a:off x="13670280" y="8156447"/>
              <a:ext cx="1737360" cy="1115568"/>
            </a:xfrm>
            <a:prstGeom prst="rect">
              <a:avLst/>
            </a:prstGeom>
            <a:noFill/>
          </p:spPr>
          <p:txBody>
            <a:bodyPr wrap="square" lIns="45720" rIns="45720" anchor="ctr"/>
            <a:lstStyle/>
            <a:p>
              <a:pPr algn="r">
                <a:lnSpc>
                  <a:spcPct val="100000"/>
                </a:lnSpc>
              </a:pPr>
              <a:r>
                <a:rPr sz="2200" b="0" i="0">
                  <a:solidFill>
                    <a:srgbClr val="EDEDED"/>
                  </a:solidFill>
                  <a:latin typeface="Oswald"/>
                </a:rPr>
                <a:t>97.5%+</a:t>
              </a:r>
            </a:p>
          </p:txBody>
        </p:sp>
        <p:sp>
          <p:nvSpPr>
            <p:cNvPr id="64" name="Chip"/>
            <p:cNvSpPr/>
            <p:nvPr/>
          </p:nvSpPr>
          <p:spPr>
            <a:xfrm>
              <a:off x="16239109" y="8503919"/>
              <a:ext cx="723010" cy="420624"/>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232325"/>
                  </a:solidFill>
                  <a:latin typeface="Titillium Web"/>
                </a:rPr>
                <a:t>MET</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anim calcmode="lin" valueType="num">
                                      <p:cBhvr>
                                        <p:cTn id="11" dur="500" fill="hold"/>
                                        <p:tgtEl>
                                          <p:spTgt spid="12"/>
                                        </p:tgtEl>
                                        <p:attrNameLst>
                                          <p:attrName>ppt_x</p:attrName>
                                        </p:attrNameLst>
                                      </p:cBhvr>
                                      <p:tavLst>
                                        <p:tav tm="0">
                                          <p:val>
                                            <p:strVal val="#ppt_x"/>
                                          </p:val>
                                        </p:tav>
                                        <p:tav tm="100000">
                                          <p:val>
                                            <p:strVal val="#ppt_x"/>
                                          </p:val>
                                        </p:tav>
                                      </p:tavLst>
                                    </p:anim>
                                    <p:anim calcmode="lin" valueType="num">
                                      <p:cBhvr>
                                        <p:cTn id="12" dur="450" decel="100000" fill="hold"/>
                                        <p:tgtEl>
                                          <p:spTgt spid="12"/>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par>
                          <p:cTn id="14" fill="hold">
                            <p:stCondLst>
                              <p:cond delay="17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2550"/>
                            </p:stCondLst>
                            <p:childTnLst>
                              <p:par>
                                <p:cTn id="19" presetID="10" presetClass="entr" presetSubtype="0"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300"/>
                                        <p:tgtEl>
                                          <p:spTgt spid="16"/>
                                        </p:tgtEl>
                                      </p:cBhvr>
                                    </p:animEffect>
                                  </p:childTnLst>
                                </p:cTn>
                              </p:par>
                            </p:childTnLst>
                          </p:cTn>
                        </p:par>
                        <p:par>
                          <p:cTn id="22" fill="hold">
                            <p:stCondLst>
                              <p:cond delay="2850"/>
                            </p:stCondLst>
                            <p:childTnLst>
                              <p:par>
                                <p:cTn id="23" presetID="10" presetClass="entr" presetSubtype="0" fill="hold" grpId="0" nodeType="after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15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200"/>
                                        <p:tgtEl>
                                          <p:spTgt spid="18"/>
                                        </p:tgtEl>
                                      </p:cBhvr>
                                    </p:animEffect>
                                  </p:childTnLst>
                                </p:cTn>
                              </p:par>
                            </p:childTnLst>
                          </p:cTn>
                        </p:par>
                        <p:par>
                          <p:cTn id="29" fill="hold">
                            <p:stCondLst>
                              <p:cond delay="3050"/>
                            </p:stCondLst>
                            <p:childTnLst>
                              <p:par>
                                <p:cTn id="30" presetID="22" presetClass="entr" presetSubtype="8"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left)">
                                      <p:cBhvr>
                                        <p:cTn id="32" dur="500"/>
                                        <p:tgtEl>
                                          <p:spTgt spid="19"/>
                                        </p:tgtEl>
                                      </p:cBhvr>
                                    </p:animEffect>
                                  </p:childTnLst>
                                </p:cTn>
                              </p:par>
                              <p:par>
                                <p:cTn id="33" presetID="10" presetClass="entr" presetSubtype="0" fill="hold" grpId="0" nodeType="withEffect">
                                  <p:stCondLst>
                                    <p:cond delay="30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200"/>
                                        <p:tgtEl>
                                          <p:spTgt spid="20"/>
                                        </p:tgtEl>
                                      </p:cBhvr>
                                    </p:animEffect>
                                  </p:childTnLst>
                                </p:cTn>
                              </p:par>
                            </p:childTnLst>
                          </p:cTn>
                        </p:par>
                        <p:par>
                          <p:cTn id="36" fill="hold">
                            <p:stCondLst>
                              <p:cond delay="3550"/>
                            </p:stCondLst>
                            <p:childTnLst>
                              <p:par>
                                <p:cTn id="37" presetID="10" presetClass="entr" presetSubtype="0" fill="hold" grpId="0" nodeType="after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15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200"/>
                                        <p:tgtEl>
                                          <p:spTgt spid="22"/>
                                        </p:tgtEl>
                                      </p:cBhvr>
                                    </p:animEffect>
                                  </p:childTnLst>
                                </p:cTn>
                              </p:par>
                            </p:childTnLst>
                          </p:cTn>
                        </p:par>
                        <p:par>
                          <p:cTn id="43" fill="hold">
                            <p:stCondLst>
                              <p:cond delay="3750"/>
                            </p:stCondLst>
                            <p:childTnLst>
                              <p:par>
                                <p:cTn id="44" presetID="22" presetClass="entr" presetSubtype="8" fill="hold" grpId="0" nodeType="after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wipe(left)">
                                      <p:cBhvr>
                                        <p:cTn id="46" dur="500"/>
                                        <p:tgtEl>
                                          <p:spTgt spid="23"/>
                                        </p:tgtEl>
                                      </p:cBhvr>
                                    </p:animEffect>
                                  </p:childTnLst>
                                </p:cTn>
                              </p:par>
                              <p:par>
                                <p:cTn id="47" presetID="10" presetClass="entr" presetSubtype="0" fill="hold" grpId="0" nodeType="withEffect">
                                  <p:stCondLst>
                                    <p:cond delay="30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200"/>
                                        <p:tgtEl>
                                          <p:spTgt spid="24"/>
                                        </p:tgtEl>
                                      </p:cBhvr>
                                    </p:animEffect>
                                  </p:childTnLst>
                                </p:cTn>
                              </p:par>
                            </p:childTnLst>
                          </p:cTn>
                        </p:par>
                        <p:par>
                          <p:cTn id="50" fill="hold">
                            <p:stCondLst>
                              <p:cond delay="4250"/>
                            </p:stCondLst>
                            <p:childTnLst>
                              <p:par>
                                <p:cTn id="51" presetID="10" presetClass="entr" presetSubtype="0" fill="hold" grpId="0" nodeType="after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15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200"/>
                                        <p:tgtEl>
                                          <p:spTgt spid="26"/>
                                        </p:tgtEl>
                                      </p:cBhvr>
                                    </p:animEffect>
                                  </p:childTnLst>
                                </p:cTn>
                              </p:par>
                            </p:childTnLst>
                          </p:cTn>
                        </p:par>
                        <p:par>
                          <p:cTn id="57" fill="hold">
                            <p:stCondLst>
                              <p:cond delay="4450"/>
                            </p:stCondLst>
                            <p:childTnLst>
                              <p:par>
                                <p:cTn id="58" presetID="22" presetClass="entr" presetSubtype="8" fill="hold" grpId="0" nodeType="after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wipe(left)">
                                      <p:cBhvr>
                                        <p:cTn id="60" dur="500"/>
                                        <p:tgtEl>
                                          <p:spTgt spid="27"/>
                                        </p:tgtEl>
                                      </p:cBhvr>
                                    </p:animEffect>
                                  </p:childTnLst>
                                </p:cTn>
                              </p:par>
                              <p:par>
                                <p:cTn id="61" presetID="10" presetClass="entr" presetSubtype="0" fill="hold" grpId="0" nodeType="withEffect">
                                  <p:stCondLst>
                                    <p:cond delay="30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200"/>
                                        <p:tgtEl>
                                          <p:spTgt spid="28"/>
                                        </p:tgtEl>
                                      </p:cBhvr>
                                    </p:animEffect>
                                  </p:childTnLst>
                                </p:cTn>
                              </p:par>
                            </p:childTnLst>
                          </p:cTn>
                        </p:par>
                        <p:par>
                          <p:cTn id="64" fill="hold">
                            <p:stCondLst>
                              <p:cond delay="4950"/>
                            </p:stCondLst>
                            <p:childTnLst>
                              <p:par>
                                <p:cTn id="65" presetID="10" presetClass="entr" presetSubtype="0" fill="hold" grpId="0" nodeType="after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15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200"/>
                                        <p:tgtEl>
                                          <p:spTgt spid="30"/>
                                        </p:tgtEl>
                                      </p:cBhvr>
                                    </p:animEffect>
                                  </p:childTnLst>
                                </p:cTn>
                              </p:par>
                            </p:childTnLst>
                          </p:cTn>
                        </p:par>
                        <p:par>
                          <p:cTn id="71" fill="hold">
                            <p:stCondLst>
                              <p:cond delay="5150"/>
                            </p:stCondLst>
                            <p:childTnLst>
                              <p:par>
                                <p:cTn id="72" presetID="22" presetClass="entr" presetSubtype="8" fill="hold" grpId="0" nodeType="after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wipe(left)">
                                      <p:cBhvr>
                                        <p:cTn id="74" dur="500"/>
                                        <p:tgtEl>
                                          <p:spTgt spid="31"/>
                                        </p:tgtEl>
                                      </p:cBhvr>
                                    </p:animEffect>
                                  </p:childTnLst>
                                </p:cTn>
                              </p:par>
                              <p:par>
                                <p:cTn id="75" presetID="10" presetClass="entr" presetSubtype="0" fill="hold" grpId="0" nodeType="withEffect">
                                  <p:stCondLst>
                                    <p:cond delay="30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200"/>
                                        <p:tgtEl>
                                          <p:spTgt spid="32"/>
                                        </p:tgtEl>
                                      </p:cBhvr>
                                    </p:animEffect>
                                  </p:childTnLst>
                                </p:cTn>
                              </p:par>
                            </p:childTnLst>
                          </p:cTn>
                        </p:par>
                        <p:par>
                          <p:cTn id="78" fill="hold">
                            <p:stCondLst>
                              <p:cond delay="5650"/>
                            </p:stCondLst>
                            <p:childTnLst>
                              <p:par>
                                <p:cTn id="79" presetID="53" presetClass="entr" presetSubtype="16" fill="hold" nodeType="afterEffect">
                                  <p:stCondLst>
                                    <p:cond delay="0"/>
                                  </p:stCondLst>
                                  <p:childTnLst>
                                    <p:set>
                                      <p:cBhvr>
                                        <p:cTn id="80" dur="1" fill="hold">
                                          <p:stCondLst>
                                            <p:cond delay="0"/>
                                          </p:stCondLst>
                                        </p:cTn>
                                        <p:tgtEl>
                                          <p:spTgt spid="33"/>
                                        </p:tgtEl>
                                        <p:attrNameLst>
                                          <p:attrName>style.visibility</p:attrName>
                                        </p:attrNameLst>
                                      </p:cBhvr>
                                      <p:to>
                                        <p:strVal val="visible"/>
                                      </p:to>
                                    </p:set>
                                    <p:anim calcmode="lin" valueType="num">
                                      <p:cBhvr>
                                        <p:cTn id="81" dur="400" fill="hold"/>
                                        <p:tgtEl>
                                          <p:spTgt spid="33"/>
                                        </p:tgtEl>
                                        <p:attrNameLst>
                                          <p:attrName>ppt_w</p:attrName>
                                        </p:attrNameLst>
                                      </p:cBhvr>
                                      <p:tavLst>
                                        <p:tav tm="0">
                                          <p:val>
                                            <p:fltVal val="0"/>
                                          </p:val>
                                        </p:tav>
                                        <p:tav tm="100000">
                                          <p:val>
                                            <p:strVal val="#ppt_w"/>
                                          </p:val>
                                        </p:tav>
                                      </p:tavLst>
                                    </p:anim>
                                    <p:anim calcmode="lin" valueType="num">
                                      <p:cBhvr>
                                        <p:cTn id="82" dur="400" fill="hold"/>
                                        <p:tgtEl>
                                          <p:spTgt spid="33"/>
                                        </p:tgtEl>
                                        <p:attrNameLst>
                                          <p:attrName>ppt_h</p:attrName>
                                        </p:attrNameLst>
                                      </p:cBhvr>
                                      <p:tavLst>
                                        <p:tav tm="0">
                                          <p:val>
                                            <p:fltVal val="0"/>
                                          </p:val>
                                        </p:tav>
                                        <p:tav tm="100000">
                                          <p:val>
                                            <p:strVal val="#ppt_h"/>
                                          </p:val>
                                        </p:tav>
                                      </p:tavLst>
                                    </p:anim>
                                    <p:animEffect transition="in" filter="fade">
                                      <p:cBhvr>
                                        <p:cTn id="83" dur="400"/>
                                        <p:tgtEl>
                                          <p:spTgt spid="33"/>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4"/>
                                        </p:tgtEl>
                                        <p:attrNameLst>
                                          <p:attrName>style.visibility</p:attrName>
                                        </p:attrNameLst>
                                      </p:cBhvr>
                                      <p:to>
                                        <p:strVal val="visible"/>
                                      </p:to>
                                    </p:set>
                                    <p:animEffect transition="in" filter="fade">
                                      <p:cBhvr>
                                        <p:cTn id="86" dur="300"/>
                                        <p:tgtEl>
                                          <p:spTgt spid="34"/>
                                        </p:tgtEl>
                                      </p:cBhvr>
                                    </p:animEffect>
                                  </p:childTnLst>
                                </p:cTn>
                              </p:par>
                            </p:childTnLst>
                          </p:cTn>
                        </p:par>
                        <p:par>
                          <p:cTn id="87" fill="hold">
                            <p:stCondLst>
                              <p:cond delay="6050"/>
                            </p:stCondLst>
                            <p:childTnLst>
                              <p:par>
                                <p:cTn id="88" presetID="10" presetClass="entr" presetSubtype="0" fill="hold" grpId="0" nodeType="afterEffect">
                                  <p:stCondLst>
                                    <p:cond delay="0"/>
                                  </p:stCondLst>
                                  <p:childTnLst>
                                    <p:set>
                                      <p:cBhvr>
                                        <p:cTn id="89" dur="1" fill="hold">
                                          <p:stCondLst>
                                            <p:cond delay="0"/>
                                          </p:stCondLst>
                                        </p:cTn>
                                        <p:tgtEl>
                                          <p:spTgt spid="35"/>
                                        </p:tgtEl>
                                        <p:attrNameLst>
                                          <p:attrName>style.visibility</p:attrName>
                                        </p:attrNameLst>
                                      </p:cBhvr>
                                      <p:to>
                                        <p:strVal val="visible"/>
                                      </p:to>
                                    </p:set>
                                    <p:animEffect transition="in" filter="fade">
                                      <p:cBhvr>
                                        <p:cTn id="90" dur="300"/>
                                        <p:tgtEl>
                                          <p:spTgt spid="35"/>
                                        </p:tgtEl>
                                      </p:cBhvr>
                                    </p:animEffect>
                                  </p:childTnLst>
                                </p:cTn>
                              </p:par>
                            </p:childTnLst>
                          </p:cTn>
                        </p:par>
                        <p:par>
                          <p:cTn id="91" fill="hold">
                            <p:stCondLst>
                              <p:cond delay="6350"/>
                            </p:stCondLst>
                            <p:childTnLst>
                              <p:par>
                                <p:cTn id="92" presetID="2" presetClass="entr" presetSubtype="2" fill="hold" nodeType="afterEffect">
                                  <p:stCondLst>
                                    <p:cond delay="0"/>
                                  </p:stCondLst>
                                  <p:childTnLst>
                                    <p:set>
                                      <p:cBhvr>
                                        <p:cTn id="93" dur="1" fill="hold">
                                          <p:stCondLst>
                                            <p:cond delay="0"/>
                                          </p:stCondLst>
                                        </p:cTn>
                                        <p:tgtEl>
                                          <p:spTgt spid="41"/>
                                        </p:tgtEl>
                                        <p:attrNameLst>
                                          <p:attrName>style.visibility</p:attrName>
                                        </p:attrNameLst>
                                      </p:cBhvr>
                                      <p:to>
                                        <p:strVal val="visible"/>
                                      </p:to>
                                    </p:set>
                                    <p:anim calcmode="lin" valueType="num">
                                      <p:cBhvr additive="base">
                                        <p:cTn id="94" dur="500" fill="hold"/>
                                        <p:tgtEl>
                                          <p:spTgt spid="41"/>
                                        </p:tgtEl>
                                        <p:attrNameLst>
                                          <p:attrName>ppt_x</p:attrName>
                                        </p:attrNameLst>
                                      </p:cBhvr>
                                      <p:tavLst>
                                        <p:tav tm="0">
                                          <p:val>
                                            <p:strVal val="1+#ppt_w/2"/>
                                          </p:val>
                                        </p:tav>
                                        <p:tav tm="100000">
                                          <p:val>
                                            <p:strVal val="#ppt_x"/>
                                          </p:val>
                                        </p:tav>
                                      </p:tavLst>
                                    </p:anim>
                                    <p:anim calcmode="lin" valueType="num">
                                      <p:cBhvr additive="base">
                                        <p:cTn id="95" dur="500" fill="hold"/>
                                        <p:tgtEl>
                                          <p:spTgt spid="41"/>
                                        </p:tgtEl>
                                        <p:attrNameLst>
                                          <p:attrName>ppt_y</p:attrName>
                                        </p:attrNameLst>
                                      </p:cBhvr>
                                      <p:tavLst>
                                        <p:tav tm="0">
                                          <p:val>
                                            <p:strVal val="#ppt_y"/>
                                          </p:val>
                                        </p:tav>
                                        <p:tav tm="100000">
                                          <p:val>
                                            <p:strVal val="#ppt_y"/>
                                          </p:val>
                                        </p:tav>
                                      </p:tavLst>
                                    </p:anim>
                                  </p:childTnLst>
                                </p:cTn>
                              </p:par>
                            </p:childTnLst>
                          </p:cTn>
                        </p:par>
                        <p:par>
                          <p:cTn id="96" fill="hold">
                            <p:stCondLst>
                              <p:cond delay="6850"/>
                            </p:stCondLst>
                            <p:childTnLst>
                              <p:par>
                                <p:cTn id="97" presetID="2" presetClass="entr" presetSubtype="2" fill="hold" nodeType="afterEffect">
                                  <p:stCondLst>
                                    <p:cond delay="0"/>
                                  </p:stCondLst>
                                  <p:childTnLst>
                                    <p:set>
                                      <p:cBhvr>
                                        <p:cTn id="98" dur="1" fill="hold">
                                          <p:stCondLst>
                                            <p:cond delay="0"/>
                                          </p:stCondLst>
                                        </p:cTn>
                                        <p:tgtEl>
                                          <p:spTgt spid="47"/>
                                        </p:tgtEl>
                                        <p:attrNameLst>
                                          <p:attrName>style.visibility</p:attrName>
                                        </p:attrNameLst>
                                      </p:cBhvr>
                                      <p:to>
                                        <p:strVal val="visible"/>
                                      </p:to>
                                    </p:set>
                                    <p:anim calcmode="lin" valueType="num">
                                      <p:cBhvr additive="base">
                                        <p:cTn id="99" dur="500" fill="hold"/>
                                        <p:tgtEl>
                                          <p:spTgt spid="47"/>
                                        </p:tgtEl>
                                        <p:attrNameLst>
                                          <p:attrName>ppt_x</p:attrName>
                                        </p:attrNameLst>
                                      </p:cBhvr>
                                      <p:tavLst>
                                        <p:tav tm="0">
                                          <p:val>
                                            <p:strVal val="1+#ppt_w/2"/>
                                          </p:val>
                                        </p:tav>
                                        <p:tav tm="100000">
                                          <p:val>
                                            <p:strVal val="#ppt_x"/>
                                          </p:val>
                                        </p:tav>
                                      </p:tavLst>
                                    </p:anim>
                                    <p:anim calcmode="lin" valueType="num">
                                      <p:cBhvr additive="base">
                                        <p:cTn id="100" dur="500" fill="hold"/>
                                        <p:tgtEl>
                                          <p:spTgt spid="47"/>
                                        </p:tgtEl>
                                        <p:attrNameLst>
                                          <p:attrName>ppt_y</p:attrName>
                                        </p:attrNameLst>
                                      </p:cBhvr>
                                      <p:tavLst>
                                        <p:tav tm="0">
                                          <p:val>
                                            <p:strVal val="#ppt_y"/>
                                          </p:val>
                                        </p:tav>
                                        <p:tav tm="100000">
                                          <p:val>
                                            <p:strVal val="#ppt_y"/>
                                          </p:val>
                                        </p:tav>
                                      </p:tavLst>
                                    </p:anim>
                                  </p:childTnLst>
                                </p:cTn>
                              </p:par>
                            </p:childTnLst>
                          </p:cTn>
                        </p:par>
                        <p:par>
                          <p:cTn id="101" fill="hold">
                            <p:stCondLst>
                              <p:cond delay="7350"/>
                            </p:stCondLst>
                            <p:childTnLst>
                              <p:par>
                                <p:cTn id="102" presetID="2" presetClass="entr" presetSubtype="2" fill="hold" nodeType="afterEffect">
                                  <p:stCondLst>
                                    <p:cond delay="0"/>
                                  </p:stCondLst>
                                  <p:childTnLst>
                                    <p:set>
                                      <p:cBhvr>
                                        <p:cTn id="103" dur="1" fill="hold">
                                          <p:stCondLst>
                                            <p:cond delay="0"/>
                                          </p:stCondLst>
                                        </p:cTn>
                                        <p:tgtEl>
                                          <p:spTgt spid="53"/>
                                        </p:tgtEl>
                                        <p:attrNameLst>
                                          <p:attrName>style.visibility</p:attrName>
                                        </p:attrNameLst>
                                      </p:cBhvr>
                                      <p:to>
                                        <p:strVal val="visible"/>
                                      </p:to>
                                    </p:set>
                                    <p:anim calcmode="lin" valueType="num">
                                      <p:cBhvr additive="base">
                                        <p:cTn id="104" dur="500" fill="hold"/>
                                        <p:tgtEl>
                                          <p:spTgt spid="53"/>
                                        </p:tgtEl>
                                        <p:attrNameLst>
                                          <p:attrName>ppt_x</p:attrName>
                                        </p:attrNameLst>
                                      </p:cBhvr>
                                      <p:tavLst>
                                        <p:tav tm="0">
                                          <p:val>
                                            <p:strVal val="1+#ppt_w/2"/>
                                          </p:val>
                                        </p:tav>
                                        <p:tav tm="100000">
                                          <p:val>
                                            <p:strVal val="#ppt_x"/>
                                          </p:val>
                                        </p:tav>
                                      </p:tavLst>
                                    </p:anim>
                                    <p:anim calcmode="lin" valueType="num">
                                      <p:cBhvr additive="base">
                                        <p:cTn id="105" dur="500" fill="hold"/>
                                        <p:tgtEl>
                                          <p:spTgt spid="53"/>
                                        </p:tgtEl>
                                        <p:attrNameLst>
                                          <p:attrName>ppt_y</p:attrName>
                                        </p:attrNameLst>
                                      </p:cBhvr>
                                      <p:tavLst>
                                        <p:tav tm="0">
                                          <p:val>
                                            <p:strVal val="#ppt_y"/>
                                          </p:val>
                                        </p:tav>
                                        <p:tav tm="100000">
                                          <p:val>
                                            <p:strVal val="#ppt_y"/>
                                          </p:val>
                                        </p:tav>
                                      </p:tavLst>
                                    </p:anim>
                                  </p:childTnLst>
                                </p:cTn>
                              </p:par>
                            </p:childTnLst>
                          </p:cTn>
                        </p:par>
                        <p:par>
                          <p:cTn id="106" fill="hold">
                            <p:stCondLst>
                              <p:cond delay="7850"/>
                            </p:stCondLst>
                            <p:childTnLst>
                              <p:par>
                                <p:cTn id="107" presetID="2" presetClass="entr" presetSubtype="2" fill="hold" nodeType="afterEffect">
                                  <p:stCondLst>
                                    <p:cond delay="0"/>
                                  </p:stCondLst>
                                  <p:childTnLst>
                                    <p:set>
                                      <p:cBhvr>
                                        <p:cTn id="108" dur="1" fill="hold">
                                          <p:stCondLst>
                                            <p:cond delay="0"/>
                                          </p:stCondLst>
                                        </p:cTn>
                                        <p:tgtEl>
                                          <p:spTgt spid="59"/>
                                        </p:tgtEl>
                                        <p:attrNameLst>
                                          <p:attrName>style.visibility</p:attrName>
                                        </p:attrNameLst>
                                      </p:cBhvr>
                                      <p:to>
                                        <p:strVal val="visible"/>
                                      </p:to>
                                    </p:set>
                                    <p:anim calcmode="lin" valueType="num">
                                      <p:cBhvr additive="base">
                                        <p:cTn id="109" dur="500" fill="hold"/>
                                        <p:tgtEl>
                                          <p:spTgt spid="59"/>
                                        </p:tgtEl>
                                        <p:attrNameLst>
                                          <p:attrName>ppt_x</p:attrName>
                                        </p:attrNameLst>
                                      </p:cBhvr>
                                      <p:tavLst>
                                        <p:tav tm="0">
                                          <p:val>
                                            <p:strVal val="1+#ppt_w/2"/>
                                          </p:val>
                                        </p:tav>
                                        <p:tav tm="100000">
                                          <p:val>
                                            <p:strVal val="#ppt_x"/>
                                          </p:val>
                                        </p:tav>
                                      </p:tavLst>
                                    </p:anim>
                                    <p:anim calcmode="lin" valueType="num">
                                      <p:cBhvr additive="base">
                                        <p:cTn id="110" dur="500" fill="hold"/>
                                        <p:tgtEl>
                                          <p:spTgt spid="59"/>
                                        </p:tgtEl>
                                        <p:attrNameLst>
                                          <p:attrName>ppt_y</p:attrName>
                                        </p:attrNameLst>
                                      </p:cBhvr>
                                      <p:tavLst>
                                        <p:tav tm="0">
                                          <p:val>
                                            <p:strVal val="#ppt_y"/>
                                          </p:val>
                                        </p:tav>
                                        <p:tav tm="100000">
                                          <p:val>
                                            <p:strVal val="#ppt_y"/>
                                          </p:val>
                                        </p:tav>
                                      </p:tavLst>
                                    </p:anim>
                                  </p:childTnLst>
                                </p:cTn>
                              </p:par>
                            </p:childTnLst>
                          </p:cTn>
                        </p:par>
                        <p:par>
                          <p:cTn id="111" fill="hold">
                            <p:stCondLst>
                              <p:cond delay="8350"/>
                            </p:stCondLst>
                            <p:childTnLst>
                              <p:par>
                                <p:cTn id="112" presetID="2" presetClass="entr" presetSubtype="2" fill="hold" nodeType="afterEffect">
                                  <p:stCondLst>
                                    <p:cond delay="0"/>
                                  </p:stCondLst>
                                  <p:childTnLst>
                                    <p:set>
                                      <p:cBhvr>
                                        <p:cTn id="113" dur="1" fill="hold">
                                          <p:stCondLst>
                                            <p:cond delay="0"/>
                                          </p:stCondLst>
                                        </p:cTn>
                                        <p:tgtEl>
                                          <p:spTgt spid="65"/>
                                        </p:tgtEl>
                                        <p:attrNameLst>
                                          <p:attrName>style.visibility</p:attrName>
                                        </p:attrNameLst>
                                      </p:cBhvr>
                                      <p:to>
                                        <p:strVal val="visible"/>
                                      </p:to>
                                    </p:set>
                                    <p:anim calcmode="lin" valueType="num">
                                      <p:cBhvr additive="base">
                                        <p:cTn id="114" dur="500" fill="hold"/>
                                        <p:tgtEl>
                                          <p:spTgt spid="65"/>
                                        </p:tgtEl>
                                        <p:attrNameLst>
                                          <p:attrName>ppt_x</p:attrName>
                                        </p:attrNameLst>
                                      </p:cBhvr>
                                      <p:tavLst>
                                        <p:tav tm="0">
                                          <p:val>
                                            <p:strVal val="1+#ppt_w/2"/>
                                          </p:val>
                                        </p:tav>
                                        <p:tav tm="100000">
                                          <p:val>
                                            <p:strVal val="#ppt_x"/>
                                          </p:val>
                                        </p:tav>
                                      </p:tavLst>
                                    </p:anim>
                                    <p:anim calcmode="lin" valueType="num">
                                      <p:cBhvr additive="base">
                                        <p:cTn id="115" dur="500" fill="hold"/>
                                        <p:tgtEl>
                                          <p:spTgt spid="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6" grpId="0"/>
      <p:bldP spid="17" grpId="0"/>
      <p:bldP spid="18" grpId="0" animBg="1"/>
      <p:bldP spid="19" grpId="0" animBg="1"/>
      <p:bldP spid="20" grpId="0"/>
      <p:bldP spid="21" grpId="0"/>
      <p:bldP spid="22" grpId="0" animBg="1"/>
      <p:bldP spid="23" grpId="0" animBg="1"/>
      <p:bldP spid="24" grpId="0"/>
      <p:bldP spid="25" grpId="0"/>
      <p:bldP spid="26" grpId="0" animBg="1"/>
      <p:bldP spid="27" grpId="0" animBg="1"/>
      <p:bldP spid="28" grpId="0"/>
      <p:bldP spid="29" grpId="0"/>
      <p:bldP spid="30" grpId="0" animBg="1"/>
      <p:bldP spid="31" grpId="0" animBg="1"/>
      <p:bldP spid="32" grpId="0"/>
      <p:bldP spid="34" grpId="0"/>
      <p:bldP spid="35"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32325"/>
        </a:solidFill>
        <a:effectLst/>
      </p:bgPr>
    </p:bg>
    <p:spTree>
      <p:nvGrpSpPr>
        <p:cNvPr id="1" name=""/>
        <p:cNvGrpSpPr/>
        <p:nvPr/>
      </p:nvGrpSpPr>
      <p:grpSpPr>
        <a:xfrm>
          <a:off x="0" y="0"/>
          <a:ext cx="0" cy="0"/>
          <a:chOff x="0" y="0"/>
          <a:chExt cx="0" cy="0"/>
        </a:xfrm>
      </p:grpSpPr>
      <p:sp>
        <p:nvSpPr>
          <p:cNvPr id="2" name="!!seg8"/>
          <p:cNvSpPr/>
          <p:nvPr/>
        </p:nvSpPr>
        <p:spPr>
          <a:xfrm>
            <a:off x="16184880" y="566928"/>
            <a:ext cx="1097280" cy="118872"/>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seg7"/>
          <p:cNvSpPr/>
          <p:nvPr/>
        </p:nvSpPr>
        <p:spPr>
          <a:xfrm>
            <a:off x="15782543"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seg6"/>
          <p:cNvSpPr/>
          <p:nvPr/>
        </p:nvSpPr>
        <p:spPr>
          <a:xfrm>
            <a:off x="1538020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seg5"/>
          <p:cNvSpPr/>
          <p:nvPr/>
        </p:nvSpPr>
        <p:spPr>
          <a:xfrm>
            <a:off x="14977871"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seg4"/>
          <p:cNvSpPr/>
          <p:nvPr/>
        </p:nvSpPr>
        <p:spPr>
          <a:xfrm>
            <a:off x="14575535"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eg3"/>
          <p:cNvSpPr/>
          <p:nvPr/>
        </p:nvSpPr>
        <p:spPr>
          <a:xfrm>
            <a:off x="14173199"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eg2"/>
          <p:cNvSpPr/>
          <p:nvPr/>
        </p:nvSpPr>
        <p:spPr>
          <a:xfrm>
            <a:off x="13770863"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seg1"/>
          <p:cNvSpPr/>
          <p:nvPr/>
        </p:nvSpPr>
        <p:spPr>
          <a:xfrm>
            <a:off x="1336852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egno"/>
          <p:cNvSpPr txBox="1"/>
          <p:nvPr/>
        </p:nvSpPr>
        <p:spPr>
          <a:xfrm>
            <a:off x="10808207" y="429768"/>
            <a:ext cx="2423160" cy="384048"/>
          </a:xfrm>
          <a:prstGeom prst="rect">
            <a:avLst/>
          </a:prstGeom>
          <a:noFill/>
        </p:spPr>
        <p:txBody>
          <a:bodyPr wrap="square" lIns="45720" rIns="45720" anchor="t"/>
          <a:lstStyle/>
          <a:p>
            <a:pPr algn="r">
              <a:lnSpc>
                <a:spcPct val="100000"/>
              </a:lnSpc>
            </a:pPr>
            <a:r>
              <a:rPr sz="1500" b="0" i="0">
                <a:solidFill>
                  <a:srgbClr val="8E8E93"/>
                </a:solidFill>
                <a:latin typeface="Oswald"/>
              </a:rPr>
              <a:t>08 / 08</a:t>
            </a:r>
          </a:p>
        </p:txBody>
      </p:sp>
      <p:sp>
        <p:nvSpPr>
          <p:cNvPr id="11" name="Kicker 299"/>
          <p:cNvSpPr txBox="1"/>
          <p:nvPr/>
        </p:nvSpPr>
        <p:spPr>
          <a:xfrm>
            <a:off x="1005840" y="457200"/>
            <a:ext cx="8229600" cy="411480"/>
          </a:xfrm>
          <a:prstGeom prst="rect">
            <a:avLst/>
          </a:prstGeom>
          <a:noFill/>
        </p:spPr>
        <p:txBody>
          <a:bodyPr wrap="square" lIns="45720" rIns="45720" anchor="t"/>
          <a:lstStyle/>
          <a:p>
            <a:pPr algn="l">
              <a:lnSpc>
                <a:spcPct val="100000"/>
              </a:lnSpc>
            </a:pPr>
            <a:r>
              <a:rPr sz="1600" b="1" i="0">
                <a:solidFill>
                  <a:srgbClr val="C1FF72"/>
                </a:solidFill>
                <a:latin typeface="Titillium Web"/>
              </a:rPr>
              <a:t>08  ·  CONCLUSION</a:t>
            </a:r>
          </a:p>
        </p:txBody>
      </p:sp>
      <p:sp>
        <p:nvSpPr>
          <p:cNvPr id="12" name="Title 300"/>
          <p:cNvSpPr txBox="1"/>
          <p:nvPr/>
        </p:nvSpPr>
        <p:spPr>
          <a:xfrm>
            <a:off x="1005840" y="841248"/>
            <a:ext cx="10972800" cy="1051560"/>
          </a:xfrm>
          <a:prstGeom prst="rect">
            <a:avLst/>
          </a:prstGeom>
          <a:noFill/>
        </p:spPr>
        <p:txBody>
          <a:bodyPr wrap="square" lIns="45720" rIns="45720" anchor="t"/>
          <a:lstStyle/>
          <a:p>
            <a:pPr algn="l">
              <a:lnSpc>
                <a:spcPct val="100000"/>
              </a:lnSpc>
            </a:pPr>
            <a:r>
              <a:rPr sz="5400" b="0" i="0">
                <a:solidFill>
                  <a:srgbClr val="EDEDED"/>
                </a:solidFill>
                <a:latin typeface="Oswald"/>
              </a:rPr>
              <a:t>CONCLUSION</a:t>
            </a:r>
          </a:p>
        </p:txBody>
      </p:sp>
      <p:sp>
        <p:nvSpPr>
          <p:cNvPr id="13" name="Subtitle 301"/>
          <p:cNvSpPr txBox="1"/>
          <p:nvPr/>
        </p:nvSpPr>
        <p:spPr>
          <a:xfrm>
            <a:off x="1005840" y="1828800"/>
            <a:ext cx="10972800" cy="502920"/>
          </a:xfrm>
          <a:prstGeom prst="rect">
            <a:avLst/>
          </a:prstGeom>
          <a:noFill/>
        </p:spPr>
        <p:txBody>
          <a:bodyPr wrap="square" lIns="45720" rIns="45720" anchor="t"/>
          <a:lstStyle/>
          <a:p>
            <a:pPr algn="l">
              <a:lnSpc>
                <a:spcPct val="100000"/>
              </a:lnSpc>
            </a:pPr>
            <a:r>
              <a:rPr sz="2100" b="0" i="0">
                <a:solidFill>
                  <a:srgbClr val="8E8E93"/>
                </a:solidFill>
                <a:latin typeface="Titillium Web"/>
              </a:rPr>
              <a:t>What the study shows, and what it does not</a:t>
            </a:r>
          </a:p>
        </p:txBody>
      </p:sp>
      <p:sp>
        <p:nvSpPr>
          <p:cNvPr id="14" name="Source"/>
          <p:cNvSpPr txBox="1"/>
          <p:nvPr/>
        </p:nvSpPr>
        <p:spPr>
          <a:xfrm>
            <a:off x="1005840" y="9710928"/>
            <a:ext cx="14447520" cy="347472"/>
          </a:xfrm>
          <a:prstGeom prst="rect">
            <a:avLst/>
          </a:prstGeom>
          <a:noFill/>
        </p:spPr>
        <p:txBody>
          <a:bodyPr wrap="square" lIns="45720" rIns="45720" anchor="t"/>
          <a:lstStyle/>
          <a:p>
            <a:pPr algn="l">
              <a:lnSpc>
                <a:spcPct val="100000"/>
              </a:lnSpc>
            </a:pPr>
            <a:r>
              <a:rPr sz="1300" b="0" i="0">
                <a:solidFill>
                  <a:srgbClr val="5C5C61"/>
                </a:solidFill>
                <a:latin typeface="Titillium Web"/>
              </a:rPr>
              <a:t>Thesis §5.1 Conclusion; §4.9</a:t>
            </a:r>
          </a:p>
        </p:txBody>
      </p:sp>
      <p:sp>
        <p:nvSpPr>
          <p:cNvPr id="15" name="Page"/>
          <p:cNvSpPr txBox="1"/>
          <p:nvPr/>
        </p:nvSpPr>
        <p:spPr>
          <a:xfrm>
            <a:off x="15453359" y="9710928"/>
            <a:ext cx="1828800" cy="347472"/>
          </a:xfrm>
          <a:prstGeom prst="rect">
            <a:avLst/>
          </a:prstGeom>
          <a:noFill/>
        </p:spPr>
        <p:txBody>
          <a:bodyPr wrap="square" lIns="45720" rIns="45720" anchor="t"/>
          <a:lstStyle/>
          <a:p>
            <a:pPr algn="r">
              <a:lnSpc>
                <a:spcPct val="100000"/>
              </a:lnSpc>
            </a:pPr>
            <a:r>
              <a:rPr sz="1300" b="0" i="0">
                <a:solidFill>
                  <a:srgbClr val="5C5C61"/>
                </a:solidFill>
                <a:latin typeface="Oswald"/>
              </a:rPr>
              <a:t>18</a:t>
            </a:r>
          </a:p>
        </p:txBody>
      </p:sp>
      <p:pic>
        <p:nvPicPr>
          <p:cNvPr id="16" name="!!photo" descr="36740854-0.475-0.50-0.50.jpg"/>
          <p:cNvPicPr>
            <a:picLocks noChangeAspect="1"/>
          </p:cNvPicPr>
          <p:nvPr/>
        </p:nvPicPr>
        <p:blipFill>
          <a:blip r:embed="rId3"/>
          <a:stretch>
            <a:fillRect/>
          </a:stretch>
        </p:blipFill>
        <p:spPr>
          <a:xfrm>
            <a:off x="13304520" y="1051560"/>
            <a:ext cx="3977639" cy="8366760"/>
          </a:xfrm>
          <a:prstGeom prst="roundRect">
            <a:avLst>
              <a:gd name="adj" fmla="val 8045"/>
            </a:avLst>
          </a:prstGeom>
          <a:effectLst>
            <a:outerShdw blurRad="279400" dist="114300" dir="2700000" algn="ctr" rotWithShape="0">
              <a:srgbClr val="0E0E10">
                <a:alpha val="70000"/>
              </a:srgbClr>
            </a:outerShdw>
          </a:effectLst>
        </p:spPr>
      </p:pic>
      <p:grpSp>
        <p:nvGrpSpPr>
          <p:cNvPr id="21" name="Big 302"/>
          <p:cNvGrpSpPr/>
          <p:nvPr/>
        </p:nvGrpSpPr>
        <p:grpSpPr>
          <a:xfrm>
            <a:off x="1005840" y="2606040"/>
            <a:ext cx="2777490" cy="2148840"/>
            <a:chOff x="1005840" y="2606040"/>
            <a:chExt cx="2777490" cy="2148840"/>
          </a:xfrm>
        </p:grpSpPr>
        <p:sp>
          <p:nvSpPr>
            <p:cNvPr id="17" name="Big light"/>
            <p:cNvSpPr/>
            <p:nvPr/>
          </p:nvSpPr>
          <p:spPr>
            <a:xfrm>
              <a:off x="1005840" y="2606040"/>
              <a:ext cx="2777490" cy="2148840"/>
            </a:xfrm>
            <a:prstGeom prst="roundRect">
              <a:avLst>
                <a:gd name="adj" fmla="val 12765"/>
              </a:avLst>
            </a:prstGeom>
            <a:solidFill>
              <a:srgbClr val="33402A"/>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Big"/>
            <p:cNvSpPr/>
            <p:nvPr/>
          </p:nvSpPr>
          <p:spPr>
            <a:xfrm>
              <a:off x="1005840" y="2606040"/>
              <a:ext cx="2777490" cy="2148840"/>
            </a:xfrm>
            <a:prstGeom prst="roundRect">
              <a:avLst>
                <a:gd name="adj" fmla="val 12765"/>
              </a:avLst>
            </a:prstGeom>
            <a:solidFill>
              <a:srgbClr val="33402A"/>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Big value"/>
            <p:cNvSpPr txBox="1"/>
            <p:nvPr/>
          </p:nvSpPr>
          <p:spPr>
            <a:xfrm>
              <a:off x="1234440" y="2697480"/>
              <a:ext cx="2320290" cy="1051560"/>
            </a:xfrm>
            <a:prstGeom prst="rect">
              <a:avLst/>
            </a:prstGeom>
            <a:noFill/>
          </p:spPr>
          <p:txBody>
            <a:bodyPr wrap="square" lIns="45720" rIns="45720" anchor="t"/>
            <a:lstStyle/>
            <a:p>
              <a:pPr algn="l">
                <a:lnSpc>
                  <a:spcPct val="100000"/>
                </a:lnSpc>
              </a:pPr>
              <a:r>
                <a:rPr sz="4600" b="0" i="0">
                  <a:solidFill>
                    <a:srgbClr val="C1FF72"/>
                  </a:solidFill>
                  <a:latin typeface="Oswald"/>
                </a:rPr>
                <a:t>284/300</a:t>
              </a:r>
            </a:p>
          </p:txBody>
        </p:sp>
        <p:sp>
          <p:nvSpPr>
            <p:cNvPr id="20" name="Big key"/>
            <p:cNvSpPr txBox="1"/>
            <p:nvPr/>
          </p:nvSpPr>
          <p:spPr>
            <a:xfrm>
              <a:off x="1234440" y="3749039"/>
              <a:ext cx="2320290" cy="914400"/>
            </a:xfrm>
            <a:prstGeom prst="rect">
              <a:avLst/>
            </a:prstGeom>
            <a:noFill/>
          </p:spPr>
          <p:txBody>
            <a:bodyPr wrap="square" lIns="45720" rIns="45720" anchor="t"/>
            <a:lstStyle/>
            <a:p>
              <a:pPr algn="l">
                <a:lnSpc>
                  <a:spcPct val="95000"/>
                </a:lnSpc>
              </a:pPr>
              <a:r>
                <a:rPr sz="1650" b="0" i="0">
                  <a:solidFill>
                    <a:srgbClr val="BDBDC1"/>
                  </a:solidFill>
                  <a:latin typeface="Titillium Web"/>
                </a:rPr>
                <a:t>URLs classified correctly</a:t>
              </a:r>
            </a:p>
          </p:txBody>
        </p:sp>
      </p:grpSp>
      <p:grpSp>
        <p:nvGrpSpPr>
          <p:cNvPr id="26" name="Big 303"/>
          <p:cNvGrpSpPr/>
          <p:nvPr/>
        </p:nvGrpSpPr>
        <p:grpSpPr>
          <a:xfrm>
            <a:off x="4057650" y="2606040"/>
            <a:ext cx="2777490" cy="2148840"/>
            <a:chOff x="4057650" y="2606040"/>
            <a:chExt cx="2777490" cy="2148840"/>
          </a:xfrm>
        </p:grpSpPr>
        <p:sp>
          <p:nvSpPr>
            <p:cNvPr id="22" name="Big light"/>
            <p:cNvSpPr/>
            <p:nvPr/>
          </p:nvSpPr>
          <p:spPr>
            <a:xfrm>
              <a:off x="4057650" y="2606040"/>
              <a:ext cx="2777490" cy="2148840"/>
            </a:xfrm>
            <a:prstGeom prst="roundRect">
              <a:avLst>
                <a:gd name="adj" fmla="val 12765"/>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3" name="Big"/>
            <p:cNvSpPr/>
            <p:nvPr/>
          </p:nvSpPr>
          <p:spPr>
            <a:xfrm>
              <a:off x="4057650" y="2606040"/>
              <a:ext cx="2777490" cy="2148840"/>
            </a:xfrm>
            <a:prstGeom prst="roundRect">
              <a:avLst>
                <a:gd name="adj" fmla="val 12765"/>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Big value"/>
            <p:cNvSpPr txBox="1"/>
            <p:nvPr/>
          </p:nvSpPr>
          <p:spPr>
            <a:xfrm>
              <a:off x="4286250" y="2697480"/>
              <a:ext cx="2320290" cy="1051560"/>
            </a:xfrm>
            <a:prstGeom prst="rect">
              <a:avLst/>
            </a:prstGeom>
            <a:noFill/>
          </p:spPr>
          <p:txBody>
            <a:bodyPr wrap="square" lIns="45720" rIns="45720" anchor="t"/>
            <a:lstStyle/>
            <a:p>
              <a:pPr algn="l">
                <a:lnSpc>
                  <a:spcPct val="100000"/>
                </a:lnSpc>
              </a:pPr>
              <a:r>
                <a:rPr sz="4600" b="0" i="0">
                  <a:solidFill>
                    <a:srgbClr val="EDEDED"/>
                  </a:solidFill>
                  <a:latin typeface="Oswald"/>
                </a:rPr>
                <a:t>137</a:t>
              </a:r>
            </a:p>
          </p:txBody>
        </p:sp>
        <p:sp>
          <p:nvSpPr>
            <p:cNvPr id="25" name="Big key"/>
            <p:cNvSpPr txBox="1"/>
            <p:nvPr/>
          </p:nvSpPr>
          <p:spPr>
            <a:xfrm>
              <a:off x="4286250" y="3749039"/>
              <a:ext cx="2320290" cy="914400"/>
            </a:xfrm>
            <a:prstGeom prst="rect">
              <a:avLst/>
            </a:prstGeom>
            <a:noFill/>
          </p:spPr>
          <p:txBody>
            <a:bodyPr wrap="square" lIns="45720" rIns="45720" anchor="t"/>
            <a:lstStyle/>
            <a:p>
              <a:pPr algn="l">
                <a:lnSpc>
                  <a:spcPct val="95000"/>
                </a:lnSpc>
              </a:pPr>
              <a:r>
                <a:rPr sz="1650" b="0" i="0">
                  <a:solidFill>
                    <a:srgbClr val="BDBDC1"/>
                  </a:solidFill>
                  <a:latin typeface="Titillium Web"/>
                </a:rPr>
                <a:t>harmful URLs detected</a:t>
              </a:r>
            </a:p>
          </p:txBody>
        </p:sp>
      </p:grpSp>
      <p:grpSp>
        <p:nvGrpSpPr>
          <p:cNvPr id="31" name="Big 304"/>
          <p:cNvGrpSpPr/>
          <p:nvPr/>
        </p:nvGrpSpPr>
        <p:grpSpPr>
          <a:xfrm>
            <a:off x="7109460" y="2606040"/>
            <a:ext cx="2777490" cy="2148840"/>
            <a:chOff x="7109460" y="2606040"/>
            <a:chExt cx="2777490" cy="2148840"/>
          </a:xfrm>
        </p:grpSpPr>
        <p:sp>
          <p:nvSpPr>
            <p:cNvPr id="27" name="Big light"/>
            <p:cNvSpPr/>
            <p:nvPr/>
          </p:nvSpPr>
          <p:spPr>
            <a:xfrm>
              <a:off x="7109460" y="2606040"/>
              <a:ext cx="2777490" cy="2148840"/>
            </a:xfrm>
            <a:prstGeom prst="roundRect">
              <a:avLst>
                <a:gd name="adj" fmla="val 12765"/>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Big"/>
            <p:cNvSpPr/>
            <p:nvPr/>
          </p:nvSpPr>
          <p:spPr>
            <a:xfrm>
              <a:off x="7109460" y="2606040"/>
              <a:ext cx="2777490" cy="2148840"/>
            </a:xfrm>
            <a:prstGeom prst="roundRect">
              <a:avLst>
                <a:gd name="adj" fmla="val 12765"/>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9" name="Big value"/>
            <p:cNvSpPr txBox="1"/>
            <p:nvPr/>
          </p:nvSpPr>
          <p:spPr>
            <a:xfrm>
              <a:off x="7338060" y="2697480"/>
              <a:ext cx="2320290" cy="1051560"/>
            </a:xfrm>
            <a:prstGeom prst="rect">
              <a:avLst/>
            </a:prstGeom>
            <a:noFill/>
          </p:spPr>
          <p:txBody>
            <a:bodyPr wrap="square" lIns="45720" rIns="45720" anchor="t"/>
            <a:lstStyle/>
            <a:p>
              <a:pPr algn="l">
                <a:lnSpc>
                  <a:spcPct val="100000"/>
                </a:lnSpc>
              </a:pPr>
              <a:r>
                <a:rPr sz="4600" b="0" i="0">
                  <a:solidFill>
                    <a:srgbClr val="EDEDED"/>
                  </a:solidFill>
                  <a:latin typeface="Oswald"/>
                </a:rPr>
                <a:t>3</a:t>
              </a:r>
            </a:p>
          </p:txBody>
        </p:sp>
        <p:sp>
          <p:nvSpPr>
            <p:cNvPr id="30" name="Big key"/>
            <p:cNvSpPr txBox="1"/>
            <p:nvPr/>
          </p:nvSpPr>
          <p:spPr>
            <a:xfrm>
              <a:off x="7338060" y="3749039"/>
              <a:ext cx="2320290" cy="914400"/>
            </a:xfrm>
            <a:prstGeom prst="rect">
              <a:avLst/>
            </a:prstGeom>
            <a:noFill/>
          </p:spPr>
          <p:txBody>
            <a:bodyPr wrap="square" lIns="45720" rIns="45720" anchor="t"/>
            <a:lstStyle/>
            <a:p>
              <a:pPr algn="l">
                <a:lnSpc>
                  <a:spcPct val="95000"/>
                </a:lnSpc>
              </a:pPr>
              <a:r>
                <a:rPr sz="1650" b="0" i="0">
                  <a:solidFill>
                    <a:srgbClr val="BDBDC1"/>
                  </a:solidFill>
                  <a:latin typeface="Titillium Web"/>
                </a:rPr>
                <a:t>benign URLs falsely flagged</a:t>
              </a:r>
            </a:p>
          </p:txBody>
        </p:sp>
      </p:grpSp>
      <p:grpSp>
        <p:nvGrpSpPr>
          <p:cNvPr id="36" name="Big 305"/>
          <p:cNvGrpSpPr/>
          <p:nvPr/>
        </p:nvGrpSpPr>
        <p:grpSpPr>
          <a:xfrm>
            <a:off x="10161269" y="2606040"/>
            <a:ext cx="2777490" cy="2148840"/>
            <a:chOff x="10161269" y="2606040"/>
            <a:chExt cx="2777490" cy="2148840"/>
          </a:xfrm>
        </p:grpSpPr>
        <p:sp>
          <p:nvSpPr>
            <p:cNvPr id="32" name="Big light"/>
            <p:cNvSpPr/>
            <p:nvPr/>
          </p:nvSpPr>
          <p:spPr>
            <a:xfrm>
              <a:off x="10161269" y="2606040"/>
              <a:ext cx="2777490" cy="2148840"/>
            </a:xfrm>
            <a:prstGeom prst="roundRect">
              <a:avLst>
                <a:gd name="adj" fmla="val 12765"/>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Big"/>
            <p:cNvSpPr/>
            <p:nvPr/>
          </p:nvSpPr>
          <p:spPr>
            <a:xfrm>
              <a:off x="10161269" y="2606040"/>
              <a:ext cx="2777490" cy="2148840"/>
            </a:xfrm>
            <a:prstGeom prst="roundRect">
              <a:avLst>
                <a:gd name="adj" fmla="val 12765"/>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4" name="Big value"/>
            <p:cNvSpPr txBox="1"/>
            <p:nvPr/>
          </p:nvSpPr>
          <p:spPr>
            <a:xfrm>
              <a:off x="10389869" y="2697480"/>
              <a:ext cx="2320290" cy="1051560"/>
            </a:xfrm>
            <a:prstGeom prst="rect">
              <a:avLst/>
            </a:prstGeom>
            <a:noFill/>
          </p:spPr>
          <p:txBody>
            <a:bodyPr wrap="square" lIns="45720" rIns="45720" anchor="t"/>
            <a:lstStyle/>
            <a:p>
              <a:pPr algn="l">
                <a:lnSpc>
                  <a:spcPct val="100000"/>
                </a:lnSpc>
              </a:pPr>
              <a:r>
                <a:rPr sz="4600" b="0" i="0">
                  <a:solidFill>
                    <a:srgbClr val="EDEDED"/>
                  </a:solidFill>
                  <a:latin typeface="Oswald"/>
                </a:rPr>
                <a:t>4.05 s</a:t>
              </a:r>
            </a:p>
          </p:txBody>
        </p:sp>
        <p:sp>
          <p:nvSpPr>
            <p:cNvPr id="35" name="Big key"/>
            <p:cNvSpPr txBox="1"/>
            <p:nvPr/>
          </p:nvSpPr>
          <p:spPr>
            <a:xfrm>
              <a:off x="10389869" y="3749039"/>
              <a:ext cx="2320290" cy="914400"/>
            </a:xfrm>
            <a:prstGeom prst="rect">
              <a:avLst/>
            </a:prstGeom>
            <a:noFill/>
          </p:spPr>
          <p:txBody>
            <a:bodyPr wrap="square" lIns="45720" rIns="45720" anchor="t"/>
            <a:lstStyle/>
            <a:p>
              <a:pPr algn="l">
                <a:lnSpc>
                  <a:spcPct val="95000"/>
                </a:lnSpc>
              </a:pPr>
              <a:r>
                <a:rPr sz="1650" b="0" i="0">
                  <a:solidFill>
                    <a:srgbClr val="BDBDC1"/>
                  </a:solidFill>
                  <a:latin typeface="Titillium Web"/>
                </a:rPr>
                <a:t>mean end-to-end analysis</a:t>
              </a:r>
            </a:p>
          </p:txBody>
        </p:sp>
      </p:grpSp>
      <p:grpSp>
        <p:nvGrpSpPr>
          <p:cNvPr id="42" name="Card 306"/>
          <p:cNvGrpSpPr/>
          <p:nvPr/>
        </p:nvGrpSpPr>
        <p:grpSpPr>
          <a:xfrm>
            <a:off x="1005840" y="5074920"/>
            <a:ext cx="3764280" cy="4343400"/>
            <a:chOff x="1005840" y="5074920"/>
            <a:chExt cx="3764280" cy="4343400"/>
          </a:xfrm>
        </p:grpSpPr>
        <p:sp>
          <p:nvSpPr>
            <p:cNvPr id="37" name="Card light"/>
            <p:cNvSpPr/>
            <p:nvPr/>
          </p:nvSpPr>
          <p:spPr>
            <a:xfrm>
              <a:off x="1005840" y="5074920"/>
              <a:ext cx="3764280" cy="4343400"/>
            </a:xfrm>
            <a:prstGeom prst="roundRect">
              <a:avLst>
                <a:gd name="adj" fmla="val 6801"/>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8" name="Card"/>
            <p:cNvSpPr/>
            <p:nvPr/>
          </p:nvSpPr>
          <p:spPr>
            <a:xfrm>
              <a:off x="1005840" y="5074920"/>
              <a:ext cx="3764280" cy="4343400"/>
            </a:xfrm>
            <a:prstGeom prst="roundRect">
              <a:avLst>
                <a:gd name="adj" fmla="val 6801"/>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9" name="Card num"/>
            <p:cNvSpPr txBox="1"/>
            <p:nvPr/>
          </p:nvSpPr>
          <p:spPr>
            <a:xfrm>
              <a:off x="1298448" y="5276088"/>
              <a:ext cx="3179064" cy="731520"/>
            </a:xfrm>
            <a:prstGeom prst="rect">
              <a:avLst/>
            </a:prstGeom>
            <a:noFill/>
          </p:spPr>
          <p:txBody>
            <a:bodyPr wrap="square" lIns="45720" rIns="45720" anchor="t"/>
            <a:lstStyle/>
            <a:p>
              <a:pPr algn="l">
                <a:lnSpc>
                  <a:spcPct val="100000"/>
                </a:lnSpc>
              </a:pPr>
              <a:r>
                <a:rPr sz="3600" b="0" i="0">
                  <a:solidFill>
                    <a:srgbClr val="C1FF72"/>
                  </a:solidFill>
                  <a:latin typeface="Oswald"/>
                </a:rPr>
                <a:t>01</a:t>
              </a:r>
            </a:p>
          </p:txBody>
        </p:sp>
        <p:sp>
          <p:nvSpPr>
            <p:cNvPr id="40" name="Card title"/>
            <p:cNvSpPr txBox="1"/>
            <p:nvPr/>
          </p:nvSpPr>
          <p:spPr>
            <a:xfrm>
              <a:off x="1298448" y="6007607"/>
              <a:ext cx="3179064" cy="453643"/>
            </a:xfrm>
            <a:prstGeom prst="rect">
              <a:avLst/>
            </a:prstGeom>
            <a:noFill/>
          </p:spPr>
          <p:txBody>
            <a:bodyPr wrap="square" lIns="45720" rIns="45720" anchor="t"/>
            <a:lstStyle/>
            <a:p>
              <a:pPr algn="l">
                <a:lnSpc>
                  <a:spcPct val="100000"/>
                </a:lnSpc>
              </a:pPr>
              <a:r>
                <a:rPr sz="2300" b="0" i="0">
                  <a:solidFill>
                    <a:srgbClr val="EDEDED"/>
                  </a:solidFill>
                  <a:latin typeface="Oswald"/>
                </a:rPr>
                <a:t>CONTRIBUTION</a:t>
              </a:r>
            </a:p>
          </p:txBody>
        </p:sp>
        <p:sp>
          <p:nvSpPr>
            <p:cNvPr id="41" name="Card body"/>
            <p:cNvSpPr txBox="1"/>
            <p:nvPr/>
          </p:nvSpPr>
          <p:spPr>
            <a:xfrm>
              <a:off x="1298448" y="6497828"/>
              <a:ext cx="3179064" cy="2682748"/>
            </a:xfrm>
            <a:prstGeom prst="rect">
              <a:avLst/>
            </a:prstGeom>
            <a:noFill/>
          </p:spPr>
          <p:txBody>
            <a:bodyPr wrap="square" lIns="45720" rIns="45720" anchor="t"/>
            <a:lstStyle/>
            <a:p>
              <a:pPr algn="l">
                <a:lnSpc>
                  <a:spcPct val="98000"/>
                </a:lnSpc>
              </a:pPr>
              <a:r>
                <a:rPr sz="1800" b="0" i="0">
                  <a:solidFill>
                    <a:srgbClr val="BDBDC1"/>
                  </a:solidFill>
                  <a:latin typeface="Titillium Web"/>
                </a:rPr>
                <a:t>Eight specialist analyses and a Reporter combine complementary evidence into one inspectable, explained verdict, with few false alarms.</a:t>
              </a:r>
            </a:p>
          </p:txBody>
        </p:sp>
      </p:grpSp>
      <p:grpSp>
        <p:nvGrpSpPr>
          <p:cNvPr id="48" name="Card 307"/>
          <p:cNvGrpSpPr/>
          <p:nvPr/>
        </p:nvGrpSpPr>
        <p:grpSpPr>
          <a:xfrm>
            <a:off x="5090160" y="5074920"/>
            <a:ext cx="3764280" cy="4343400"/>
            <a:chOff x="5090160" y="5074920"/>
            <a:chExt cx="3764280" cy="4343400"/>
          </a:xfrm>
        </p:grpSpPr>
        <p:sp>
          <p:nvSpPr>
            <p:cNvPr id="43" name="Card light"/>
            <p:cNvSpPr/>
            <p:nvPr/>
          </p:nvSpPr>
          <p:spPr>
            <a:xfrm>
              <a:off x="5090160" y="5074920"/>
              <a:ext cx="3764280" cy="4343400"/>
            </a:xfrm>
            <a:prstGeom prst="roundRect">
              <a:avLst>
                <a:gd name="adj" fmla="val 6801"/>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4" name="Card"/>
            <p:cNvSpPr/>
            <p:nvPr/>
          </p:nvSpPr>
          <p:spPr>
            <a:xfrm>
              <a:off x="5090160" y="5074920"/>
              <a:ext cx="3764280" cy="4343400"/>
            </a:xfrm>
            <a:prstGeom prst="roundRect">
              <a:avLst>
                <a:gd name="adj" fmla="val 6801"/>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5" name="Card num"/>
            <p:cNvSpPr txBox="1"/>
            <p:nvPr/>
          </p:nvSpPr>
          <p:spPr>
            <a:xfrm>
              <a:off x="5382768" y="5276088"/>
              <a:ext cx="3179064" cy="731520"/>
            </a:xfrm>
            <a:prstGeom prst="rect">
              <a:avLst/>
            </a:prstGeom>
            <a:noFill/>
          </p:spPr>
          <p:txBody>
            <a:bodyPr wrap="square" lIns="45720" rIns="45720" anchor="t"/>
            <a:lstStyle/>
            <a:p>
              <a:pPr algn="l">
                <a:lnSpc>
                  <a:spcPct val="100000"/>
                </a:lnSpc>
              </a:pPr>
              <a:r>
                <a:rPr sz="3600" b="0" i="0">
                  <a:solidFill>
                    <a:srgbClr val="C1FF72"/>
                  </a:solidFill>
                  <a:latin typeface="Oswald"/>
                </a:rPr>
                <a:t>02</a:t>
              </a:r>
            </a:p>
          </p:txBody>
        </p:sp>
        <p:sp>
          <p:nvSpPr>
            <p:cNvPr id="46" name="Card title"/>
            <p:cNvSpPr txBox="1"/>
            <p:nvPr/>
          </p:nvSpPr>
          <p:spPr>
            <a:xfrm>
              <a:off x="5382768" y="6007607"/>
              <a:ext cx="3179064" cy="453643"/>
            </a:xfrm>
            <a:prstGeom prst="rect">
              <a:avLst/>
            </a:prstGeom>
            <a:noFill/>
          </p:spPr>
          <p:txBody>
            <a:bodyPr wrap="square" lIns="45720" rIns="45720" anchor="t"/>
            <a:lstStyle/>
            <a:p>
              <a:pPr algn="l">
                <a:lnSpc>
                  <a:spcPct val="100000"/>
                </a:lnSpc>
              </a:pPr>
              <a:r>
                <a:rPr sz="2300" b="0" i="0">
                  <a:solidFill>
                    <a:srgbClr val="EDEDED"/>
                  </a:solidFill>
                  <a:latin typeface="Oswald"/>
                </a:rPr>
                <a:t>WHAT IT DOES NOT PROVE</a:t>
              </a:r>
            </a:p>
          </p:txBody>
        </p:sp>
        <p:sp>
          <p:nvSpPr>
            <p:cNvPr id="47" name="Card body"/>
            <p:cNvSpPr txBox="1"/>
            <p:nvPr/>
          </p:nvSpPr>
          <p:spPr>
            <a:xfrm>
              <a:off x="5382768" y="6497828"/>
              <a:ext cx="3179064" cy="2682748"/>
            </a:xfrm>
            <a:prstGeom prst="rect">
              <a:avLst/>
            </a:prstGeom>
            <a:noFill/>
          </p:spPr>
          <p:txBody>
            <a:bodyPr wrap="square" lIns="45720" rIns="45720" anchor="t"/>
            <a:lstStyle/>
            <a:p>
              <a:pPr algn="l">
                <a:lnSpc>
                  <a:spcPct val="98000"/>
                </a:lnSpc>
              </a:pPr>
              <a:r>
                <a:rPr sz="1800" b="0" i="0">
                  <a:solidFill>
                    <a:srgbClr val="BDBDC1"/>
                  </a:solidFill>
                  <a:latin typeface="Titillium Web"/>
                </a:rPr>
                <a:t>No single-model ablation: no proof of superiority to one model, universal protection or current production performance.</a:t>
              </a:r>
            </a:p>
          </p:txBody>
        </p:sp>
      </p:grpSp>
      <p:grpSp>
        <p:nvGrpSpPr>
          <p:cNvPr id="54" name="Card 308"/>
          <p:cNvGrpSpPr/>
          <p:nvPr/>
        </p:nvGrpSpPr>
        <p:grpSpPr>
          <a:xfrm>
            <a:off x="9174480" y="5074920"/>
            <a:ext cx="3764280" cy="4343400"/>
            <a:chOff x="9174480" y="5074920"/>
            <a:chExt cx="3764280" cy="4343400"/>
          </a:xfrm>
        </p:grpSpPr>
        <p:sp>
          <p:nvSpPr>
            <p:cNvPr id="49" name="Card light"/>
            <p:cNvSpPr/>
            <p:nvPr/>
          </p:nvSpPr>
          <p:spPr>
            <a:xfrm>
              <a:off x="9174480" y="5074920"/>
              <a:ext cx="3764280" cy="4343400"/>
            </a:xfrm>
            <a:prstGeom prst="roundRect">
              <a:avLst>
                <a:gd name="adj" fmla="val 6801"/>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0" name="Card"/>
            <p:cNvSpPr/>
            <p:nvPr/>
          </p:nvSpPr>
          <p:spPr>
            <a:xfrm>
              <a:off x="9174480" y="5074920"/>
              <a:ext cx="3764280" cy="4343400"/>
            </a:xfrm>
            <a:prstGeom prst="roundRect">
              <a:avLst>
                <a:gd name="adj" fmla="val 6801"/>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1" name="Card num"/>
            <p:cNvSpPr txBox="1"/>
            <p:nvPr/>
          </p:nvSpPr>
          <p:spPr>
            <a:xfrm>
              <a:off x="9467088" y="5276088"/>
              <a:ext cx="3179064" cy="731520"/>
            </a:xfrm>
            <a:prstGeom prst="rect">
              <a:avLst/>
            </a:prstGeom>
            <a:noFill/>
          </p:spPr>
          <p:txBody>
            <a:bodyPr wrap="square" lIns="45720" rIns="45720" anchor="t"/>
            <a:lstStyle/>
            <a:p>
              <a:pPr algn="l">
                <a:lnSpc>
                  <a:spcPct val="100000"/>
                </a:lnSpc>
              </a:pPr>
              <a:r>
                <a:rPr sz="3600" b="0" i="0">
                  <a:solidFill>
                    <a:srgbClr val="C1FF72"/>
                  </a:solidFill>
                  <a:latin typeface="Oswald"/>
                </a:rPr>
                <a:t>03</a:t>
              </a:r>
            </a:p>
          </p:txBody>
        </p:sp>
        <p:sp>
          <p:nvSpPr>
            <p:cNvPr id="52" name="Card title"/>
            <p:cNvSpPr txBox="1"/>
            <p:nvPr/>
          </p:nvSpPr>
          <p:spPr>
            <a:xfrm>
              <a:off x="9467088" y="6007607"/>
              <a:ext cx="3179064" cy="453643"/>
            </a:xfrm>
            <a:prstGeom prst="rect">
              <a:avLst/>
            </a:prstGeom>
            <a:noFill/>
          </p:spPr>
          <p:txBody>
            <a:bodyPr wrap="square" lIns="45720" rIns="45720" anchor="t"/>
            <a:lstStyle/>
            <a:p>
              <a:pPr algn="l">
                <a:lnSpc>
                  <a:spcPct val="100000"/>
                </a:lnSpc>
              </a:pPr>
              <a:r>
                <a:rPr sz="2300" b="0" i="0">
                  <a:solidFill>
                    <a:srgbClr val="EDEDED"/>
                  </a:solidFill>
                  <a:latin typeface="Oswald"/>
                </a:rPr>
                <a:t>WHERE IT IS NOW</a:t>
              </a:r>
            </a:p>
          </p:txBody>
        </p:sp>
        <p:sp>
          <p:nvSpPr>
            <p:cNvPr id="53" name="Card body"/>
            <p:cNvSpPr txBox="1"/>
            <p:nvPr/>
          </p:nvSpPr>
          <p:spPr>
            <a:xfrm>
              <a:off x="9467088" y="6497828"/>
              <a:ext cx="3179064" cy="2682748"/>
            </a:xfrm>
            <a:prstGeom prst="rect">
              <a:avLst/>
            </a:prstGeom>
            <a:noFill/>
          </p:spPr>
          <p:txBody>
            <a:bodyPr wrap="square" lIns="45720" rIns="45720" anchor="t"/>
            <a:lstStyle/>
            <a:p>
              <a:pPr algn="l">
                <a:lnSpc>
                  <a:spcPct val="98000"/>
                </a:lnSpc>
              </a:pPr>
              <a:r>
                <a:rPr sz="1800" b="0" i="0">
                  <a:solidFill>
                    <a:srgbClr val="BDBDC1"/>
                  </a:solidFill>
                  <a:latin typeface="Titillium Web"/>
                </a:rPr>
                <a:t>Verified identity and workspaces, five privacy choices, service authentication, device signing and explicit action states.</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anim calcmode="lin" valueType="num">
                                      <p:cBhvr>
                                        <p:cTn id="11" dur="500" fill="hold"/>
                                        <p:tgtEl>
                                          <p:spTgt spid="12"/>
                                        </p:tgtEl>
                                        <p:attrNameLst>
                                          <p:attrName>ppt_x</p:attrName>
                                        </p:attrNameLst>
                                      </p:cBhvr>
                                      <p:tavLst>
                                        <p:tav tm="0">
                                          <p:val>
                                            <p:strVal val="#ppt_x"/>
                                          </p:val>
                                        </p:tav>
                                        <p:tav tm="100000">
                                          <p:val>
                                            <p:strVal val="#ppt_x"/>
                                          </p:val>
                                        </p:tav>
                                      </p:tavLst>
                                    </p:anim>
                                    <p:anim calcmode="lin" valueType="num">
                                      <p:cBhvr>
                                        <p:cTn id="12" dur="450" decel="100000" fill="hold"/>
                                        <p:tgtEl>
                                          <p:spTgt spid="12"/>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par>
                          <p:cTn id="14" fill="hold">
                            <p:stCondLst>
                              <p:cond delay="105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2000"/>
                            </p:stCondLst>
                            <p:childTnLst>
                              <p:par>
                                <p:cTn id="19" presetID="53" presetClass="entr" presetSubtype="16" fill="hold" nodeType="after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p:cTn id="21" dur="350" fill="hold"/>
                                        <p:tgtEl>
                                          <p:spTgt spid="21"/>
                                        </p:tgtEl>
                                        <p:attrNameLst>
                                          <p:attrName>ppt_w</p:attrName>
                                        </p:attrNameLst>
                                      </p:cBhvr>
                                      <p:tavLst>
                                        <p:tav tm="0">
                                          <p:val>
                                            <p:fltVal val="0"/>
                                          </p:val>
                                        </p:tav>
                                        <p:tav tm="100000">
                                          <p:val>
                                            <p:strVal val="#ppt_w"/>
                                          </p:val>
                                        </p:tav>
                                      </p:tavLst>
                                    </p:anim>
                                    <p:anim calcmode="lin" valueType="num">
                                      <p:cBhvr>
                                        <p:cTn id="22" dur="350" fill="hold"/>
                                        <p:tgtEl>
                                          <p:spTgt spid="21"/>
                                        </p:tgtEl>
                                        <p:attrNameLst>
                                          <p:attrName>ppt_h</p:attrName>
                                        </p:attrNameLst>
                                      </p:cBhvr>
                                      <p:tavLst>
                                        <p:tav tm="0">
                                          <p:val>
                                            <p:fltVal val="0"/>
                                          </p:val>
                                        </p:tav>
                                        <p:tav tm="100000">
                                          <p:val>
                                            <p:strVal val="#ppt_h"/>
                                          </p:val>
                                        </p:tav>
                                      </p:tavLst>
                                    </p:anim>
                                    <p:animEffect transition="in" filter="fade">
                                      <p:cBhvr>
                                        <p:cTn id="23" dur="350"/>
                                        <p:tgtEl>
                                          <p:spTgt spid="21"/>
                                        </p:tgtEl>
                                      </p:cBhvr>
                                    </p:animEffect>
                                  </p:childTnLst>
                                </p:cTn>
                              </p:par>
                            </p:childTnLst>
                          </p:cTn>
                        </p:par>
                        <p:par>
                          <p:cTn id="24" fill="hold">
                            <p:stCondLst>
                              <p:cond delay="2350"/>
                            </p:stCondLst>
                            <p:childTnLst>
                              <p:par>
                                <p:cTn id="25" presetID="53" presetClass="entr" presetSubtype="16" fill="hold" nodeType="afterEffect">
                                  <p:stCondLst>
                                    <p:cond delay="0"/>
                                  </p:stCondLst>
                                  <p:childTnLst>
                                    <p:set>
                                      <p:cBhvr>
                                        <p:cTn id="26" dur="1" fill="hold">
                                          <p:stCondLst>
                                            <p:cond delay="0"/>
                                          </p:stCondLst>
                                        </p:cTn>
                                        <p:tgtEl>
                                          <p:spTgt spid="26"/>
                                        </p:tgtEl>
                                        <p:attrNameLst>
                                          <p:attrName>style.visibility</p:attrName>
                                        </p:attrNameLst>
                                      </p:cBhvr>
                                      <p:to>
                                        <p:strVal val="visible"/>
                                      </p:to>
                                    </p:set>
                                    <p:anim calcmode="lin" valueType="num">
                                      <p:cBhvr>
                                        <p:cTn id="27" dur="350" fill="hold"/>
                                        <p:tgtEl>
                                          <p:spTgt spid="26"/>
                                        </p:tgtEl>
                                        <p:attrNameLst>
                                          <p:attrName>ppt_w</p:attrName>
                                        </p:attrNameLst>
                                      </p:cBhvr>
                                      <p:tavLst>
                                        <p:tav tm="0">
                                          <p:val>
                                            <p:fltVal val="0"/>
                                          </p:val>
                                        </p:tav>
                                        <p:tav tm="100000">
                                          <p:val>
                                            <p:strVal val="#ppt_w"/>
                                          </p:val>
                                        </p:tav>
                                      </p:tavLst>
                                    </p:anim>
                                    <p:anim calcmode="lin" valueType="num">
                                      <p:cBhvr>
                                        <p:cTn id="28" dur="350" fill="hold"/>
                                        <p:tgtEl>
                                          <p:spTgt spid="26"/>
                                        </p:tgtEl>
                                        <p:attrNameLst>
                                          <p:attrName>ppt_h</p:attrName>
                                        </p:attrNameLst>
                                      </p:cBhvr>
                                      <p:tavLst>
                                        <p:tav tm="0">
                                          <p:val>
                                            <p:fltVal val="0"/>
                                          </p:val>
                                        </p:tav>
                                        <p:tav tm="100000">
                                          <p:val>
                                            <p:strVal val="#ppt_h"/>
                                          </p:val>
                                        </p:tav>
                                      </p:tavLst>
                                    </p:anim>
                                    <p:animEffect transition="in" filter="fade">
                                      <p:cBhvr>
                                        <p:cTn id="29" dur="350"/>
                                        <p:tgtEl>
                                          <p:spTgt spid="26"/>
                                        </p:tgtEl>
                                      </p:cBhvr>
                                    </p:animEffect>
                                  </p:childTnLst>
                                </p:cTn>
                              </p:par>
                            </p:childTnLst>
                          </p:cTn>
                        </p:par>
                        <p:par>
                          <p:cTn id="30" fill="hold">
                            <p:stCondLst>
                              <p:cond delay="2700"/>
                            </p:stCondLst>
                            <p:childTnLst>
                              <p:par>
                                <p:cTn id="31" presetID="53" presetClass="entr" presetSubtype="16" fill="hold" nodeType="afterEffect">
                                  <p:stCondLst>
                                    <p:cond delay="0"/>
                                  </p:stCondLst>
                                  <p:childTnLst>
                                    <p:set>
                                      <p:cBhvr>
                                        <p:cTn id="32" dur="1" fill="hold">
                                          <p:stCondLst>
                                            <p:cond delay="0"/>
                                          </p:stCondLst>
                                        </p:cTn>
                                        <p:tgtEl>
                                          <p:spTgt spid="31"/>
                                        </p:tgtEl>
                                        <p:attrNameLst>
                                          <p:attrName>style.visibility</p:attrName>
                                        </p:attrNameLst>
                                      </p:cBhvr>
                                      <p:to>
                                        <p:strVal val="visible"/>
                                      </p:to>
                                    </p:set>
                                    <p:anim calcmode="lin" valueType="num">
                                      <p:cBhvr>
                                        <p:cTn id="33" dur="350" fill="hold"/>
                                        <p:tgtEl>
                                          <p:spTgt spid="31"/>
                                        </p:tgtEl>
                                        <p:attrNameLst>
                                          <p:attrName>ppt_w</p:attrName>
                                        </p:attrNameLst>
                                      </p:cBhvr>
                                      <p:tavLst>
                                        <p:tav tm="0">
                                          <p:val>
                                            <p:fltVal val="0"/>
                                          </p:val>
                                        </p:tav>
                                        <p:tav tm="100000">
                                          <p:val>
                                            <p:strVal val="#ppt_w"/>
                                          </p:val>
                                        </p:tav>
                                      </p:tavLst>
                                    </p:anim>
                                    <p:anim calcmode="lin" valueType="num">
                                      <p:cBhvr>
                                        <p:cTn id="34" dur="350" fill="hold"/>
                                        <p:tgtEl>
                                          <p:spTgt spid="31"/>
                                        </p:tgtEl>
                                        <p:attrNameLst>
                                          <p:attrName>ppt_h</p:attrName>
                                        </p:attrNameLst>
                                      </p:cBhvr>
                                      <p:tavLst>
                                        <p:tav tm="0">
                                          <p:val>
                                            <p:fltVal val="0"/>
                                          </p:val>
                                        </p:tav>
                                        <p:tav tm="100000">
                                          <p:val>
                                            <p:strVal val="#ppt_h"/>
                                          </p:val>
                                        </p:tav>
                                      </p:tavLst>
                                    </p:anim>
                                    <p:animEffect transition="in" filter="fade">
                                      <p:cBhvr>
                                        <p:cTn id="35" dur="350"/>
                                        <p:tgtEl>
                                          <p:spTgt spid="31"/>
                                        </p:tgtEl>
                                      </p:cBhvr>
                                    </p:animEffect>
                                  </p:childTnLst>
                                </p:cTn>
                              </p:par>
                            </p:childTnLst>
                          </p:cTn>
                        </p:par>
                        <p:par>
                          <p:cTn id="36" fill="hold">
                            <p:stCondLst>
                              <p:cond delay="3050"/>
                            </p:stCondLst>
                            <p:childTnLst>
                              <p:par>
                                <p:cTn id="37" presetID="53" presetClass="entr" presetSubtype="16" fill="hold" nodeType="afterEffect">
                                  <p:stCondLst>
                                    <p:cond delay="0"/>
                                  </p:stCondLst>
                                  <p:childTnLst>
                                    <p:set>
                                      <p:cBhvr>
                                        <p:cTn id="38" dur="1" fill="hold">
                                          <p:stCondLst>
                                            <p:cond delay="0"/>
                                          </p:stCondLst>
                                        </p:cTn>
                                        <p:tgtEl>
                                          <p:spTgt spid="36"/>
                                        </p:tgtEl>
                                        <p:attrNameLst>
                                          <p:attrName>style.visibility</p:attrName>
                                        </p:attrNameLst>
                                      </p:cBhvr>
                                      <p:to>
                                        <p:strVal val="visible"/>
                                      </p:to>
                                    </p:set>
                                    <p:anim calcmode="lin" valueType="num">
                                      <p:cBhvr>
                                        <p:cTn id="39" dur="350" fill="hold"/>
                                        <p:tgtEl>
                                          <p:spTgt spid="36"/>
                                        </p:tgtEl>
                                        <p:attrNameLst>
                                          <p:attrName>ppt_w</p:attrName>
                                        </p:attrNameLst>
                                      </p:cBhvr>
                                      <p:tavLst>
                                        <p:tav tm="0">
                                          <p:val>
                                            <p:fltVal val="0"/>
                                          </p:val>
                                        </p:tav>
                                        <p:tav tm="100000">
                                          <p:val>
                                            <p:strVal val="#ppt_w"/>
                                          </p:val>
                                        </p:tav>
                                      </p:tavLst>
                                    </p:anim>
                                    <p:anim calcmode="lin" valueType="num">
                                      <p:cBhvr>
                                        <p:cTn id="40" dur="350" fill="hold"/>
                                        <p:tgtEl>
                                          <p:spTgt spid="36"/>
                                        </p:tgtEl>
                                        <p:attrNameLst>
                                          <p:attrName>ppt_h</p:attrName>
                                        </p:attrNameLst>
                                      </p:cBhvr>
                                      <p:tavLst>
                                        <p:tav tm="0">
                                          <p:val>
                                            <p:fltVal val="0"/>
                                          </p:val>
                                        </p:tav>
                                        <p:tav tm="100000">
                                          <p:val>
                                            <p:strVal val="#ppt_h"/>
                                          </p:val>
                                        </p:tav>
                                      </p:tavLst>
                                    </p:anim>
                                    <p:animEffect transition="in" filter="fade">
                                      <p:cBhvr>
                                        <p:cTn id="41" dur="350"/>
                                        <p:tgtEl>
                                          <p:spTgt spid="36"/>
                                        </p:tgtEl>
                                      </p:cBhvr>
                                    </p:animEffect>
                                  </p:childTnLst>
                                </p:cTn>
                              </p:par>
                            </p:childTnLst>
                          </p:cTn>
                        </p:par>
                        <p:par>
                          <p:cTn id="42" fill="hold">
                            <p:stCondLst>
                              <p:cond delay="3400"/>
                            </p:stCondLst>
                            <p:childTnLst>
                              <p:par>
                                <p:cTn id="43" presetID="2" presetClass="entr" presetSubtype="4" fill="hold" nodeType="afterEffect">
                                  <p:stCondLst>
                                    <p:cond delay="0"/>
                                  </p:stCondLst>
                                  <p:childTnLst>
                                    <p:set>
                                      <p:cBhvr>
                                        <p:cTn id="44" dur="1" fill="hold">
                                          <p:stCondLst>
                                            <p:cond delay="0"/>
                                          </p:stCondLst>
                                        </p:cTn>
                                        <p:tgtEl>
                                          <p:spTgt spid="42"/>
                                        </p:tgtEl>
                                        <p:attrNameLst>
                                          <p:attrName>style.visibility</p:attrName>
                                        </p:attrNameLst>
                                      </p:cBhvr>
                                      <p:to>
                                        <p:strVal val="visible"/>
                                      </p:to>
                                    </p:set>
                                    <p:anim calcmode="lin" valueType="num">
                                      <p:cBhvr additive="base">
                                        <p:cTn id="45" dur="500" fill="hold"/>
                                        <p:tgtEl>
                                          <p:spTgt spid="42"/>
                                        </p:tgtEl>
                                        <p:attrNameLst>
                                          <p:attrName>ppt_x</p:attrName>
                                        </p:attrNameLst>
                                      </p:cBhvr>
                                      <p:tavLst>
                                        <p:tav tm="0">
                                          <p:val>
                                            <p:strVal val="#ppt_x"/>
                                          </p:val>
                                        </p:tav>
                                        <p:tav tm="100000">
                                          <p:val>
                                            <p:strVal val="#ppt_x"/>
                                          </p:val>
                                        </p:tav>
                                      </p:tavLst>
                                    </p:anim>
                                    <p:anim calcmode="lin" valueType="num">
                                      <p:cBhvr additive="base">
                                        <p:cTn id="46" dur="500" fill="hold"/>
                                        <p:tgtEl>
                                          <p:spTgt spid="42"/>
                                        </p:tgtEl>
                                        <p:attrNameLst>
                                          <p:attrName>ppt_y</p:attrName>
                                        </p:attrNameLst>
                                      </p:cBhvr>
                                      <p:tavLst>
                                        <p:tav tm="0">
                                          <p:val>
                                            <p:strVal val="1+#ppt_h/2"/>
                                          </p:val>
                                        </p:tav>
                                        <p:tav tm="100000">
                                          <p:val>
                                            <p:strVal val="#ppt_y"/>
                                          </p:val>
                                        </p:tav>
                                      </p:tavLst>
                                    </p:anim>
                                  </p:childTnLst>
                                </p:cTn>
                              </p:par>
                            </p:childTnLst>
                          </p:cTn>
                        </p:par>
                        <p:par>
                          <p:cTn id="47" fill="hold">
                            <p:stCondLst>
                              <p:cond delay="3900"/>
                            </p:stCondLst>
                            <p:childTnLst>
                              <p:par>
                                <p:cTn id="48" presetID="2" presetClass="entr" presetSubtype="4" fill="hold" nodeType="afterEffect">
                                  <p:stCondLst>
                                    <p:cond delay="0"/>
                                  </p:stCondLst>
                                  <p:childTnLst>
                                    <p:set>
                                      <p:cBhvr>
                                        <p:cTn id="49" dur="1" fill="hold">
                                          <p:stCondLst>
                                            <p:cond delay="0"/>
                                          </p:stCondLst>
                                        </p:cTn>
                                        <p:tgtEl>
                                          <p:spTgt spid="48"/>
                                        </p:tgtEl>
                                        <p:attrNameLst>
                                          <p:attrName>style.visibility</p:attrName>
                                        </p:attrNameLst>
                                      </p:cBhvr>
                                      <p:to>
                                        <p:strVal val="visible"/>
                                      </p:to>
                                    </p:set>
                                    <p:anim calcmode="lin" valueType="num">
                                      <p:cBhvr additive="base">
                                        <p:cTn id="50" dur="500" fill="hold"/>
                                        <p:tgtEl>
                                          <p:spTgt spid="48"/>
                                        </p:tgtEl>
                                        <p:attrNameLst>
                                          <p:attrName>ppt_x</p:attrName>
                                        </p:attrNameLst>
                                      </p:cBhvr>
                                      <p:tavLst>
                                        <p:tav tm="0">
                                          <p:val>
                                            <p:strVal val="#ppt_x"/>
                                          </p:val>
                                        </p:tav>
                                        <p:tav tm="100000">
                                          <p:val>
                                            <p:strVal val="#ppt_x"/>
                                          </p:val>
                                        </p:tav>
                                      </p:tavLst>
                                    </p:anim>
                                    <p:anim calcmode="lin" valueType="num">
                                      <p:cBhvr additive="base">
                                        <p:cTn id="51" dur="500" fill="hold"/>
                                        <p:tgtEl>
                                          <p:spTgt spid="48"/>
                                        </p:tgtEl>
                                        <p:attrNameLst>
                                          <p:attrName>ppt_y</p:attrName>
                                        </p:attrNameLst>
                                      </p:cBhvr>
                                      <p:tavLst>
                                        <p:tav tm="0">
                                          <p:val>
                                            <p:strVal val="1+#ppt_h/2"/>
                                          </p:val>
                                        </p:tav>
                                        <p:tav tm="100000">
                                          <p:val>
                                            <p:strVal val="#ppt_y"/>
                                          </p:val>
                                        </p:tav>
                                      </p:tavLst>
                                    </p:anim>
                                  </p:childTnLst>
                                </p:cTn>
                              </p:par>
                            </p:childTnLst>
                          </p:cTn>
                        </p:par>
                        <p:par>
                          <p:cTn id="52" fill="hold">
                            <p:stCondLst>
                              <p:cond delay="4400"/>
                            </p:stCondLst>
                            <p:childTnLst>
                              <p:par>
                                <p:cTn id="53" presetID="2" presetClass="entr" presetSubtype="4" fill="hold" nodeType="afterEffect">
                                  <p:stCondLst>
                                    <p:cond delay="0"/>
                                  </p:stCondLst>
                                  <p:childTnLst>
                                    <p:set>
                                      <p:cBhvr>
                                        <p:cTn id="54" dur="1" fill="hold">
                                          <p:stCondLst>
                                            <p:cond delay="0"/>
                                          </p:stCondLst>
                                        </p:cTn>
                                        <p:tgtEl>
                                          <p:spTgt spid="54"/>
                                        </p:tgtEl>
                                        <p:attrNameLst>
                                          <p:attrName>style.visibility</p:attrName>
                                        </p:attrNameLst>
                                      </p:cBhvr>
                                      <p:to>
                                        <p:strVal val="visible"/>
                                      </p:to>
                                    </p:set>
                                    <p:anim calcmode="lin" valueType="num">
                                      <p:cBhvr additive="base">
                                        <p:cTn id="55" dur="500" fill="hold"/>
                                        <p:tgtEl>
                                          <p:spTgt spid="54"/>
                                        </p:tgtEl>
                                        <p:attrNameLst>
                                          <p:attrName>ppt_x</p:attrName>
                                        </p:attrNameLst>
                                      </p:cBhvr>
                                      <p:tavLst>
                                        <p:tav tm="0">
                                          <p:val>
                                            <p:strVal val="#ppt_x"/>
                                          </p:val>
                                        </p:tav>
                                        <p:tav tm="100000">
                                          <p:val>
                                            <p:strVal val="#ppt_x"/>
                                          </p:val>
                                        </p:tav>
                                      </p:tavLst>
                                    </p:anim>
                                    <p:anim calcmode="lin" valueType="num">
                                      <p:cBhvr additive="base">
                                        <p:cTn id="56"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32325"/>
        </a:solidFill>
        <a:effectLst/>
      </p:bgPr>
    </p:bg>
    <p:spTree>
      <p:nvGrpSpPr>
        <p:cNvPr id="1" name=""/>
        <p:cNvGrpSpPr/>
        <p:nvPr/>
      </p:nvGrpSpPr>
      <p:grpSpPr>
        <a:xfrm>
          <a:off x="0" y="0"/>
          <a:ext cx="0" cy="0"/>
          <a:chOff x="0" y="0"/>
          <a:chExt cx="0" cy="0"/>
        </a:xfrm>
      </p:grpSpPr>
      <p:sp>
        <p:nvSpPr>
          <p:cNvPr id="2" name="!!seg8"/>
          <p:cNvSpPr/>
          <p:nvPr/>
        </p:nvSpPr>
        <p:spPr>
          <a:xfrm>
            <a:off x="16184880" y="566928"/>
            <a:ext cx="1097280" cy="118872"/>
          </a:xfrm>
          <a:prstGeom prst="roundRect">
            <a:avLst>
              <a:gd name="adj" fmla="val 50000"/>
            </a:avLst>
          </a:prstGeom>
          <a:solidFill>
            <a:srgbClr val="C1FF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 name="!!seg7"/>
          <p:cNvSpPr/>
          <p:nvPr/>
        </p:nvSpPr>
        <p:spPr>
          <a:xfrm>
            <a:off x="15782543"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seg6"/>
          <p:cNvSpPr/>
          <p:nvPr/>
        </p:nvSpPr>
        <p:spPr>
          <a:xfrm>
            <a:off x="1538020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seg5"/>
          <p:cNvSpPr/>
          <p:nvPr/>
        </p:nvSpPr>
        <p:spPr>
          <a:xfrm>
            <a:off x="14977871"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seg4"/>
          <p:cNvSpPr/>
          <p:nvPr/>
        </p:nvSpPr>
        <p:spPr>
          <a:xfrm>
            <a:off x="14575535"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eg3"/>
          <p:cNvSpPr/>
          <p:nvPr/>
        </p:nvSpPr>
        <p:spPr>
          <a:xfrm>
            <a:off x="14173199"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eg2"/>
          <p:cNvSpPr/>
          <p:nvPr/>
        </p:nvSpPr>
        <p:spPr>
          <a:xfrm>
            <a:off x="13770863"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9" name="!!seg1"/>
          <p:cNvSpPr/>
          <p:nvPr/>
        </p:nvSpPr>
        <p:spPr>
          <a:xfrm>
            <a:off x="13368527" y="566928"/>
            <a:ext cx="310896" cy="118872"/>
          </a:xfrm>
          <a:prstGeom prst="roundRect">
            <a:avLst>
              <a:gd name="adj" fmla="val 50000"/>
            </a:avLst>
          </a:prstGeom>
          <a:solidFill>
            <a:srgbClr val="4A4A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0" name="!!segno"/>
          <p:cNvSpPr txBox="1"/>
          <p:nvPr/>
        </p:nvSpPr>
        <p:spPr>
          <a:xfrm>
            <a:off x="10808207" y="429768"/>
            <a:ext cx="2423160" cy="384048"/>
          </a:xfrm>
          <a:prstGeom prst="rect">
            <a:avLst/>
          </a:prstGeom>
          <a:noFill/>
        </p:spPr>
        <p:txBody>
          <a:bodyPr wrap="square" lIns="45720" rIns="45720" anchor="t"/>
          <a:lstStyle/>
          <a:p>
            <a:pPr algn="r">
              <a:lnSpc>
                <a:spcPct val="100000"/>
              </a:lnSpc>
            </a:pPr>
            <a:r>
              <a:rPr sz="1500" b="0" i="0">
                <a:solidFill>
                  <a:srgbClr val="8E8E93"/>
                </a:solidFill>
                <a:latin typeface="Oswald"/>
              </a:rPr>
              <a:t>08 / 08</a:t>
            </a:r>
          </a:p>
        </p:txBody>
      </p:sp>
      <p:sp>
        <p:nvSpPr>
          <p:cNvPr id="11" name="Kicker 309"/>
          <p:cNvSpPr txBox="1"/>
          <p:nvPr/>
        </p:nvSpPr>
        <p:spPr>
          <a:xfrm>
            <a:off x="1005840" y="457200"/>
            <a:ext cx="8229600" cy="411480"/>
          </a:xfrm>
          <a:prstGeom prst="rect">
            <a:avLst/>
          </a:prstGeom>
          <a:noFill/>
        </p:spPr>
        <p:txBody>
          <a:bodyPr wrap="square" lIns="45720" rIns="45720" anchor="t"/>
          <a:lstStyle/>
          <a:p>
            <a:pPr algn="l">
              <a:lnSpc>
                <a:spcPct val="100000"/>
              </a:lnSpc>
            </a:pPr>
            <a:r>
              <a:rPr sz="1600" b="1" i="0">
                <a:solidFill>
                  <a:srgbClr val="C1FF72"/>
                </a:solidFill>
                <a:latin typeface="Titillium Web"/>
              </a:rPr>
              <a:t>08  ·  CONCLUSION</a:t>
            </a:r>
          </a:p>
        </p:txBody>
      </p:sp>
      <p:sp>
        <p:nvSpPr>
          <p:cNvPr id="12" name="Title 310"/>
          <p:cNvSpPr txBox="1"/>
          <p:nvPr/>
        </p:nvSpPr>
        <p:spPr>
          <a:xfrm>
            <a:off x="1005840" y="841248"/>
            <a:ext cx="10972800" cy="1051560"/>
          </a:xfrm>
          <a:prstGeom prst="rect">
            <a:avLst/>
          </a:prstGeom>
          <a:noFill/>
        </p:spPr>
        <p:txBody>
          <a:bodyPr wrap="square" lIns="45720" rIns="45720" anchor="t"/>
          <a:lstStyle/>
          <a:p>
            <a:pPr algn="l">
              <a:lnSpc>
                <a:spcPct val="100000"/>
              </a:lnSpc>
            </a:pPr>
            <a:r>
              <a:rPr sz="5400" b="0" i="0">
                <a:solidFill>
                  <a:srgbClr val="EDEDED"/>
                </a:solidFill>
                <a:latin typeface="Oswald"/>
              </a:rPr>
              <a:t>RECOMMENDATIONS</a:t>
            </a:r>
          </a:p>
        </p:txBody>
      </p:sp>
      <p:sp>
        <p:nvSpPr>
          <p:cNvPr id="13" name="Subtitle 311"/>
          <p:cNvSpPr txBox="1"/>
          <p:nvPr/>
        </p:nvSpPr>
        <p:spPr>
          <a:xfrm>
            <a:off x="1005840" y="1828800"/>
            <a:ext cx="10972800" cy="502920"/>
          </a:xfrm>
          <a:prstGeom prst="rect">
            <a:avLst/>
          </a:prstGeom>
          <a:noFill/>
        </p:spPr>
        <p:txBody>
          <a:bodyPr wrap="square" lIns="45720" rIns="45720" anchor="t"/>
          <a:lstStyle/>
          <a:p>
            <a:pPr algn="l">
              <a:lnSpc>
                <a:spcPct val="100000"/>
              </a:lnSpc>
            </a:pPr>
            <a:r>
              <a:rPr sz="2100" b="0" i="0">
                <a:solidFill>
                  <a:srgbClr val="8E8E93"/>
                </a:solidFill>
                <a:latin typeface="Titillium Web"/>
              </a:rPr>
              <a:t>And perspectives for future research</a:t>
            </a:r>
          </a:p>
        </p:txBody>
      </p:sp>
      <p:sp>
        <p:nvSpPr>
          <p:cNvPr id="14" name="Source"/>
          <p:cNvSpPr txBox="1"/>
          <p:nvPr/>
        </p:nvSpPr>
        <p:spPr>
          <a:xfrm>
            <a:off x="1005840" y="9710928"/>
            <a:ext cx="14447520" cy="347472"/>
          </a:xfrm>
          <a:prstGeom prst="rect">
            <a:avLst/>
          </a:prstGeom>
          <a:noFill/>
        </p:spPr>
        <p:txBody>
          <a:bodyPr wrap="square" lIns="45720" rIns="45720" anchor="t"/>
          <a:lstStyle/>
          <a:p>
            <a:pPr algn="l">
              <a:lnSpc>
                <a:spcPct val="100000"/>
              </a:lnSpc>
            </a:pPr>
            <a:r>
              <a:rPr sz="1300" b="0" i="0">
                <a:solidFill>
                  <a:srgbClr val="5C5C61"/>
                </a:solidFill>
                <a:latin typeface="Titillium Web"/>
              </a:rPr>
              <a:t>Thesis §5.2 Recommendations; §5.3 Perspectives</a:t>
            </a:r>
          </a:p>
        </p:txBody>
      </p:sp>
      <p:sp>
        <p:nvSpPr>
          <p:cNvPr id="15" name="Page"/>
          <p:cNvSpPr txBox="1"/>
          <p:nvPr/>
        </p:nvSpPr>
        <p:spPr>
          <a:xfrm>
            <a:off x="15453359" y="9710928"/>
            <a:ext cx="1828800" cy="347472"/>
          </a:xfrm>
          <a:prstGeom prst="rect">
            <a:avLst/>
          </a:prstGeom>
          <a:noFill/>
        </p:spPr>
        <p:txBody>
          <a:bodyPr wrap="square" lIns="45720" rIns="45720" anchor="t"/>
          <a:lstStyle/>
          <a:p>
            <a:pPr algn="r">
              <a:lnSpc>
                <a:spcPct val="100000"/>
              </a:lnSpc>
            </a:pPr>
            <a:r>
              <a:rPr sz="1300" b="0" i="0">
                <a:solidFill>
                  <a:srgbClr val="5C5C61"/>
                </a:solidFill>
                <a:latin typeface="Oswald"/>
              </a:rPr>
              <a:t>19</a:t>
            </a:r>
          </a:p>
        </p:txBody>
      </p:sp>
      <p:pic>
        <p:nvPicPr>
          <p:cNvPr id="16" name="!!photo" descr="5380651-0.475-0.35-0.50.jpg"/>
          <p:cNvPicPr>
            <a:picLocks noChangeAspect="1"/>
          </p:cNvPicPr>
          <p:nvPr/>
        </p:nvPicPr>
        <p:blipFill>
          <a:blip r:embed="rId3"/>
          <a:stretch>
            <a:fillRect/>
          </a:stretch>
        </p:blipFill>
        <p:spPr>
          <a:xfrm>
            <a:off x="13304520" y="1051560"/>
            <a:ext cx="3977639" cy="8366760"/>
          </a:xfrm>
          <a:prstGeom prst="roundRect">
            <a:avLst>
              <a:gd name="adj" fmla="val 8045"/>
            </a:avLst>
          </a:prstGeom>
          <a:effectLst>
            <a:outerShdw blurRad="279400" dist="114300" dir="2700000" algn="ctr" rotWithShape="0">
              <a:srgbClr val="0E0E10">
                <a:alpha val="70000"/>
              </a:srgbClr>
            </a:outerShdw>
          </a:effectLst>
        </p:spPr>
      </p:pic>
      <p:grpSp>
        <p:nvGrpSpPr>
          <p:cNvPr id="22" name="Card 312"/>
          <p:cNvGrpSpPr/>
          <p:nvPr/>
        </p:nvGrpSpPr>
        <p:grpSpPr>
          <a:xfrm>
            <a:off x="1005840" y="2606040"/>
            <a:ext cx="5806440" cy="2240280"/>
            <a:chOff x="1005840" y="2606040"/>
            <a:chExt cx="5806440" cy="2240280"/>
          </a:xfrm>
        </p:grpSpPr>
        <p:sp>
          <p:nvSpPr>
            <p:cNvPr id="17" name="Card light"/>
            <p:cNvSpPr/>
            <p:nvPr/>
          </p:nvSpPr>
          <p:spPr>
            <a:xfrm>
              <a:off x="1005840" y="2606040"/>
              <a:ext cx="5806440" cy="2240280"/>
            </a:xfrm>
            <a:prstGeom prst="roundRect">
              <a:avLst>
                <a:gd name="adj" fmla="val 11428"/>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Card"/>
            <p:cNvSpPr/>
            <p:nvPr/>
          </p:nvSpPr>
          <p:spPr>
            <a:xfrm>
              <a:off x="1005840" y="2606040"/>
              <a:ext cx="5806440" cy="2240280"/>
            </a:xfrm>
            <a:prstGeom prst="roundRect">
              <a:avLst>
                <a:gd name="adj" fmla="val 11428"/>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Card label"/>
            <p:cNvSpPr txBox="1"/>
            <p:nvPr/>
          </p:nvSpPr>
          <p:spPr>
            <a:xfrm>
              <a:off x="1298448" y="2880360"/>
              <a:ext cx="5221224" cy="347472"/>
            </a:xfrm>
            <a:prstGeom prst="rect">
              <a:avLst/>
            </a:prstGeom>
            <a:noFill/>
          </p:spPr>
          <p:txBody>
            <a:bodyPr wrap="square" lIns="45720" rIns="45720" anchor="t"/>
            <a:lstStyle/>
            <a:p>
              <a:pPr algn="l">
                <a:lnSpc>
                  <a:spcPct val="100000"/>
                </a:lnSpc>
              </a:pPr>
              <a:r>
                <a:rPr sz="1400" b="1" i="0">
                  <a:solidFill>
                    <a:srgbClr val="C1FF72"/>
                  </a:solidFill>
                  <a:latin typeface="Titillium Web"/>
                </a:rPr>
                <a:t>RECOMMENDATION 1</a:t>
              </a:r>
            </a:p>
          </p:txBody>
        </p:sp>
        <p:sp>
          <p:nvSpPr>
            <p:cNvPr id="20" name="Card title"/>
            <p:cNvSpPr txBox="1"/>
            <p:nvPr/>
          </p:nvSpPr>
          <p:spPr>
            <a:xfrm>
              <a:off x="1298448" y="3264408"/>
              <a:ext cx="5221224" cy="437896"/>
            </a:xfrm>
            <a:prstGeom prst="rect">
              <a:avLst/>
            </a:prstGeom>
            <a:noFill/>
          </p:spPr>
          <p:txBody>
            <a:bodyPr wrap="square" lIns="45720" rIns="45720" anchor="t"/>
            <a:lstStyle/>
            <a:p>
              <a:pPr algn="l">
                <a:lnSpc>
                  <a:spcPct val="100000"/>
                </a:lnSpc>
              </a:pPr>
              <a:r>
                <a:rPr sz="2200" b="0" i="0">
                  <a:solidFill>
                    <a:srgbClr val="EDEDED"/>
                  </a:solidFill>
                  <a:latin typeface="Oswald"/>
                </a:rPr>
                <a:t>SECURITY ASSURANCE</a:t>
              </a:r>
            </a:p>
          </p:txBody>
        </p:sp>
        <p:sp>
          <p:nvSpPr>
            <p:cNvPr id="21" name="Card body"/>
            <p:cNvSpPr txBox="1"/>
            <p:nvPr/>
          </p:nvSpPr>
          <p:spPr>
            <a:xfrm>
              <a:off x="1298448" y="3738879"/>
              <a:ext cx="5221224" cy="869696"/>
            </a:xfrm>
            <a:prstGeom prst="rect">
              <a:avLst/>
            </a:prstGeom>
            <a:noFill/>
          </p:spPr>
          <p:txBody>
            <a:bodyPr wrap="square" lIns="45720" rIns="45720" anchor="t"/>
            <a:lstStyle/>
            <a:p>
              <a:pPr algn="l">
                <a:lnSpc>
                  <a:spcPct val="98000"/>
                </a:lnSpc>
              </a:pPr>
              <a:r>
                <a:rPr sz="1750" b="0" i="0">
                  <a:solidFill>
                    <a:srgbClr val="BDBDC1"/>
                  </a:solidFill>
                  <a:latin typeface="Titillium Web"/>
                </a:rPr>
                <a:t>Test account switching, grant revocation, hostile input, replay, expiry and elevation prompts in the packaged product.</a:t>
              </a:r>
            </a:p>
          </p:txBody>
        </p:sp>
      </p:grpSp>
      <p:grpSp>
        <p:nvGrpSpPr>
          <p:cNvPr id="28" name="Card 313"/>
          <p:cNvGrpSpPr/>
          <p:nvPr/>
        </p:nvGrpSpPr>
        <p:grpSpPr>
          <a:xfrm>
            <a:off x="7132320" y="2606040"/>
            <a:ext cx="5806440" cy="2240280"/>
            <a:chOff x="7132320" y="2606040"/>
            <a:chExt cx="5806440" cy="2240280"/>
          </a:xfrm>
        </p:grpSpPr>
        <p:sp>
          <p:nvSpPr>
            <p:cNvPr id="23" name="Card light"/>
            <p:cNvSpPr/>
            <p:nvPr/>
          </p:nvSpPr>
          <p:spPr>
            <a:xfrm>
              <a:off x="7132320" y="2606040"/>
              <a:ext cx="5806440" cy="2240280"/>
            </a:xfrm>
            <a:prstGeom prst="roundRect">
              <a:avLst>
                <a:gd name="adj" fmla="val 11428"/>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4" name="Card"/>
            <p:cNvSpPr/>
            <p:nvPr/>
          </p:nvSpPr>
          <p:spPr>
            <a:xfrm>
              <a:off x="7132320" y="2606040"/>
              <a:ext cx="5806440" cy="2240280"/>
            </a:xfrm>
            <a:prstGeom prst="roundRect">
              <a:avLst>
                <a:gd name="adj" fmla="val 11428"/>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5" name="Card label"/>
            <p:cNvSpPr txBox="1"/>
            <p:nvPr/>
          </p:nvSpPr>
          <p:spPr>
            <a:xfrm>
              <a:off x="7424928" y="2880360"/>
              <a:ext cx="5221224" cy="347472"/>
            </a:xfrm>
            <a:prstGeom prst="rect">
              <a:avLst/>
            </a:prstGeom>
            <a:noFill/>
          </p:spPr>
          <p:txBody>
            <a:bodyPr wrap="square" lIns="45720" rIns="45720" anchor="t"/>
            <a:lstStyle/>
            <a:p>
              <a:pPr algn="l">
                <a:lnSpc>
                  <a:spcPct val="100000"/>
                </a:lnSpc>
              </a:pPr>
              <a:r>
                <a:rPr sz="1400" b="1" i="0">
                  <a:solidFill>
                    <a:srgbClr val="C1FF72"/>
                  </a:solidFill>
                  <a:latin typeface="Titillium Web"/>
                </a:rPr>
                <a:t>RECOMMENDATION 2</a:t>
              </a:r>
            </a:p>
          </p:txBody>
        </p:sp>
        <p:sp>
          <p:nvSpPr>
            <p:cNvPr id="26" name="Card title"/>
            <p:cNvSpPr txBox="1"/>
            <p:nvPr/>
          </p:nvSpPr>
          <p:spPr>
            <a:xfrm>
              <a:off x="7424928" y="3264408"/>
              <a:ext cx="5221224" cy="437896"/>
            </a:xfrm>
            <a:prstGeom prst="rect">
              <a:avLst/>
            </a:prstGeom>
            <a:noFill/>
          </p:spPr>
          <p:txBody>
            <a:bodyPr wrap="square" lIns="45720" rIns="45720" anchor="t"/>
            <a:lstStyle/>
            <a:p>
              <a:pPr algn="l">
                <a:lnSpc>
                  <a:spcPct val="100000"/>
                </a:lnSpc>
              </a:pPr>
              <a:r>
                <a:rPr sz="2200" b="0" i="0">
                  <a:solidFill>
                    <a:srgbClr val="EDEDED"/>
                  </a:solidFill>
                  <a:latin typeface="Oswald"/>
                </a:rPr>
                <a:t>PRIVACY &amp; RETENTION</a:t>
              </a:r>
            </a:p>
          </p:txBody>
        </p:sp>
        <p:sp>
          <p:nvSpPr>
            <p:cNvPr id="27" name="Card body"/>
            <p:cNvSpPr txBox="1"/>
            <p:nvPr/>
          </p:nvSpPr>
          <p:spPr>
            <a:xfrm>
              <a:off x="7424928" y="3738879"/>
              <a:ext cx="5221224" cy="869696"/>
            </a:xfrm>
            <a:prstGeom prst="rect">
              <a:avLst/>
            </a:prstGeom>
            <a:noFill/>
          </p:spPr>
          <p:txBody>
            <a:bodyPr wrap="square" lIns="45720" rIns="45720" anchor="t"/>
            <a:lstStyle/>
            <a:p>
              <a:pPr algn="l">
                <a:lnSpc>
                  <a:spcPct val="98000"/>
                </a:lnSpc>
              </a:pPr>
              <a:r>
                <a:rPr sz="1750" b="0" i="0">
                  <a:solidFill>
                    <a:srgbClr val="BDBDC1"/>
                  </a:solidFill>
                  <a:latin typeface="Titillium Web"/>
                </a:rPr>
                <a:t>Validate the five consent categories, URL redaction, deletion and sync withdrawal across every client.</a:t>
              </a:r>
            </a:p>
          </p:txBody>
        </p:sp>
      </p:grpSp>
      <p:grpSp>
        <p:nvGrpSpPr>
          <p:cNvPr id="34" name="Card 314"/>
          <p:cNvGrpSpPr/>
          <p:nvPr/>
        </p:nvGrpSpPr>
        <p:grpSpPr>
          <a:xfrm>
            <a:off x="1005840" y="5029200"/>
            <a:ext cx="5806440" cy="2240280"/>
            <a:chOff x="1005840" y="5029200"/>
            <a:chExt cx="5806440" cy="2240280"/>
          </a:xfrm>
        </p:grpSpPr>
        <p:sp>
          <p:nvSpPr>
            <p:cNvPr id="29" name="Card light"/>
            <p:cNvSpPr/>
            <p:nvPr/>
          </p:nvSpPr>
          <p:spPr>
            <a:xfrm>
              <a:off x="1005840" y="5029200"/>
              <a:ext cx="5806440" cy="2240280"/>
            </a:xfrm>
            <a:prstGeom prst="roundRect">
              <a:avLst>
                <a:gd name="adj" fmla="val 11428"/>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0" name="Card"/>
            <p:cNvSpPr/>
            <p:nvPr/>
          </p:nvSpPr>
          <p:spPr>
            <a:xfrm>
              <a:off x="1005840" y="5029200"/>
              <a:ext cx="5806440" cy="2240280"/>
            </a:xfrm>
            <a:prstGeom prst="roundRect">
              <a:avLst>
                <a:gd name="adj" fmla="val 11428"/>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Card label"/>
            <p:cNvSpPr txBox="1"/>
            <p:nvPr/>
          </p:nvSpPr>
          <p:spPr>
            <a:xfrm>
              <a:off x="1298448" y="5303520"/>
              <a:ext cx="5221224" cy="347472"/>
            </a:xfrm>
            <a:prstGeom prst="rect">
              <a:avLst/>
            </a:prstGeom>
            <a:noFill/>
          </p:spPr>
          <p:txBody>
            <a:bodyPr wrap="square" lIns="45720" rIns="45720" anchor="t"/>
            <a:lstStyle/>
            <a:p>
              <a:pPr algn="l">
                <a:lnSpc>
                  <a:spcPct val="100000"/>
                </a:lnSpc>
              </a:pPr>
              <a:r>
                <a:rPr sz="1400" b="1" i="0">
                  <a:solidFill>
                    <a:srgbClr val="C1FF72"/>
                  </a:solidFill>
                  <a:latin typeface="Titillium Web"/>
                </a:rPr>
                <a:t>RECOMMENDATION 3</a:t>
              </a:r>
            </a:p>
          </p:txBody>
        </p:sp>
        <p:sp>
          <p:nvSpPr>
            <p:cNvPr id="32" name="Card title"/>
            <p:cNvSpPr txBox="1"/>
            <p:nvPr/>
          </p:nvSpPr>
          <p:spPr>
            <a:xfrm>
              <a:off x="1298448" y="5687568"/>
              <a:ext cx="5221224" cy="437896"/>
            </a:xfrm>
            <a:prstGeom prst="rect">
              <a:avLst/>
            </a:prstGeom>
            <a:noFill/>
          </p:spPr>
          <p:txBody>
            <a:bodyPr wrap="square" lIns="45720" rIns="45720" anchor="t"/>
            <a:lstStyle/>
            <a:p>
              <a:pPr algn="l">
                <a:lnSpc>
                  <a:spcPct val="100000"/>
                </a:lnSpc>
              </a:pPr>
              <a:r>
                <a:rPr sz="2200" b="0" i="0">
                  <a:solidFill>
                    <a:srgbClr val="EDEDED"/>
                  </a:solidFill>
                  <a:latin typeface="Oswald"/>
                </a:rPr>
                <a:t>MODEL QUALITY</a:t>
              </a:r>
            </a:p>
          </p:txBody>
        </p:sp>
        <p:sp>
          <p:nvSpPr>
            <p:cNvPr id="33" name="Card body"/>
            <p:cNvSpPr txBox="1"/>
            <p:nvPr/>
          </p:nvSpPr>
          <p:spPr>
            <a:xfrm>
              <a:off x="1298448" y="6162040"/>
              <a:ext cx="5221224" cy="869696"/>
            </a:xfrm>
            <a:prstGeom prst="rect">
              <a:avLst/>
            </a:prstGeom>
            <a:noFill/>
          </p:spPr>
          <p:txBody>
            <a:bodyPr wrap="square" lIns="45720" rIns="45720" anchor="t"/>
            <a:lstStyle/>
            <a:p>
              <a:pPr algn="l">
                <a:lnSpc>
                  <a:spcPct val="98000"/>
                </a:lnSpc>
              </a:pPr>
              <a:r>
                <a:rPr sz="1750" b="0" i="0">
                  <a:solidFill>
                    <a:srgbClr val="BDBDC1"/>
                  </a:solidFill>
                  <a:latin typeface="Titillium Web"/>
                </a:rPr>
                <a:t>Temporal and domain-held-out evaluation; isolated training; reviewed feedback, never unchecked retraining.</a:t>
              </a:r>
            </a:p>
          </p:txBody>
        </p:sp>
      </p:grpSp>
      <p:grpSp>
        <p:nvGrpSpPr>
          <p:cNvPr id="40" name="Card 315"/>
          <p:cNvGrpSpPr/>
          <p:nvPr/>
        </p:nvGrpSpPr>
        <p:grpSpPr>
          <a:xfrm>
            <a:off x="7132320" y="5029200"/>
            <a:ext cx="5806440" cy="2240280"/>
            <a:chOff x="7132320" y="5029200"/>
            <a:chExt cx="5806440" cy="2240280"/>
          </a:xfrm>
        </p:grpSpPr>
        <p:sp>
          <p:nvSpPr>
            <p:cNvPr id="35" name="Card light"/>
            <p:cNvSpPr/>
            <p:nvPr/>
          </p:nvSpPr>
          <p:spPr>
            <a:xfrm>
              <a:off x="7132320" y="5029200"/>
              <a:ext cx="5806440" cy="2240280"/>
            </a:xfrm>
            <a:prstGeom prst="roundRect">
              <a:avLst>
                <a:gd name="adj" fmla="val 11428"/>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6" name="Card"/>
            <p:cNvSpPr/>
            <p:nvPr/>
          </p:nvSpPr>
          <p:spPr>
            <a:xfrm>
              <a:off x="7132320" y="5029200"/>
              <a:ext cx="5806440" cy="2240280"/>
            </a:xfrm>
            <a:prstGeom prst="roundRect">
              <a:avLst>
                <a:gd name="adj" fmla="val 11428"/>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Card label"/>
            <p:cNvSpPr txBox="1"/>
            <p:nvPr/>
          </p:nvSpPr>
          <p:spPr>
            <a:xfrm>
              <a:off x="7424928" y="5303520"/>
              <a:ext cx="5221224" cy="347472"/>
            </a:xfrm>
            <a:prstGeom prst="rect">
              <a:avLst/>
            </a:prstGeom>
            <a:noFill/>
          </p:spPr>
          <p:txBody>
            <a:bodyPr wrap="square" lIns="45720" rIns="45720" anchor="t"/>
            <a:lstStyle/>
            <a:p>
              <a:pPr algn="l">
                <a:lnSpc>
                  <a:spcPct val="100000"/>
                </a:lnSpc>
              </a:pPr>
              <a:r>
                <a:rPr sz="1400" b="1" i="0">
                  <a:solidFill>
                    <a:srgbClr val="C1FF72"/>
                  </a:solidFill>
                  <a:latin typeface="Titillium Web"/>
                </a:rPr>
                <a:t>RECOMMENDATION 4</a:t>
              </a:r>
            </a:p>
          </p:txBody>
        </p:sp>
        <p:sp>
          <p:nvSpPr>
            <p:cNvPr id="38" name="Card title"/>
            <p:cNvSpPr txBox="1"/>
            <p:nvPr/>
          </p:nvSpPr>
          <p:spPr>
            <a:xfrm>
              <a:off x="7424928" y="5687568"/>
              <a:ext cx="5221224" cy="437896"/>
            </a:xfrm>
            <a:prstGeom prst="rect">
              <a:avLst/>
            </a:prstGeom>
            <a:noFill/>
          </p:spPr>
          <p:txBody>
            <a:bodyPr wrap="square" lIns="45720" rIns="45720" anchor="t"/>
            <a:lstStyle/>
            <a:p>
              <a:pPr algn="l">
                <a:lnSpc>
                  <a:spcPct val="100000"/>
                </a:lnSpc>
              </a:pPr>
              <a:r>
                <a:rPr sz="2200" b="0" i="0">
                  <a:solidFill>
                    <a:srgbClr val="EDEDED"/>
                  </a:solidFill>
                  <a:latin typeface="Oswald"/>
                </a:rPr>
                <a:t>ACTION SCOPE</a:t>
              </a:r>
            </a:p>
          </p:txBody>
        </p:sp>
        <p:sp>
          <p:nvSpPr>
            <p:cNvPr id="39" name="Card body"/>
            <p:cNvSpPr txBox="1"/>
            <p:nvPr/>
          </p:nvSpPr>
          <p:spPr>
            <a:xfrm>
              <a:off x="7424928" y="6162040"/>
              <a:ext cx="5221224" cy="869696"/>
            </a:xfrm>
            <a:prstGeom prst="rect">
              <a:avLst/>
            </a:prstGeom>
            <a:noFill/>
          </p:spPr>
          <p:txBody>
            <a:bodyPr wrap="square" lIns="45720" rIns="45720" anchor="t"/>
            <a:lstStyle/>
            <a:p>
              <a:pPr algn="l">
                <a:lnSpc>
                  <a:spcPct val="98000"/>
                </a:lnSpc>
              </a:pPr>
              <a:r>
                <a:rPr sz="1750" b="0" i="0">
                  <a:solidFill>
                    <a:srgbClr val="BDBDC1"/>
                  </a:solidFill>
                  <a:latin typeface="Titillium Web"/>
                </a:rPr>
                <a:t>Verified rollback before broader automatic response; grow CLI and MCP only with permission contracts.</a:t>
              </a:r>
            </a:p>
          </p:txBody>
        </p:sp>
      </p:grpSp>
      <p:grpSp>
        <p:nvGrpSpPr>
          <p:cNvPr id="45" name="Perspectives 316"/>
          <p:cNvGrpSpPr/>
          <p:nvPr/>
        </p:nvGrpSpPr>
        <p:grpSpPr>
          <a:xfrm>
            <a:off x="1005840" y="7543800"/>
            <a:ext cx="11932920" cy="1874519"/>
            <a:chOff x="1005840" y="7543800"/>
            <a:chExt cx="11932920" cy="1874519"/>
          </a:xfrm>
        </p:grpSpPr>
        <p:sp>
          <p:nvSpPr>
            <p:cNvPr id="41" name="Persp light"/>
            <p:cNvSpPr/>
            <p:nvPr/>
          </p:nvSpPr>
          <p:spPr>
            <a:xfrm>
              <a:off x="1005840" y="7543800"/>
              <a:ext cx="11932920" cy="1874519"/>
            </a:xfrm>
            <a:prstGeom prst="roundRect">
              <a:avLst>
                <a:gd name="adj" fmla="val 19512"/>
              </a:avLst>
            </a:prstGeom>
            <a:solidFill>
              <a:srgbClr val="33402A"/>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2" name="Persp"/>
            <p:cNvSpPr/>
            <p:nvPr/>
          </p:nvSpPr>
          <p:spPr>
            <a:xfrm>
              <a:off x="1005840" y="7543800"/>
              <a:ext cx="11932920" cy="1874519"/>
            </a:xfrm>
            <a:prstGeom prst="roundRect">
              <a:avLst>
                <a:gd name="adj" fmla="val 19512"/>
              </a:avLst>
            </a:prstGeom>
            <a:solidFill>
              <a:srgbClr val="33402A"/>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3" name="Persp label"/>
            <p:cNvSpPr txBox="1"/>
            <p:nvPr/>
          </p:nvSpPr>
          <p:spPr>
            <a:xfrm>
              <a:off x="1417320" y="7699248"/>
              <a:ext cx="5486400" cy="384048"/>
            </a:xfrm>
            <a:prstGeom prst="rect">
              <a:avLst/>
            </a:prstGeom>
            <a:noFill/>
          </p:spPr>
          <p:txBody>
            <a:bodyPr wrap="square" lIns="45720" rIns="45720" anchor="t"/>
            <a:lstStyle/>
            <a:p>
              <a:pPr algn="l">
                <a:lnSpc>
                  <a:spcPct val="100000"/>
                </a:lnSpc>
              </a:pPr>
              <a:r>
                <a:rPr sz="1500" b="1" i="0">
                  <a:solidFill>
                    <a:srgbClr val="C1FF72"/>
                  </a:solidFill>
                  <a:latin typeface="Titillium Web"/>
                </a:rPr>
                <a:t>PERSPECTIVES</a:t>
              </a:r>
            </a:p>
          </p:txBody>
        </p:sp>
        <p:sp>
          <p:nvSpPr>
            <p:cNvPr id="44" name="Persp text"/>
            <p:cNvSpPr txBox="1"/>
            <p:nvPr/>
          </p:nvSpPr>
          <p:spPr>
            <a:xfrm>
              <a:off x="1417320" y="8092440"/>
              <a:ext cx="11155680" cy="1234440"/>
            </a:xfrm>
            <a:prstGeom prst="rect">
              <a:avLst/>
            </a:prstGeom>
            <a:noFill/>
          </p:spPr>
          <p:txBody>
            <a:bodyPr wrap="square" lIns="45720" rIns="45720" anchor="t"/>
            <a:lstStyle/>
            <a:p>
              <a:pPr algn="l">
                <a:lnSpc>
                  <a:spcPct val="98000"/>
                </a:lnSpc>
              </a:pPr>
              <a:r>
                <a:rPr sz="1750" b="0" i="0">
                  <a:solidFill>
                    <a:srgbClr val="EDEDED"/>
                  </a:solidFill>
                  <a:latin typeface="Titillium Web"/>
                </a:rPr>
                <a:t>Longer deployments with raw logs · agent ablations · independent regional and hosted-phishing corpora · a blinded explanation study · isolated training · richer CLI and MCP tools · packaged mobile capture · a real dynamic-execution sandbox</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37" presetClass="entr" presetSubtype="0" fill="hold" grpId="0" nodeType="withEffect">
                                  <p:stCondLst>
                                    <p:cond delay="100"/>
                                  </p:stCondLst>
                                  <p:iterate type="lt">
                                    <p:tmPct val="10000"/>
                                  </p:iterate>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anim calcmode="lin" valueType="num">
                                      <p:cBhvr>
                                        <p:cTn id="11" dur="500" fill="hold"/>
                                        <p:tgtEl>
                                          <p:spTgt spid="12"/>
                                        </p:tgtEl>
                                        <p:attrNameLst>
                                          <p:attrName>ppt_x</p:attrName>
                                        </p:attrNameLst>
                                      </p:cBhvr>
                                      <p:tavLst>
                                        <p:tav tm="0">
                                          <p:val>
                                            <p:strVal val="#ppt_x"/>
                                          </p:val>
                                        </p:tav>
                                        <p:tav tm="100000">
                                          <p:val>
                                            <p:strVal val="#ppt_x"/>
                                          </p:val>
                                        </p:tav>
                                      </p:tavLst>
                                    </p:anim>
                                    <p:anim calcmode="lin" valueType="num">
                                      <p:cBhvr>
                                        <p:cTn id="12" dur="450" decel="100000" fill="hold"/>
                                        <p:tgtEl>
                                          <p:spTgt spid="12"/>
                                        </p:tgtEl>
                                        <p:attrNameLst>
                                          <p:attrName>ppt_y</p:attrName>
                                        </p:attrNameLst>
                                      </p:cBhvr>
                                      <p:tavLst>
                                        <p:tav tm="0">
                                          <p:val>
                                            <p:strVal val="#ppt_y+1"/>
                                          </p:val>
                                        </p:tav>
                                        <p:tav tm="100000">
                                          <p:val>
                                            <p:strVal val="#ppt_y-.03"/>
                                          </p:val>
                                        </p:tav>
                                      </p:tavLst>
                                    </p:anim>
                                    <p:anim calcmode="lin" valueType="num">
                                      <p:cBhvr>
                                        <p:cTn id="13" dur="50" accel="100000" fill="hold">
                                          <p:stCondLst>
                                            <p:cond delay="450"/>
                                          </p:stCondLst>
                                        </p:cTn>
                                        <p:tgtEl>
                                          <p:spTgt spid="12"/>
                                        </p:tgtEl>
                                        <p:attrNameLst>
                                          <p:attrName>ppt_y</p:attrName>
                                        </p:attrNameLst>
                                      </p:cBhvr>
                                      <p:tavLst>
                                        <p:tav tm="0">
                                          <p:val>
                                            <p:strVal val="#ppt_y-.03"/>
                                          </p:val>
                                        </p:tav>
                                        <p:tav tm="100000">
                                          <p:val>
                                            <p:strVal val="#ppt_y"/>
                                          </p:val>
                                        </p:tav>
                                      </p:tavLst>
                                    </p:anim>
                                  </p:childTnLst>
                                </p:cTn>
                              </p:par>
                            </p:childTnLst>
                          </p:cTn>
                        </p:par>
                        <p:par>
                          <p:cTn id="14" fill="hold">
                            <p:stCondLst>
                              <p:cond delay="13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2000"/>
                            </p:stCondLst>
                            <p:childTnLst>
                              <p:par>
                                <p:cTn id="19" presetID="2" presetClass="entr" presetSubtype="4" fill="hold" nodeType="after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additive="base">
                                        <p:cTn id="21" dur="500" fill="hold"/>
                                        <p:tgtEl>
                                          <p:spTgt spid="22"/>
                                        </p:tgtEl>
                                        <p:attrNameLst>
                                          <p:attrName>ppt_x</p:attrName>
                                        </p:attrNameLst>
                                      </p:cBhvr>
                                      <p:tavLst>
                                        <p:tav tm="0">
                                          <p:val>
                                            <p:strVal val="#ppt_x"/>
                                          </p:val>
                                        </p:tav>
                                        <p:tav tm="100000">
                                          <p:val>
                                            <p:strVal val="#ppt_x"/>
                                          </p:val>
                                        </p:tav>
                                      </p:tavLst>
                                    </p:anim>
                                    <p:anim calcmode="lin" valueType="num">
                                      <p:cBhvr additive="base">
                                        <p:cTn id="22" dur="500" fill="hold"/>
                                        <p:tgtEl>
                                          <p:spTgt spid="22"/>
                                        </p:tgtEl>
                                        <p:attrNameLst>
                                          <p:attrName>ppt_y</p:attrName>
                                        </p:attrNameLst>
                                      </p:cBhvr>
                                      <p:tavLst>
                                        <p:tav tm="0">
                                          <p:val>
                                            <p:strVal val="1+#ppt_h/2"/>
                                          </p:val>
                                        </p:tav>
                                        <p:tav tm="100000">
                                          <p:val>
                                            <p:strVal val="#ppt_y"/>
                                          </p:val>
                                        </p:tav>
                                      </p:tavLst>
                                    </p:anim>
                                  </p:childTnLst>
                                </p:cTn>
                              </p:par>
                            </p:childTnLst>
                          </p:cTn>
                        </p:par>
                        <p:par>
                          <p:cTn id="23" fill="hold">
                            <p:stCondLst>
                              <p:cond delay="2500"/>
                            </p:stCondLst>
                            <p:childTnLst>
                              <p:par>
                                <p:cTn id="24" presetID="2" presetClass="entr" presetSubtype="4" fill="hold" nodeType="afterEffect">
                                  <p:stCondLst>
                                    <p:cond delay="0"/>
                                  </p:stCondLst>
                                  <p:childTnLst>
                                    <p:set>
                                      <p:cBhvr>
                                        <p:cTn id="25" dur="1" fill="hold">
                                          <p:stCondLst>
                                            <p:cond delay="0"/>
                                          </p:stCondLst>
                                        </p:cTn>
                                        <p:tgtEl>
                                          <p:spTgt spid="28"/>
                                        </p:tgtEl>
                                        <p:attrNameLst>
                                          <p:attrName>style.visibility</p:attrName>
                                        </p:attrNameLst>
                                      </p:cBhvr>
                                      <p:to>
                                        <p:strVal val="visible"/>
                                      </p:to>
                                    </p:set>
                                    <p:anim calcmode="lin" valueType="num">
                                      <p:cBhvr additive="base">
                                        <p:cTn id="26" dur="500" fill="hold"/>
                                        <p:tgtEl>
                                          <p:spTgt spid="28"/>
                                        </p:tgtEl>
                                        <p:attrNameLst>
                                          <p:attrName>ppt_x</p:attrName>
                                        </p:attrNameLst>
                                      </p:cBhvr>
                                      <p:tavLst>
                                        <p:tav tm="0">
                                          <p:val>
                                            <p:strVal val="#ppt_x"/>
                                          </p:val>
                                        </p:tav>
                                        <p:tav tm="100000">
                                          <p:val>
                                            <p:strVal val="#ppt_x"/>
                                          </p:val>
                                        </p:tav>
                                      </p:tavLst>
                                    </p:anim>
                                    <p:anim calcmode="lin" valueType="num">
                                      <p:cBhvr additive="base">
                                        <p:cTn id="27" dur="500" fill="hold"/>
                                        <p:tgtEl>
                                          <p:spTgt spid="28"/>
                                        </p:tgtEl>
                                        <p:attrNameLst>
                                          <p:attrName>ppt_y</p:attrName>
                                        </p:attrNameLst>
                                      </p:cBhvr>
                                      <p:tavLst>
                                        <p:tav tm="0">
                                          <p:val>
                                            <p:strVal val="1+#ppt_h/2"/>
                                          </p:val>
                                        </p:tav>
                                        <p:tav tm="100000">
                                          <p:val>
                                            <p:strVal val="#ppt_y"/>
                                          </p:val>
                                        </p:tav>
                                      </p:tavLst>
                                    </p:anim>
                                  </p:childTnLst>
                                </p:cTn>
                              </p:par>
                            </p:childTnLst>
                          </p:cTn>
                        </p:par>
                        <p:par>
                          <p:cTn id="28" fill="hold">
                            <p:stCondLst>
                              <p:cond delay="3000"/>
                            </p:stCondLst>
                            <p:childTnLst>
                              <p:par>
                                <p:cTn id="29" presetID="2" presetClass="entr" presetSubtype="4" fill="hold" nodeType="after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additive="base">
                                        <p:cTn id="31" dur="500" fill="hold"/>
                                        <p:tgtEl>
                                          <p:spTgt spid="34"/>
                                        </p:tgtEl>
                                        <p:attrNameLst>
                                          <p:attrName>ppt_x</p:attrName>
                                        </p:attrNameLst>
                                      </p:cBhvr>
                                      <p:tavLst>
                                        <p:tav tm="0">
                                          <p:val>
                                            <p:strVal val="#ppt_x"/>
                                          </p:val>
                                        </p:tav>
                                        <p:tav tm="100000">
                                          <p:val>
                                            <p:strVal val="#ppt_x"/>
                                          </p:val>
                                        </p:tav>
                                      </p:tavLst>
                                    </p:anim>
                                    <p:anim calcmode="lin" valueType="num">
                                      <p:cBhvr additive="base">
                                        <p:cTn id="32" dur="500" fill="hold"/>
                                        <p:tgtEl>
                                          <p:spTgt spid="34"/>
                                        </p:tgtEl>
                                        <p:attrNameLst>
                                          <p:attrName>ppt_y</p:attrName>
                                        </p:attrNameLst>
                                      </p:cBhvr>
                                      <p:tavLst>
                                        <p:tav tm="0">
                                          <p:val>
                                            <p:strVal val="1+#ppt_h/2"/>
                                          </p:val>
                                        </p:tav>
                                        <p:tav tm="100000">
                                          <p:val>
                                            <p:strVal val="#ppt_y"/>
                                          </p:val>
                                        </p:tav>
                                      </p:tavLst>
                                    </p:anim>
                                  </p:childTnLst>
                                </p:cTn>
                              </p:par>
                            </p:childTnLst>
                          </p:cTn>
                        </p:par>
                        <p:par>
                          <p:cTn id="33" fill="hold">
                            <p:stCondLst>
                              <p:cond delay="3500"/>
                            </p:stCondLst>
                            <p:childTnLst>
                              <p:par>
                                <p:cTn id="34" presetID="2" presetClass="entr" presetSubtype="4" fill="hold" nodeType="afterEffect">
                                  <p:stCondLst>
                                    <p:cond delay="0"/>
                                  </p:stCondLst>
                                  <p:childTnLst>
                                    <p:set>
                                      <p:cBhvr>
                                        <p:cTn id="35" dur="1" fill="hold">
                                          <p:stCondLst>
                                            <p:cond delay="0"/>
                                          </p:stCondLst>
                                        </p:cTn>
                                        <p:tgtEl>
                                          <p:spTgt spid="40"/>
                                        </p:tgtEl>
                                        <p:attrNameLst>
                                          <p:attrName>style.visibility</p:attrName>
                                        </p:attrNameLst>
                                      </p:cBhvr>
                                      <p:to>
                                        <p:strVal val="visible"/>
                                      </p:to>
                                    </p:set>
                                    <p:anim calcmode="lin" valueType="num">
                                      <p:cBhvr additive="base">
                                        <p:cTn id="36" dur="500" fill="hold"/>
                                        <p:tgtEl>
                                          <p:spTgt spid="40"/>
                                        </p:tgtEl>
                                        <p:attrNameLst>
                                          <p:attrName>ppt_x</p:attrName>
                                        </p:attrNameLst>
                                      </p:cBhvr>
                                      <p:tavLst>
                                        <p:tav tm="0">
                                          <p:val>
                                            <p:strVal val="#ppt_x"/>
                                          </p:val>
                                        </p:tav>
                                        <p:tav tm="100000">
                                          <p:val>
                                            <p:strVal val="#ppt_x"/>
                                          </p:val>
                                        </p:tav>
                                      </p:tavLst>
                                    </p:anim>
                                    <p:anim calcmode="lin" valueType="num">
                                      <p:cBhvr additive="base">
                                        <p:cTn id="37" dur="500" fill="hold"/>
                                        <p:tgtEl>
                                          <p:spTgt spid="40"/>
                                        </p:tgtEl>
                                        <p:attrNameLst>
                                          <p:attrName>ppt_y</p:attrName>
                                        </p:attrNameLst>
                                      </p:cBhvr>
                                      <p:tavLst>
                                        <p:tav tm="0">
                                          <p:val>
                                            <p:strVal val="1+#ppt_h/2"/>
                                          </p:val>
                                        </p:tav>
                                        <p:tav tm="100000">
                                          <p:val>
                                            <p:strVal val="#ppt_y"/>
                                          </p:val>
                                        </p:tav>
                                      </p:tavLst>
                                    </p:anim>
                                  </p:childTnLst>
                                </p:cTn>
                              </p:par>
                            </p:childTnLst>
                          </p:cTn>
                        </p:par>
                        <p:par>
                          <p:cTn id="38" fill="hold">
                            <p:stCondLst>
                              <p:cond delay="4000"/>
                            </p:stCondLst>
                            <p:childTnLst>
                              <p:par>
                                <p:cTn id="39" presetID="22" presetClass="entr" presetSubtype="8" fill="hold" nodeType="afterEffect">
                                  <p:stCondLst>
                                    <p:cond delay="0"/>
                                  </p:stCondLst>
                                  <p:childTnLst>
                                    <p:set>
                                      <p:cBhvr>
                                        <p:cTn id="40" dur="1" fill="hold">
                                          <p:stCondLst>
                                            <p:cond delay="0"/>
                                          </p:stCondLst>
                                        </p:cTn>
                                        <p:tgtEl>
                                          <p:spTgt spid="45"/>
                                        </p:tgtEl>
                                        <p:attrNameLst>
                                          <p:attrName>style.visibility</p:attrName>
                                        </p:attrNameLst>
                                      </p:cBhvr>
                                      <p:to>
                                        <p:strVal val="visible"/>
                                      </p:to>
                                    </p:set>
                                    <p:animEffect transition="in" filter="wipe(left)">
                                      <p:cBhvr>
                                        <p:cTn id="41"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32325"/>
        </a:solidFill>
        <a:effectLst/>
      </p:bgPr>
    </p:bg>
    <p:spTree>
      <p:nvGrpSpPr>
        <p:cNvPr id="1" name=""/>
        <p:cNvGrpSpPr/>
        <p:nvPr/>
      </p:nvGrpSpPr>
      <p:grpSpPr>
        <a:xfrm>
          <a:off x="0" y="0"/>
          <a:ext cx="0" cy="0"/>
          <a:chOff x="0" y="0"/>
          <a:chExt cx="0" cy="0"/>
        </a:xfrm>
      </p:grpSpPr>
      <p:pic>
        <p:nvPicPr>
          <p:cNvPr id="2" name="!!photo" descr="9786322-0.658-0.50-0.40.jpg"/>
          <p:cNvPicPr>
            <a:picLocks noChangeAspect="1"/>
          </p:cNvPicPr>
          <p:nvPr/>
        </p:nvPicPr>
        <p:blipFill>
          <a:blip r:embed="rId3"/>
          <a:stretch>
            <a:fillRect/>
          </a:stretch>
        </p:blipFill>
        <p:spPr>
          <a:xfrm>
            <a:off x="0" y="0"/>
            <a:ext cx="6766560" cy="10287000"/>
          </a:xfrm>
          <a:prstGeom prst="rect">
            <a:avLst/>
          </a:prstGeom>
          <a:effectLst>
            <a:outerShdw blurRad="279400" dist="114300" dir="2700000" algn="ctr" rotWithShape="0">
              <a:srgbClr val="0E0E10">
                <a:alpha val="70000"/>
              </a:srgbClr>
            </a:outerShdw>
          </a:effectLst>
        </p:spPr>
      </p:pic>
      <p:grpSp>
        <p:nvGrpSpPr>
          <p:cNvPr id="8" name="Thanks 317"/>
          <p:cNvGrpSpPr/>
          <p:nvPr/>
        </p:nvGrpSpPr>
        <p:grpSpPr>
          <a:xfrm>
            <a:off x="7498079" y="1005840"/>
            <a:ext cx="5852160" cy="4754880"/>
            <a:chOff x="7498079" y="1005840"/>
            <a:chExt cx="5852160" cy="4754880"/>
          </a:xfrm>
        </p:grpSpPr>
        <p:sp>
          <p:nvSpPr>
            <p:cNvPr id="3" name="Thanks light"/>
            <p:cNvSpPr/>
            <p:nvPr/>
          </p:nvSpPr>
          <p:spPr>
            <a:xfrm>
              <a:off x="7498079" y="1005840"/>
              <a:ext cx="5852160" cy="4754880"/>
            </a:xfrm>
            <a:prstGeom prst="roundRect">
              <a:avLst>
                <a:gd name="adj" fmla="val 11538"/>
              </a:avLst>
            </a:prstGeom>
            <a:solidFill>
              <a:srgbClr val="2A2A2D"/>
            </a:solidFill>
            <a:ln>
              <a:noFill/>
            </a:ln>
            <a:effectLst>
              <a:outerShdw blurRad="203200" dist="76200" dir="13500000" algn="ctr" rotWithShape="0">
                <a:srgbClr val="3A3A3D">
                  <a:alpha val="5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 name="Thanks"/>
            <p:cNvSpPr/>
            <p:nvPr/>
          </p:nvSpPr>
          <p:spPr>
            <a:xfrm>
              <a:off x="7498079" y="1005840"/>
              <a:ext cx="5852160" cy="4754880"/>
            </a:xfrm>
            <a:prstGeom prst="roundRect">
              <a:avLst>
                <a:gd name="adj" fmla="val 11538"/>
              </a:avLst>
            </a:prstGeom>
            <a:solidFill>
              <a:srgbClr val="2A2A2D"/>
            </a:solidFill>
            <a:ln w="6350">
              <a:solidFill>
                <a:srgbClr val="2F2F32"/>
              </a:solidFill>
            </a:ln>
            <a:effectLst>
              <a:outerShdw blurRad="279400" dist="114300" dir="2700000" algn="ctr" rotWithShape="0">
                <a:srgbClr val="0E0E10">
                  <a:alpha val="7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 name="Thanks title"/>
            <p:cNvSpPr txBox="1"/>
            <p:nvPr/>
          </p:nvSpPr>
          <p:spPr>
            <a:xfrm>
              <a:off x="7863840" y="1280160"/>
              <a:ext cx="5303520" cy="1737360"/>
            </a:xfrm>
            <a:prstGeom prst="rect">
              <a:avLst/>
            </a:prstGeom>
            <a:noFill/>
          </p:spPr>
          <p:txBody>
            <a:bodyPr wrap="square" lIns="45720" rIns="45720" anchor="t"/>
            <a:lstStyle/>
            <a:p>
              <a:pPr algn="l">
                <a:lnSpc>
                  <a:spcPct val="100000"/>
                </a:lnSpc>
              </a:pPr>
              <a:r>
                <a:rPr sz="8600" b="0" i="0">
                  <a:solidFill>
                    <a:srgbClr val="EDEDED"/>
                  </a:solidFill>
                  <a:latin typeface="Oswald"/>
                </a:rPr>
                <a:t>THANK YOU</a:t>
              </a:r>
            </a:p>
          </p:txBody>
        </p:sp>
        <p:sp>
          <p:nvSpPr>
            <p:cNvPr id="6" name="Thanks sub"/>
            <p:cNvSpPr txBox="1"/>
            <p:nvPr/>
          </p:nvSpPr>
          <p:spPr>
            <a:xfrm>
              <a:off x="7909560" y="3017520"/>
              <a:ext cx="5212080" cy="640080"/>
            </a:xfrm>
            <a:prstGeom prst="rect">
              <a:avLst/>
            </a:prstGeom>
            <a:noFill/>
          </p:spPr>
          <p:txBody>
            <a:bodyPr wrap="square" lIns="45720" rIns="45720" anchor="t"/>
            <a:lstStyle/>
            <a:p>
              <a:pPr algn="l">
                <a:lnSpc>
                  <a:spcPct val="100000"/>
                </a:lnSpc>
              </a:pPr>
              <a:r>
                <a:rPr sz="2700" b="0" i="0">
                  <a:solidFill>
                    <a:srgbClr val="C1FF72"/>
                  </a:solidFill>
                  <a:latin typeface="Oswald"/>
                </a:rPr>
                <a:t>QUESTIONS AND DISCUSSION</a:t>
              </a:r>
            </a:p>
          </p:txBody>
        </p:sp>
        <p:sp>
          <p:nvSpPr>
            <p:cNvPr id="7" name="Thanks text"/>
            <p:cNvSpPr txBox="1"/>
            <p:nvPr/>
          </p:nvSpPr>
          <p:spPr>
            <a:xfrm>
              <a:off x="7909560" y="3840480"/>
              <a:ext cx="5212080" cy="1737360"/>
            </a:xfrm>
            <a:prstGeom prst="rect">
              <a:avLst/>
            </a:prstGeom>
            <a:noFill/>
          </p:spPr>
          <p:txBody>
            <a:bodyPr wrap="square" lIns="45720" rIns="45720" anchor="t"/>
            <a:lstStyle/>
            <a:p>
              <a:pPr algn="l">
                <a:lnSpc>
                  <a:spcPct val="100000"/>
                </a:lnSpc>
                <a:spcAft>
                  <a:spcPts val="300"/>
                </a:spcAft>
              </a:pPr>
              <a:r>
                <a:rPr sz="1900" b="1" i="0">
                  <a:solidFill>
                    <a:srgbClr val="EDEDED"/>
                  </a:solidFill>
                  <a:latin typeface="Titillium Web"/>
                </a:rPr>
                <a:t>Che Haggai Ngha Kang  ·  UBA24PP134</a:t>
              </a:r>
            </a:p>
            <a:p>
              <a:pPr algn="l">
                <a:lnSpc>
                  <a:spcPct val="100000"/>
                </a:lnSpc>
                <a:spcAft>
                  <a:spcPts val="200"/>
                </a:spcAft>
              </a:pPr>
              <a:r>
                <a:rPr sz="1700" b="0" i="0">
                  <a:solidFill>
                    <a:srgbClr val="BDBDC1"/>
                  </a:solidFill>
                  <a:latin typeface="Titillium Web"/>
                </a:rPr>
                <a:t>Supervisor: Prof. Onabid Mathias Akong</a:t>
              </a:r>
            </a:p>
            <a:p>
              <a:pPr algn="l">
                <a:lnSpc>
                  <a:spcPct val="100000"/>
                </a:lnSpc>
              </a:pPr>
              <a:r>
                <a:rPr sz="1700" b="0" i="0">
                  <a:solidFill>
                    <a:srgbClr val="BDBDC1"/>
                  </a:solidFill>
                  <a:latin typeface="Titillium Web"/>
                </a:rPr>
                <a:t>The University of Bamenda  ·  College of Technology</a:t>
              </a:r>
            </a:p>
          </p:txBody>
        </p:sp>
      </p:grpSp>
      <p:sp>
        <p:nvSpPr>
          <p:cNvPr id="9" name="Credits 318"/>
          <p:cNvSpPr txBox="1"/>
          <p:nvPr/>
        </p:nvSpPr>
        <p:spPr>
          <a:xfrm>
            <a:off x="7498079" y="6172200"/>
            <a:ext cx="5852160" cy="3291840"/>
          </a:xfrm>
          <a:prstGeom prst="rect">
            <a:avLst/>
          </a:prstGeom>
          <a:noFill/>
        </p:spPr>
        <p:txBody>
          <a:bodyPr wrap="square" lIns="45720" rIns="45720" anchor="t"/>
          <a:lstStyle/>
          <a:p>
            <a:pPr algn="l">
              <a:lnSpc>
                <a:spcPct val="100000"/>
              </a:lnSpc>
              <a:spcAft>
                <a:spcPts val="400"/>
              </a:spcAft>
            </a:pPr>
            <a:r>
              <a:rPr sz="1500" b="1" i="0">
                <a:solidFill>
                  <a:srgbClr val="C1FF72"/>
                </a:solidFill>
                <a:latin typeface="Titillium Web"/>
              </a:rPr>
              <a:t>CREDITS</a:t>
            </a:r>
          </a:p>
          <a:p>
            <a:pPr algn="l">
              <a:lnSpc>
                <a:spcPct val="100000"/>
              </a:lnSpc>
              <a:spcAft>
                <a:spcPts val="400"/>
              </a:spcAft>
            </a:pPr>
            <a:r>
              <a:rPr sz="1450" b="0" i="0">
                <a:solidFill>
                  <a:srgbClr val="BDBDC1"/>
                </a:solidFill>
                <a:latin typeface="Titillium Web"/>
              </a:rPr>
              <a:t>Template: "Dark Modern Tech Startup Brand" by SlidesCarnival (slidescarnival.com), CC BY 4.0, adapted.</a:t>
            </a:r>
          </a:p>
          <a:p>
            <a:pPr algn="l">
              <a:lnSpc>
                <a:spcPct val="100000"/>
              </a:lnSpc>
              <a:spcAft>
                <a:spcPts val="400"/>
              </a:spcAft>
            </a:pPr>
            <a:r>
              <a:rPr sz="1450" b="0" i="0">
                <a:solidFill>
                  <a:srgbClr val="BDBDC1"/>
                </a:solidFill>
                <a:latin typeface="Titillium Web"/>
              </a:rPr>
              <a:t>Photos from Pexels (pexels.com/license) by Antoni Shkraba, Elif Gökçe, Kindel Media, Markus Spiske, Nathan Thomas, Rafael Minguet Delgado, Ron Lach, Saksham Choudhary, Sora Shimazaki, Tara Winstead, Tima Miroshnichenko, cottonbro studio, panumas nikhomkhai and other Pexels photographers.</a:t>
            </a:r>
          </a:p>
          <a:p>
            <a:pPr algn="l">
              <a:lnSpc>
                <a:spcPct val="100000"/>
              </a:lnSpc>
            </a:pPr>
            <a:r>
              <a:rPr sz="1450" b="0" i="0">
                <a:solidFill>
                  <a:srgbClr val="BDBDC1"/>
                </a:solidFill>
                <a:latin typeface="Titillium Web"/>
              </a:rPr>
              <a:t>Interface illustration: the thesis, Figure 4.3.</a:t>
            </a:r>
          </a:p>
        </p:txBody>
      </p:sp>
      <p:sp>
        <p:nvSpPr>
          <p:cNvPr id="10" name="References roll 319"/>
          <p:cNvSpPr txBox="1"/>
          <p:nvPr/>
        </p:nvSpPr>
        <p:spPr>
          <a:xfrm>
            <a:off x="13578840" y="1005840"/>
            <a:ext cx="4526280" cy="8503920"/>
          </a:xfrm>
          <a:prstGeom prst="rect">
            <a:avLst/>
          </a:prstGeom>
          <a:noFill/>
        </p:spPr>
        <p:txBody>
          <a:bodyPr wrap="square" lIns="45720" rIns="45720" anchor="t"/>
          <a:lstStyle/>
          <a:p>
            <a:pPr algn="ctr">
              <a:lnSpc>
                <a:spcPct val="110000"/>
              </a:lnSpc>
            </a:pPr>
            <a:r>
              <a:rPr sz="1700" b="0" i="0">
                <a:solidFill>
                  <a:srgbClr val="C1FF72"/>
                </a:solidFill>
                <a:latin typeface="Oswald"/>
              </a:rPr>
              <a:t>REFERENCES</a:t>
            </a:r>
          </a:p>
          <a:p>
            <a:pPr algn="ctr">
              <a:lnSpc>
                <a:spcPct val="110000"/>
              </a:lnSpc>
            </a:pPr>
            <a:endParaRPr sz="1700" b="0" i="0">
              <a:solidFill>
                <a:srgbClr val="C1FF72"/>
              </a:solidFill>
              <a:latin typeface="Oswald"/>
            </a:endParaRPr>
          </a:p>
          <a:p>
            <a:pPr algn="ctr">
              <a:lnSpc>
                <a:spcPct val="110000"/>
              </a:lnSpc>
            </a:pPr>
            <a:r>
              <a:rPr sz="1450" b="0" i="0">
                <a:solidFill>
                  <a:srgbClr val="BDBDC1"/>
                </a:solidFill>
                <a:latin typeface="Titillium Web"/>
              </a:rPr>
              <a:t>Anderson &amp; Roth (2018) — EMBER</a:t>
            </a:r>
          </a:p>
          <a:p>
            <a:pPr algn="ctr">
              <a:lnSpc>
                <a:spcPct val="110000"/>
              </a:lnSpc>
            </a:pPr>
            <a:r>
              <a:rPr sz="1450" b="0" i="0">
                <a:solidFill>
                  <a:srgbClr val="BDBDC1"/>
                </a:solidFill>
                <a:latin typeface="Titillium Web"/>
              </a:rPr>
              <a:t>Antonakakis et al. (2012) — DGA-based malware</a:t>
            </a:r>
          </a:p>
          <a:p>
            <a:pPr algn="ctr">
              <a:lnSpc>
                <a:spcPct val="110000"/>
              </a:lnSpc>
            </a:pPr>
            <a:r>
              <a:rPr sz="1450" b="0" i="0">
                <a:solidFill>
                  <a:srgbClr val="BDBDC1"/>
                </a:solidFill>
                <a:latin typeface="Titillium Web"/>
              </a:rPr>
              <a:t>Barnum (2012) — STIX</a:t>
            </a:r>
          </a:p>
          <a:p>
            <a:pPr algn="ctr">
              <a:lnSpc>
                <a:spcPct val="110000"/>
              </a:lnSpc>
            </a:pPr>
            <a:r>
              <a:rPr sz="1450" b="0" i="0">
                <a:solidFill>
                  <a:srgbClr val="BDBDC1"/>
                </a:solidFill>
                <a:latin typeface="Titillium Web"/>
              </a:rPr>
              <a:t>Brown et al. (2020) — few-shot language models</a:t>
            </a:r>
          </a:p>
          <a:p>
            <a:pPr algn="ctr">
              <a:lnSpc>
                <a:spcPct val="110000"/>
              </a:lnSpc>
            </a:pPr>
            <a:r>
              <a:rPr sz="1450" b="0" i="0">
                <a:solidFill>
                  <a:srgbClr val="BDBDC1"/>
                </a:solidFill>
                <a:latin typeface="Titillium Web"/>
              </a:rPr>
              <a:t>Buczak &amp; Guven (2016) — ML for intrusion detection</a:t>
            </a:r>
          </a:p>
          <a:p>
            <a:pPr algn="ctr">
              <a:lnSpc>
                <a:spcPct val="110000"/>
              </a:lnSpc>
            </a:pPr>
            <a:r>
              <a:rPr sz="1450" b="0" i="0">
                <a:solidFill>
                  <a:srgbClr val="BDBDC1"/>
                </a:solidFill>
                <a:latin typeface="Titillium Web"/>
              </a:rPr>
              <a:t>Cockburn (2001) — Writing effective use cases</a:t>
            </a:r>
          </a:p>
          <a:p>
            <a:pPr algn="ctr">
              <a:lnSpc>
                <a:spcPct val="110000"/>
              </a:lnSpc>
            </a:pPr>
            <a:r>
              <a:rPr sz="1450" b="0" i="0">
                <a:solidFill>
                  <a:srgbClr val="BDBDC1"/>
                </a:solidFill>
                <a:latin typeface="Titillium Web"/>
              </a:rPr>
              <a:t>Devlin et al. (2019) — BERT</a:t>
            </a:r>
          </a:p>
          <a:p>
            <a:pPr algn="ctr">
              <a:lnSpc>
                <a:spcPct val="110000"/>
              </a:lnSpc>
            </a:pPr>
            <a:r>
              <a:rPr sz="1450" b="0" i="0">
                <a:solidFill>
                  <a:srgbClr val="BDBDC1"/>
                </a:solidFill>
                <a:latin typeface="Titillium Web"/>
              </a:rPr>
              <a:t>Egele et al. (2012) — dynamic malware analysis</a:t>
            </a:r>
          </a:p>
          <a:p>
            <a:pPr algn="ctr">
              <a:lnSpc>
                <a:spcPct val="110000"/>
              </a:lnSpc>
            </a:pPr>
            <a:r>
              <a:rPr sz="1450" b="0" i="0">
                <a:solidFill>
                  <a:srgbClr val="BDBDC1"/>
                </a:solidFill>
                <a:latin typeface="Titillium Web"/>
              </a:rPr>
              <a:t>Khonji et al. (2013) — phishing detection survey</a:t>
            </a:r>
          </a:p>
          <a:p>
            <a:pPr algn="ctr">
              <a:lnSpc>
                <a:spcPct val="110000"/>
              </a:lnSpc>
            </a:pPr>
            <a:r>
              <a:rPr sz="1450" b="0" i="0">
                <a:solidFill>
                  <a:srgbClr val="BDBDC1"/>
                </a:solidFill>
                <a:latin typeface="Titillium Web"/>
              </a:rPr>
              <a:t>Le et al. (2018) — URLNet</a:t>
            </a:r>
          </a:p>
          <a:p>
            <a:pPr algn="ctr">
              <a:lnSpc>
                <a:spcPct val="110000"/>
              </a:lnSpc>
            </a:pPr>
            <a:r>
              <a:rPr sz="1450" b="0" i="0">
                <a:solidFill>
                  <a:srgbClr val="BDBDC1"/>
                </a:solidFill>
                <a:latin typeface="Titillium Web"/>
              </a:rPr>
              <a:t>Liao et al. (2016) — IOC discovery</a:t>
            </a:r>
          </a:p>
          <a:p>
            <a:pPr algn="ctr">
              <a:lnSpc>
                <a:spcPct val="110000"/>
              </a:lnSpc>
            </a:pPr>
            <a:r>
              <a:rPr sz="1450" b="0" i="0">
                <a:solidFill>
                  <a:srgbClr val="BDBDC1"/>
                </a:solidFill>
                <a:latin typeface="Titillium Web"/>
              </a:rPr>
              <a:t>Mohammad et al. (2014) — phishing websites</a:t>
            </a:r>
          </a:p>
          <a:p>
            <a:pPr algn="ctr">
              <a:lnSpc>
                <a:spcPct val="110000"/>
              </a:lnSpc>
            </a:pPr>
            <a:r>
              <a:rPr sz="1450" b="0" i="0">
                <a:solidFill>
                  <a:srgbClr val="BDBDC1"/>
                </a:solidFill>
                <a:latin typeface="Titillium Web"/>
              </a:rPr>
              <a:t>Park et al. (2023) — Generative Agents</a:t>
            </a:r>
          </a:p>
          <a:p>
            <a:pPr algn="ctr">
              <a:lnSpc>
                <a:spcPct val="110000"/>
              </a:lnSpc>
            </a:pPr>
            <a:r>
              <a:rPr sz="1450" b="0" i="0">
                <a:solidFill>
                  <a:srgbClr val="BDBDC1"/>
                </a:solidFill>
                <a:latin typeface="Titillium Web"/>
              </a:rPr>
              <a:t>Provos et al. (2007) — The ghost in the browser</a:t>
            </a:r>
          </a:p>
          <a:p>
            <a:pPr algn="ctr">
              <a:lnSpc>
                <a:spcPct val="110000"/>
              </a:lnSpc>
            </a:pPr>
            <a:r>
              <a:rPr sz="1450" b="0" i="0">
                <a:solidFill>
                  <a:srgbClr val="BDBDC1"/>
                </a:solidFill>
                <a:latin typeface="Titillium Web"/>
              </a:rPr>
              <a:t>Russell &amp; Norvig (2020) — AI: A Modern Approach</a:t>
            </a:r>
          </a:p>
          <a:p>
            <a:pPr algn="ctr">
              <a:lnSpc>
                <a:spcPct val="110000"/>
              </a:lnSpc>
            </a:pPr>
            <a:r>
              <a:rPr sz="1450" b="0" i="0">
                <a:solidFill>
                  <a:srgbClr val="BDBDC1"/>
                </a:solidFill>
                <a:latin typeface="Titillium Web"/>
              </a:rPr>
              <a:t>Sahingoz et al. (2019) — ML phishing detection</a:t>
            </a:r>
          </a:p>
          <a:p>
            <a:pPr algn="ctr">
              <a:lnSpc>
                <a:spcPct val="110000"/>
              </a:lnSpc>
            </a:pPr>
            <a:r>
              <a:rPr sz="1450" b="0" i="0">
                <a:solidFill>
                  <a:srgbClr val="BDBDC1"/>
                </a:solidFill>
                <a:latin typeface="Titillium Web"/>
              </a:rPr>
              <a:t>Sommer &amp; Paxson (2010) — Outside the closed world</a:t>
            </a:r>
          </a:p>
          <a:p>
            <a:pPr algn="ctr">
              <a:lnSpc>
                <a:spcPct val="110000"/>
              </a:lnSpc>
            </a:pPr>
            <a:r>
              <a:rPr sz="1450" b="0" i="0">
                <a:solidFill>
                  <a:srgbClr val="BDBDC1"/>
                </a:solidFill>
                <a:latin typeface="Titillium Web"/>
              </a:rPr>
              <a:t>Strom et al. (2018) — MITRE ATT&amp;CK</a:t>
            </a:r>
          </a:p>
          <a:p>
            <a:pPr algn="ctr">
              <a:lnSpc>
                <a:spcPct val="110000"/>
              </a:lnSpc>
            </a:pPr>
            <a:r>
              <a:rPr sz="1450" b="0" i="0">
                <a:solidFill>
                  <a:srgbClr val="BDBDC1"/>
                </a:solidFill>
                <a:latin typeface="Titillium Web"/>
              </a:rPr>
              <a:t>Tounsi &amp; Rais (2018) — threat intelligence survey</a:t>
            </a:r>
          </a:p>
          <a:p>
            <a:pPr algn="ctr">
              <a:lnSpc>
                <a:spcPct val="110000"/>
              </a:lnSpc>
            </a:pPr>
            <a:r>
              <a:rPr sz="1450" b="0" i="0">
                <a:solidFill>
                  <a:srgbClr val="BDBDC1"/>
                </a:solidFill>
                <a:latin typeface="Titillium Web"/>
              </a:rPr>
              <a:t>Vaswani et al. (2017) — Attention is all you need</a:t>
            </a:r>
          </a:p>
          <a:p>
            <a:pPr algn="ctr">
              <a:lnSpc>
                <a:spcPct val="110000"/>
              </a:lnSpc>
            </a:pPr>
            <a:r>
              <a:rPr sz="1450" b="0" i="0">
                <a:solidFill>
                  <a:srgbClr val="BDBDC1"/>
                </a:solidFill>
                <a:latin typeface="Titillium Web"/>
              </a:rPr>
              <a:t>Wei et al. (2022) — chain-of-thought prompting</a:t>
            </a:r>
          </a:p>
          <a:p>
            <a:pPr algn="ctr">
              <a:lnSpc>
                <a:spcPct val="110000"/>
              </a:lnSpc>
            </a:pPr>
            <a:r>
              <a:rPr sz="1450" b="0" i="0">
                <a:solidFill>
                  <a:srgbClr val="BDBDC1"/>
                </a:solidFill>
                <a:latin typeface="Titillium Web"/>
              </a:rPr>
              <a:t>Willems et al. (2007) — CWSandbox</a:t>
            </a:r>
          </a:p>
          <a:p>
            <a:pPr algn="ctr">
              <a:lnSpc>
                <a:spcPct val="110000"/>
              </a:lnSpc>
            </a:pPr>
            <a:r>
              <a:rPr sz="1450" b="0" i="0">
                <a:solidFill>
                  <a:srgbClr val="BDBDC1"/>
                </a:solidFill>
                <a:latin typeface="Titillium Web"/>
              </a:rPr>
              <a:t>Wooldridge (2009) — multiagent systems</a:t>
            </a:r>
          </a:p>
          <a:p>
            <a:pPr algn="ctr">
              <a:lnSpc>
                <a:spcPct val="110000"/>
              </a:lnSpc>
            </a:pPr>
            <a:r>
              <a:rPr sz="1450" b="0" i="0">
                <a:solidFill>
                  <a:srgbClr val="BDBDC1"/>
                </a:solidFill>
                <a:latin typeface="Titillium Web"/>
              </a:rPr>
              <a:t>Yao et al. (2023) — ReAct</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600" fill="hold"/>
                                        <p:tgtEl>
                                          <p:spTgt spid="8"/>
                                        </p:tgtEl>
                                        <p:attrNameLst>
                                          <p:attrName>ppt_w</p:attrName>
                                        </p:attrNameLst>
                                      </p:cBhvr>
                                      <p:tavLst>
                                        <p:tav tm="0">
                                          <p:val>
                                            <p:fltVal val="0"/>
                                          </p:val>
                                        </p:tav>
                                        <p:tav tm="100000">
                                          <p:val>
                                            <p:strVal val="#ppt_w"/>
                                          </p:val>
                                        </p:tav>
                                      </p:tavLst>
                                    </p:anim>
                                    <p:anim calcmode="lin" valueType="num">
                                      <p:cBhvr>
                                        <p:cTn id="8" dur="600" fill="hold"/>
                                        <p:tgtEl>
                                          <p:spTgt spid="8"/>
                                        </p:tgtEl>
                                        <p:attrNameLst>
                                          <p:attrName>ppt_h</p:attrName>
                                        </p:attrNameLst>
                                      </p:cBhvr>
                                      <p:tavLst>
                                        <p:tav tm="0">
                                          <p:val>
                                            <p:fltVal val="0"/>
                                          </p:val>
                                        </p:tav>
                                        <p:tav tm="100000">
                                          <p:val>
                                            <p:strVal val="#ppt_h"/>
                                          </p:val>
                                        </p:tav>
                                      </p:tavLst>
                                    </p:anim>
                                    <p:animEffect transition="in" filter="fade">
                                      <p:cBhvr>
                                        <p:cTn id="9" dur="600"/>
                                        <p:tgtEl>
                                          <p:spTgt spid="8"/>
                                        </p:tgtEl>
                                      </p:cBhvr>
                                    </p:animEffect>
                                  </p:childTnLst>
                                </p:cTn>
                              </p:par>
                            </p:childTnLst>
                          </p:cTn>
                        </p:par>
                        <p:par>
                          <p:cTn id="10" fill="hold">
                            <p:stCondLst>
                              <p:cond delay="600"/>
                            </p:stCondLst>
                            <p:childTnLst>
                              <p:par>
                                <p:cTn id="11" presetID="10" presetClass="entr" presetSubtype="0" fill="hold" grpId="0" nodeType="after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Effect transition="in" filter="fade">
                                      <p:cBhvr>
                                        <p:cTn id="13" dur="400"/>
                                        <p:tgtEl>
                                          <p:spTgt spid="9">
                                            <p:txEl>
                                              <p:pRg st="0" end="0"/>
                                            </p:txEl>
                                          </p:spTgt>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animEffect transition="in" filter="fade">
                                      <p:cBhvr>
                                        <p:cTn id="17" dur="400"/>
                                        <p:tgtEl>
                                          <p:spTgt spid="9">
                                            <p:txEl>
                                              <p:pRg st="1" end="1"/>
                                            </p:txEl>
                                          </p:spTgt>
                                        </p:tgtEl>
                                      </p:cBhvr>
                                    </p:animEffect>
                                  </p:childTnLst>
                                </p:cTn>
                              </p:par>
                            </p:childTnLst>
                          </p:cTn>
                        </p:par>
                        <p:par>
                          <p:cTn id="18" fill="hold">
                            <p:stCondLst>
                              <p:cond delay="1400"/>
                            </p:stCondLst>
                            <p:childTnLst>
                              <p:par>
                                <p:cTn id="19" presetID="10" presetClass="entr" presetSubtype="0" fill="hold" grpId="0" nodeType="afterEffect">
                                  <p:stCondLst>
                                    <p:cond delay="0"/>
                                  </p:stCondLst>
                                  <p:childTnLst>
                                    <p:set>
                                      <p:cBhvr>
                                        <p:cTn id="20" dur="1" fill="hold">
                                          <p:stCondLst>
                                            <p:cond delay="0"/>
                                          </p:stCondLst>
                                        </p:cTn>
                                        <p:tgtEl>
                                          <p:spTgt spid="9">
                                            <p:txEl>
                                              <p:pRg st="2" end="2"/>
                                            </p:txEl>
                                          </p:spTgt>
                                        </p:tgtEl>
                                        <p:attrNameLst>
                                          <p:attrName>style.visibility</p:attrName>
                                        </p:attrNameLst>
                                      </p:cBhvr>
                                      <p:to>
                                        <p:strVal val="visible"/>
                                      </p:to>
                                    </p:set>
                                    <p:animEffect transition="in" filter="fade">
                                      <p:cBhvr>
                                        <p:cTn id="21" dur="400"/>
                                        <p:tgtEl>
                                          <p:spTgt spid="9">
                                            <p:txEl>
                                              <p:pRg st="2" end="2"/>
                                            </p:txEl>
                                          </p:spTgt>
                                        </p:tgtEl>
                                      </p:cBhvr>
                                    </p:animEffect>
                                  </p:childTnLst>
                                </p:cTn>
                              </p:par>
                            </p:childTnLst>
                          </p:cTn>
                        </p:par>
                        <p:par>
                          <p:cTn id="22" fill="hold">
                            <p:stCondLst>
                              <p:cond delay="1800"/>
                            </p:stCondLst>
                            <p:childTnLst>
                              <p:par>
                                <p:cTn id="23" presetID="10" presetClass="entr" presetSubtype="0" fill="hold" grpId="0" nodeType="afterEffect">
                                  <p:stCondLst>
                                    <p:cond delay="0"/>
                                  </p:stCondLst>
                                  <p:childTnLst>
                                    <p:set>
                                      <p:cBhvr>
                                        <p:cTn id="24" dur="1" fill="hold">
                                          <p:stCondLst>
                                            <p:cond delay="0"/>
                                          </p:stCondLst>
                                        </p:cTn>
                                        <p:tgtEl>
                                          <p:spTgt spid="9">
                                            <p:txEl>
                                              <p:pRg st="3" end="3"/>
                                            </p:txEl>
                                          </p:spTgt>
                                        </p:tgtEl>
                                        <p:attrNameLst>
                                          <p:attrName>style.visibility</p:attrName>
                                        </p:attrNameLst>
                                      </p:cBhvr>
                                      <p:to>
                                        <p:strVal val="visible"/>
                                      </p:to>
                                    </p:set>
                                    <p:animEffect transition="in" filter="fade">
                                      <p:cBhvr>
                                        <p:cTn id="25" dur="400"/>
                                        <p:tgtEl>
                                          <p:spTgt spid="9">
                                            <p:txEl>
                                              <p:pRg st="3" end="3"/>
                                            </p:txEl>
                                          </p:spTgt>
                                        </p:tgtEl>
                                      </p:cBhvr>
                                    </p:animEffect>
                                  </p:childTnLst>
                                </p:cTn>
                              </p:par>
                            </p:childTnLst>
                          </p:cTn>
                        </p:par>
                        <p:par>
                          <p:cTn id="26" fill="hold">
                            <p:stCondLst>
                              <p:cond delay="2200"/>
                            </p:stCondLst>
                            <p:childTnLst>
                              <p:par>
                                <p:cTn id="27" presetID="28" presetClass="entr" presetSubtype="0" fill="hold" grpId="0" nodeType="afterEffect">
                                  <p:stCondLst>
                                    <p:cond delay="500"/>
                                  </p:stCondLst>
                                  <p:childTnLst>
                                    <p:set>
                                      <p:cBhvr>
                                        <p:cTn id="28" dur="1" fill="hold">
                                          <p:stCondLst>
                                            <p:cond delay="0"/>
                                          </p:stCondLst>
                                        </p:cTn>
                                        <p:tgtEl>
                                          <p:spTgt spid="10"/>
                                        </p:tgtEl>
                                        <p:attrNameLst>
                                          <p:attrName>style.visibility</p:attrName>
                                        </p:attrNameLst>
                                      </p:cBhvr>
                                      <p:to>
                                        <p:strVal val="visible"/>
                                      </p:to>
                                    </p:set>
                                    <p:anim calcmode="lin" valueType="num">
                                      <p:cBhvr>
                                        <p:cTn id="29" dur="24000" fill="hold"/>
                                        <p:tgtEl>
                                          <p:spTgt spid="10"/>
                                        </p:tgtEl>
                                        <p:attrNameLst>
                                          <p:attrName>ppt_x</p:attrName>
                                        </p:attrNameLst>
                                      </p:cBhvr>
                                      <p:tavLst>
                                        <p:tav tm="0">
                                          <p:val>
                                            <p:strVal val="#ppt_x"/>
                                          </p:val>
                                        </p:tav>
                                        <p:tav tm="100000">
                                          <p:val>
                                            <p:strVal val="#ppt_x"/>
                                          </p:val>
                                        </p:tav>
                                      </p:tavLst>
                                    </p:anim>
                                    <p:anim calcmode="lin" valueType="num">
                                      <p:cBhvr>
                                        <p:cTn id="30" dur="24000" fill="hold"/>
                                        <p:tgtEl>
                                          <p:spTgt spid="10"/>
                                        </p:tgtEl>
                                        <p:attrNameLst>
                                          <p:attrName>ppt_y</p:attrName>
                                        </p:attrNameLst>
                                      </p:cBhvr>
                                      <p:tavLst>
                                        <p:tav tm="0">
                                          <p:val>
                                            <p:strVal val="#ppt_y+1"/>
                                          </p:val>
                                        </p:tav>
                                        <p:tav tm="100000">
                                          <p:val>
                                            <p:strVal val="#ppt_y-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0" grpId="0"/>
    </p:bld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4449</Words>
  <Application>Microsoft Office PowerPoint</Application>
  <PresentationFormat>Custom</PresentationFormat>
  <Paragraphs>576</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Oswald</vt:lpstr>
      <vt:lpstr>Arial</vt:lpstr>
      <vt:lpstr>Titillium Web</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CyberForge: A Real-Time Agentic AI System for Web Threat Detection and User Protection</dc:title>
  <dc:subject>Master's dissertation defence, The University of Bamenda</dc:subject>
  <dc:creator>Che Haggai Ngha Kang</dc:creator>
  <cp:lastModifiedBy>haggai rameni</cp:lastModifiedBy>
  <cp:revision>2</cp:revision>
  <dcterms:modified xsi:type="dcterms:W3CDTF">2026-10-21T10:03:34Z</dcterms:modified>
</cp:coreProperties>
</file>