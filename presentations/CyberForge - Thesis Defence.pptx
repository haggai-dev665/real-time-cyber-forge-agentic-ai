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study title and candidate. Supervisor: Prof. Onabid Mathias Akong. Registration UBA24PP134. The original dissertation is dated June 2026; this presentation incorporates the source review of 18 October 2026. Distinguish the historical experiment from current implementation evidence throughout.</a:t>
            </a:r>
          </a:p>
          <a:p/>
          <a:p>
            <a:r>
              <a:t>Source: The University of Bamenda  /  COLTECH  /  Computer Engineering</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phishing, malicious domains, redirects and credential theft as web-context risks. The system aims to connect evidence with a usable explanation. Current monitoring is consent-based and platform-dependent; do not claim every page is captured or blocked before it loads. This is not a full endpoint or network intrusion-detection suite.</a:t>
            </a:r>
          </a:p>
          <a:p/>
          <a:p>
            <a:r>
              <a:t>Source: Thesis §§1.1, 1.6; revised §3.2</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scoring baseline added +0.5 and overflagged safe calibration examples. Present this as a development defect on a small set, not a population-wide model result. The other problems are unexplained classifier output and fragmented context. Enterprise SOAR motivates integration but this study does not benchmark commercial suites.</a:t>
            </a:r>
          </a:p>
          <a:p/>
          <a:p>
            <a:r>
              <a:t>Source: Thesis §1.2; original calibration described in §3.7.2</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four specific questions in sequence. The first asks about the smallest sufficient agent set; the thesis does not supply an ablation that resolves minimality. Memory reuse is implemented context, not evidence that model weights learn online. The evaluation supports an initial integrated-system result rather than complete answers to every causal question.</a:t>
            </a:r>
          </a:p>
          <a:p/>
          <a:p>
            <a:r>
              <a:t>Source: Thesis §1.3; validity qualifications in revised §§3.9 and 4.9</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general objective, then four specific objectives: coordinated tasks; multiple analytical perspectives; false-positive-aware aggregation; contextual external intelligence. Historical context is a supporting capability. Avoid claiming complete cross-platform protection or fully autonomous planning: current interfaces have different supported subsets.</a:t>
            </a:r>
          </a:p>
          <a:p/>
          <a:p>
            <a:r>
              <a:t>Source: Thesis §1.4; source-reviewed boundaries in Appendix C</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Khonji, Iraqi &amp; Jones (2013), Phishing detection: A literature survey, IEEE Communications Surveys &amp; Tutorials 15(4), 2091–2121. Le, Pham, Sahoo &amp; Hoi (2018), URLNet, arXiv:1802.03162. Devlin et al. (2019), BERT, NAACL-HLT, 4171–4186. Strom et al. (2018), MITRE ATT&amp;CK: Design and philosophy. Wooldridge (2009), An introduction to multiagent systems, 2nd ed. Yao et al. (2023), ReAct, ICLR. Sommer &amp; Paxson (2010), Outside the Closed World, IEEE S&amp;P, 305–316. These sources motivate design; they do not prove CyberForge outperforms those systems.</a:t>
            </a:r>
          </a:p>
          <a:p/>
          <a:p>
            <a:r>
              <a:t>Source: Thesis Chapter 2; full bibliographic details are in the speaker notes</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desktop is Tauri 2/Rust, not Electron. Backend runtime is Node.js 24/Express 4; the canonical Space container uses Python 3.11/FastAPI with no Gradio UI. Shared core serves a limited CLI and grant-scoped stdio MCP surface. MongoDB owns control-plane records, while Appwrite and local/optional stores have separate roles. Mobile source is React Native/Expo; native-capture release acceptance is not asserted. These are source specifications, not a deployment availability certificate.</a:t>
            </a:r>
          </a:p>
          <a:p/>
          <a:p>
            <a:r>
              <a:t>Source: Revised §3.2 and Appendix C; Cargo.toml, backend/package.json, hf_space_deploy/</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launches four tasks: classifier, DGA, scraper and memory. Stage 2 consumes collected page evidence for IOC extraction, behavioural rules and MITRE mapping. Stage 3 enriches IOCs through OTX. The Reporter follows the eight specialists, so it is not counted among the eight. Multiple agents produce evidence, but the original study does not contain an ablation proving the smallest effective set. The CLI/MCP versioned detector operation does not automatically run this entire page DAG.</a:t>
            </a:r>
          </a:p>
          <a:p/>
          <a:p>
            <a:r>
              <a:t>Source: Thesis Table 3.1; backend/src/services/agentOrchestrator.js</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HistGradientBoostingClassifier models learn supervised URL labels for phishing, malware-serving URLs and web-attack payloads. IsolationForest is fitted on benign examples for unsupervised anomaly scoring. BERT and Qwen are externally pretrained inference, not locally fine-tuned here. DGA and IOC logic are rules. Trainer phases: collect/clean; shared features and domain-grouped split; fit; threshold selection and held-out acceptance; publish accepted artefacts. Defaults include 20% domain-held-out test and a further 10% of training for threshold choice. Training shares the serving process, so isolation, durable jobs and release rollback remain work. No reinforcement learning is established.</a:t>
            </a:r>
          </a:p>
          <a:p/>
          <a:p>
            <a:r>
              <a:t>Source: Revised Appendix C.3–C.4; hf_space_deploy/trainer.py, app.py, url_features.py</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development used seven calibration URLs and 30 DGA-style/legitimate labels. The reported evaluation used 300 URLs: 150 benign, 100 phishing and 50 malware/DGA. The thesis describes 100 consecutive requests as its latency protocol but supplies no raw traces here. Do not imply that current training corpus sizes were the historical evaluation size. New source tests validate permissions and contracts, not current detection accuracy. No comparative ablation, confidence intervals or reproducible per-URL manifest are supplied in the original document.</a:t>
            </a:r>
          </a:p>
          <a:p/>
          <a:p>
            <a:r>
              <a:t>Source: Thesis §§3.7–3.9, Table 4.3; revised Appendix C.5</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harmful URLs: 137 detected and 13 missed. Actual benign URLs: 147 correctly left alone and three false alarms. Accuracy=(137+147)/300=94.7%; precision=137/140=97.9%; recall=137/150=91.3%; specificity=147/150=98.0%; F1=274/290=94.5%; false-positive rate=3/150=2.0%. The counts support these metrics but not a causal claim that the multi-agent design is superior to a single-model baseline. Category-level detection is 92/100 phishing and 45/50 malware/DGA.</a:t>
            </a:r>
          </a:p>
          <a:p/>
          <a:p>
            <a:r>
              <a:t>Source: Thesis Tables 4.3–4.4; confusion matrix derived directly from Table 4.3</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Means: URL/context 850 ms; content 1,200; intelligence 600; reporter 1,400; total 4,050. The reporter is the largest listed stage. The strict original warm target is 4,000 ms, so the mean misses it by 50 ms; the later summary used a looser approximately five-second target. The slides retain the stricter interpretation. Scraping is grouped under content in the timing table but launches in Stage 1 in the architectural DAG. Cached repeats below 100 ms and about 15% repeated queries are historical claims, not new measurements. No distribution/p95 can be derived from the supplied mean.</a:t>
            </a:r>
          </a:p>
          <a:p/>
          <a:p>
            <a:r>
              <a:t>Source: Thesis Tables 4.1–4.2 and §4.6; original warm target in §3.9</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manual ratings: factual accuracy 9.5/10, readability 9.0 and usefulness of advice 8.8. The original document does not state rater count, blinding or agreement, so call these descriptive ratings. They evaluated the former Gemini/Mistral setup, not current Qwen quality. The alert screenshot is reproduced from the supplied thesis and is an interface illustration, not additional performance evidence. Current actions must distinguish proposals, approvals and applied receipts.</a:t>
            </a:r>
          </a:p>
          <a:p/>
          <a:p>
            <a:r>
              <a:t>Source: Thesis Table 4.6 and Fig. 4.3 (original alert screenshot)</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what was demonstrated and where the evidence is limited. The architecture implements coordinated specialist analysis, but no ablation proves the minimum sufficient agent set. Accuracy, false positives and response time come from the original experiment. The 4.05-second mean is 0.05 seconds above the strict four-second warm target. Explanation readability is a descriptive manual rating, not a blinded user study. These are historical outcomes; the current system requires fresh performance evaluation.</a:t>
            </a:r>
          </a:p>
          <a:p/>
          <a:p>
            <a:r>
              <a:t>Source: Thesis Table 4.8, checked against Tables 4.3–4.6 and §3.9</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three contributions: an integrated specialist workflow; evidence-focused interpretation; and a current implementation with stronger scope, privacy and action boundaries. Historical results are promising on the selected set, but do not establish a benchmark for the revised source. Priorities: independent detector/error evaluation, controlled training/release and packaged/live verification. Invite questions on agent orchestration, evaluation limits, privacy, current MCP scope and training types. The original title remains unchanged; this is an updated system description, not fabricated experimental work.</a:t>
            </a:r>
          </a:p>
          <a:p/>
          <a:p>
            <a:r>
              <a:t>Source: Thesis Chapter 5; revised Appendix C  /  Thank you — Questions</a:t>
            </a:r>
          </a:p>
          <a:p/>
          <a:p>
            <a:r>
              <a:t>Presentation control: slide builds run automatically; advance manually after the explanation. Animated GIF accents loop in Slide Show. Metrics shown on results slides belong to the original thesis experiment.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 Id="rId3" Type="http://schemas.openxmlformats.org/officeDocument/2006/relationships/notesSlide" Target="../notesSlides/notesSlide15.xml"/><Relationship Id="rId4" Type="http://schemas.openxmlformats.org/officeDocument/2006/relationships/image" Target="../media/image2.gif"/></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MASTER’S THESIS DEFENCE</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01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Rectangle 4"/>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 University of Bamenda / COLTECH / Computer Engineering</a:t>
            </a:r>
          </a:p>
        </p:txBody>
      </p:sp>
      <p:sp>
        <p:nvSpPr>
          <p:cNvPr id="7" name="Rectangle 6"/>
          <p:cNvSpPr/>
          <p:nvPr/>
        </p:nvSpPr>
        <p:spPr>
          <a:xfrm>
            <a:off x="640080" y="8156448"/>
            <a:ext cx="890016"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71600"/>
            <a:ext cx="9144000" cy="1143000"/>
          </a:xfrm>
          <a:prstGeom prst="rect">
            <a:avLst/>
          </a:prstGeom>
          <a:noFill/>
        </p:spPr>
        <p:txBody>
          <a:bodyPr wrap="none" lIns="0" rIns="0" tIns="0" bIns="0" anchor="t">
            <a:spAutoFit/>
          </a:bodyPr>
          <a:lstStyle/>
          <a:p>
            <a:pPr algn="l">
              <a:lnSpc>
                <a:spcPct val="116000"/>
              </a:lnSpc>
              <a:spcBef>
                <a:spcPts val="0"/>
              </a:spcBef>
              <a:spcAft>
                <a:spcPts val="0"/>
              </a:spcAft>
              <a:defRPr sz="7000">
                <a:solidFill>
                  <a:srgbClr val="EFE9DD"/>
                </a:solidFill>
                <a:latin typeface="Bahnschrift"/>
              </a:defRPr>
            </a:pPr>
            <a:r>
              <a:t>CyberForge</a:t>
            </a:r>
          </a:p>
        </p:txBody>
      </p:sp>
      <p:sp>
        <p:nvSpPr>
          <p:cNvPr id="9" name="TextBox 8"/>
          <p:cNvSpPr txBox="1"/>
          <p:nvPr/>
        </p:nvSpPr>
        <p:spPr>
          <a:xfrm>
            <a:off x="731520" y="2743200"/>
            <a:ext cx="8869680" cy="1554480"/>
          </a:xfrm>
          <a:prstGeom prst="rect">
            <a:avLst/>
          </a:prstGeom>
          <a:noFill/>
        </p:spPr>
        <p:txBody>
          <a:bodyPr wrap="none" lIns="0" rIns="0" tIns="0" bIns="0" anchor="t">
            <a:spAutoFit/>
          </a:bodyPr>
          <a:lstStyle/>
          <a:p>
            <a:pPr algn="l">
              <a:lnSpc>
                <a:spcPct val="116000"/>
              </a:lnSpc>
              <a:spcBef>
                <a:spcPts val="0"/>
              </a:spcBef>
              <a:spcAft>
                <a:spcPts val="0"/>
              </a:spcAft>
              <a:defRPr sz="3000">
                <a:solidFill>
                  <a:srgbClr val="EFE9DD"/>
                </a:solidFill>
                <a:latin typeface="Bahnschrift"/>
              </a:defRPr>
            </a:pPr>
            <a:r>
              <a:t>A Real-Time Agentic AI System</a:t>
            </a:r>
          </a:p>
          <a:p>
            <a:pPr algn="l">
              <a:lnSpc>
                <a:spcPct val="116000"/>
              </a:lnSpc>
              <a:spcBef>
                <a:spcPts val="0"/>
              </a:spcBef>
              <a:spcAft>
                <a:spcPts val="0"/>
              </a:spcAft>
              <a:defRPr sz="3000">
                <a:solidFill>
                  <a:srgbClr val="EFE9DD"/>
                </a:solidFill>
                <a:latin typeface="Bahnschrift"/>
              </a:defRPr>
            </a:pPr>
            <a:r>
              <a:t>for Web Threat Detection</a:t>
            </a:r>
          </a:p>
          <a:p>
            <a:pPr algn="l">
              <a:lnSpc>
                <a:spcPct val="116000"/>
              </a:lnSpc>
              <a:spcBef>
                <a:spcPts val="0"/>
              </a:spcBef>
              <a:spcAft>
                <a:spcPts val="0"/>
              </a:spcAft>
              <a:defRPr sz="3000">
                <a:solidFill>
                  <a:srgbClr val="EFE9DD"/>
                </a:solidFill>
                <a:latin typeface="Bahnschrift"/>
              </a:defRPr>
            </a:pPr>
            <a:r>
              <a:t>and User Protection</a:t>
            </a:r>
          </a:p>
        </p:txBody>
      </p:sp>
      <p:sp>
        <p:nvSpPr>
          <p:cNvPr id="10" name="Rectangle 9"/>
          <p:cNvSpPr/>
          <p:nvPr/>
        </p:nvSpPr>
        <p:spPr>
          <a:xfrm>
            <a:off x="731520" y="4608576"/>
            <a:ext cx="1005840" cy="502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029200"/>
            <a:ext cx="8229600" cy="91440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F69D39"/>
                </a:solidFill>
                <a:latin typeface="Bahnschrift"/>
              </a:defRPr>
            </a:pPr>
            <a:r>
              <a:t>CHE HAGGAI NGHA KANG</a:t>
            </a:r>
          </a:p>
        </p:txBody>
      </p:sp>
      <p:sp>
        <p:nvSpPr>
          <p:cNvPr id="12" name="TextBox 11"/>
          <p:cNvSpPr txBox="1"/>
          <p:nvPr/>
        </p:nvSpPr>
        <p:spPr>
          <a:xfrm>
            <a:off x="731520" y="5623560"/>
            <a:ext cx="8229600" cy="10058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UBA24PP134 • Master’s in Computer Engineering</a:t>
            </a:r>
          </a:p>
          <a:p>
            <a:pPr algn="l">
              <a:lnSpc>
                <a:spcPct val="116000"/>
              </a:lnSpc>
              <a:spcBef>
                <a:spcPts val="0"/>
              </a:spcBef>
              <a:spcAft>
                <a:spcPts val="0"/>
              </a:spcAft>
              <a:defRPr sz="1800">
                <a:solidFill>
                  <a:srgbClr val="C2B8AA"/>
                </a:solidFill>
                <a:latin typeface="Calibri"/>
              </a:defRPr>
            </a:pPr>
            <a:r>
              <a:t>Information Technology and Cyber Security</a:t>
            </a:r>
          </a:p>
        </p:txBody>
      </p:sp>
      <p:sp>
        <p:nvSpPr>
          <p:cNvPr id="13" name="TextBox 12"/>
          <p:cNvSpPr txBox="1"/>
          <p:nvPr/>
        </p:nvSpPr>
        <p:spPr>
          <a:xfrm>
            <a:off x="731520" y="6784848"/>
            <a:ext cx="9144000" cy="45720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EFE9DD"/>
                </a:solidFill>
                <a:latin typeface="Calibri"/>
              </a:defRPr>
            </a:pPr>
            <a:r>
              <a:t>Supervisor: Prof. ONABID MATHIAS AKONG</a:t>
            </a:r>
          </a:p>
        </p:txBody>
      </p:sp>
      <p:pic>
        <p:nvPicPr>
          <p:cNvPr id="14" name="Picture 13" descr="orbit.gif"/>
          <p:cNvPicPr>
            <a:picLocks noChangeAspect="1"/>
          </p:cNvPicPr>
          <p:nvPr/>
        </p:nvPicPr>
        <p:blipFill>
          <a:blip r:embed="rId4"/>
          <a:stretch>
            <a:fillRect/>
          </a:stretch>
        </p:blipFill>
        <p:spPr>
          <a:xfrm>
            <a:off x="9646920" y="1828800"/>
            <a:ext cx="4572000" cy="4572000"/>
          </a:xfrm>
          <a:prstGeom prst="rect">
            <a:avLst/>
          </a:prstGeom>
        </p:spPr>
      </p:pic>
      <p:sp>
        <p:nvSpPr>
          <p:cNvPr id="15" name="TextBox 14"/>
          <p:cNvSpPr txBox="1"/>
          <p:nvPr/>
        </p:nvSpPr>
        <p:spPr>
          <a:xfrm>
            <a:off x="9875520" y="6583680"/>
            <a:ext cx="3931920" cy="640080"/>
          </a:xfrm>
          <a:prstGeom prst="rect">
            <a:avLst/>
          </a:prstGeom>
          <a:noFill/>
        </p:spPr>
        <p:txBody>
          <a:bodyPr wrap="none" lIns="0" rIns="0" tIns="0" bIns="0" anchor="t">
            <a:spAutoFit/>
          </a:bodyPr>
          <a:lstStyle/>
          <a:p>
            <a:pPr algn="ctr">
              <a:lnSpc>
                <a:spcPct val="116000"/>
              </a:lnSpc>
              <a:spcBef>
                <a:spcPts val="0"/>
              </a:spcBef>
              <a:spcAft>
                <a:spcPts val="0"/>
              </a:spcAft>
              <a:defRPr sz="1200">
                <a:solidFill>
                  <a:srgbClr val="869B7E"/>
                </a:solidFill>
                <a:latin typeface="Consolas"/>
              </a:defRPr>
            </a:pPr>
            <a:r>
              <a:t>RESEARCH + CURRENT SYSTEM</a:t>
            </a:r>
          </a:p>
          <a:p>
            <a:pPr algn="ctr">
              <a:lnSpc>
                <a:spcPct val="116000"/>
              </a:lnSpc>
              <a:spcBef>
                <a:spcPts val="0"/>
              </a:spcBef>
              <a:spcAft>
                <a:spcPts val="0"/>
              </a:spcAft>
              <a:defRPr sz="1200">
                <a:solidFill>
                  <a:srgbClr val="869B7E"/>
                </a:solidFill>
                <a:latin typeface="Consolas"/>
              </a:defRPr>
            </a:pPr>
            <a:r>
              <a:t>Source review · 18 October 2026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660"/>
                            </p:stCondLst>
                            <p:childTnLst>
                              <p:par>
                                <p:cTn id="9" presetID="10" presetClass="entr" presetSubtype="0" fill="hold" nodeType="withEffect">
                                  <p:stCondLst>
                                    <p:cond delay="0"/>
                                  </p:stCondLst>
                                  <p:childTnLst>
                                    <p:set>
                                      <p:cBhvr>
                                        <p:cTn id="10" dur="1" fill="hold"/>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660"/>
                            </p:stCondLst>
                            <p:childTnLst>
                              <p:par>
                                <p:cTn id="13" presetID="22" presetClass="entr" presetSubtype="2" fill="hold" nodeType="withEffect">
                                  <p:stCondLst>
                                    <p:cond delay="0"/>
                                  </p:stCondLst>
                                  <p:childTnLst>
                                    <p:set>
                                      <p:cBhvr>
                                        <p:cTn id="14" dur="1" fill="hold"/>
                                        <p:tgtEl>
                                          <p:spTgt spid="10"/>
                                        </p:tgtEl>
                                        <p:attrNameLst>
                                          <p:attrName>style.visibility</p:attrName>
                                        </p:attrNameLst>
                                      </p:cBhvr>
                                      <p:to>
                                        <p:strVal val="visible"/>
                                      </p:to>
                                    </p:set>
                                    <p:animEffect transition="in" filter="wipe(right)">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par>
                          <p:cTn id="20" fill="hold">
                            <p:stCondLst>
                              <p:cond delay="1140"/>
                            </p:stCondLst>
                            <p:childTnLst>
                              <p:par>
                                <p:cTn id="21" presetID="10" presetClass="entr" presetSubtype="0" fill="hold" nodeType="withEffect">
                                  <p:stCondLst>
                                    <p:cond delay="0"/>
                                  </p:stCondLst>
                                  <p:childTnLst>
                                    <p:set>
                                      <p:cBhvr>
                                        <p:cTn id="22" dur="1" fill="hold"/>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1140"/>
                            </p:stCondLst>
                            <p:childTnLst>
                              <p:par>
                                <p:cTn id="25" presetID="10" presetClass="entr" presetSubtype="0" fill="hold" nodeType="withEffect">
                                  <p:stCondLst>
                                    <p:cond delay="0"/>
                                  </p:stCondLst>
                                  <p:childTnLst>
                                    <p:set>
                                      <p:cBhvr>
                                        <p:cTn id="26" dur="1" fill="hold"/>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1620"/>
                            </p:stCondLst>
                            <p:childTnLst>
                              <p:par>
                                <p:cTn id="29" presetID="10" presetClass="entr" presetSubtype="0" fill="hold" nodeType="withEffect">
                                  <p:stCondLst>
                                    <p:cond delay="0"/>
                                  </p:stCondLst>
                                  <p:childTnLst>
                                    <p:set>
                                      <p:cBhvr>
                                        <p:cTn id="30" dur="1" fill="hold"/>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162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01 / BRIEF INTRODUCTION</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02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Brief introduction</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CyberForge: real-time web-threat detection through cooperating specialist agents.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§§1.1, 1.6; revised §3.2</a:t>
            </a:r>
          </a:p>
        </p:txBody>
      </p:sp>
      <p:sp>
        <p:nvSpPr>
          <p:cNvPr id="9" name="Rectangle 8"/>
          <p:cNvSpPr/>
          <p:nvPr/>
        </p:nvSpPr>
        <p:spPr>
          <a:xfrm>
            <a:off x="640080" y="8156448"/>
            <a:ext cx="1780032"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926080"/>
            <a:ext cx="3063240" cy="18288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926080"/>
            <a:ext cx="41148" cy="182880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72384"/>
            <a:ext cx="26974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Observe</a:t>
            </a:r>
          </a:p>
        </p:txBody>
      </p:sp>
      <p:sp>
        <p:nvSpPr>
          <p:cNvPr id="13" name="TextBox 12"/>
          <p:cNvSpPr txBox="1"/>
          <p:nvPr/>
        </p:nvSpPr>
        <p:spPr>
          <a:xfrm>
            <a:off x="868680" y="3529584"/>
            <a:ext cx="2697480" cy="114300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Submitted URL or permitted browsing</a:t>
            </a:r>
          </a:p>
          <a:p>
            <a:pPr algn="l">
              <a:lnSpc>
                <a:spcPct val="116000"/>
              </a:lnSpc>
              <a:spcBef>
                <a:spcPts val="0"/>
              </a:spcBef>
              <a:spcAft>
                <a:spcPts val="0"/>
              </a:spcAft>
              <a:defRPr sz="1400">
                <a:solidFill>
                  <a:srgbClr val="C2B8AA"/>
                </a:solidFill>
                <a:latin typeface="Calibri"/>
              </a:defRPr>
            </a:pPr>
            <a:r>
              <a:t>signal</a:t>
            </a:r>
          </a:p>
        </p:txBody>
      </p:sp>
      <p:cxnSp>
        <p:nvCxnSpPr>
          <p:cNvPr id="14" name="Connector 13"/>
          <p:cNvCxnSpPr/>
          <p:nvPr/>
        </p:nvCxnSpPr>
        <p:spPr>
          <a:xfrm>
            <a:off x="3776472" y="3840480"/>
            <a:ext cx="384048"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06240" y="2926080"/>
            <a:ext cx="3063240" cy="18288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06240" y="2926080"/>
            <a:ext cx="41148" cy="182880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3072384"/>
            <a:ext cx="26974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Analyse</a:t>
            </a:r>
          </a:p>
        </p:txBody>
      </p:sp>
      <p:sp>
        <p:nvSpPr>
          <p:cNvPr id="18" name="TextBox 17"/>
          <p:cNvSpPr txBox="1"/>
          <p:nvPr/>
        </p:nvSpPr>
        <p:spPr>
          <a:xfrm>
            <a:off x="4389120" y="3529584"/>
            <a:ext cx="2697480" cy="114300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Models + page signals + historical</a:t>
            </a:r>
          </a:p>
          <a:p>
            <a:pPr algn="l">
              <a:lnSpc>
                <a:spcPct val="116000"/>
              </a:lnSpc>
              <a:spcBef>
                <a:spcPts val="0"/>
              </a:spcBef>
              <a:spcAft>
                <a:spcPts val="0"/>
              </a:spcAft>
              <a:defRPr sz="1400">
                <a:solidFill>
                  <a:srgbClr val="C2B8AA"/>
                </a:solidFill>
                <a:latin typeface="Calibri"/>
              </a:defRPr>
            </a:pPr>
            <a:r>
              <a:t>context</a:t>
            </a:r>
          </a:p>
        </p:txBody>
      </p:sp>
      <p:cxnSp>
        <p:nvCxnSpPr>
          <p:cNvPr id="19" name="Connector 18"/>
          <p:cNvCxnSpPr/>
          <p:nvPr/>
        </p:nvCxnSpPr>
        <p:spPr>
          <a:xfrm>
            <a:off x="7296912" y="3840480"/>
            <a:ext cx="384047"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26679" y="2926080"/>
            <a:ext cx="3063240" cy="18288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26679" y="2926080"/>
            <a:ext cx="41148" cy="182880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59" y="3072384"/>
            <a:ext cx="26974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Explain</a:t>
            </a:r>
          </a:p>
        </p:txBody>
      </p:sp>
      <p:sp>
        <p:nvSpPr>
          <p:cNvPr id="23" name="TextBox 22"/>
          <p:cNvSpPr txBox="1"/>
          <p:nvPr/>
        </p:nvSpPr>
        <p:spPr>
          <a:xfrm>
            <a:off x="7909559" y="3529584"/>
            <a:ext cx="2697480" cy="114300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Verdict, supporting evidence and</a:t>
            </a:r>
          </a:p>
          <a:p>
            <a:pPr algn="l">
              <a:lnSpc>
                <a:spcPct val="116000"/>
              </a:lnSpc>
              <a:spcBef>
                <a:spcPts val="0"/>
              </a:spcBef>
              <a:spcAft>
                <a:spcPts val="0"/>
              </a:spcAft>
              <a:defRPr sz="1400">
                <a:solidFill>
                  <a:srgbClr val="C2B8AA"/>
                </a:solidFill>
                <a:latin typeface="Calibri"/>
              </a:defRPr>
            </a:pPr>
            <a:r>
              <a:t>limitations</a:t>
            </a:r>
          </a:p>
        </p:txBody>
      </p:sp>
      <p:cxnSp>
        <p:nvCxnSpPr>
          <p:cNvPr id="24" name="Connector 23"/>
          <p:cNvCxnSpPr/>
          <p:nvPr/>
        </p:nvCxnSpPr>
        <p:spPr>
          <a:xfrm>
            <a:off x="10817351" y="3840480"/>
            <a:ext cx="384049"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1247120" y="2926080"/>
            <a:ext cx="3063240" cy="18288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247120" y="2926080"/>
            <a:ext cx="41148" cy="182880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0" y="3072384"/>
            <a:ext cx="26974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Respond</a:t>
            </a:r>
          </a:p>
        </p:txBody>
      </p:sp>
      <p:sp>
        <p:nvSpPr>
          <p:cNvPr id="28" name="TextBox 27"/>
          <p:cNvSpPr txBox="1"/>
          <p:nvPr/>
        </p:nvSpPr>
        <p:spPr>
          <a:xfrm>
            <a:off x="11430000" y="3529584"/>
            <a:ext cx="2697480" cy="114300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Warning or supported, approved</a:t>
            </a:r>
          </a:p>
          <a:p>
            <a:pPr algn="l">
              <a:lnSpc>
                <a:spcPct val="116000"/>
              </a:lnSpc>
              <a:spcBef>
                <a:spcPts val="0"/>
              </a:spcBef>
              <a:spcAft>
                <a:spcPts val="0"/>
              </a:spcAft>
              <a:defRPr sz="1400">
                <a:solidFill>
                  <a:srgbClr val="C2B8AA"/>
                </a:solidFill>
                <a:latin typeface="Calibri"/>
              </a:defRPr>
            </a:pPr>
            <a:r>
              <a:t>action</a:t>
            </a:r>
          </a:p>
        </p:txBody>
      </p:sp>
      <p:sp>
        <p:nvSpPr>
          <p:cNvPr id="29" name="TextBox 28"/>
          <p:cNvSpPr txBox="1"/>
          <p:nvPr/>
        </p:nvSpPr>
        <p:spPr>
          <a:xfrm>
            <a:off x="731520" y="5577840"/>
            <a:ext cx="12435840" cy="1188720"/>
          </a:xfrm>
          <a:prstGeom prst="rect">
            <a:avLst/>
          </a:prstGeom>
          <a:noFill/>
        </p:spPr>
        <p:txBody>
          <a:bodyPr wrap="none" lIns="0" rIns="0" tIns="0" bIns="0" anchor="t">
            <a:spAutoFit/>
          </a:bodyPr>
          <a:lstStyle/>
          <a:p>
            <a:pPr algn="l">
              <a:lnSpc>
                <a:spcPct val="116000"/>
              </a:lnSpc>
              <a:spcBef>
                <a:spcPts val="0"/>
              </a:spcBef>
              <a:spcAft>
                <a:spcPts val="0"/>
              </a:spcAft>
              <a:defRPr sz="2900">
                <a:solidFill>
                  <a:srgbClr val="EFE9DD"/>
                </a:solidFill>
                <a:latin typeface="Bahnschrift"/>
              </a:defRPr>
            </a:pPr>
            <a:r>
              <a:t>Research idea: combine specialised analysers</a:t>
            </a:r>
          </a:p>
          <a:p>
            <a:pPr algn="l">
              <a:lnSpc>
                <a:spcPct val="116000"/>
              </a:lnSpc>
              <a:spcBef>
                <a:spcPts val="0"/>
              </a:spcBef>
              <a:spcAft>
                <a:spcPts val="0"/>
              </a:spcAft>
              <a:defRPr sz="2900">
                <a:solidFill>
                  <a:srgbClr val="EFE9DD"/>
                </a:solidFill>
                <a:latin typeface="Bahnschrift"/>
              </a:defRPr>
            </a:pPr>
            <a:r>
              <a:t>into one inspectable security workflow.</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14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14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62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162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162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10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210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210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210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258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02 / PROBLEM STATEMENT</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03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Problem statement</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Existing approaches struggle with false alarms, unclear verdicts and fragmented context.</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§1.2; original calibration described in §3.7.2</a:t>
            </a:r>
          </a:p>
        </p:txBody>
      </p:sp>
      <p:sp>
        <p:nvSpPr>
          <p:cNvPr id="9" name="Rectangle 8"/>
          <p:cNvSpPr/>
          <p:nvPr/>
        </p:nvSpPr>
        <p:spPr>
          <a:xfrm>
            <a:off x="640080" y="8156448"/>
            <a:ext cx="2670048"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697480"/>
            <a:ext cx="4206240" cy="406908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697480"/>
            <a:ext cx="41148" cy="406908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880360"/>
            <a:ext cx="3785615"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01 / TRUST</a:t>
            </a:r>
          </a:p>
        </p:txBody>
      </p:sp>
      <p:sp>
        <p:nvSpPr>
          <p:cNvPr id="13" name="TextBox 12"/>
          <p:cNvSpPr txBox="1"/>
          <p:nvPr/>
        </p:nvSpPr>
        <p:spPr>
          <a:xfrm>
            <a:off x="896112" y="3355848"/>
            <a:ext cx="3785615" cy="822960"/>
          </a:xfrm>
          <a:prstGeom prst="rect">
            <a:avLst/>
          </a:prstGeom>
          <a:noFill/>
        </p:spPr>
        <p:txBody>
          <a:bodyPr wrap="none" lIns="0" rIns="0" tIns="0" bIns="0" anchor="t">
            <a:spAutoFit/>
          </a:bodyPr>
          <a:lstStyle/>
          <a:p>
            <a:pPr algn="l">
              <a:lnSpc>
                <a:spcPct val="116000"/>
              </a:lnSpc>
              <a:spcBef>
                <a:spcPts val="0"/>
              </a:spcBef>
              <a:spcAft>
                <a:spcPts val="0"/>
              </a:spcAft>
              <a:defRPr sz="2300">
                <a:solidFill>
                  <a:srgbClr val="EFE9DD"/>
                </a:solidFill>
                <a:latin typeface="Bahnschrift"/>
              </a:defRPr>
            </a:pPr>
            <a:r>
              <a:t>Too many false alarms</a:t>
            </a:r>
          </a:p>
        </p:txBody>
      </p:sp>
      <p:sp>
        <p:nvSpPr>
          <p:cNvPr id="14" name="TextBox 13"/>
          <p:cNvSpPr txBox="1"/>
          <p:nvPr/>
        </p:nvSpPr>
        <p:spPr>
          <a:xfrm>
            <a:off x="896112" y="4325112"/>
            <a:ext cx="3785615" cy="23317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Biased scores interrupt safe browsing</a:t>
            </a:r>
          </a:p>
          <a:p>
            <a:pPr algn="l">
              <a:lnSpc>
                <a:spcPct val="116000"/>
              </a:lnSpc>
              <a:spcBef>
                <a:spcPts val="0"/>
              </a:spcBef>
              <a:spcAft>
                <a:spcPts val="0"/>
              </a:spcAft>
              <a:defRPr sz="1800">
                <a:solidFill>
                  <a:srgbClr val="C2B8AA"/>
                </a:solidFill>
                <a:latin typeface="Calibri"/>
              </a:defRPr>
            </a:pPr>
            <a:r>
              <a:t>and encourage alert fatigue.</a:t>
            </a:r>
          </a:p>
        </p:txBody>
      </p:sp>
      <p:sp>
        <p:nvSpPr>
          <p:cNvPr id="15" name="Rounded Rectangle 14"/>
          <p:cNvSpPr/>
          <p:nvPr/>
        </p:nvSpPr>
        <p:spPr>
          <a:xfrm>
            <a:off x="5212080" y="2697480"/>
            <a:ext cx="4206240" cy="406908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0" y="2697480"/>
            <a:ext cx="41148" cy="4069080"/>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22392" y="2880360"/>
            <a:ext cx="3785615"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869B7E"/>
                </a:solidFill>
                <a:latin typeface="Consolas"/>
              </a:defRPr>
            </a:pPr>
            <a:r>
              <a:t>02 / EVIDENCE</a:t>
            </a:r>
          </a:p>
        </p:txBody>
      </p:sp>
      <p:sp>
        <p:nvSpPr>
          <p:cNvPr id="18" name="TextBox 17"/>
          <p:cNvSpPr txBox="1"/>
          <p:nvPr/>
        </p:nvSpPr>
        <p:spPr>
          <a:xfrm>
            <a:off x="5422392" y="3355848"/>
            <a:ext cx="3785615" cy="822960"/>
          </a:xfrm>
          <a:prstGeom prst="rect">
            <a:avLst/>
          </a:prstGeom>
          <a:noFill/>
        </p:spPr>
        <p:txBody>
          <a:bodyPr wrap="none" lIns="0" rIns="0" tIns="0" bIns="0" anchor="t">
            <a:spAutoFit/>
          </a:bodyPr>
          <a:lstStyle/>
          <a:p>
            <a:pPr algn="l">
              <a:lnSpc>
                <a:spcPct val="116000"/>
              </a:lnSpc>
              <a:spcBef>
                <a:spcPts val="0"/>
              </a:spcBef>
              <a:spcAft>
                <a:spcPts val="0"/>
              </a:spcAft>
              <a:defRPr sz="2300">
                <a:solidFill>
                  <a:srgbClr val="EFE9DD"/>
                </a:solidFill>
                <a:latin typeface="Bahnschrift"/>
              </a:defRPr>
            </a:pPr>
            <a:r>
              <a:t>A score without a story</a:t>
            </a:r>
          </a:p>
        </p:txBody>
      </p:sp>
      <p:sp>
        <p:nvSpPr>
          <p:cNvPr id="19" name="TextBox 18"/>
          <p:cNvSpPr txBox="1"/>
          <p:nvPr/>
        </p:nvSpPr>
        <p:spPr>
          <a:xfrm>
            <a:off x="5422392" y="4325112"/>
            <a:ext cx="3785615" cy="23317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A single verdict does not explain</a:t>
            </a:r>
          </a:p>
          <a:p>
            <a:pPr algn="l">
              <a:lnSpc>
                <a:spcPct val="116000"/>
              </a:lnSpc>
              <a:spcBef>
                <a:spcPts val="0"/>
              </a:spcBef>
              <a:spcAft>
                <a:spcPts val="0"/>
              </a:spcAft>
              <a:defRPr sz="1800">
                <a:solidFill>
                  <a:srgbClr val="C2B8AA"/>
                </a:solidFill>
                <a:latin typeface="Calibri"/>
              </a:defRPr>
            </a:pPr>
            <a:r>
              <a:t>indicators, behaviour or attack</a:t>
            </a:r>
          </a:p>
          <a:p>
            <a:pPr algn="l">
              <a:lnSpc>
                <a:spcPct val="116000"/>
              </a:lnSpc>
              <a:spcBef>
                <a:spcPts val="0"/>
              </a:spcBef>
              <a:spcAft>
                <a:spcPts val="0"/>
              </a:spcAft>
              <a:defRPr sz="1800">
                <a:solidFill>
                  <a:srgbClr val="C2B8AA"/>
                </a:solidFill>
                <a:latin typeface="Calibri"/>
              </a:defRPr>
            </a:pPr>
            <a:r>
              <a:t>techniques.</a:t>
            </a:r>
          </a:p>
        </p:txBody>
      </p:sp>
      <p:sp>
        <p:nvSpPr>
          <p:cNvPr id="20" name="Rounded Rectangle 19"/>
          <p:cNvSpPr/>
          <p:nvPr/>
        </p:nvSpPr>
        <p:spPr>
          <a:xfrm>
            <a:off x="9738360" y="2697480"/>
            <a:ext cx="4206240" cy="406908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738360" y="2697480"/>
            <a:ext cx="41148" cy="406908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48672" y="2880360"/>
            <a:ext cx="3785615"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03 / CONTINUITY</a:t>
            </a:r>
          </a:p>
        </p:txBody>
      </p:sp>
      <p:sp>
        <p:nvSpPr>
          <p:cNvPr id="23" name="TextBox 22"/>
          <p:cNvSpPr txBox="1"/>
          <p:nvPr/>
        </p:nvSpPr>
        <p:spPr>
          <a:xfrm>
            <a:off x="9948672" y="3355848"/>
            <a:ext cx="3785615" cy="822960"/>
          </a:xfrm>
          <a:prstGeom prst="rect">
            <a:avLst/>
          </a:prstGeom>
          <a:noFill/>
        </p:spPr>
        <p:txBody>
          <a:bodyPr wrap="none" lIns="0" rIns="0" tIns="0" bIns="0" anchor="t">
            <a:spAutoFit/>
          </a:bodyPr>
          <a:lstStyle/>
          <a:p>
            <a:pPr algn="l">
              <a:lnSpc>
                <a:spcPct val="116000"/>
              </a:lnSpc>
              <a:spcBef>
                <a:spcPts val="0"/>
              </a:spcBef>
              <a:spcAft>
                <a:spcPts val="0"/>
              </a:spcAft>
              <a:defRPr sz="2300">
                <a:solidFill>
                  <a:srgbClr val="EFE9DD"/>
                </a:solidFill>
                <a:latin typeface="Bahnschrift"/>
              </a:defRPr>
            </a:pPr>
            <a:r>
              <a:t>Disconnected context</a:t>
            </a:r>
          </a:p>
        </p:txBody>
      </p:sp>
      <p:sp>
        <p:nvSpPr>
          <p:cNvPr id="24" name="TextBox 23"/>
          <p:cNvSpPr txBox="1"/>
          <p:nvPr/>
        </p:nvSpPr>
        <p:spPr>
          <a:xfrm>
            <a:off x="9948672" y="4325112"/>
            <a:ext cx="3785615" cy="23317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Past observations and threat</a:t>
            </a:r>
          </a:p>
          <a:p>
            <a:pPr algn="l">
              <a:lnSpc>
                <a:spcPct val="116000"/>
              </a:lnSpc>
              <a:spcBef>
                <a:spcPts val="0"/>
              </a:spcBef>
              <a:spcAft>
                <a:spcPts val="0"/>
              </a:spcAft>
              <a:defRPr sz="1800">
                <a:solidFill>
                  <a:srgbClr val="C2B8AA"/>
                </a:solidFill>
                <a:latin typeface="Calibri"/>
              </a:defRPr>
            </a:pPr>
            <a:r>
              <a:t>intelligence are difficult to reuse</a:t>
            </a:r>
          </a:p>
          <a:p>
            <a:pPr algn="l">
              <a:lnSpc>
                <a:spcPct val="116000"/>
              </a:lnSpc>
              <a:spcBef>
                <a:spcPts val="0"/>
              </a:spcBef>
              <a:spcAft>
                <a:spcPts val="0"/>
              </a:spcAft>
              <a:defRPr sz="1800">
                <a:solidFill>
                  <a:srgbClr val="C2B8AA"/>
                </a:solidFill>
                <a:latin typeface="Calibri"/>
              </a:defRPr>
            </a:pPr>
            <a:r>
              <a:t>consistently.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14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14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62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162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162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03 / RESEARCH QUESTIONS</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04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Research questions</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General question: real-time, explainable web-threat analysis across interfaces.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§1.3; validity qualifications in revised §§3.9 and 4.9</a:t>
            </a:r>
          </a:p>
        </p:txBody>
      </p:sp>
      <p:sp>
        <p:nvSpPr>
          <p:cNvPr id="9" name="Rectangle 8"/>
          <p:cNvSpPr/>
          <p:nvPr/>
        </p:nvSpPr>
        <p:spPr>
          <a:xfrm>
            <a:off x="640080" y="8156448"/>
            <a:ext cx="3560064"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70048"/>
            <a:ext cx="731520" cy="594360"/>
          </a:xfrm>
          <a:prstGeom prst="rect">
            <a:avLst/>
          </a:prstGeom>
          <a:noFill/>
        </p:spPr>
        <p:txBody>
          <a:bodyPr wrap="none" lIns="0" rIns="0" tIns="0" bIns="0" anchor="t">
            <a:spAutoFit/>
          </a:bodyPr>
          <a:lstStyle/>
          <a:p>
            <a:pPr algn="l">
              <a:lnSpc>
                <a:spcPct val="116000"/>
              </a:lnSpc>
              <a:spcBef>
                <a:spcPts val="0"/>
              </a:spcBef>
              <a:spcAft>
                <a:spcPts val="0"/>
              </a:spcAft>
              <a:defRPr sz="3100">
                <a:solidFill>
                  <a:srgbClr val="F69D39"/>
                </a:solidFill>
                <a:latin typeface="Consolas"/>
              </a:defRPr>
            </a:pPr>
            <a:r>
              <a:t>01</a:t>
            </a:r>
          </a:p>
        </p:txBody>
      </p:sp>
      <p:sp>
        <p:nvSpPr>
          <p:cNvPr id="11" name="TextBox 10"/>
          <p:cNvSpPr txBox="1"/>
          <p:nvPr/>
        </p:nvSpPr>
        <p:spPr>
          <a:xfrm>
            <a:off x="1737360" y="2670048"/>
            <a:ext cx="2743200" cy="45720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EFE9DD"/>
                </a:solidFill>
                <a:latin typeface="Bahnschrift"/>
              </a:defRPr>
            </a:pPr>
            <a:r>
              <a:t>Decomposition</a:t>
            </a:r>
          </a:p>
        </p:txBody>
      </p:sp>
      <p:sp>
        <p:nvSpPr>
          <p:cNvPr id="12" name="TextBox 11"/>
          <p:cNvSpPr txBox="1"/>
          <p:nvPr/>
        </p:nvSpPr>
        <p:spPr>
          <a:xfrm>
            <a:off x="4663440" y="2670048"/>
            <a:ext cx="8961120" cy="77724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C2B8AA"/>
                </a:solidFill>
                <a:latin typeface="Calibri"/>
              </a:defRPr>
            </a:pPr>
            <a:r>
              <a:t>How should URL analysis be divided, and what agent set is sufficient?</a:t>
            </a:r>
          </a:p>
        </p:txBody>
      </p:sp>
      <p:cxnSp>
        <p:nvCxnSpPr>
          <p:cNvPr id="13" name="Connector 12"/>
          <p:cNvCxnSpPr/>
          <p:nvPr/>
        </p:nvCxnSpPr>
        <p:spPr>
          <a:xfrm>
            <a:off x="1737360" y="3584448"/>
            <a:ext cx="12070080" cy="0"/>
          </a:xfrm>
          <a:prstGeom prst="line">
            <a:avLst/>
          </a:prstGeom>
          <a:ln w="7620">
            <a:solidFill>
              <a:srgbClr val="51474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3785615"/>
            <a:ext cx="731520" cy="594360"/>
          </a:xfrm>
          <a:prstGeom prst="rect">
            <a:avLst/>
          </a:prstGeom>
          <a:noFill/>
        </p:spPr>
        <p:txBody>
          <a:bodyPr wrap="none" lIns="0" rIns="0" tIns="0" bIns="0" anchor="t">
            <a:spAutoFit/>
          </a:bodyPr>
          <a:lstStyle/>
          <a:p>
            <a:pPr algn="l">
              <a:lnSpc>
                <a:spcPct val="116000"/>
              </a:lnSpc>
              <a:spcBef>
                <a:spcPts val="0"/>
              </a:spcBef>
              <a:spcAft>
                <a:spcPts val="0"/>
              </a:spcAft>
              <a:defRPr sz="3100">
                <a:solidFill>
                  <a:srgbClr val="F69D39"/>
                </a:solidFill>
                <a:latin typeface="Consolas"/>
              </a:defRPr>
            </a:pPr>
            <a:r>
              <a:t>02</a:t>
            </a:r>
          </a:p>
        </p:txBody>
      </p:sp>
      <p:sp>
        <p:nvSpPr>
          <p:cNvPr id="15" name="TextBox 14"/>
          <p:cNvSpPr txBox="1"/>
          <p:nvPr/>
        </p:nvSpPr>
        <p:spPr>
          <a:xfrm>
            <a:off x="1737360" y="3785615"/>
            <a:ext cx="2743200" cy="45720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EFE9DD"/>
                </a:solidFill>
                <a:latin typeface="Bahnschrift"/>
              </a:defRPr>
            </a:pPr>
            <a:r>
              <a:t>Integration</a:t>
            </a:r>
          </a:p>
        </p:txBody>
      </p:sp>
      <p:sp>
        <p:nvSpPr>
          <p:cNvPr id="16" name="TextBox 15"/>
          <p:cNvSpPr txBox="1"/>
          <p:nvPr/>
        </p:nvSpPr>
        <p:spPr>
          <a:xfrm>
            <a:off x="4663440" y="3785615"/>
            <a:ext cx="8961120" cy="77724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C2B8AA"/>
                </a:solidFill>
                <a:latin typeface="Calibri"/>
              </a:defRPr>
            </a:pPr>
            <a:r>
              <a:t>How can URL, content, IOC, ATT&amp;CK and reputation signals agree?</a:t>
            </a:r>
          </a:p>
        </p:txBody>
      </p:sp>
      <p:cxnSp>
        <p:nvCxnSpPr>
          <p:cNvPr id="17" name="Connector 16"/>
          <p:cNvCxnSpPr/>
          <p:nvPr/>
        </p:nvCxnSpPr>
        <p:spPr>
          <a:xfrm>
            <a:off x="1737360" y="4700016"/>
            <a:ext cx="12070080" cy="0"/>
          </a:xfrm>
          <a:prstGeom prst="line">
            <a:avLst/>
          </a:prstGeom>
          <a:ln w="7620">
            <a:solidFill>
              <a:srgbClr val="51474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1520" y="4901183"/>
            <a:ext cx="731520" cy="594360"/>
          </a:xfrm>
          <a:prstGeom prst="rect">
            <a:avLst/>
          </a:prstGeom>
          <a:noFill/>
        </p:spPr>
        <p:txBody>
          <a:bodyPr wrap="none" lIns="0" rIns="0" tIns="0" bIns="0" anchor="t">
            <a:spAutoFit/>
          </a:bodyPr>
          <a:lstStyle/>
          <a:p>
            <a:pPr algn="l">
              <a:lnSpc>
                <a:spcPct val="116000"/>
              </a:lnSpc>
              <a:spcBef>
                <a:spcPts val="0"/>
              </a:spcBef>
              <a:spcAft>
                <a:spcPts val="0"/>
              </a:spcAft>
              <a:defRPr sz="3100">
                <a:solidFill>
                  <a:srgbClr val="F69D39"/>
                </a:solidFill>
                <a:latin typeface="Consolas"/>
              </a:defRPr>
            </a:pPr>
            <a:r>
              <a:t>03</a:t>
            </a:r>
          </a:p>
        </p:txBody>
      </p:sp>
      <p:sp>
        <p:nvSpPr>
          <p:cNvPr id="19" name="TextBox 18"/>
          <p:cNvSpPr txBox="1"/>
          <p:nvPr/>
        </p:nvSpPr>
        <p:spPr>
          <a:xfrm>
            <a:off x="1737360" y="4901183"/>
            <a:ext cx="2743200" cy="45720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EFE9DD"/>
                </a:solidFill>
                <a:latin typeface="Bahnschrift"/>
              </a:defRPr>
            </a:pPr>
            <a:r>
              <a:t>Decision</a:t>
            </a:r>
          </a:p>
        </p:txBody>
      </p:sp>
      <p:sp>
        <p:nvSpPr>
          <p:cNvPr id="20" name="TextBox 19"/>
          <p:cNvSpPr txBox="1"/>
          <p:nvPr/>
        </p:nvSpPr>
        <p:spPr>
          <a:xfrm>
            <a:off x="4663440" y="4901183"/>
            <a:ext cx="8961120" cy="77724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C2B8AA"/>
                </a:solidFill>
                <a:latin typeface="Calibri"/>
              </a:defRPr>
            </a:pPr>
            <a:r>
              <a:t>How can aggregation reduce false alarms without hiding strong threats?</a:t>
            </a:r>
          </a:p>
        </p:txBody>
      </p:sp>
      <p:cxnSp>
        <p:nvCxnSpPr>
          <p:cNvPr id="21" name="Connector 20"/>
          <p:cNvCxnSpPr/>
          <p:nvPr/>
        </p:nvCxnSpPr>
        <p:spPr>
          <a:xfrm>
            <a:off x="1737360" y="5815583"/>
            <a:ext cx="12070080" cy="0"/>
          </a:xfrm>
          <a:prstGeom prst="line">
            <a:avLst/>
          </a:prstGeom>
          <a:ln w="7620">
            <a:solidFill>
              <a:srgbClr val="51474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6016752"/>
            <a:ext cx="731520" cy="594360"/>
          </a:xfrm>
          <a:prstGeom prst="rect">
            <a:avLst/>
          </a:prstGeom>
          <a:noFill/>
        </p:spPr>
        <p:txBody>
          <a:bodyPr wrap="none" lIns="0" rIns="0" tIns="0" bIns="0" anchor="t">
            <a:spAutoFit/>
          </a:bodyPr>
          <a:lstStyle/>
          <a:p>
            <a:pPr algn="l">
              <a:lnSpc>
                <a:spcPct val="116000"/>
              </a:lnSpc>
              <a:spcBef>
                <a:spcPts val="0"/>
              </a:spcBef>
              <a:spcAft>
                <a:spcPts val="0"/>
              </a:spcAft>
              <a:defRPr sz="3100">
                <a:solidFill>
                  <a:srgbClr val="F69D39"/>
                </a:solidFill>
                <a:latin typeface="Consolas"/>
              </a:defRPr>
            </a:pPr>
            <a:r>
              <a:t>04</a:t>
            </a:r>
          </a:p>
        </p:txBody>
      </p:sp>
      <p:sp>
        <p:nvSpPr>
          <p:cNvPr id="23" name="TextBox 22"/>
          <p:cNvSpPr txBox="1"/>
          <p:nvPr/>
        </p:nvSpPr>
        <p:spPr>
          <a:xfrm>
            <a:off x="1737360" y="6016752"/>
            <a:ext cx="2743200" cy="45720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EFE9DD"/>
                </a:solidFill>
                <a:latin typeface="Bahnschrift"/>
              </a:defRPr>
            </a:pPr>
            <a:r>
              <a:t>Context</a:t>
            </a:r>
          </a:p>
        </p:txBody>
      </p:sp>
      <p:sp>
        <p:nvSpPr>
          <p:cNvPr id="24" name="TextBox 23"/>
          <p:cNvSpPr txBox="1"/>
          <p:nvPr/>
        </p:nvSpPr>
        <p:spPr>
          <a:xfrm>
            <a:off x="4663440" y="6016752"/>
            <a:ext cx="8961120" cy="777240"/>
          </a:xfrm>
          <a:prstGeom prst="rect">
            <a:avLst/>
          </a:prstGeom>
          <a:noFill/>
        </p:spPr>
        <p:txBody>
          <a:bodyPr wrap="none" lIns="0" rIns="0" tIns="0" bIns="0" anchor="t">
            <a:spAutoFit/>
          </a:bodyPr>
          <a:lstStyle/>
          <a:p>
            <a:pPr algn="l">
              <a:lnSpc>
                <a:spcPct val="116000"/>
              </a:lnSpc>
              <a:spcBef>
                <a:spcPts val="0"/>
              </a:spcBef>
              <a:spcAft>
                <a:spcPts val="0"/>
              </a:spcAft>
              <a:defRPr sz="2100">
                <a:solidFill>
                  <a:srgbClr val="C2B8AA"/>
                </a:solidFill>
                <a:latin typeface="Calibri"/>
              </a:defRPr>
            </a:pPr>
            <a:r>
              <a:t>How can past browsing observations support future assessment?</a:t>
            </a:r>
          </a:p>
        </p:txBody>
      </p:sp>
      <p:cxnSp>
        <p:nvCxnSpPr>
          <p:cNvPr id="25" name="Connector 24"/>
          <p:cNvCxnSpPr/>
          <p:nvPr/>
        </p:nvCxnSpPr>
        <p:spPr>
          <a:xfrm>
            <a:off x="1737360" y="6931152"/>
            <a:ext cx="12070080" cy="0"/>
          </a:xfrm>
          <a:prstGeom prst="line">
            <a:avLst/>
          </a:prstGeom>
          <a:ln w="7620">
            <a:solidFill>
              <a:srgbClr val="51474A"/>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10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10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04 / RESEARCH OBJECTIVES</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05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Research objectives</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Build and evaluate an explainable, multi-platform web-security system.</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§1.4; source-reviewed boundaries in Appendix C</a:t>
            </a:r>
          </a:p>
        </p:txBody>
      </p:sp>
      <p:sp>
        <p:nvSpPr>
          <p:cNvPr id="9" name="Rectangle 8"/>
          <p:cNvSpPr/>
          <p:nvPr/>
        </p:nvSpPr>
        <p:spPr>
          <a:xfrm>
            <a:off x="640080" y="8156448"/>
            <a:ext cx="4450080"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697480"/>
            <a:ext cx="6446520" cy="1874519"/>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697480"/>
            <a:ext cx="41148" cy="1874519"/>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43784"/>
            <a:ext cx="608075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Coordinate agents</a:t>
            </a:r>
          </a:p>
        </p:txBody>
      </p:sp>
      <p:sp>
        <p:nvSpPr>
          <p:cNvPr id="13" name="TextBox 12"/>
          <p:cNvSpPr txBox="1"/>
          <p:nvPr/>
        </p:nvSpPr>
        <p:spPr>
          <a:xfrm>
            <a:off x="868680" y="3300984"/>
            <a:ext cx="6080759" cy="1188719"/>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Decompose URL analysis into ordered, parallel tasks.</a:t>
            </a:r>
          </a:p>
        </p:txBody>
      </p:sp>
      <p:sp>
        <p:nvSpPr>
          <p:cNvPr id="14" name="Rounded Rectangle 13"/>
          <p:cNvSpPr/>
          <p:nvPr/>
        </p:nvSpPr>
        <p:spPr>
          <a:xfrm>
            <a:off x="7543800" y="2697480"/>
            <a:ext cx="6446520" cy="1874519"/>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43800" y="2697480"/>
            <a:ext cx="41148" cy="1874519"/>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2843784"/>
            <a:ext cx="608075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Unify evidence</a:t>
            </a:r>
          </a:p>
        </p:txBody>
      </p:sp>
      <p:sp>
        <p:nvSpPr>
          <p:cNvPr id="17" name="TextBox 16"/>
          <p:cNvSpPr txBox="1"/>
          <p:nvPr/>
        </p:nvSpPr>
        <p:spPr>
          <a:xfrm>
            <a:off x="7726679" y="3300984"/>
            <a:ext cx="6080759" cy="1188719"/>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Combine model, structural, content and behavioural signals.</a:t>
            </a:r>
          </a:p>
        </p:txBody>
      </p:sp>
      <p:sp>
        <p:nvSpPr>
          <p:cNvPr id="18" name="Rounded Rectangle 17"/>
          <p:cNvSpPr/>
          <p:nvPr/>
        </p:nvSpPr>
        <p:spPr>
          <a:xfrm>
            <a:off x="685800" y="4937760"/>
            <a:ext cx="6446520" cy="1874519"/>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4937760"/>
            <a:ext cx="41148" cy="1874519"/>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84064"/>
            <a:ext cx="608075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Control false alerts</a:t>
            </a:r>
          </a:p>
        </p:txBody>
      </p:sp>
      <p:sp>
        <p:nvSpPr>
          <p:cNvPr id="21" name="TextBox 20"/>
          <p:cNvSpPr txBox="1"/>
          <p:nvPr/>
        </p:nvSpPr>
        <p:spPr>
          <a:xfrm>
            <a:off x="868680" y="5541264"/>
            <a:ext cx="6080759" cy="1188719"/>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Balance aggregated evidence with strong threat indicators.</a:t>
            </a:r>
          </a:p>
        </p:txBody>
      </p:sp>
      <p:sp>
        <p:nvSpPr>
          <p:cNvPr id="22" name="Rounded Rectangle 21"/>
          <p:cNvSpPr/>
          <p:nvPr/>
        </p:nvSpPr>
        <p:spPr>
          <a:xfrm>
            <a:off x="7543800" y="4937760"/>
            <a:ext cx="6446520" cy="1874519"/>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43800" y="4937760"/>
            <a:ext cx="41148" cy="1874519"/>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5084064"/>
            <a:ext cx="608075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Add threat context</a:t>
            </a:r>
          </a:p>
        </p:txBody>
      </p:sp>
      <p:sp>
        <p:nvSpPr>
          <p:cNvPr id="25" name="TextBox 24"/>
          <p:cNvSpPr txBox="1"/>
          <p:nvPr/>
        </p:nvSpPr>
        <p:spPr>
          <a:xfrm>
            <a:off x="7726679" y="5541264"/>
            <a:ext cx="6080759" cy="1188719"/>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Link findings with attack techniques and external intelligence.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10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10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05 / BRIEF LITERATURE REVIEW</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06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Brief literature review</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Prior work motivates hybrid detection, structured explanations and agent coordination.</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Chapter 2; full bibliographic details are in the speaker notes</a:t>
            </a:r>
          </a:p>
        </p:txBody>
      </p:sp>
      <p:sp>
        <p:nvSpPr>
          <p:cNvPr id="9" name="Rectangle 8"/>
          <p:cNvSpPr/>
          <p:nvPr/>
        </p:nvSpPr>
        <p:spPr>
          <a:xfrm>
            <a:off x="640080" y="8156448"/>
            <a:ext cx="5340096"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743200"/>
            <a:ext cx="3063240" cy="34290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26080"/>
            <a:ext cx="2697480" cy="594360"/>
          </a:xfrm>
          <a:prstGeom prst="rect">
            <a:avLst/>
          </a:prstGeom>
          <a:noFill/>
        </p:spPr>
        <p:txBody>
          <a:bodyPr wrap="none" lIns="0" rIns="0" tIns="0" bIns="0" anchor="t">
            <a:spAutoFit/>
          </a:bodyPr>
          <a:lstStyle/>
          <a:p>
            <a:pPr algn="l">
              <a:lnSpc>
                <a:spcPct val="116000"/>
              </a:lnSpc>
              <a:spcBef>
                <a:spcPts val="0"/>
              </a:spcBef>
              <a:spcAft>
                <a:spcPts val="0"/>
              </a:spcAft>
              <a:defRPr sz="1200">
                <a:solidFill>
                  <a:srgbClr val="869B7E"/>
                </a:solidFill>
                <a:latin typeface="Consolas"/>
              </a:defRPr>
            </a:pPr>
            <a:r>
              <a:t>Khonji et al. · 2013</a:t>
            </a:r>
          </a:p>
        </p:txBody>
      </p:sp>
      <p:sp>
        <p:nvSpPr>
          <p:cNvPr id="12" name="TextBox 11"/>
          <p:cNvSpPr txBox="1"/>
          <p:nvPr/>
        </p:nvSpPr>
        <p:spPr>
          <a:xfrm>
            <a:off x="868680" y="3749039"/>
            <a:ext cx="2697480" cy="9144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Bahnschrift"/>
              </a:defRPr>
            </a:pPr>
            <a:r>
              <a:t>Hybrid signals</a:t>
            </a:r>
          </a:p>
        </p:txBody>
      </p:sp>
      <p:sp>
        <p:nvSpPr>
          <p:cNvPr id="13" name="TextBox 12"/>
          <p:cNvSpPr txBox="1"/>
          <p:nvPr/>
        </p:nvSpPr>
        <p:spPr>
          <a:xfrm>
            <a:off x="868680" y="4709160"/>
            <a:ext cx="2697480" cy="12801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URL, page content and</a:t>
            </a:r>
          </a:p>
          <a:p>
            <a:pPr algn="l">
              <a:lnSpc>
                <a:spcPct val="116000"/>
              </a:lnSpc>
              <a:spcBef>
                <a:spcPts val="0"/>
              </a:spcBef>
              <a:spcAft>
                <a:spcPts val="0"/>
              </a:spcAft>
              <a:defRPr sz="1700">
                <a:solidFill>
                  <a:srgbClr val="C2B8AA"/>
                </a:solidFill>
                <a:latin typeface="Calibri"/>
              </a:defRPr>
            </a:pPr>
            <a:r>
              <a:t>reputation offer</a:t>
            </a:r>
          </a:p>
          <a:p>
            <a:pPr algn="l">
              <a:lnSpc>
                <a:spcPct val="116000"/>
              </a:lnSpc>
              <a:spcBef>
                <a:spcPts val="0"/>
              </a:spcBef>
              <a:spcAft>
                <a:spcPts val="0"/>
              </a:spcAft>
              <a:defRPr sz="1700">
                <a:solidFill>
                  <a:srgbClr val="C2B8AA"/>
                </a:solidFill>
                <a:latin typeface="Calibri"/>
              </a:defRPr>
            </a:pPr>
            <a:r>
              <a:t>complementary evidence.</a:t>
            </a:r>
          </a:p>
        </p:txBody>
      </p:sp>
      <p:sp>
        <p:nvSpPr>
          <p:cNvPr id="14" name="Rounded Rectangle 13"/>
          <p:cNvSpPr/>
          <p:nvPr/>
        </p:nvSpPr>
        <p:spPr>
          <a:xfrm>
            <a:off x="4206240" y="2743200"/>
            <a:ext cx="3063240" cy="34290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926080"/>
            <a:ext cx="2697480" cy="594360"/>
          </a:xfrm>
          <a:prstGeom prst="rect">
            <a:avLst/>
          </a:prstGeom>
          <a:noFill/>
        </p:spPr>
        <p:txBody>
          <a:bodyPr wrap="none" lIns="0" rIns="0" tIns="0" bIns="0" anchor="t">
            <a:spAutoFit/>
          </a:bodyPr>
          <a:lstStyle/>
          <a:p>
            <a:pPr algn="l">
              <a:lnSpc>
                <a:spcPct val="116000"/>
              </a:lnSpc>
              <a:spcBef>
                <a:spcPts val="0"/>
              </a:spcBef>
              <a:spcAft>
                <a:spcPts val="0"/>
              </a:spcAft>
              <a:defRPr sz="1200">
                <a:solidFill>
                  <a:srgbClr val="869B7E"/>
                </a:solidFill>
                <a:latin typeface="Consolas"/>
              </a:defRPr>
            </a:pPr>
            <a:r>
              <a:t>Le · 2018 / Devlin · 2019</a:t>
            </a:r>
          </a:p>
        </p:txBody>
      </p:sp>
      <p:sp>
        <p:nvSpPr>
          <p:cNvPr id="16" name="TextBox 15"/>
          <p:cNvSpPr txBox="1"/>
          <p:nvPr/>
        </p:nvSpPr>
        <p:spPr>
          <a:xfrm>
            <a:off x="4389120" y="3749039"/>
            <a:ext cx="2697480" cy="9144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Bahnschrift"/>
              </a:defRPr>
            </a:pPr>
            <a:r>
              <a:t>Learned</a:t>
            </a:r>
          </a:p>
          <a:p>
            <a:pPr algn="l">
              <a:lnSpc>
                <a:spcPct val="116000"/>
              </a:lnSpc>
              <a:spcBef>
                <a:spcPts val="0"/>
              </a:spcBef>
              <a:spcAft>
                <a:spcPts val="0"/>
              </a:spcAft>
              <a:defRPr sz="2200">
                <a:solidFill>
                  <a:srgbClr val="EFE9DD"/>
                </a:solidFill>
                <a:latin typeface="Bahnschrift"/>
              </a:defRPr>
            </a:pPr>
            <a:r>
              <a:t>representations</a:t>
            </a:r>
          </a:p>
        </p:txBody>
      </p:sp>
      <p:sp>
        <p:nvSpPr>
          <p:cNvPr id="17" name="TextBox 16"/>
          <p:cNvSpPr txBox="1"/>
          <p:nvPr/>
        </p:nvSpPr>
        <p:spPr>
          <a:xfrm>
            <a:off x="4389120" y="4709160"/>
            <a:ext cx="2697480" cy="12801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URLNet and BERT reduce</a:t>
            </a:r>
          </a:p>
          <a:p>
            <a:pPr algn="l">
              <a:lnSpc>
                <a:spcPct val="116000"/>
              </a:lnSpc>
              <a:spcBef>
                <a:spcPts val="0"/>
              </a:spcBef>
              <a:spcAft>
                <a:spcPts val="0"/>
              </a:spcAft>
              <a:defRPr sz="1700">
                <a:solidFill>
                  <a:srgbClr val="C2B8AA"/>
                </a:solidFill>
                <a:latin typeface="Calibri"/>
              </a:defRPr>
            </a:pPr>
            <a:r>
              <a:t>reliance on manually selected</a:t>
            </a:r>
          </a:p>
          <a:p>
            <a:pPr algn="l">
              <a:lnSpc>
                <a:spcPct val="116000"/>
              </a:lnSpc>
              <a:spcBef>
                <a:spcPts val="0"/>
              </a:spcBef>
              <a:spcAft>
                <a:spcPts val="0"/>
              </a:spcAft>
              <a:defRPr sz="1700">
                <a:solidFill>
                  <a:srgbClr val="C2B8AA"/>
                </a:solidFill>
                <a:latin typeface="Calibri"/>
              </a:defRPr>
            </a:pPr>
            <a:r>
              <a:t>patterns.</a:t>
            </a:r>
          </a:p>
        </p:txBody>
      </p:sp>
      <p:sp>
        <p:nvSpPr>
          <p:cNvPr id="18" name="Rounded Rectangle 17"/>
          <p:cNvSpPr/>
          <p:nvPr/>
        </p:nvSpPr>
        <p:spPr>
          <a:xfrm>
            <a:off x="7726679" y="2743200"/>
            <a:ext cx="3063240" cy="34290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59" y="2926080"/>
            <a:ext cx="2697480" cy="594360"/>
          </a:xfrm>
          <a:prstGeom prst="rect">
            <a:avLst/>
          </a:prstGeom>
          <a:noFill/>
        </p:spPr>
        <p:txBody>
          <a:bodyPr wrap="none" lIns="0" rIns="0" tIns="0" bIns="0" anchor="t">
            <a:spAutoFit/>
          </a:bodyPr>
          <a:lstStyle/>
          <a:p>
            <a:pPr algn="l">
              <a:lnSpc>
                <a:spcPct val="116000"/>
              </a:lnSpc>
              <a:spcBef>
                <a:spcPts val="0"/>
              </a:spcBef>
              <a:spcAft>
                <a:spcPts val="0"/>
              </a:spcAft>
              <a:defRPr sz="1200">
                <a:solidFill>
                  <a:srgbClr val="869B7E"/>
                </a:solidFill>
                <a:latin typeface="Consolas"/>
              </a:defRPr>
            </a:pPr>
            <a:r>
              <a:t>Strom et al. · 2018</a:t>
            </a:r>
          </a:p>
        </p:txBody>
      </p:sp>
      <p:sp>
        <p:nvSpPr>
          <p:cNvPr id="20" name="TextBox 19"/>
          <p:cNvSpPr txBox="1"/>
          <p:nvPr/>
        </p:nvSpPr>
        <p:spPr>
          <a:xfrm>
            <a:off x="7909559" y="3749039"/>
            <a:ext cx="2697480" cy="9144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Bahnschrift"/>
              </a:defRPr>
            </a:pPr>
            <a:r>
              <a:t>Structured</a:t>
            </a:r>
          </a:p>
          <a:p>
            <a:pPr algn="l">
              <a:lnSpc>
                <a:spcPct val="116000"/>
              </a:lnSpc>
              <a:spcBef>
                <a:spcPts val="0"/>
              </a:spcBef>
              <a:spcAft>
                <a:spcPts val="0"/>
              </a:spcAft>
              <a:defRPr sz="2200">
                <a:solidFill>
                  <a:srgbClr val="EFE9DD"/>
                </a:solidFill>
                <a:latin typeface="Bahnschrift"/>
              </a:defRPr>
            </a:pPr>
            <a:r>
              <a:t>explanation</a:t>
            </a:r>
          </a:p>
        </p:txBody>
      </p:sp>
      <p:sp>
        <p:nvSpPr>
          <p:cNvPr id="21" name="TextBox 20"/>
          <p:cNvSpPr txBox="1"/>
          <p:nvPr/>
        </p:nvSpPr>
        <p:spPr>
          <a:xfrm>
            <a:off x="7909559" y="4709160"/>
            <a:ext cx="2697480" cy="12801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ATT&amp;CK gives findings a</a:t>
            </a:r>
          </a:p>
          <a:p>
            <a:pPr algn="l">
              <a:lnSpc>
                <a:spcPct val="116000"/>
              </a:lnSpc>
              <a:spcBef>
                <a:spcPts val="0"/>
              </a:spcBef>
              <a:spcAft>
                <a:spcPts val="0"/>
              </a:spcAft>
              <a:defRPr sz="1700">
                <a:solidFill>
                  <a:srgbClr val="C2B8AA"/>
                </a:solidFill>
                <a:latin typeface="Calibri"/>
              </a:defRPr>
            </a:pPr>
            <a:r>
              <a:t>shared vocabulary of attack</a:t>
            </a:r>
          </a:p>
          <a:p>
            <a:pPr algn="l">
              <a:lnSpc>
                <a:spcPct val="116000"/>
              </a:lnSpc>
              <a:spcBef>
                <a:spcPts val="0"/>
              </a:spcBef>
              <a:spcAft>
                <a:spcPts val="0"/>
              </a:spcAft>
              <a:defRPr sz="1700">
                <a:solidFill>
                  <a:srgbClr val="C2B8AA"/>
                </a:solidFill>
                <a:latin typeface="Calibri"/>
              </a:defRPr>
            </a:pPr>
            <a:r>
              <a:t>techniques.</a:t>
            </a:r>
          </a:p>
        </p:txBody>
      </p:sp>
      <p:sp>
        <p:nvSpPr>
          <p:cNvPr id="22" name="Rounded Rectangle 21"/>
          <p:cNvSpPr/>
          <p:nvPr/>
        </p:nvSpPr>
        <p:spPr>
          <a:xfrm>
            <a:off x="11247120" y="2743200"/>
            <a:ext cx="3063240" cy="34290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0" y="2926080"/>
            <a:ext cx="2697480" cy="594360"/>
          </a:xfrm>
          <a:prstGeom prst="rect">
            <a:avLst/>
          </a:prstGeom>
          <a:noFill/>
        </p:spPr>
        <p:txBody>
          <a:bodyPr wrap="none" lIns="0" rIns="0" tIns="0" bIns="0" anchor="t">
            <a:spAutoFit/>
          </a:bodyPr>
          <a:lstStyle/>
          <a:p>
            <a:pPr algn="l">
              <a:lnSpc>
                <a:spcPct val="116000"/>
              </a:lnSpc>
              <a:spcBef>
                <a:spcPts val="0"/>
              </a:spcBef>
              <a:spcAft>
                <a:spcPts val="0"/>
              </a:spcAft>
              <a:defRPr sz="1200">
                <a:solidFill>
                  <a:srgbClr val="869B7E"/>
                </a:solidFill>
                <a:latin typeface="Consolas"/>
              </a:defRPr>
            </a:pPr>
            <a:r>
              <a:t>Wooldridge · 2009</a:t>
            </a:r>
          </a:p>
          <a:p>
            <a:pPr algn="l">
              <a:lnSpc>
                <a:spcPct val="116000"/>
              </a:lnSpc>
              <a:spcBef>
                <a:spcPts val="0"/>
              </a:spcBef>
              <a:spcAft>
                <a:spcPts val="0"/>
              </a:spcAft>
              <a:defRPr sz="1200">
                <a:solidFill>
                  <a:srgbClr val="869B7E"/>
                </a:solidFill>
                <a:latin typeface="Consolas"/>
              </a:defRPr>
            </a:pPr>
            <a:r>
              <a:t>Yao et al. · 2023</a:t>
            </a:r>
          </a:p>
        </p:txBody>
      </p:sp>
      <p:sp>
        <p:nvSpPr>
          <p:cNvPr id="24" name="TextBox 23"/>
          <p:cNvSpPr txBox="1"/>
          <p:nvPr/>
        </p:nvSpPr>
        <p:spPr>
          <a:xfrm>
            <a:off x="11430000" y="3749039"/>
            <a:ext cx="2697480" cy="9144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Bahnschrift"/>
              </a:defRPr>
            </a:pPr>
            <a:r>
              <a:t>Agent coordination</a:t>
            </a:r>
          </a:p>
        </p:txBody>
      </p:sp>
      <p:sp>
        <p:nvSpPr>
          <p:cNvPr id="25" name="TextBox 24"/>
          <p:cNvSpPr txBox="1"/>
          <p:nvPr/>
        </p:nvSpPr>
        <p:spPr>
          <a:xfrm>
            <a:off x="11430000" y="4709160"/>
            <a:ext cx="2697480" cy="12801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Specialisation and tool-based</a:t>
            </a:r>
          </a:p>
          <a:p>
            <a:pPr algn="l">
              <a:lnSpc>
                <a:spcPct val="116000"/>
              </a:lnSpc>
              <a:spcBef>
                <a:spcPts val="0"/>
              </a:spcBef>
              <a:spcAft>
                <a:spcPts val="0"/>
              </a:spcAft>
              <a:defRPr sz="1700">
                <a:solidFill>
                  <a:srgbClr val="C2B8AA"/>
                </a:solidFill>
                <a:latin typeface="Calibri"/>
              </a:defRPr>
            </a:pPr>
            <a:r>
              <a:t>reasoning motivate modular</a:t>
            </a:r>
          </a:p>
          <a:p>
            <a:pPr algn="l">
              <a:lnSpc>
                <a:spcPct val="116000"/>
              </a:lnSpc>
              <a:spcBef>
                <a:spcPts val="0"/>
              </a:spcBef>
              <a:spcAft>
                <a:spcPts val="0"/>
              </a:spcAft>
              <a:defRPr sz="1700">
                <a:solidFill>
                  <a:srgbClr val="C2B8AA"/>
                </a:solidFill>
                <a:latin typeface="Calibri"/>
              </a:defRPr>
            </a:pPr>
            <a:r>
              <a:t>workflows.</a:t>
            </a:r>
          </a:p>
        </p:txBody>
      </p:sp>
      <p:sp>
        <p:nvSpPr>
          <p:cNvPr id="26" name="TextBox 25"/>
          <p:cNvSpPr txBox="1"/>
          <p:nvPr/>
        </p:nvSpPr>
        <p:spPr>
          <a:xfrm>
            <a:off x="731520" y="6583680"/>
            <a:ext cx="13167360" cy="731520"/>
          </a:xfrm>
          <a:prstGeom prst="rect">
            <a:avLst/>
          </a:prstGeom>
          <a:noFill/>
        </p:spPr>
        <p:txBody>
          <a:bodyPr wrap="none" lIns="0" rIns="0" tIns="0" bIns="0" anchor="t">
            <a:spAutoFit/>
          </a:bodyPr>
          <a:lstStyle/>
          <a:p>
            <a:pPr algn="l">
              <a:lnSpc>
                <a:spcPct val="116000"/>
              </a:lnSpc>
              <a:spcBef>
                <a:spcPts val="0"/>
              </a:spcBef>
              <a:spcAft>
                <a:spcPts val="0"/>
              </a:spcAft>
              <a:defRPr sz="2300">
                <a:solidFill>
                  <a:srgbClr val="F69D39"/>
                </a:solidFill>
                <a:latin typeface="Bahnschrift"/>
              </a:defRPr>
            </a:pPr>
            <a:r>
              <a:t>Research gap: reproducible integration, meaningful failures and usable evidence.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10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10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258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06 / METHODS AND MATERIALS USED</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07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Methods and materials used</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1 of 4 · Software materials and system architecture</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Revised §3.2 and Appendix C; Cargo.toml, backend/package.json, hf_space_deploy/</a:t>
            </a:r>
          </a:p>
        </p:txBody>
      </p:sp>
      <p:sp>
        <p:nvSpPr>
          <p:cNvPr id="9" name="Rectangle 8"/>
          <p:cNvSpPr/>
          <p:nvPr/>
        </p:nvSpPr>
        <p:spPr>
          <a:xfrm>
            <a:off x="640080" y="8156448"/>
            <a:ext cx="6230112"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606040"/>
            <a:ext cx="1828800" cy="768096"/>
          </a:xfrm>
          <a:prstGeom prst="roundRect">
            <a:avLst>
              <a:gd name="adj" fmla="val 8000"/>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25496"/>
            <a:ext cx="1554480" cy="365760"/>
          </a:xfrm>
          <a:prstGeom prst="rect">
            <a:avLst/>
          </a:prstGeom>
          <a:noFill/>
        </p:spPr>
        <p:txBody>
          <a:bodyPr wrap="none" lIns="0" rIns="0" tIns="0" bIns="0" anchor="t">
            <a:spAutoFit/>
          </a:bodyPr>
          <a:lstStyle/>
          <a:p>
            <a:pPr algn="ctr">
              <a:lnSpc>
                <a:spcPct val="116000"/>
              </a:lnSpc>
              <a:spcBef>
                <a:spcPts val="0"/>
              </a:spcBef>
              <a:spcAft>
                <a:spcPts val="0"/>
              </a:spcAft>
              <a:defRPr sz="1500">
                <a:solidFill>
                  <a:srgbClr val="0B0908"/>
                </a:solidFill>
                <a:latin typeface="Consolas"/>
              </a:defRPr>
            </a:pPr>
            <a:r>
              <a:t>CLIENTS</a:t>
            </a:r>
          </a:p>
        </p:txBody>
      </p:sp>
      <p:sp>
        <p:nvSpPr>
          <p:cNvPr id="12" name="Rounded Rectangle 11"/>
          <p:cNvSpPr/>
          <p:nvPr/>
        </p:nvSpPr>
        <p:spPr>
          <a:xfrm>
            <a:off x="2834640" y="2606040"/>
            <a:ext cx="10972800" cy="768096"/>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34640" y="2606040"/>
            <a:ext cx="41148" cy="76809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2752344"/>
            <a:ext cx="106070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Tauri 2 desktop • Rust CLI • MCP stdio • Expo companion</a:t>
            </a:r>
          </a:p>
        </p:txBody>
      </p:sp>
      <p:cxnSp>
        <p:nvCxnSpPr>
          <p:cNvPr id="15" name="Connector 14"/>
          <p:cNvCxnSpPr/>
          <p:nvPr/>
        </p:nvCxnSpPr>
        <p:spPr>
          <a:xfrm>
            <a:off x="8046720" y="3392424"/>
            <a:ext cx="0" cy="219456"/>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 y="3648456"/>
            <a:ext cx="1828800" cy="768096"/>
          </a:xfrm>
          <a:prstGeom prst="roundRect">
            <a:avLst>
              <a:gd name="adj" fmla="val 8000"/>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67912"/>
            <a:ext cx="1554480" cy="365760"/>
          </a:xfrm>
          <a:prstGeom prst="rect">
            <a:avLst/>
          </a:prstGeom>
          <a:noFill/>
        </p:spPr>
        <p:txBody>
          <a:bodyPr wrap="none" lIns="0" rIns="0" tIns="0" bIns="0" anchor="t">
            <a:spAutoFit/>
          </a:bodyPr>
          <a:lstStyle/>
          <a:p>
            <a:pPr algn="ctr">
              <a:lnSpc>
                <a:spcPct val="116000"/>
              </a:lnSpc>
              <a:spcBef>
                <a:spcPts val="0"/>
              </a:spcBef>
              <a:spcAft>
                <a:spcPts val="0"/>
              </a:spcAft>
              <a:defRPr sz="1500">
                <a:solidFill>
                  <a:srgbClr val="0B0908"/>
                </a:solidFill>
                <a:latin typeface="Consolas"/>
              </a:defRPr>
            </a:pPr>
            <a:r>
              <a:t>CONTROL</a:t>
            </a:r>
          </a:p>
        </p:txBody>
      </p:sp>
      <p:sp>
        <p:nvSpPr>
          <p:cNvPr id="18" name="Rounded Rectangle 17"/>
          <p:cNvSpPr/>
          <p:nvPr/>
        </p:nvSpPr>
        <p:spPr>
          <a:xfrm>
            <a:off x="2834640" y="3648456"/>
            <a:ext cx="10972800" cy="768096"/>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34640" y="3648456"/>
            <a:ext cx="41148" cy="76809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7520" y="3794760"/>
            <a:ext cx="106070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Rust core + keyring + consent → Node.js 24 / Express APIs</a:t>
            </a:r>
          </a:p>
        </p:txBody>
      </p:sp>
      <p:cxnSp>
        <p:nvCxnSpPr>
          <p:cNvPr id="21" name="Connector 20"/>
          <p:cNvCxnSpPr/>
          <p:nvPr/>
        </p:nvCxnSpPr>
        <p:spPr>
          <a:xfrm>
            <a:off x="8046720" y="4434840"/>
            <a:ext cx="0" cy="219456"/>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1520" y="4690872"/>
            <a:ext cx="1828800" cy="768096"/>
          </a:xfrm>
          <a:prstGeom prst="roundRect">
            <a:avLst>
              <a:gd name="adj" fmla="val 8000"/>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910328"/>
            <a:ext cx="1554480" cy="365760"/>
          </a:xfrm>
          <a:prstGeom prst="rect">
            <a:avLst/>
          </a:prstGeom>
          <a:noFill/>
        </p:spPr>
        <p:txBody>
          <a:bodyPr wrap="none" lIns="0" rIns="0" tIns="0" bIns="0" anchor="t">
            <a:spAutoFit/>
          </a:bodyPr>
          <a:lstStyle/>
          <a:p>
            <a:pPr algn="ctr">
              <a:lnSpc>
                <a:spcPct val="116000"/>
              </a:lnSpc>
              <a:spcBef>
                <a:spcPts val="0"/>
              </a:spcBef>
              <a:spcAft>
                <a:spcPts val="0"/>
              </a:spcAft>
              <a:defRPr sz="1500">
                <a:solidFill>
                  <a:srgbClr val="0B0908"/>
                </a:solidFill>
                <a:latin typeface="Consolas"/>
              </a:defRPr>
            </a:pPr>
            <a:r>
              <a:t>ANALYSIS</a:t>
            </a:r>
          </a:p>
        </p:txBody>
      </p:sp>
      <p:sp>
        <p:nvSpPr>
          <p:cNvPr id="24" name="Rounded Rectangle 23"/>
          <p:cNvSpPr/>
          <p:nvPr/>
        </p:nvSpPr>
        <p:spPr>
          <a:xfrm>
            <a:off x="2834640" y="4690872"/>
            <a:ext cx="10972800" cy="768096"/>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834640" y="4690872"/>
            <a:ext cx="41148" cy="76809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7520" y="4837176"/>
            <a:ext cx="106070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Specialist DAG / durable runs → Python 3.11 / FastAPI on Hugging Face</a:t>
            </a:r>
          </a:p>
        </p:txBody>
      </p:sp>
      <p:cxnSp>
        <p:nvCxnSpPr>
          <p:cNvPr id="27" name="Connector 26"/>
          <p:cNvCxnSpPr/>
          <p:nvPr/>
        </p:nvCxnSpPr>
        <p:spPr>
          <a:xfrm>
            <a:off x="8046720" y="5477256"/>
            <a:ext cx="0" cy="219456"/>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1520" y="5733288"/>
            <a:ext cx="1828800" cy="768096"/>
          </a:xfrm>
          <a:prstGeom prst="roundRect">
            <a:avLst>
              <a:gd name="adj" fmla="val 8000"/>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952744"/>
            <a:ext cx="1554480" cy="365760"/>
          </a:xfrm>
          <a:prstGeom prst="rect">
            <a:avLst/>
          </a:prstGeom>
          <a:noFill/>
        </p:spPr>
        <p:txBody>
          <a:bodyPr wrap="none" lIns="0" rIns="0" tIns="0" bIns="0" anchor="t">
            <a:spAutoFit/>
          </a:bodyPr>
          <a:lstStyle/>
          <a:p>
            <a:pPr algn="ctr">
              <a:lnSpc>
                <a:spcPct val="116000"/>
              </a:lnSpc>
              <a:spcBef>
                <a:spcPts val="0"/>
              </a:spcBef>
              <a:spcAft>
                <a:spcPts val="0"/>
              </a:spcAft>
              <a:defRPr sz="1500">
                <a:solidFill>
                  <a:srgbClr val="0B0908"/>
                </a:solidFill>
                <a:latin typeface="Consolas"/>
              </a:defRPr>
            </a:pPr>
            <a:r>
              <a:t>DATA</a:t>
            </a:r>
          </a:p>
        </p:txBody>
      </p:sp>
      <p:sp>
        <p:nvSpPr>
          <p:cNvPr id="30" name="Rounded Rectangle 29"/>
          <p:cNvSpPr/>
          <p:nvPr/>
        </p:nvSpPr>
        <p:spPr>
          <a:xfrm>
            <a:off x="2834640" y="5733288"/>
            <a:ext cx="10972800" cy="768096"/>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834640" y="5733288"/>
            <a:ext cx="41148" cy="76809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20" y="5879592"/>
            <a:ext cx="106070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MongoDB • Appwrite integrations • local context • configured OTX / caches</a:t>
            </a:r>
          </a:p>
        </p:txBody>
      </p:sp>
      <p:sp>
        <p:nvSpPr>
          <p:cNvPr id="33" name="TextBox 32"/>
          <p:cNvSpPr txBox="1"/>
          <p:nvPr/>
        </p:nvSpPr>
        <p:spPr>
          <a:xfrm>
            <a:off x="777240" y="7040880"/>
            <a:ext cx="13167360" cy="41148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Identity, consent and evidence cross every layer; model availability is reported separately.</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66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14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14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14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14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62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162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162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162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162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162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210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210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2100"/>
                            </p:stCondLst>
                            <p:childTnLst>
                              <p:par>
                                <p:cTn id="93" presetID="10" presetClass="entr" presetSubtype="0" fill="hold" nodeType="withEffect">
                                  <p:stCondLst>
                                    <p:cond delay="0"/>
                                  </p:stCondLst>
                                  <p:childTnLst>
                                    <p:set>
                                      <p:cBhvr>
                                        <p:cTn id="94" dur="1" fill="hold"/>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2100"/>
                            </p:stCondLst>
                            <p:childTnLst>
                              <p:par>
                                <p:cTn id="97" presetID="10" presetClass="entr" presetSubtype="0" fill="hold" nodeType="withEffect">
                                  <p:stCondLst>
                                    <p:cond delay="0"/>
                                  </p:stCondLst>
                                  <p:childTnLst>
                                    <p:set>
                                      <p:cBhvr>
                                        <p:cTn id="98" dur="1" fill="hold"/>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par>
                          <p:cTn id="100" fill="hold">
                            <p:stCondLst>
                              <p:cond delay="2100"/>
                            </p:stCondLst>
                            <p:childTnLst>
                              <p:par>
                                <p:cTn id="101" presetID="10" presetClass="entr" presetSubtype="0" fill="hold" nodeType="withEffect">
                                  <p:stCondLst>
                                    <p:cond delay="0"/>
                                  </p:stCondLst>
                                  <p:childTnLst>
                                    <p:set>
                                      <p:cBhvr>
                                        <p:cTn id="102" dur="1" fill="hold"/>
                                        <p:tgtEl>
                                          <p:spTgt spid="32"/>
                                        </p:tgtEl>
                                        <p:attrNameLst>
                                          <p:attrName>style.visibility</p:attrName>
                                        </p:attrNameLst>
                                      </p:cBhvr>
                                      <p:to>
                                        <p:strVal val="visible"/>
                                      </p:to>
                                    </p:set>
                                    <p:animEffect transition="in" filter="fade">
                                      <p:cBhvr>
                                        <p:cTn id="103" dur="500"/>
                                        <p:tgtEl>
                                          <p:spTgt spid="32"/>
                                        </p:tgtEl>
                                      </p:cBhvr>
                                    </p:animEffect>
                                  </p:childTnLst>
                                </p:cTn>
                              </p:par>
                            </p:childTnLst>
                          </p:cTn>
                        </p:par>
                        <p:par>
                          <p:cTn id="104" fill="hold">
                            <p:stCondLst>
                              <p:cond delay="2580"/>
                            </p:stCondLst>
                            <p:childTnLst>
                              <p:par>
                                <p:cTn id="105" presetID="10" presetClass="entr" presetSubtype="0" fill="hold" nodeType="withEffect">
                                  <p:stCondLst>
                                    <p:cond delay="0"/>
                                  </p:stCondLst>
                                  <p:childTnLst>
                                    <p:set>
                                      <p:cBhvr>
                                        <p:cTn id="106" dur="1" fill="hold"/>
                                        <p:tgtEl>
                                          <p:spTgt spid="33"/>
                                        </p:tgtEl>
                                        <p:attrNameLst>
                                          <p:attrName>style.visibility</p:attrName>
                                        </p:attrNameLst>
                                      </p:cBhvr>
                                      <p:to>
                                        <p:strVal val="visible"/>
                                      </p:to>
                                    </p:set>
                                    <p:animEffect transition="in" filter="fade">
                                      <p:cBhvr>
                                        <p:cTn id="10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06 / METHODS AND MATERIALS USED</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08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Methods and materials used</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2 of 4 · Eight-agent analysis pipeline and coordination method</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Table 3.1; backend/src/services/agentOrchestrator.js</a:t>
            </a:r>
          </a:p>
        </p:txBody>
      </p:sp>
      <p:sp>
        <p:nvSpPr>
          <p:cNvPr id="9" name="Rectangle 8"/>
          <p:cNvSpPr/>
          <p:nvPr/>
        </p:nvSpPr>
        <p:spPr>
          <a:xfrm>
            <a:off x="640080" y="8156448"/>
            <a:ext cx="7120128"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14600"/>
            <a:ext cx="3657600" cy="365760"/>
          </a:xfrm>
          <a:prstGeom prst="rect">
            <a:avLst/>
          </a:prstGeom>
          <a:noFill/>
        </p:spPr>
        <p:txBody>
          <a:bodyPr wrap="none" lIns="0" rIns="0" tIns="0" bIns="0" anchor="t">
            <a:spAutoFit/>
          </a:bodyPr>
          <a:lstStyle/>
          <a:p>
            <a:pPr algn="l">
              <a:lnSpc>
                <a:spcPct val="116000"/>
              </a:lnSpc>
              <a:spcBef>
                <a:spcPts val="0"/>
              </a:spcBef>
              <a:spcAft>
                <a:spcPts val="0"/>
              </a:spcAft>
              <a:defRPr sz="1300">
                <a:solidFill>
                  <a:srgbClr val="869B7E"/>
                </a:solidFill>
                <a:latin typeface="Consolas"/>
              </a:defRPr>
            </a:pPr>
            <a:r>
              <a:t>STAGE 1 · COLLECT</a:t>
            </a:r>
          </a:p>
        </p:txBody>
      </p:sp>
      <p:sp>
        <p:nvSpPr>
          <p:cNvPr id="11" name="TextBox 10"/>
          <p:cNvSpPr txBox="1"/>
          <p:nvPr/>
        </p:nvSpPr>
        <p:spPr>
          <a:xfrm>
            <a:off x="4846320" y="2514600"/>
            <a:ext cx="3657600" cy="365760"/>
          </a:xfrm>
          <a:prstGeom prst="rect">
            <a:avLst/>
          </a:prstGeom>
          <a:noFill/>
        </p:spPr>
        <p:txBody>
          <a:bodyPr wrap="none" lIns="0" rIns="0" tIns="0" bIns="0" anchor="t">
            <a:spAutoFit/>
          </a:bodyPr>
          <a:lstStyle/>
          <a:p>
            <a:pPr algn="l">
              <a:lnSpc>
                <a:spcPct val="116000"/>
              </a:lnSpc>
              <a:spcBef>
                <a:spcPts val="0"/>
              </a:spcBef>
              <a:spcAft>
                <a:spcPts val="0"/>
              </a:spcAft>
              <a:defRPr sz="1300">
                <a:solidFill>
                  <a:srgbClr val="869B7E"/>
                </a:solidFill>
                <a:latin typeface="Consolas"/>
              </a:defRPr>
            </a:pPr>
            <a:r>
              <a:t>STAGE 2 · INSPECT</a:t>
            </a:r>
          </a:p>
        </p:txBody>
      </p:sp>
      <p:sp>
        <p:nvSpPr>
          <p:cNvPr id="12" name="TextBox 11"/>
          <p:cNvSpPr txBox="1"/>
          <p:nvPr/>
        </p:nvSpPr>
        <p:spPr>
          <a:xfrm>
            <a:off x="8686800" y="2514600"/>
            <a:ext cx="3657600" cy="365760"/>
          </a:xfrm>
          <a:prstGeom prst="rect">
            <a:avLst/>
          </a:prstGeom>
          <a:noFill/>
        </p:spPr>
        <p:txBody>
          <a:bodyPr wrap="none" lIns="0" rIns="0" tIns="0" bIns="0" anchor="t">
            <a:spAutoFit/>
          </a:bodyPr>
          <a:lstStyle/>
          <a:p>
            <a:pPr algn="l">
              <a:lnSpc>
                <a:spcPct val="116000"/>
              </a:lnSpc>
              <a:spcBef>
                <a:spcPts val="0"/>
              </a:spcBef>
              <a:spcAft>
                <a:spcPts val="0"/>
              </a:spcAft>
              <a:defRPr sz="1300">
                <a:solidFill>
                  <a:srgbClr val="869B7E"/>
                </a:solidFill>
                <a:latin typeface="Consolas"/>
              </a:defRPr>
            </a:pPr>
            <a:r>
              <a:t>STAGE 3 · ENRICH</a:t>
            </a:r>
          </a:p>
        </p:txBody>
      </p:sp>
      <p:sp>
        <p:nvSpPr>
          <p:cNvPr id="13" name="Rounded Rectangle 12"/>
          <p:cNvSpPr/>
          <p:nvPr/>
        </p:nvSpPr>
        <p:spPr>
          <a:xfrm>
            <a:off x="777240" y="3063240"/>
            <a:ext cx="3200400" cy="621792"/>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63240"/>
            <a:ext cx="41148" cy="6217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209544"/>
            <a:ext cx="28346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URL classifier · BERT</a:t>
            </a:r>
          </a:p>
        </p:txBody>
      </p:sp>
      <p:sp>
        <p:nvSpPr>
          <p:cNvPr id="16" name="Rounded Rectangle 15"/>
          <p:cNvSpPr/>
          <p:nvPr/>
        </p:nvSpPr>
        <p:spPr>
          <a:xfrm>
            <a:off x="777240" y="3858768"/>
            <a:ext cx="3200400" cy="621792"/>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858768"/>
            <a:ext cx="41148" cy="6217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005072"/>
            <a:ext cx="28346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DGA detector · rules</a:t>
            </a:r>
          </a:p>
        </p:txBody>
      </p:sp>
      <p:sp>
        <p:nvSpPr>
          <p:cNvPr id="19" name="Rounded Rectangle 18"/>
          <p:cNvSpPr/>
          <p:nvPr/>
        </p:nvSpPr>
        <p:spPr>
          <a:xfrm>
            <a:off x="777240" y="4654296"/>
            <a:ext cx="3200400" cy="621792"/>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54296"/>
            <a:ext cx="41148" cy="6217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00600"/>
            <a:ext cx="28346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Web scraper</a:t>
            </a:r>
          </a:p>
        </p:txBody>
      </p:sp>
      <p:sp>
        <p:nvSpPr>
          <p:cNvPr id="22" name="Rounded Rectangle 21"/>
          <p:cNvSpPr/>
          <p:nvPr/>
        </p:nvSpPr>
        <p:spPr>
          <a:xfrm>
            <a:off x="777240" y="5449824"/>
            <a:ext cx="3200400" cy="621792"/>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449824"/>
            <a:ext cx="41148" cy="62179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5596128"/>
            <a:ext cx="28346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Memory reader</a:t>
            </a:r>
          </a:p>
        </p:txBody>
      </p:sp>
      <p:sp>
        <p:nvSpPr>
          <p:cNvPr id="25" name="Rounded Rectangle 24"/>
          <p:cNvSpPr/>
          <p:nvPr/>
        </p:nvSpPr>
        <p:spPr>
          <a:xfrm>
            <a:off x="4617720" y="3474720"/>
            <a:ext cx="3291840" cy="694944"/>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617720" y="3474720"/>
            <a:ext cx="41148" cy="69494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3621024"/>
            <a:ext cx="29260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IOC extractor</a:t>
            </a:r>
          </a:p>
        </p:txBody>
      </p:sp>
      <p:sp>
        <p:nvSpPr>
          <p:cNvPr id="28" name="Rounded Rectangle 27"/>
          <p:cNvSpPr/>
          <p:nvPr/>
        </p:nvSpPr>
        <p:spPr>
          <a:xfrm>
            <a:off x="4617720" y="4425696"/>
            <a:ext cx="3291840" cy="694944"/>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17720" y="4425696"/>
            <a:ext cx="41148" cy="69494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00600" y="4572000"/>
            <a:ext cx="29260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Behavioural analyser</a:t>
            </a:r>
          </a:p>
        </p:txBody>
      </p:sp>
      <p:sp>
        <p:nvSpPr>
          <p:cNvPr id="31" name="Rounded Rectangle 30"/>
          <p:cNvSpPr/>
          <p:nvPr/>
        </p:nvSpPr>
        <p:spPr>
          <a:xfrm>
            <a:off x="4617720" y="5376672"/>
            <a:ext cx="3291840" cy="694944"/>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17720" y="5376672"/>
            <a:ext cx="41148" cy="69494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00600" y="5522976"/>
            <a:ext cx="292608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MITRE ATT&amp;CK mapper</a:t>
            </a:r>
          </a:p>
        </p:txBody>
      </p:sp>
      <p:sp>
        <p:nvSpPr>
          <p:cNvPr id="34" name="Rounded Rectangle 33"/>
          <p:cNvSpPr/>
          <p:nvPr/>
        </p:nvSpPr>
        <p:spPr>
          <a:xfrm>
            <a:off x="8595360" y="3886200"/>
            <a:ext cx="2286000" cy="14630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95360" y="3886200"/>
            <a:ext cx="41148" cy="14630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78240" y="4032504"/>
            <a:ext cx="19202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Threat intel</a:t>
            </a:r>
          </a:p>
        </p:txBody>
      </p:sp>
      <p:sp>
        <p:nvSpPr>
          <p:cNvPr id="37" name="TextBox 36"/>
          <p:cNvSpPr txBox="1"/>
          <p:nvPr/>
        </p:nvSpPr>
        <p:spPr>
          <a:xfrm>
            <a:off x="8778240" y="4489704"/>
            <a:ext cx="1920240" cy="7772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OTX reputation</a:t>
            </a:r>
          </a:p>
        </p:txBody>
      </p:sp>
      <p:sp>
        <p:nvSpPr>
          <p:cNvPr id="38" name="Rounded Rectangle 37"/>
          <p:cNvSpPr/>
          <p:nvPr/>
        </p:nvSpPr>
        <p:spPr>
          <a:xfrm>
            <a:off x="11567160" y="3886200"/>
            <a:ext cx="2286000" cy="14630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567160" y="3886200"/>
            <a:ext cx="41148" cy="14630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750040" y="4032504"/>
            <a:ext cx="1920240"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Reporter</a:t>
            </a:r>
          </a:p>
        </p:txBody>
      </p:sp>
      <p:sp>
        <p:nvSpPr>
          <p:cNvPr id="41" name="TextBox 40"/>
          <p:cNvSpPr txBox="1"/>
          <p:nvPr/>
        </p:nvSpPr>
        <p:spPr>
          <a:xfrm>
            <a:off x="11750040" y="4489704"/>
            <a:ext cx="1920240" cy="7772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Verdict + evidence</a:t>
            </a:r>
          </a:p>
        </p:txBody>
      </p:sp>
      <p:cxnSp>
        <p:nvCxnSpPr>
          <p:cNvPr id="42" name="Connector 41"/>
          <p:cNvCxnSpPr/>
          <p:nvPr/>
        </p:nvCxnSpPr>
        <p:spPr>
          <a:xfrm>
            <a:off x="4023360" y="4480560"/>
            <a:ext cx="50292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955279" y="4480560"/>
            <a:ext cx="548641"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927080" y="4480560"/>
            <a:ext cx="5486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377440" y="6812280"/>
            <a:ext cx="10332720" cy="0"/>
          </a:xfrm>
          <a:prstGeom prst="line">
            <a:avLst/>
          </a:prstGeom>
          <a:ln w="25400">
            <a:solidFill>
              <a:srgbClr val="869B7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2710160" y="5394960"/>
            <a:ext cx="0" cy="1417320"/>
          </a:xfrm>
          <a:prstGeom prst="line">
            <a:avLst/>
          </a:prstGeom>
          <a:ln w="25400">
            <a:solidFill>
              <a:srgbClr val="869B7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377440" y="6172200"/>
            <a:ext cx="0" cy="640080"/>
          </a:xfrm>
          <a:prstGeom prst="line">
            <a:avLst/>
          </a:prstGeom>
          <a:ln w="25400">
            <a:solidFill>
              <a:srgbClr val="869B7E"/>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749039" y="6995160"/>
            <a:ext cx="7498079" cy="365760"/>
          </a:xfrm>
          <a:prstGeom prst="rect">
            <a:avLst/>
          </a:prstGeom>
          <a:noFill/>
        </p:spPr>
        <p:txBody>
          <a:bodyPr wrap="none" lIns="0" rIns="0" tIns="0" bIns="0" anchor="t">
            <a:spAutoFit/>
          </a:bodyPr>
          <a:lstStyle/>
          <a:p>
            <a:pPr algn="ctr">
              <a:lnSpc>
                <a:spcPct val="116000"/>
              </a:lnSpc>
              <a:spcBef>
                <a:spcPts val="0"/>
              </a:spcBef>
              <a:spcAft>
                <a:spcPts val="0"/>
              </a:spcAft>
              <a:defRPr sz="1600">
                <a:solidFill>
                  <a:srgbClr val="C2B8AA"/>
                </a:solidFill>
                <a:latin typeface="Calibri"/>
              </a:defRPr>
            </a:pPr>
            <a:r>
              <a:t>Persisted context supports later visits — it does not retrain the models.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66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66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66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66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66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66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66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66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66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66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114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114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114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114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114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1140"/>
                            </p:stCondLst>
                            <p:childTnLst>
                              <p:par>
                                <p:cTn id="93" presetID="10" presetClass="entr" presetSubtype="0" fill="hold" nodeType="withEffect">
                                  <p:stCondLst>
                                    <p:cond delay="0"/>
                                  </p:stCondLst>
                                  <p:childTnLst>
                                    <p:set>
                                      <p:cBhvr>
                                        <p:cTn id="94" dur="1" fill="hold"/>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1140"/>
                            </p:stCondLst>
                            <p:childTnLst>
                              <p:par>
                                <p:cTn id="97" presetID="10" presetClass="entr" presetSubtype="0" fill="hold" nodeType="withEffect">
                                  <p:stCondLst>
                                    <p:cond delay="0"/>
                                  </p:stCondLst>
                                  <p:childTnLst>
                                    <p:set>
                                      <p:cBhvr>
                                        <p:cTn id="98" dur="1" fill="hold"/>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par>
                          <p:cTn id="100" fill="hold">
                            <p:stCondLst>
                              <p:cond delay="1140"/>
                            </p:stCondLst>
                            <p:childTnLst>
                              <p:par>
                                <p:cTn id="101" presetID="10" presetClass="entr" presetSubtype="0" fill="hold" nodeType="withEffect">
                                  <p:stCondLst>
                                    <p:cond delay="0"/>
                                  </p:stCondLst>
                                  <p:childTnLst>
                                    <p:set>
                                      <p:cBhvr>
                                        <p:cTn id="102" dur="1" fill="hold"/>
                                        <p:tgtEl>
                                          <p:spTgt spid="32"/>
                                        </p:tgtEl>
                                        <p:attrNameLst>
                                          <p:attrName>style.visibility</p:attrName>
                                        </p:attrNameLst>
                                      </p:cBhvr>
                                      <p:to>
                                        <p:strVal val="visible"/>
                                      </p:to>
                                    </p:set>
                                    <p:animEffect transition="in" filter="fade">
                                      <p:cBhvr>
                                        <p:cTn id="103" dur="500"/>
                                        <p:tgtEl>
                                          <p:spTgt spid="32"/>
                                        </p:tgtEl>
                                      </p:cBhvr>
                                    </p:animEffect>
                                  </p:childTnLst>
                                </p:cTn>
                              </p:par>
                            </p:childTnLst>
                          </p:cTn>
                        </p:par>
                        <p:par>
                          <p:cTn id="104" fill="hold">
                            <p:stCondLst>
                              <p:cond delay="1140"/>
                            </p:stCondLst>
                            <p:childTnLst>
                              <p:par>
                                <p:cTn id="105" presetID="10" presetClass="entr" presetSubtype="0" fill="hold" nodeType="withEffect">
                                  <p:stCondLst>
                                    <p:cond delay="0"/>
                                  </p:stCondLst>
                                  <p:childTnLst>
                                    <p:set>
                                      <p:cBhvr>
                                        <p:cTn id="106" dur="1" fill="hold"/>
                                        <p:tgtEl>
                                          <p:spTgt spid="33"/>
                                        </p:tgtEl>
                                        <p:attrNameLst>
                                          <p:attrName>style.visibility</p:attrName>
                                        </p:attrNameLst>
                                      </p:cBhvr>
                                      <p:to>
                                        <p:strVal val="visible"/>
                                      </p:to>
                                    </p:set>
                                    <p:animEffect transition="in" filter="fade">
                                      <p:cBhvr>
                                        <p:cTn id="107" dur="500"/>
                                        <p:tgtEl>
                                          <p:spTgt spid="33"/>
                                        </p:tgtEl>
                                      </p:cBhvr>
                                    </p:animEffect>
                                  </p:childTnLst>
                                </p:cTn>
                              </p:par>
                            </p:childTnLst>
                          </p:cTn>
                        </p:par>
                        <p:par>
                          <p:cTn id="108" fill="hold">
                            <p:stCondLst>
                              <p:cond delay="1140"/>
                            </p:stCondLst>
                            <p:childTnLst>
                              <p:par>
                                <p:cTn id="109" presetID="10" presetClass="entr" presetSubtype="0" fill="hold" nodeType="withEffect">
                                  <p:stCondLst>
                                    <p:cond delay="0"/>
                                  </p:stCondLst>
                                  <p:childTnLst>
                                    <p:set>
                                      <p:cBhvr>
                                        <p:cTn id="110" dur="1" fill="hold"/>
                                        <p:tgtEl>
                                          <p:spTgt spid="42"/>
                                        </p:tgtEl>
                                        <p:attrNameLst>
                                          <p:attrName>style.visibility</p:attrName>
                                        </p:attrNameLst>
                                      </p:cBhvr>
                                      <p:to>
                                        <p:strVal val="visible"/>
                                      </p:to>
                                    </p:set>
                                    <p:animEffect transition="in" filter="fade">
                                      <p:cBhvr>
                                        <p:cTn id="111" dur="500"/>
                                        <p:tgtEl>
                                          <p:spTgt spid="42"/>
                                        </p:tgtEl>
                                      </p:cBhvr>
                                    </p:animEffect>
                                  </p:childTnLst>
                                </p:cTn>
                              </p:par>
                            </p:childTnLst>
                          </p:cTn>
                        </p:par>
                        <p:par>
                          <p:cTn id="112" fill="hold">
                            <p:stCondLst>
                              <p:cond delay="1620"/>
                            </p:stCondLst>
                            <p:childTnLst>
                              <p:par>
                                <p:cTn id="113" presetID="10" presetClass="entr" presetSubtype="0" fill="hold" nodeType="withEffect">
                                  <p:stCondLst>
                                    <p:cond delay="0"/>
                                  </p:stCondLst>
                                  <p:childTnLst>
                                    <p:set>
                                      <p:cBhvr>
                                        <p:cTn id="114" dur="1" fill="hold"/>
                                        <p:tgtEl>
                                          <p:spTgt spid="34"/>
                                        </p:tgtEl>
                                        <p:attrNameLst>
                                          <p:attrName>style.visibility</p:attrName>
                                        </p:attrNameLst>
                                      </p:cBhvr>
                                      <p:to>
                                        <p:strVal val="visible"/>
                                      </p:to>
                                    </p:set>
                                    <p:animEffect transition="in" filter="fade">
                                      <p:cBhvr>
                                        <p:cTn id="115" dur="500"/>
                                        <p:tgtEl>
                                          <p:spTgt spid="34"/>
                                        </p:tgtEl>
                                      </p:cBhvr>
                                    </p:animEffect>
                                  </p:childTnLst>
                                </p:cTn>
                              </p:par>
                            </p:childTnLst>
                          </p:cTn>
                        </p:par>
                        <p:par>
                          <p:cTn id="116" fill="hold">
                            <p:stCondLst>
                              <p:cond delay="1620"/>
                            </p:stCondLst>
                            <p:childTnLst>
                              <p:par>
                                <p:cTn id="117" presetID="10" presetClass="entr" presetSubtype="0" fill="hold" nodeType="withEffect">
                                  <p:stCondLst>
                                    <p:cond delay="0"/>
                                  </p:stCondLst>
                                  <p:childTnLst>
                                    <p:set>
                                      <p:cBhvr>
                                        <p:cTn id="118" dur="1" fill="hold"/>
                                        <p:tgtEl>
                                          <p:spTgt spid="35"/>
                                        </p:tgtEl>
                                        <p:attrNameLst>
                                          <p:attrName>style.visibility</p:attrName>
                                        </p:attrNameLst>
                                      </p:cBhvr>
                                      <p:to>
                                        <p:strVal val="visible"/>
                                      </p:to>
                                    </p:set>
                                    <p:animEffect transition="in" filter="fade">
                                      <p:cBhvr>
                                        <p:cTn id="119" dur="500"/>
                                        <p:tgtEl>
                                          <p:spTgt spid="35"/>
                                        </p:tgtEl>
                                      </p:cBhvr>
                                    </p:animEffect>
                                  </p:childTnLst>
                                </p:cTn>
                              </p:par>
                            </p:childTnLst>
                          </p:cTn>
                        </p:par>
                        <p:par>
                          <p:cTn id="120" fill="hold">
                            <p:stCondLst>
                              <p:cond delay="1620"/>
                            </p:stCondLst>
                            <p:childTnLst>
                              <p:par>
                                <p:cTn id="121" presetID="10" presetClass="entr" presetSubtype="0" fill="hold" nodeType="withEffect">
                                  <p:stCondLst>
                                    <p:cond delay="0"/>
                                  </p:stCondLst>
                                  <p:childTnLst>
                                    <p:set>
                                      <p:cBhvr>
                                        <p:cTn id="122" dur="1" fill="hold"/>
                                        <p:tgtEl>
                                          <p:spTgt spid="36"/>
                                        </p:tgtEl>
                                        <p:attrNameLst>
                                          <p:attrName>style.visibility</p:attrName>
                                        </p:attrNameLst>
                                      </p:cBhvr>
                                      <p:to>
                                        <p:strVal val="visible"/>
                                      </p:to>
                                    </p:set>
                                    <p:animEffect transition="in" filter="fade">
                                      <p:cBhvr>
                                        <p:cTn id="123" dur="500"/>
                                        <p:tgtEl>
                                          <p:spTgt spid="36"/>
                                        </p:tgtEl>
                                      </p:cBhvr>
                                    </p:animEffect>
                                  </p:childTnLst>
                                </p:cTn>
                              </p:par>
                            </p:childTnLst>
                          </p:cTn>
                        </p:par>
                        <p:par>
                          <p:cTn id="124" fill="hold">
                            <p:stCondLst>
                              <p:cond delay="1620"/>
                            </p:stCondLst>
                            <p:childTnLst>
                              <p:par>
                                <p:cTn id="125" presetID="10" presetClass="entr" presetSubtype="0" fill="hold" nodeType="withEffect">
                                  <p:stCondLst>
                                    <p:cond delay="0"/>
                                  </p:stCondLst>
                                  <p:childTnLst>
                                    <p:set>
                                      <p:cBhvr>
                                        <p:cTn id="126" dur="1" fill="hold"/>
                                        <p:tgtEl>
                                          <p:spTgt spid="37"/>
                                        </p:tgtEl>
                                        <p:attrNameLst>
                                          <p:attrName>style.visibility</p:attrName>
                                        </p:attrNameLst>
                                      </p:cBhvr>
                                      <p:to>
                                        <p:strVal val="visible"/>
                                      </p:to>
                                    </p:set>
                                    <p:animEffect transition="in" filter="fade">
                                      <p:cBhvr>
                                        <p:cTn id="127" dur="500"/>
                                        <p:tgtEl>
                                          <p:spTgt spid="37"/>
                                        </p:tgtEl>
                                      </p:cBhvr>
                                    </p:animEffect>
                                  </p:childTnLst>
                                </p:cTn>
                              </p:par>
                            </p:childTnLst>
                          </p:cTn>
                        </p:par>
                        <p:par>
                          <p:cTn id="128" fill="hold">
                            <p:stCondLst>
                              <p:cond delay="1620"/>
                            </p:stCondLst>
                            <p:childTnLst>
                              <p:par>
                                <p:cTn id="129" presetID="10" presetClass="entr" presetSubtype="0" fill="hold" nodeType="withEffect">
                                  <p:stCondLst>
                                    <p:cond delay="0"/>
                                  </p:stCondLst>
                                  <p:childTnLst>
                                    <p:set>
                                      <p:cBhvr>
                                        <p:cTn id="130" dur="1" fill="hold"/>
                                        <p:tgtEl>
                                          <p:spTgt spid="43"/>
                                        </p:tgtEl>
                                        <p:attrNameLst>
                                          <p:attrName>style.visibility</p:attrName>
                                        </p:attrNameLst>
                                      </p:cBhvr>
                                      <p:to>
                                        <p:strVal val="visible"/>
                                      </p:to>
                                    </p:set>
                                    <p:animEffect transition="in" filter="fade">
                                      <p:cBhvr>
                                        <p:cTn id="131" dur="500"/>
                                        <p:tgtEl>
                                          <p:spTgt spid="43"/>
                                        </p:tgtEl>
                                      </p:cBhvr>
                                    </p:animEffect>
                                  </p:childTnLst>
                                </p:cTn>
                              </p:par>
                            </p:childTnLst>
                          </p:cTn>
                        </p:par>
                        <p:par>
                          <p:cTn id="132" fill="hold">
                            <p:stCondLst>
                              <p:cond delay="2100"/>
                            </p:stCondLst>
                            <p:childTnLst>
                              <p:par>
                                <p:cTn id="133" presetID="10" presetClass="entr" presetSubtype="0" fill="hold" nodeType="withEffect">
                                  <p:stCondLst>
                                    <p:cond delay="0"/>
                                  </p:stCondLst>
                                  <p:childTnLst>
                                    <p:set>
                                      <p:cBhvr>
                                        <p:cTn id="134" dur="1" fill="hold"/>
                                        <p:tgtEl>
                                          <p:spTgt spid="38"/>
                                        </p:tgtEl>
                                        <p:attrNameLst>
                                          <p:attrName>style.visibility</p:attrName>
                                        </p:attrNameLst>
                                      </p:cBhvr>
                                      <p:to>
                                        <p:strVal val="visible"/>
                                      </p:to>
                                    </p:set>
                                    <p:animEffect transition="in" filter="fade">
                                      <p:cBhvr>
                                        <p:cTn id="135" dur="500"/>
                                        <p:tgtEl>
                                          <p:spTgt spid="38"/>
                                        </p:tgtEl>
                                      </p:cBhvr>
                                    </p:animEffect>
                                  </p:childTnLst>
                                </p:cTn>
                              </p:par>
                            </p:childTnLst>
                          </p:cTn>
                        </p:par>
                        <p:par>
                          <p:cTn id="136" fill="hold">
                            <p:stCondLst>
                              <p:cond delay="2100"/>
                            </p:stCondLst>
                            <p:childTnLst>
                              <p:par>
                                <p:cTn id="137" presetID="10" presetClass="entr" presetSubtype="0" fill="hold" nodeType="withEffect">
                                  <p:stCondLst>
                                    <p:cond delay="0"/>
                                  </p:stCondLst>
                                  <p:childTnLst>
                                    <p:set>
                                      <p:cBhvr>
                                        <p:cTn id="138" dur="1" fill="hold"/>
                                        <p:tgtEl>
                                          <p:spTgt spid="39"/>
                                        </p:tgtEl>
                                        <p:attrNameLst>
                                          <p:attrName>style.visibility</p:attrName>
                                        </p:attrNameLst>
                                      </p:cBhvr>
                                      <p:to>
                                        <p:strVal val="visible"/>
                                      </p:to>
                                    </p:set>
                                    <p:animEffect transition="in" filter="fade">
                                      <p:cBhvr>
                                        <p:cTn id="139" dur="500"/>
                                        <p:tgtEl>
                                          <p:spTgt spid="39"/>
                                        </p:tgtEl>
                                      </p:cBhvr>
                                    </p:animEffect>
                                  </p:childTnLst>
                                </p:cTn>
                              </p:par>
                            </p:childTnLst>
                          </p:cTn>
                        </p:par>
                        <p:par>
                          <p:cTn id="140" fill="hold">
                            <p:stCondLst>
                              <p:cond delay="2100"/>
                            </p:stCondLst>
                            <p:childTnLst>
                              <p:par>
                                <p:cTn id="141" presetID="10" presetClass="entr" presetSubtype="0" fill="hold" nodeType="withEffect">
                                  <p:stCondLst>
                                    <p:cond delay="0"/>
                                  </p:stCondLst>
                                  <p:childTnLst>
                                    <p:set>
                                      <p:cBhvr>
                                        <p:cTn id="142" dur="1" fill="hold"/>
                                        <p:tgtEl>
                                          <p:spTgt spid="40"/>
                                        </p:tgtEl>
                                        <p:attrNameLst>
                                          <p:attrName>style.visibility</p:attrName>
                                        </p:attrNameLst>
                                      </p:cBhvr>
                                      <p:to>
                                        <p:strVal val="visible"/>
                                      </p:to>
                                    </p:set>
                                    <p:animEffect transition="in" filter="fade">
                                      <p:cBhvr>
                                        <p:cTn id="143" dur="500"/>
                                        <p:tgtEl>
                                          <p:spTgt spid="40"/>
                                        </p:tgtEl>
                                      </p:cBhvr>
                                    </p:animEffect>
                                  </p:childTnLst>
                                </p:cTn>
                              </p:par>
                            </p:childTnLst>
                          </p:cTn>
                        </p:par>
                        <p:par>
                          <p:cTn id="144" fill="hold">
                            <p:stCondLst>
                              <p:cond delay="2100"/>
                            </p:stCondLst>
                            <p:childTnLst>
                              <p:par>
                                <p:cTn id="145" presetID="10" presetClass="entr" presetSubtype="0" fill="hold" nodeType="withEffect">
                                  <p:stCondLst>
                                    <p:cond delay="0"/>
                                  </p:stCondLst>
                                  <p:childTnLst>
                                    <p:set>
                                      <p:cBhvr>
                                        <p:cTn id="146" dur="1" fill="hold"/>
                                        <p:tgtEl>
                                          <p:spTgt spid="41"/>
                                        </p:tgtEl>
                                        <p:attrNameLst>
                                          <p:attrName>style.visibility</p:attrName>
                                        </p:attrNameLst>
                                      </p:cBhvr>
                                      <p:to>
                                        <p:strVal val="visible"/>
                                      </p:to>
                                    </p:set>
                                    <p:animEffect transition="in" filter="fade">
                                      <p:cBhvr>
                                        <p:cTn id="147" dur="500"/>
                                        <p:tgtEl>
                                          <p:spTgt spid="41"/>
                                        </p:tgtEl>
                                      </p:cBhvr>
                                    </p:animEffect>
                                  </p:childTnLst>
                                </p:cTn>
                              </p:par>
                            </p:childTnLst>
                          </p:cTn>
                        </p:par>
                        <p:par>
                          <p:cTn id="148" fill="hold">
                            <p:stCondLst>
                              <p:cond delay="2100"/>
                            </p:stCondLst>
                            <p:childTnLst>
                              <p:par>
                                <p:cTn id="149" presetID="10" presetClass="entr" presetSubtype="0" fill="hold" nodeType="withEffect">
                                  <p:stCondLst>
                                    <p:cond delay="0"/>
                                  </p:stCondLst>
                                  <p:childTnLst>
                                    <p:set>
                                      <p:cBhvr>
                                        <p:cTn id="150" dur="1" fill="hold"/>
                                        <p:tgtEl>
                                          <p:spTgt spid="44"/>
                                        </p:tgtEl>
                                        <p:attrNameLst>
                                          <p:attrName>style.visibility</p:attrName>
                                        </p:attrNameLst>
                                      </p:cBhvr>
                                      <p:to>
                                        <p:strVal val="visible"/>
                                      </p:to>
                                    </p:set>
                                    <p:animEffect transition="in" filter="fade">
                                      <p:cBhvr>
                                        <p:cTn id="151" dur="500"/>
                                        <p:tgtEl>
                                          <p:spTgt spid="44"/>
                                        </p:tgtEl>
                                      </p:cBhvr>
                                    </p:animEffect>
                                  </p:childTnLst>
                                </p:cTn>
                              </p:par>
                            </p:childTnLst>
                          </p:cTn>
                        </p:par>
                        <p:par>
                          <p:cTn id="152" fill="hold">
                            <p:stCondLst>
                              <p:cond delay="2580"/>
                            </p:stCondLst>
                            <p:childTnLst>
                              <p:par>
                                <p:cTn id="153" presetID="10" presetClass="entr" presetSubtype="0" fill="hold" nodeType="withEffect">
                                  <p:stCondLst>
                                    <p:cond delay="0"/>
                                  </p:stCondLst>
                                  <p:childTnLst>
                                    <p:set>
                                      <p:cBhvr>
                                        <p:cTn id="154" dur="1" fill="hold"/>
                                        <p:tgtEl>
                                          <p:spTgt spid="45"/>
                                        </p:tgtEl>
                                        <p:attrNameLst>
                                          <p:attrName>style.visibility</p:attrName>
                                        </p:attrNameLst>
                                      </p:cBhvr>
                                      <p:to>
                                        <p:strVal val="visible"/>
                                      </p:to>
                                    </p:set>
                                    <p:animEffect transition="in" filter="fade">
                                      <p:cBhvr>
                                        <p:cTn id="155" dur="500"/>
                                        <p:tgtEl>
                                          <p:spTgt spid="45"/>
                                        </p:tgtEl>
                                      </p:cBhvr>
                                    </p:animEffect>
                                  </p:childTnLst>
                                </p:cTn>
                              </p:par>
                            </p:childTnLst>
                          </p:cTn>
                        </p:par>
                        <p:par>
                          <p:cTn id="156" fill="hold">
                            <p:stCondLst>
                              <p:cond delay="2580"/>
                            </p:stCondLst>
                            <p:childTnLst>
                              <p:par>
                                <p:cTn id="157" presetID="10" presetClass="entr" presetSubtype="0" fill="hold" nodeType="withEffect">
                                  <p:stCondLst>
                                    <p:cond delay="0"/>
                                  </p:stCondLst>
                                  <p:childTnLst>
                                    <p:set>
                                      <p:cBhvr>
                                        <p:cTn id="158" dur="1" fill="hold"/>
                                        <p:tgtEl>
                                          <p:spTgt spid="46"/>
                                        </p:tgtEl>
                                        <p:attrNameLst>
                                          <p:attrName>style.visibility</p:attrName>
                                        </p:attrNameLst>
                                      </p:cBhvr>
                                      <p:to>
                                        <p:strVal val="visible"/>
                                      </p:to>
                                    </p:set>
                                    <p:animEffect transition="in" filter="fade">
                                      <p:cBhvr>
                                        <p:cTn id="159" dur="500"/>
                                        <p:tgtEl>
                                          <p:spTgt spid="46"/>
                                        </p:tgtEl>
                                      </p:cBhvr>
                                    </p:animEffect>
                                  </p:childTnLst>
                                </p:cTn>
                              </p:par>
                            </p:childTnLst>
                          </p:cTn>
                        </p:par>
                        <p:par>
                          <p:cTn id="160" fill="hold">
                            <p:stCondLst>
                              <p:cond delay="2580"/>
                            </p:stCondLst>
                            <p:childTnLst>
                              <p:par>
                                <p:cTn id="161" presetID="10" presetClass="entr" presetSubtype="0" fill="hold" nodeType="withEffect">
                                  <p:stCondLst>
                                    <p:cond delay="0"/>
                                  </p:stCondLst>
                                  <p:childTnLst>
                                    <p:set>
                                      <p:cBhvr>
                                        <p:cTn id="162" dur="1" fill="hold"/>
                                        <p:tgtEl>
                                          <p:spTgt spid="47"/>
                                        </p:tgtEl>
                                        <p:attrNameLst>
                                          <p:attrName>style.visibility</p:attrName>
                                        </p:attrNameLst>
                                      </p:cBhvr>
                                      <p:to>
                                        <p:strVal val="visible"/>
                                      </p:to>
                                    </p:set>
                                    <p:animEffect transition="in" filter="fade">
                                      <p:cBhvr>
                                        <p:cTn id="163" dur="500"/>
                                        <p:tgtEl>
                                          <p:spTgt spid="47"/>
                                        </p:tgtEl>
                                      </p:cBhvr>
                                    </p:animEffect>
                                  </p:childTnLst>
                                </p:cTn>
                              </p:par>
                            </p:childTnLst>
                          </p:cTn>
                        </p:par>
                        <p:par>
                          <p:cTn id="164" fill="hold">
                            <p:stCondLst>
                              <p:cond delay="2580"/>
                            </p:stCondLst>
                            <p:childTnLst>
                              <p:par>
                                <p:cTn id="165" presetID="10" presetClass="entr" presetSubtype="0" fill="hold" nodeType="withEffect">
                                  <p:stCondLst>
                                    <p:cond delay="0"/>
                                  </p:stCondLst>
                                  <p:childTnLst>
                                    <p:set>
                                      <p:cBhvr>
                                        <p:cTn id="166" dur="1" fill="hold"/>
                                        <p:tgtEl>
                                          <p:spTgt spid="48"/>
                                        </p:tgtEl>
                                        <p:attrNameLst>
                                          <p:attrName>style.visibility</p:attrName>
                                        </p:attrNameLst>
                                      </p:cBhvr>
                                      <p:to>
                                        <p:strVal val="visible"/>
                                      </p:to>
                                    </p:set>
                                    <p:animEffect transition="in" filter="fade">
                                      <p:cBhvr>
                                        <p:cTn id="16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06 / METHODS AND MATERIALS USED</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09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Methods and materials used</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3 of 4 · Learning techniques and model-training phases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Revised Appendix C.3–C.4; hf_space_deploy/trainer.py, app.py, url_features.py</a:t>
            </a:r>
          </a:p>
        </p:txBody>
      </p:sp>
      <p:sp>
        <p:nvSpPr>
          <p:cNvPr id="9" name="Rectangle 8"/>
          <p:cNvSpPr/>
          <p:nvPr/>
        </p:nvSpPr>
        <p:spPr>
          <a:xfrm>
            <a:off x="640080" y="8156448"/>
            <a:ext cx="8010144"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697480"/>
            <a:ext cx="420624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697480"/>
            <a:ext cx="41148" cy="16916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43784"/>
            <a:ext cx="384047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SUPERVISED</a:t>
            </a:r>
          </a:p>
        </p:txBody>
      </p:sp>
      <p:sp>
        <p:nvSpPr>
          <p:cNvPr id="13" name="TextBox 12"/>
          <p:cNvSpPr txBox="1"/>
          <p:nvPr/>
        </p:nvSpPr>
        <p:spPr>
          <a:xfrm>
            <a:off x="914400" y="3300984"/>
            <a:ext cx="3840479" cy="10058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3 gradient-boosted</a:t>
            </a:r>
          </a:p>
          <a:p>
            <a:pPr algn="l">
              <a:lnSpc>
                <a:spcPct val="116000"/>
              </a:lnSpc>
              <a:spcBef>
                <a:spcPts val="0"/>
              </a:spcBef>
              <a:spcAft>
                <a:spcPts val="0"/>
              </a:spcAft>
              <a:defRPr sz="1400">
                <a:solidFill>
                  <a:srgbClr val="C2B8AA"/>
                </a:solidFill>
                <a:latin typeface="Calibri"/>
              </a:defRPr>
            </a:pPr>
            <a:r>
              <a:t>URL classifiers</a:t>
            </a:r>
          </a:p>
        </p:txBody>
      </p:sp>
      <p:sp>
        <p:nvSpPr>
          <p:cNvPr id="14" name="Rounded Rectangle 13"/>
          <p:cNvSpPr/>
          <p:nvPr/>
        </p:nvSpPr>
        <p:spPr>
          <a:xfrm>
            <a:off x="5303520" y="2697480"/>
            <a:ext cx="420624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03520" y="2697480"/>
            <a:ext cx="41148" cy="16916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0" y="2843784"/>
            <a:ext cx="384047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UNSUPERVISED</a:t>
            </a:r>
          </a:p>
        </p:txBody>
      </p:sp>
      <p:sp>
        <p:nvSpPr>
          <p:cNvPr id="17" name="TextBox 16"/>
          <p:cNvSpPr txBox="1"/>
          <p:nvPr/>
        </p:nvSpPr>
        <p:spPr>
          <a:xfrm>
            <a:off x="5486400" y="3300984"/>
            <a:ext cx="3840479" cy="10058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IsolationForest</a:t>
            </a:r>
          </a:p>
          <a:p>
            <a:pPr algn="l">
              <a:lnSpc>
                <a:spcPct val="116000"/>
              </a:lnSpc>
              <a:spcBef>
                <a:spcPts val="0"/>
              </a:spcBef>
              <a:spcAft>
                <a:spcPts val="0"/>
              </a:spcAft>
              <a:defRPr sz="1400">
                <a:solidFill>
                  <a:srgbClr val="C2B8AA"/>
                </a:solidFill>
                <a:latin typeface="Calibri"/>
              </a:defRPr>
            </a:pPr>
            <a:r>
              <a:t>trained on benign URLs</a:t>
            </a:r>
          </a:p>
        </p:txBody>
      </p:sp>
      <p:sp>
        <p:nvSpPr>
          <p:cNvPr id="18" name="Rounded Rectangle 17"/>
          <p:cNvSpPr/>
          <p:nvPr/>
        </p:nvSpPr>
        <p:spPr>
          <a:xfrm>
            <a:off x="9875520" y="2697480"/>
            <a:ext cx="420624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875520" y="2697480"/>
            <a:ext cx="41148" cy="169164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0" y="2843784"/>
            <a:ext cx="3840479" cy="384048"/>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EFE9DD"/>
                </a:solidFill>
                <a:latin typeface="Bahnschrift"/>
              </a:defRPr>
            </a:pPr>
            <a:r>
              <a:t>PRETRAINED + RULES</a:t>
            </a:r>
          </a:p>
        </p:txBody>
      </p:sp>
      <p:sp>
        <p:nvSpPr>
          <p:cNvPr id="21" name="TextBox 20"/>
          <p:cNvSpPr txBox="1"/>
          <p:nvPr/>
        </p:nvSpPr>
        <p:spPr>
          <a:xfrm>
            <a:off x="10058400" y="3300984"/>
            <a:ext cx="3840479" cy="1005840"/>
          </a:xfrm>
          <a:prstGeom prst="rect">
            <a:avLst/>
          </a:prstGeom>
          <a:noFill/>
        </p:spPr>
        <p:txBody>
          <a:bodyPr wrap="none" lIns="0" rIns="0" tIns="0" bIns="0" anchor="t">
            <a:spAutoFit/>
          </a:bodyPr>
          <a:lstStyle/>
          <a:p>
            <a:pPr algn="l">
              <a:lnSpc>
                <a:spcPct val="116000"/>
              </a:lnSpc>
              <a:spcBef>
                <a:spcPts val="0"/>
              </a:spcBef>
              <a:spcAft>
                <a:spcPts val="0"/>
              </a:spcAft>
              <a:defRPr sz="1400">
                <a:solidFill>
                  <a:srgbClr val="C2B8AA"/>
                </a:solidFill>
                <a:latin typeface="Calibri"/>
              </a:defRPr>
            </a:pPr>
            <a:r>
              <a:t>BERT / Qwen inference</a:t>
            </a:r>
          </a:p>
          <a:p>
            <a:pPr algn="l">
              <a:lnSpc>
                <a:spcPct val="116000"/>
              </a:lnSpc>
              <a:spcBef>
                <a:spcPts val="0"/>
              </a:spcBef>
              <a:spcAft>
                <a:spcPts val="0"/>
              </a:spcAft>
              <a:defRPr sz="1400">
                <a:solidFill>
                  <a:srgbClr val="C2B8AA"/>
                </a:solidFill>
                <a:latin typeface="Calibri"/>
              </a:defRPr>
            </a:pPr>
            <a:r>
              <a:t>DGA / IOC heuristics</a:t>
            </a:r>
          </a:p>
        </p:txBody>
      </p:sp>
      <p:sp>
        <p:nvSpPr>
          <p:cNvPr id="22" name="Rounded Rectangle 21"/>
          <p:cNvSpPr/>
          <p:nvPr/>
        </p:nvSpPr>
        <p:spPr>
          <a:xfrm>
            <a:off x="777240" y="5074920"/>
            <a:ext cx="2286000" cy="96012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EFE9DD"/>
                </a:solidFill>
                <a:latin typeface="Bahnschrift"/>
              </a:defRPr>
            </a:pPr>
            <a:r>
              <a:t>Collect</a:t>
            </a:r>
          </a:p>
          <a:p>
            <a:pPr algn="ctr">
              <a:lnSpc>
                <a:spcPct val="116000"/>
              </a:lnSpc>
              <a:spcBef>
                <a:spcPts val="0"/>
              </a:spcBef>
              <a:spcAft>
                <a:spcPts val="0"/>
              </a:spcAft>
              <a:defRPr sz="1800">
                <a:solidFill>
                  <a:srgbClr val="EFE9DD"/>
                </a:solidFill>
                <a:latin typeface="Bahnschrift"/>
              </a:defRPr>
            </a:pPr>
            <a:r>
              <a:t>&amp; clean</a:t>
            </a:r>
          </a:p>
        </p:txBody>
      </p:sp>
      <p:cxnSp>
        <p:nvCxnSpPr>
          <p:cNvPr id="24" name="Connector 23"/>
          <p:cNvCxnSpPr/>
          <p:nvPr/>
        </p:nvCxnSpPr>
        <p:spPr>
          <a:xfrm>
            <a:off x="3108960" y="5550408"/>
            <a:ext cx="3200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502152" y="5074920"/>
            <a:ext cx="2286000" cy="96012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EFE9DD"/>
                </a:solidFill>
                <a:latin typeface="Bahnschrift"/>
              </a:defRPr>
            </a:pPr>
            <a:r>
              <a:t>Features</a:t>
            </a:r>
          </a:p>
          <a:p>
            <a:pPr algn="ctr">
              <a:lnSpc>
                <a:spcPct val="116000"/>
              </a:lnSpc>
              <a:spcBef>
                <a:spcPts val="0"/>
              </a:spcBef>
              <a:spcAft>
                <a:spcPts val="0"/>
              </a:spcAft>
              <a:defRPr sz="1800">
                <a:solidFill>
                  <a:srgbClr val="EFE9DD"/>
                </a:solidFill>
                <a:latin typeface="Bahnschrift"/>
              </a:defRPr>
            </a:pPr>
            <a:r>
              <a:t>&amp; split</a:t>
            </a:r>
          </a:p>
        </p:txBody>
      </p:sp>
      <p:cxnSp>
        <p:nvCxnSpPr>
          <p:cNvPr id="27" name="Connector 26"/>
          <p:cNvCxnSpPr/>
          <p:nvPr/>
        </p:nvCxnSpPr>
        <p:spPr>
          <a:xfrm>
            <a:off x="5833872" y="5550408"/>
            <a:ext cx="3200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27064" y="5074920"/>
            <a:ext cx="2286000" cy="96012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36792"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EFE9DD"/>
                </a:solidFill>
                <a:latin typeface="Bahnschrift"/>
              </a:defRPr>
            </a:pPr>
            <a:r>
              <a:t>Fit</a:t>
            </a:r>
          </a:p>
          <a:p>
            <a:pPr algn="ctr">
              <a:lnSpc>
                <a:spcPct val="116000"/>
              </a:lnSpc>
              <a:spcBef>
                <a:spcPts val="0"/>
              </a:spcBef>
              <a:spcAft>
                <a:spcPts val="0"/>
              </a:spcAft>
              <a:defRPr sz="1800">
                <a:solidFill>
                  <a:srgbClr val="EFE9DD"/>
                </a:solidFill>
                <a:latin typeface="Bahnschrift"/>
              </a:defRPr>
            </a:pPr>
            <a:r>
              <a:t>models</a:t>
            </a:r>
          </a:p>
        </p:txBody>
      </p:sp>
      <p:cxnSp>
        <p:nvCxnSpPr>
          <p:cNvPr id="30" name="Connector 29"/>
          <p:cNvCxnSpPr/>
          <p:nvPr/>
        </p:nvCxnSpPr>
        <p:spPr>
          <a:xfrm>
            <a:off x="8558784" y="5550408"/>
            <a:ext cx="3200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951976" y="5074920"/>
            <a:ext cx="2286000" cy="960120"/>
          </a:xfrm>
          <a:prstGeom prst="roundRect">
            <a:avLst>
              <a:gd name="adj" fmla="val 8000"/>
            </a:avLst>
          </a:prstGeom>
          <a:solidFill>
            <a:srgbClr val="869B7E"/>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61703"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0B0908"/>
                </a:solidFill>
                <a:latin typeface="Bahnschrift"/>
              </a:defRPr>
            </a:pPr>
            <a:r>
              <a:t>Evaluate</a:t>
            </a:r>
          </a:p>
          <a:p>
            <a:pPr algn="ctr">
              <a:lnSpc>
                <a:spcPct val="116000"/>
              </a:lnSpc>
              <a:spcBef>
                <a:spcPts val="0"/>
              </a:spcBef>
              <a:spcAft>
                <a:spcPts val="0"/>
              </a:spcAft>
              <a:defRPr sz="1800">
                <a:solidFill>
                  <a:srgbClr val="0B0908"/>
                </a:solidFill>
                <a:latin typeface="Bahnschrift"/>
              </a:defRPr>
            </a:pPr>
            <a:r>
              <a:t>&amp; gate</a:t>
            </a:r>
          </a:p>
        </p:txBody>
      </p:sp>
      <p:cxnSp>
        <p:nvCxnSpPr>
          <p:cNvPr id="33" name="Connector 32"/>
          <p:cNvCxnSpPr/>
          <p:nvPr/>
        </p:nvCxnSpPr>
        <p:spPr>
          <a:xfrm>
            <a:off x="11283696" y="5550408"/>
            <a:ext cx="320040" cy="0"/>
          </a:xfrm>
          <a:prstGeom prst="line">
            <a:avLst/>
          </a:prstGeom>
          <a:ln w="25400">
            <a:solidFill>
              <a:srgbClr val="F69D39"/>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1676888" y="5074920"/>
            <a:ext cx="2286000" cy="96012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786615" y="5230368"/>
            <a:ext cx="2066543" cy="731520"/>
          </a:xfrm>
          <a:prstGeom prst="rect">
            <a:avLst/>
          </a:prstGeom>
          <a:noFill/>
        </p:spPr>
        <p:txBody>
          <a:bodyPr wrap="none" lIns="0" rIns="0" tIns="0" bIns="0" anchor="t">
            <a:spAutoFit/>
          </a:bodyPr>
          <a:lstStyle/>
          <a:p>
            <a:pPr algn="ctr">
              <a:lnSpc>
                <a:spcPct val="116000"/>
              </a:lnSpc>
              <a:spcBef>
                <a:spcPts val="0"/>
              </a:spcBef>
              <a:spcAft>
                <a:spcPts val="0"/>
              </a:spcAft>
              <a:defRPr sz="1800">
                <a:solidFill>
                  <a:srgbClr val="EFE9DD"/>
                </a:solidFill>
                <a:latin typeface="Bahnschrift"/>
              </a:defRPr>
            </a:pPr>
            <a:r>
              <a:t>Publish</a:t>
            </a:r>
          </a:p>
          <a:p>
            <a:pPr algn="ctr">
              <a:lnSpc>
                <a:spcPct val="116000"/>
              </a:lnSpc>
              <a:spcBef>
                <a:spcPts val="0"/>
              </a:spcBef>
              <a:spcAft>
                <a:spcPts val="0"/>
              </a:spcAft>
              <a:defRPr sz="1800">
                <a:solidFill>
                  <a:srgbClr val="EFE9DD"/>
                </a:solidFill>
                <a:latin typeface="Bahnschrift"/>
              </a:defRPr>
            </a:pPr>
            <a:r>
              <a:t>accepted</a:t>
            </a:r>
          </a:p>
        </p:txBody>
      </p:sp>
      <p:sp>
        <p:nvSpPr>
          <p:cNvPr id="36" name="TextBox 35"/>
          <p:cNvSpPr txBox="1"/>
          <p:nvPr/>
        </p:nvSpPr>
        <p:spPr>
          <a:xfrm>
            <a:off x="777240" y="6629400"/>
            <a:ext cx="13075920" cy="640080"/>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F69D39"/>
                </a:solidFill>
                <a:latin typeface="Calibri"/>
              </a:defRPr>
            </a:pPr>
            <a:r>
              <a:t>Domain-held-out evaluation • Shared training/serving features • No automatic online weight updates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162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10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58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258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258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306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306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3060"/>
                            </p:stCondLst>
                            <p:childTnLst>
                              <p:par>
                                <p:cTn id="93" presetID="10" presetClass="entr" presetSubtype="0" fill="hold" nodeType="withEffect">
                                  <p:stCondLst>
                                    <p:cond delay="0"/>
                                  </p:stCondLst>
                                  <p:childTnLst>
                                    <p:set>
                                      <p:cBhvr>
                                        <p:cTn id="94" dur="1" fill="hold"/>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3540"/>
                            </p:stCondLst>
                            <p:childTnLst>
                              <p:par>
                                <p:cTn id="97" presetID="10" presetClass="entr" presetSubtype="0" fill="hold" nodeType="withEffect">
                                  <p:stCondLst>
                                    <p:cond delay="0"/>
                                  </p:stCondLst>
                                  <p:childTnLst>
                                    <p:set>
                                      <p:cBhvr>
                                        <p:cTn id="98" dur="1" fill="hold"/>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par>
                          <p:cTn id="100" fill="hold">
                            <p:stCondLst>
                              <p:cond delay="3540"/>
                            </p:stCondLst>
                            <p:childTnLst>
                              <p:par>
                                <p:cTn id="101" presetID="10" presetClass="entr" presetSubtype="0" fill="hold" nodeType="withEffect">
                                  <p:stCondLst>
                                    <p:cond delay="0"/>
                                  </p:stCondLst>
                                  <p:childTnLst>
                                    <p:set>
                                      <p:cBhvr>
                                        <p:cTn id="102" dur="1" fill="hold"/>
                                        <p:tgtEl>
                                          <p:spTgt spid="32"/>
                                        </p:tgtEl>
                                        <p:attrNameLst>
                                          <p:attrName>style.visibility</p:attrName>
                                        </p:attrNameLst>
                                      </p:cBhvr>
                                      <p:to>
                                        <p:strVal val="visible"/>
                                      </p:to>
                                    </p:set>
                                    <p:animEffect transition="in" filter="fade">
                                      <p:cBhvr>
                                        <p:cTn id="103" dur="500"/>
                                        <p:tgtEl>
                                          <p:spTgt spid="32"/>
                                        </p:tgtEl>
                                      </p:cBhvr>
                                    </p:animEffect>
                                  </p:childTnLst>
                                </p:cTn>
                              </p:par>
                            </p:childTnLst>
                          </p:cTn>
                        </p:par>
                        <p:par>
                          <p:cTn id="104" fill="hold">
                            <p:stCondLst>
                              <p:cond delay="3540"/>
                            </p:stCondLst>
                            <p:childTnLst>
                              <p:par>
                                <p:cTn id="105" presetID="10" presetClass="entr" presetSubtype="0" fill="hold" nodeType="withEffect">
                                  <p:stCondLst>
                                    <p:cond delay="0"/>
                                  </p:stCondLst>
                                  <p:childTnLst>
                                    <p:set>
                                      <p:cBhvr>
                                        <p:cTn id="106" dur="1" fill="hold"/>
                                        <p:tgtEl>
                                          <p:spTgt spid="33"/>
                                        </p:tgtEl>
                                        <p:attrNameLst>
                                          <p:attrName>style.visibility</p:attrName>
                                        </p:attrNameLst>
                                      </p:cBhvr>
                                      <p:to>
                                        <p:strVal val="visible"/>
                                      </p:to>
                                    </p:set>
                                    <p:animEffect transition="in" filter="fade">
                                      <p:cBhvr>
                                        <p:cTn id="107" dur="500"/>
                                        <p:tgtEl>
                                          <p:spTgt spid="33"/>
                                        </p:tgtEl>
                                      </p:cBhvr>
                                    </p:animEffect>
                                  </p:childTnLst>
                                </p:cTn>
                              </p:par>
                            </p:childTnLst>
                          </p:cTn>
                        </p:par>
                        <p:par>
                          <p:cTn id="108" fill="hold">
                            <p:stCondLst>
                              <p:cond delay="4020"/>
                            </p:stCondLst>
                            <p:childTnLst>
                              <p:par>
                                <p:cTn id="109" presetID="10" presetClass="entr" presetSubtype="0" fill="hold" nodeType="withEffect">
                                  <p:stCondLst>
                                    <p:cond delay="0"/>
                                  </p:stCondLst>
                                  <p:childTnLst>
                                    <p:set>
                                      <p:cBhvr>
                                        <p:cTn id="110" dur="1" fill="hold"/>
                                        <p:tgtEl>
                                          <p:spTgt spid="34"/>
                                        </p:tgtEl>
                                        <p:attrNameLst>
                                          <p:attrName>style.visibility</p:attrName>
                                        </p:attrNameLst>
                                      </p:cBhvr>
                                      <p:to>
                                        <p:strVal val="visible"/>
                                      </p:to>
                                    </p:set>
                                    <p:animEffect transition="in" filter="fade">
                                      <p:cBhvr>
                                        <p:cTn id="111" dur="500"/>
                                        <p:tgtEl>
                                          <p:spTgt spid="34"/>
                                        </p:tgtEl>
                                      </p:cBhvr>
                                    </p:animEffect>
                                  </p:childTnLst>
                                </p:cTn>
                              </p:par>
                            </p:childTnLst>
                          </p:cTn>
                        </p:par>
                        <p:par>
                          <p:cTn id="112" fill="hold">
                            <p:stCondLst>
                              <p:cond delay="4020"/>
                            </p:stCondLst>
                            <p:childTnLst>
                              <p:par>
                                <p:cTn id="113" presetID="10" presetClass="entr" presetSubtype="0" fill="hold" nodeType="withEffect">
                                  <p:stCondLst>
                                    <p:cond delay="0"/>
                                  </p:stCondLst>
                                  <p:childTnLst>
                                    <p:set>
                                      <p:cBhvr>
                                        <p:cTn id="114" dur="1" fill="hold"/>
                                        <p:tgtEl>
                                          <p:spTgt spid="35"/>
                                        </p:tgtEl>
                                        <p:attrNameLst>
                                          <p:attrName>style.visibility</p:attrName>
                                        </p:attrNameLst>
                                      </p:cBhvr>
                                      <p:to>
                                        <p:strVal val="visible"/>
                                      </p:to>
                                    </p:set>
                                    <p:animEffect transition="in" filter="fade">
                                      <p:cBhvr>
                                        <p:cTn id="115" dur="500"/>
                                        <p:tgtEl>
                                          <p:spTgt spid="35"/>
                                        </p:tgtEl>
                                      </p:cBhvr>
                                    </p:animEffect>
                                  </p:childTnLst>
                                </p:cTn>
                              </p:par>
                            </p:childTnLst>
                          </p:cTn>
                        </p:par>
                        <p:par>
                          <p:cTn id="116" fill="hold">
                            <p:stCondLst>
                              <p:cond delay="4500"/>
                            </p:stCondLst>
                            <p:childTnLst>
                              <p:par>
                                <p:cTn id="117" presetID="10" presetClass="entr" presetSubtype="0" fill="hold" nodeType="withEffect">
                                  <p:stCondLst>
                                    <p:cond delay="0"/>
                                  </p:stCondLst>
                                  <p:childTnLst>
                                    <p:set>
                                      <p:cBhvr>
                                        <p:cTn id="118" dur="1" fill="hold"/>
                                        <p:tgtEl>
                                          <p:spTgt spid="36"/>
                                        </p:tgtEl>
                                        <p:attrNameLst>
                                          <p:attrName>style.visibility</p:attrName>
                                        </p:attrNameLst>
                                      </p:cBhvr>
                                      <p:to>
                                        <p:strVal val="visible"/>
                                      </p:to>
                                    </p:set>
                                    <p:animEffect transition="in" filter="fade">
                                      <p:cBhvr>
                                        <p:cTn id="11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06 / METHODS AND MATERIALS USED</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10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Methods and materials used</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4 of 4 · Evaluation data, calibration and testing procedure</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§§3.7–3.9, Table 4.3; revised Appendix C.5</a:t>
            </a:r>
          </a:p>
        </p:txBody>
      </p:sp>
      <p:sp>
        <p:nvSpPr>
          <p:cNvPr id="9" name="Rectangle 8"/>
          <p:cNvSpPr/>
          <p:nvPr/>
        </p:nvSpPr>
        <p:spPr>
          <a:xfrm>
            <a:off x="640080" y="8156448"/>
            <a:ext cx="8900160"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4572000" cy="1005840"/>
          </a:xfrm>
          <a:prstGeom prst="rect">
            <a:avLst/>
          </a:prstGeom>
          <a:noFill/>
        </p:spPr>
        <p:txBody>
          <a:bodyPr wrap="none" lIns="0" rIns="0" tIns="0" bIns="0" anchor="t">
            <a:spAutoFit/>
          </a:bodyPr>
          <a:lstStyle/>
          <a:p>
            <a:pPr algn="l">
              <a:lnSpc>
                <a:spcPct val="116000"/>
              </a:lnSpc>
              <a:spcBef>
                <a:spcPts val="0"/>
              </a:spcBef>
              <a:spcAft>
                <a:spcPts val="0"/>
              </a:spcAft>
              <a:defRPr sz="5400">
                <a:solidFill>
                  <a:srgbClr val="F69D39"/>
                </a:solidFill>
                <a:latin typeface="Bahnschrift"/>
              </a:defRPr>
            </a:pPr>
            <a:r>
              <a:t>300 URLs</a:t>
            </a:r>
          </a:p>
        </p:txBody>
      </p:sp>
      <p:sp>
        <p:nvSpPr>
          <p:cNvPr id="11" name="TextBox 10"/>
          <p:cNvSpPr txBox="1"/>
          <p:nvPr/>
        </p:nvSpPr>
        <p:spPr>
          <a:xfrm>
            <a:off x="822960" y="3703320"/>
            <a:ext cx="4023360" cy="114300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EFE9DD"/>
                </a:solidFill>
                <a:latin typeface="Bahnschrift"/>
              </a:defRPr>
            </a:pPr>
            <a:r>
              <a:t>Historical classification</a:t>
            </a:r>
          </a:p>
          <a:p>
            <a:pPr algn="l">
              <a:lnSpc>
                <a:spcPct val="116000"/>
              </a:lnSpc>
              <a:spcBef>
                <a:spcPts val="0"/>
              </a:spcBef>
              <a:spcAft>
                <a:spcPts val="0"/>
              </a:spcAft>
              <a:defRPr sz="2400">
                <a:solidFill>
                  <a:srgbClr val="EFE9DD"/>
                </a:solidFill>
                <a:latin typeface="Bahnschrift"/>
              </a:defRPr>
            </a:pPr>
            <a:r>
              <a:t>evaluation set</a:t>
            </a:r>
          </a:p>
        </p:txBody>
      </p:sp>
      <p:sp>
        <p:nvSpPr>
          <p:cNvPr id="12" name="TextBox 11"/>
          <p:cNvSpPr txBox="1"/>
          <p:nvPr/>
        </p:nvSpPr>
        <p:spPr>
          <a:xfrm>
            <a:off x="5669280" y="2770632"/>
            <a:ext cx="1280160" cy="502920"/>
          </a:xfrm>
          <a:prstGeom prst="rect">
            <a:avLst/>
          </a:prstGeom>
          <a:noFill/>
        </p:spPr>
        <p:txBody>
          <a:bodyPr wrap="none" lIns="0" rIns="0" tIns="0" bIns="0" anchor="t">
            <a:spAutoFit/>
          </a:bodyPr>
          <a:lstStyle/>
          <a:p>
            <a:pPr algn="l">
              <a:lnSpc>
                <a:spcPct val="116000"/>
              </a:lnSpc>
              <a:spcBef>
                <a:spcPts val="0"/>
              </a:spcBef>
              <a:spcAft>
                <a:spcPts val="0"/>
              </a:spcAft>
              <a:defRPr sz="2700">
                <a:solidFill>
                  <a:srgbClr val="869B7E"/>
                </a:solidFill>
                <a:latin typeface="Consolas"/>
              </a:defRPr>
            </a:pPr>
            <a:r>
              <a:t>150</a:t>
            </a:r>
          </a:p>
        </p:txBody>
      </p:sp>
      <p:sp>
        <p:nvSpPr>
          <p:cNvPr id="13" name="TextBox 12"/>
          <p:cNvSpPr txBox="1"/>
          <p:nvPr/>
        </p:nvSpPr>
        <p:spPr>
          <a:xfrm>
            <a:off x="7315200" y="2770632"/>
            <a:ext cx="5486400" cy="50292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EFE9DD"/>
                </a:solidFill>
                <a:latin typeface="Calibri"/>
              </a:defRPr>
            </a:pPr>
            <a:r>
              <a:t>benign</a:t>
            </a:r>
          </a:p>
        </p:txBody>
      </p:sp>
      <p:sp>
        <p:nvSpPr>
          <p:cNvPr id="14" name="Rectangle 13"/>
          <p:cNvSpPr/>
          <p:nvPr/>
        </p:nvSpPr>
        <p:spPr>
          <a:xfrm>
            <a:off x="5669280" y="3383279"/>
            <a:ext cx="8046720" cy="118872"/>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3739896"/>
            <a:ext cx="1280160" cy="502920"/>
          </a:xfrm>
          <a:prstGeom prst="rect">
            <a:avLst/>
          </a:prstGeom>
          <a:noFill/>
        </p:spPr>
        <p:txBody>
          <a:bodyPr wrap="none" lIns="0" rIns="0" tIns="0" bIns="0" anchor="t">
            <a:spAutoFit/>
          </a:bodyPr>
          <a:lstStyle/>
          <a:p>
            <a:pPr algn="l">
              <a:lnSpc>
                <a:spcPct val="116000"/>
              </a:lnSpc>
              <a:spcBef>
                <a:spcPts val="0"/>
              </a:spcBef>
              <a:spcAft>
                <a:spcPts val="0"/>
              </a:spcAft>
              <a:defRPr sz="2700">
                <a:solidFill>
                  <a:srgbClr val="F69D39"/>
                </a:solidFill>
                <a:latin typeface="Consolas"/>
              </a:defRPr>
            </a:pPr>
            <a:r>
              <a:t>100</a:t>
            </a:r>
          </a:p>
        </p:txBody>
      </p:sp>
      <p:sp>
        <p:nvSpPr>
          <p:cNvPr id="16" name="TextBox 15"/>
          <p:cNvSpPr txBox="1"/>
          <p:nvPr/>
        </p:nvSpPr>
        <p:spPr>
          <a:xfrm>
            <a:off x="7315200" y="3739896"/>
            <a:ext cx="5486400" cy="50292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EFE9DD"/>
                </a:solidFill>
                <a:latin typeface="Calibri"/>
              </a:defRPr>
            </a:pPr>
            <a:r>
              <a:t>phishing</a:t>
            </a:r>
          </a:p>
        </p:txBody>
      </p:sp>
      <p:sp>
        <p:nvSpPr>
          <p:cNvPr id="17" name="Rectangle 16"/>
          <p:cNvSpPr/>
          <p:nvPr/>
        </p:nvSpPr>
        <p:spPr>
          <a:xfrm>
            <a:off x="5669280" y="4352544"/>
            <a:ext cx="5364480" cy="118872"/>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0" y="4709160"/>
            <a:ext cx="1280160" cy="502920"/>
          </a:xfrm>
          <a:prstGeom prst="rect">
            <a:avLst/>
          </a:prstGeom>
          <a:noFill/>
        </p:spPr>
        <p:txBody>
          <a:bodyPr wrap="none" lIns="0" rIns="0" tIns="0" bIns="0" anchor="t">
            <a:spAutoFit/>
          </a:bodyPr>
          <a:lstStyle/>
          <a:p>
            <a:pPr algn="l">
              <a:lnSpc>
                <a:spcPct val="116000"/>
              </a:lnSpc>
              <a:spcBef>
                <a:spcPts val="0"/>
              </a:spcBef>
              <a:spcAft>
                <a:spcPts val="0"/>
              </a:spcAft>
              <a:defRPr sz="2700">
                <a:solidFill>
                  <a:srgbClr val="C2B8AA"/>
                </a:solidFill>
                <a:latin typeface="Consolas"/>
              </a:defRPr>
            </a:pPr>
            <a:r>
              <a:t>50</a:t>
            </a:r>
          </a:p>
        </p:txBody>
      </p:sp>
      <p:sp>
        <p:nvSpPr>
          <p:cNvPr id="19" name="TextBox 18"/>
          <p:cNvSpPr txBox="1"/>
          <p:nvPr/>
        </p:nvSpPr>
        <p:spPr>
          <a:xfrm>
            <a:off x="7315200" y="4709160"/>
            <a:ext cx="5486400" cy="502920"/>
          </a:xfrm>
          <a:prstGeom prst="rect">
            <a:avLst/>
          </a:prstGeom>
          <a:noFill/>
        </p:spPr>
        <p:txBody>
          <a:bodyPr wrap="none" lIns="0" rIns="0" tIns="0" bIns="0" anchor="t">
            <a:spAutoFit/>
          </a:bodyPr>
          <a:lstStyle/>
          <a:p>
            <a:pPr algn="l">
              <a:lnSpc>
                <a:spcPct val="116000"/>
              </a:lnSpc>
              <a:spcBef>
                <a:spcPts val="0"/>
              </a:spcBef>
              <a:spcAft>
                <a:spcPts val="0"/>
              </a:spcAft>
              <a:defRPr sz="2400">
                <a:solidFill>
                  <a:srgbClr val="EFE9DD"/>
                </a:solidFill>
                <a:latin typeface="Calibri"/>
              </a:defRPr>
            </a:pPr>
            <a:r>
              <a:t>malware / DGA</a:t>
            </a:r>
          </a:p>
        </p:txBody>
      </p:sp>
      <p:sp>
        <p:nvSpPr>
          <p:cNvPr id="20" name="Rectangle 19"/>
          <p:cNvSpPr/>
          <p:nvPr/>
        </p:nvSpPr>
        <p:spPr>
          <a:xfrm>
            <a:off x="5669280" y="5321808"/>
            <a:ext cx="2682240" cy="118872"/>
          </a:xfrm>
          <a:prstGeom prst="rect">
            <a:avLst/>
          </a:prstGeom>
          <a:solidFill>
            <a:srgbClr val="C2B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5715000"/>
            <a:ext cx="13075920" cy="137160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943600"/>
            <a:ext cx="6126480" cy="7315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Development calibration</a:t>
            </a:r>
          </a:p>
          <a:p>
            <a:pPr algn="l">
              <a:lnSpc>
                <a:spcPct val="116000"/>
              </a:lnSpc>
              <a:spcBef>
                <a:spcPts val="0"/>
              </a:spcBef>
              <a:spcAft>
                <a:spcPts val="0"/>
              </a:spcAft>
              <a:defRPr sz="1800">
                <a:solidFill>
                  <a:srgbClr val="C2B8AA"/>
                </a:solidFill>
                <a:latin typeface="Calibri"/>
              </a:defRPr>
            </a:pPr>
            <a:r>
              <a:t>7 URL examples + 30 domain labels</a:t>
            </a:r>
          </a:p>
        </p:txBody>
      </p:sp>
      <p:sp>
        <p:nvSpPr>
          <p:cNvPr id="23" name="TextBox 22"/>
          <p:cNvSpPr txBox="1"/>
          <p:nvPr/>
        </p:nvSpPr>
        <p:spPr>
          <a:xfrm>
            <a:off x="7406640" y="5943600"/>
            <a:ext cx="6126480" cy="73152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Current source verification</a:t>
            </a:r>
          </a:p>
          <a:p>
            <a:pPr algn="l">
              <a:lnSpc>
                <a:spcPct val="116000"/>
              </a:lnSpc>
              <a:spcBef>
                <a:spcPts val="0"/>
              </a:spcBef>
              <a:spcAft>
                <a:spcPts val="0"/>
              </a:spcAft>
              <a:defRPr sz="1800">
                <a:solidFill>
                  <a:srgbClr val="C2B8AA"/>
                </a:solidFill>
                <a:latin typeface="Calibri"/>
              </a:defRPr>
            </a:pPr>
            <a:r>
              <a:t>Contracts, access, failure and UI behaviour</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114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114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22" presetClass="entr" presetSubtype="2" fill="hold" nodeType="withEffect">
                                  <p:stCondLst>
                                    <p:cond delay="0"/>
                                  </p:stCondLst>
                                  <p:childTnLst>
                                    <p:set>
                                      <p:cBhvr>
                                        <p:cTn id="30" dur="1" fill="hold"/>
                                        <p:tgtEl>
                                          <p:spTgt spid="14"/>
                                        </p:tgtEl>
                                        <p:attrNameLst>
                                          <p:attrName>style.visibility</p:attrName>
                                        </p:attrNameLst>
                                      </p:cBhvr>
                                      <p:to>
                                        <p:strVal val="visible"/>
                                      </p:to>
                                    </p:set>
                                    <p:animEffect transition="in" filter="wipe(right)">
                                      <p:cBhvr>
                                        <p:cTn id="31" dur="500"/>
                                        <p:tgtEl>
                                          <p:spTgt spid="14"/>
                                        </p:tgtEl>
                                      </p:cBhvr>
                                    </p:animEffect>
                                  </p:childTnLst>
                                </p:cTn>
                              </p:par>
                            </p:childTnLst>
                          </p:cTn>
                        </p:par>
                        <p:par>
                          <p:cTn id="32" fill="hold">
                            <p:stCondLst>
                              <p:cond delay="162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62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620"/>
                            </p:stCondLst>
                            <p:childTnLst>
                              <p:par>
                                <p:cTn id="41" presetID="22" presetClass="entr" presetSubtype="2" fill="hold" nodeType="withEffect">
                                  <p:stCondLst>
                                    <p:cond delay="0"/>
                                  </p:stCondLst>
                                  <p:childTnLst>
                                    <p:set>
                                      <p:cBhvr>
                                        <p:cTn id="42" dur="1" fill="hold"/>
                                        <p:tgtEl>
                                          <p:spTgt spid="17"/>
                                        </p:tgtEl>
                                        <p:attrNameLst>
                                          <p:attrName>style.visibility</p:attrName>
                                        </p:attrNameLst>
                                      </p:cBhvr>
                                      <p:to>
                                        <p:strVal val="visible"/>
                                      </p:to>
                                    </p:set>
                                    <p:animEffect transition="in" filter="wipe(right)">
                                      <p:cBhvr>
                                        <p:cTn id="43" dur="500"/>
                                        <p:tgtEl>
                                          <p:spTgt spid="17"/>
                                        </p:tgtEl>
                                      </p:cBhvr>
                                    </p:animEffect>
                                  </p:childTnLst>
                                </p:cTn>
                              </p:par>
                            </p:childTnLst>
                          </p:cTn>
                        </p:par>
                        <p:par>
                          <p:cTn id="44" fill="hold">
                            <p:stCondLst>
                              <p:cond delay="210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210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2100"/>
                            </p:stCondLst>
                            <p:childTnLst>
                              <p:par>
                                <p:cTn id="53" presetID="22" presetClass="entr" presetSubtype="2" fill="hold" nodeType="withEffect">
                                  <p:stCondLst>
                                    <p:cond delay="0"/>
                                  </p:stCondLst>
                                  <p:childTnLst>
                                    <p:set>
                                      <p:cBhvr>
                                        <p:cTn id="54" dur="1" fill="hold"/>
                                        <p:tgtEl>
                                          <p:spTgt spid="20"/>
                                        </p:tgtEl>
                                        <p:attrNameLst>
                                          <p:attrName>style.visibility</p:attrName>
                                        </p:attrNameLst>
                                      </p:cBhvr>
                                      <p:to>
                                        <p:strVal val="visible"/>
                                      </p:to>
                                    </p:set>
                                    <p:animEffect transition="in" filter="wipe(right)">
                                      <p:cBhvr>
                                        <p:cTn id="55" dur="500"/>
                                        <p:tgtEl>
                                          <p:spTgt spid="20"/>
                                        </p:tgtEl>
                                      </p:cBhvr>
                                    </p:animEffect>
                                  </p:childTnLst>
                                </p:cTn>
                              </p:par>
                            </p:childTnLst>
                          </p:cTn>
                        </p:par>
                        <p:par>
                          <p:cTn id="56" fill="hold">
                            <p:stCondLst>
                              <p:cond delay="258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58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58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07 / RESULTS</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11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Results</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1 of 4 · Detection performance: 284 of 300 URLs classified correctly</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Tables 4.3–4.4; confusion matrix derived directly from Table 4.3</a:t>
            </a:r>
          </a:p>
        </p:txBody>
      </p:sp>
      <p:sp>
        <p:nvSpPr>
          <p:cNvPr id="9" name="Rectangle 8"/>
          <p:cNvSpPr/>
          <p:nvPr/>
        </p:nvSpPr>
        <p:spPr>
          <a:xfrm>
            <a:off x="640080" y="8156448"/>
            <a:ext cx="9790176"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06040"/>
            <a:ext cx="2651760" cy="365760"/>
          </a:xfrm>
          <a:prstGeom prst="rect">
            <a:avLst/>
          </a:prstGeom>
          <a:noFill/>
        </p:spPr>
        <p:txBody>
          <a:bodyPr wrap="none" lIns="0" rIns="0" tIns="0" bIns="0" anchor="t">
            <a:spAutoFit/>
          </a:bodyPr>
          <a:lstStyle/>
          <a:p>
            <a:pPr algn="ctr">
              <a:lnSpc>
                <a:spcPct val="116000"/>
              </a:lnSpc>
              <a:spcBef>
                <a:spcPts val="0"/>
              </a:spcBef>
              <a:spcAft>
                <a:spcPts val="0"/>
              </a:spcAft>
              <a:defRPr sz="1100">
                <a:solidFill>
                  <a:srgbClr val="C2B8AA"/>
                </a:solidFill>
                <a:latin typeface="Consolas"/>
              </a:defRPr>
            </a:pPr>
            <a:r>
              <a:t>PREDICTED THREAT</a:t>
            </a:r>
          </a:p>
        </p:txBody>
      </p:sp>
      <p:sp>
        <p:nvSpPr>
          <p:cNvPr id="11" name="TextBox 10"/>
          <p:cNvSpPr txBox="1"/>
          <p:nvPr/>
        </p:nvSpPr>
        <p:spPr>
          <a:xfrm>
            <a:off x="3794760" y="2606040"/>
            <a:ext cx="2651760" cy="365760"/>
          </a:xfrm>
          <a:prstGeom prst="rect">
            <a:avLst/>
          </a:prstGeom>
          <a:noFill/>
        </p:spPr>
        <p:txBody>
          <a:bodyPr wrap="none" lIns="0" rIns="0" tIns="0" bIns="0" anchor="t">
            <a:spAutoFit/>
          </a:bodyPr>
          <a:lstStyle/>
          <a:p>
            <a:pPr algn="ctr">
              <a:lnSpc>
                <a:spcPct val="116000"/>
              </a:lnSpc>
              <a:spcBef>
                <a:spcPts val="0"/>
              </a:spcBef>
              <a:spcAft>
                <a:spcPts val="0"/>
              </a:spcAft>
              <a:defRPr sz="1100">
                <a:solidFill>
                  <a:srgbClr val="C2B8AA"/>
                </a:solidFill>
                <a:latin typeface="Consolas"/>
              </a:defRPr>
            </a:pPr>
            <a:r>
              <a:t>PREDICTED BENIGN</a:t>
            </a:r>
          </a:p>
        </p:txBody>
      </p:sp>
      <p:sp>
        <p:nvSpPr>
          <p:cNvPr id="12" name="Rounded Rectangle 11"/>
          <p:cNvSpPr/>
          <p:nvPr/>
        </p:nvSpPr>
        <p:spPr>
          <a:xfrm>
            <a:off x="914400" y="3154680"/>
            <a:ext cx="265176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337560"/>
            <a:ext cx="2286000" cy="731520"/>
          </a:xfrm>
          <a:prstGeom prst="rect">
            <a:avLst/>
          </a:prstGeom>
          <a:noFill/>
        </p:spPr>
        <p:txBody>
          <a:bodyPr wrap="none" lIns="0" rIns="0" tIns="0" bIns="0" anchor="t">
            <a:spAutoFit/>
          </a:bodyPr>
          <a:lstStyle/>
          <a:p>
            <a:pPr algn="l">
              <a:lnSpc>
                <a:spcPct val="116000"/>
              </a:lnSpc>
              <a:spcBef>
                <a:spcPts val="0"/>
              </a:spcBef>
              <a:spcAft>
                <a:spcPts val="0"/>
              </a:spcAft>
              <a:defRPr sz="4200">
                <a:solidFill>
                  <a:srgbClr val="869B7E"/>
                </a:solidFill>
                <a:latin typeface="Bahnschrift"/>
              </a:defRPr>
            </a:pPr>
            <a:r>
              <a:t>137</a:t>
            </a:r>
          </a:p>
        </p:txBody>
      </p:sp>
      <p:sp>
        <p:nvSpPr>
          <p:cNvPr id="14" name="TextBox 13"/>
          <p:cNvSpPr txBox="1"/>
          <p:nvPr/>
        </p:nvSpPr>
        <p:spPr>
          <a:xfrm>
            <a:off x="1097280" y="4270248"/>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C2B8AA"/>
                </a:solidFill>
                <a:latin typeface="Calibri"/>
              </a:defRPr>
            </a:pPr>
            <a:r>
              <a:t>True positives</a:t>
            </a:r>
          </a:p>
        </p:txBody>
      </p:sp>
      <p:sp>
        <p:nvSpPr>
          <p:cNvPr id="15" name="Rounded Rectangle 14"/>
          <p:cNvSpPr/>
          <p:nvPr/>
        </p:nvSpPr>
        <p:spPr>
          <a:xfrm>
            <a:off x="3794760" y="3154680"/>
            <a:ext cx="265176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77640" y="3337560"/>
            <a:ext cx="2286000" cy="731520"/>
          </a:xfrm>
          <a:prstGeom prst="rect">
            <a:avLst/>
          </a:prstGeom>
          <a:noFill/>
        </p:spPr>
        <p:txBody>
          <a:bodyPr wrap="none" lIns="0" rIns="0" tIns="0" bIns="0" anchor="t">
            <a:spAutoFit/>
          </a:bodyPr>
          <a:lstStyle/>
          <a:p>
            <a:pPr algn="l">
              <a:lnSpc>
                <a:spcPct val="116000"/>
              </a:lnSpc>
              <a:spcBef>
                <a:spcPts val="0"/>
              </a:spcBef>
              <a:spcAft>
                <a:spcPts val="0"/>
              </a:spcAft>
              <a:defRPr sz="4200">
                <a:solidFill>
                  <a:srgbClr val="F69D39"/>
                </a:solidFill>
                <a:latin typeface="Bahnschrift"/>
              </a:defRPr>
            </a:pPr>
            <a:r>
              <a:t>13</a:t>
            </a:r>
          </a:p>
        </p:txBody>
      </p:sp>
      <p:sp>
        <p:nvSpPr>
          <p:cNvPr id="17" name="TextBox 16"/>
          <p:cNvSpPr txBox="1"/>
          <p:nvPr/>
        </p:nvSpPr>
        <p:spPr>
          <a:xfrm>
            <a:off x="3977640" y="4270248"/>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C2B8AA"/>
                </a:solidFill>
                <a:latin typeface="Calibri"/>
              </a:defRPr>
            </a:pPr>
            <a:r>
              <a:t>False negatives</a:t>
            </a:r>
          </a:p>
        </p:txBody>
      </p:sp>
      <p:sp>
        <p:nvSpPr>
          <p:cNvPr id="18" name="Rounded Rectangle 17"/>
          <p:cNvSpPr/>
          <p:nvPr/>
        </p:nvSpPr>
        <p:spPr>
          <a:xfrm>
            <a:off x="914400" y="5166360"/>
            <a:ext cx="265176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49240"/>
            <a:ext cx="2286000" cy="731520"/>
          </a:xfrm>
          <a:prstGeom prst="rect">
            <a:avLst/>
          </a:prstGeom>
          <a:noFill/>
        </p:spPr>
        <p:txBody>
          <a:bodyPr wrap="none" lIns="0" rIns="0" tIns="0" bIns="0" anchor="t">
            <a:spAutoFit/>
          </a:bodyPr>
          <a:lstStyle/>
          <a:p>
            <a:pPr algn="l">
              <a:lnSpc>
                <a:spcPct val="116000"/>
              </a:lnSpc>
              <a:spcBef>
                <a:spcPts val="0"/>
              </a:spcBef>
              <a:spcAft>
                <a:spcPts val="0"/>
              </a:spcAft>
              <a:defRPr sz="4200">
                <a:solidFill>
                  <a:srgbClr val="F69D39"/>
                </a:solidFill>
                <a:latin typeface="Bahnschrift"/>
              </a:defRPr>
            </a:pPr>
            <a:r>
              <a:t>3</a:t>
            </a:r>
          </a:p>
        </p:txBody>
      </p:sp>
      <p:sp>
        <p:nvSpPr>
          <p:cNvPr id="20" name="TextBox 19"/>
          <p:cNvSpPr txBox="1"/>
          <p:nvPr/>
        </p:nvSpPr>
        <p:spPr>
          <a:xfrm>
            <a:off x="1097280" y="6281928"/>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C2B8AA"/>
                </a:solidFill>
                <a:latin typeface="Calibri"/>
              </a:defRPr>
            </a:pPr>
            <a:r>
              <a:t>False positives</a:t>
            </a:r>
          </a:p>
        </p:txBody>
      </p:sp>
      <p:sp>
        <p:nvSpPr>
          <p:cNvPr id="21" name="Rounded Rectangle 20"/>
          <p:cNvSpPr/>
          <p:nvPr/>
        </p:nvSpPr>
        <p:spPr>
          <a:xfrm>
            <a:off x="3794760" y="5166360"/>
            <a:ext cx="2651760" cy="1691640"/>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77640" y="5349240"/>
            <a:ext cx="2286000" cy="731520"/>
          </a:xfrm>
          <a:prstGeom prst="rect">
            <a:avLst/>
          </a:prstGeom>
          <a:noFill/>
        </p:spPr>
        <p:txBody>
          <a:bodyPr wrap="none" lIns="0" rIns="0" tIns="0" bIns="0" anchor="t">
            <a:spAutoFit/>
          </a:bodyPr>
          <a:lstStyle/>
          <a:p>
            <a:pPr algn="l">
              <a:lnSpc>
                <a:spcPct val="116000"/>
              </a:lnSpc>
              <a:spcBef>
                <a:spcPts val="0"/>
              </a:spcBef>
              <a:spcAft>
                <a:spcPts val="0"/>
              </a:spcAft>
              <a:defRPr sz="4200">
                <a:solidFill>
                  <a:srgbClr val="869B7E"/>
                </a:solidFill>
                <a:latin typeface="Bahnschrift"/>
              </a:defRPr>
            </a:pPr>
            <a:r>
              <a:t>147</a:t>
            </a:r>
          </a:p>
        </p:txBody>
      </p:sp>
      <p:sp>
        <p:nvSpPr>
          <p:cNvPr id="23" name="TextBox 22"/>
          <p:cNvSpPr txBox="1"/>
          <p:nvPr/>
        </p:nvSpPr>
        <p:spPr>
          <a:xfrm>
            <a:off x="3977640" y="6281928"/>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500">
                <a:solidFill>
                  <a:srgbClr val="C2B8AA"/>
                </a:solidFill>
                <a:latin typeface="Calibri"/>
              </a:defRPr>
            </a:pPr>
            <a:r>
              <a:t>True negatives</a:t>
            </a:r>
          </a:p>
        </p:txBody>
      </p:sp>
      <p:sp>
        <p:nvSpPr>
          <p:cNvPr id="24" name="TextBox 23"/>
          <p:cNvSpPr txBox="1"/>
          <p:nvPr/>
        </p:nvSpPr>
        <p:spPr>
          <a:xfrm>
            <a:off x="960120" y="2926080"/>
            <a:ext cx="5303520" cy="201168"/>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F69D39"/>
                </a:solidFill>
                <a:latin typeface="Consolas"/>
              </a:defRPr>
            </a:pPr>
            <a:r>
              <a:t>ACTUAL HARMFUL</a:t>
            </a:r>
          </a:p>
        </p:txBody>
      </p:sp>
      <p:sp>
        <p:nvSpPr>
          <p:cNvPr id="25" name="TextBox 24"/>
          <p:cNvSpPr txBox="1"/>
          <p:nvPr/>
        </p:nvSpPr>
        <p:spPr>
          <a:xfrm>
            <a:off x="960120" y="4910328"/>
            <a:ext cx="5303520" cy="201168"/>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869B7E"/>
                </a:solidFill>
                <a:latin typeface="Consolas"/>
              </a:defRPr>
            </a:pPr>
            <a:r>
              <a:t>ACTUAL BENIGN</a:t>
            </a:r>
          </a:p>
        </p:txBody>
      </p:sp>
      <p:sp>
        <p:nvSpPr>
          <p:cNvPr id="26" name="TextBox 25"/>
          <p:cNvSpPr txBox="1"/>
          <p:nvPr/>
        </p:nvSpPr>
        <p:spPr>
          <a:xfrm>
            <a:off x="7498079" y="3017520"/>
            <a:ext cx="3108960" cy="841248"/>
          </a:xfrm>
          <a:prstGeom prst="rect">
            <a:avLst/>
          </a:prstGeom>
          <a:noFill/>
        </p:spPr>
        <p:txBody>
          <a:bodyPr wrap="none" lIns="0" rIns="0" tIns="0" bIns="0" anchor="t">
            <a:spAutoFit/>
          </a:bodyPr>
          <a:lstStyle/>
          <a:p>
            <a:pPr algn="l">
              <a:lnSpc>
                <a:spcPct val="116000"/>
              </a:lnSpc>
              <a:spcBef>
                <a:spcPts val="0"/>
              </a:spcBef>
              <a:spcAft>
                <a:spcPts val="0"/>
              </a:spcAft>
              <a:defRPr sz="4300">
                <a:solidFill>
                  <a:srgbClr val="EFE9DD"/>
                </a:solidFill>
                <a:latin typeface="Bahnschrift"/>
              </a:defRPr>
            </a:pPr>
            <a:r>
              <a:t>94.7%</a:t>
            </a:r>
          </a:p>
        </p:txBody>
      </p:sp>
      <p:sp>
        <p:nvSpPr>
          <p:cNvPr id="27" name="TextBox 26"/>
          <p:cNvSpPr txBox="1"/>
          <p:nvPr/>
        </p:nvSpPr>
        <p:spPr>
          <a:xfrm>
            <a:off x="7498079" y="3931920"/>
            <a:ext cx="3108960" cy="5486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Accuracy</a:t>
            </a:r>
          </a:p>
        </p:txBody>
      </p:sp>
      <p:sp>
        <p:nvSpPr>
          <p:cNvPr id="28" name="TextBox 27"/>
          <p:cNvSpPr txBox="1"/>
          <p:nvPr/>
        </p:nvSpPr>
        <p:spPr>
          <a:xfrm>
            <a:off x="10881359" y="3017520"/>
            <a:ext cx="3108960" cy="841248"/>
          </a:xfrm>
          <a:prstGeom prst="rect">
            <a:avLst/>
          </a:prstGeom>
          <a:noFill/>
        </p:spPr>
        <p:txBody>
          <a:bodyPr wrap="none" lIns="0" rIns="0" tIns="0" bIns="0" anchor="t">
            <a:spAutoFit/>
          </a:bodyPr>
          <a:lstStyle/>
          <a:p>
            <a:pPr algn="l">
              <a:lnSpc>
                <a:spcPct val="116000"/>
              </a:lnSpc>
              <a:spcBef>
                <a:spcPts val="0"/>
              </a:spcBef>
              <a:spcAft>
                <a:spcPts val="0"/>
              </a:spcAft>
              <a:defRPr sz="4300">
                <a:solidFill>
                  <a:srgbClr val="EFE9DD"/>
                </a:solidFill>
                <a:latin typeface="Bahnschrift"/>
              </a:defRPr>
            </a:pPr>
            <a:r>
              <a:t>97.9%</a:t>
            </a:r>
          </a:p>
        </p:txBody>
      </p:sp>
      <p:sp>
        <p:nvSpPr>
          <p:cNvPr id="29" name="TextBox 28"/>
          <p:cNvSpPr txBox="1"/>
          <p:nvPr/>
        </p:nvSpPr>
        <p:spPr>
          <a:xfrm>
            <a:off x="10881359" y="3931920"/>
            <a:ext cx="3108960" cy="5486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Precision</a:t>
            </a:r>
          </a:p>
        </p:txBody>
      </p:sp>
      <p:sp>
        <p:nvSpPr>
          <p:cNvPr id="30" name="TextBox 29"/>
          <p:cNvSpPr txBox="1"/>
          <p:nvPr/>
        </p:nvSpPr>
        <p:spPr>
          <a:xfrm>
            <a:off x="7498079" y="5047488"/>
            <a:ext cx="3108960" cy="841248"/>
          </a:xfrm>
          <a:prstGeom prst="rect">
            <a:avLst/>
          </a:prstGeom>
          <a:noFill/>
        </p:spPr>
        <p:txBody>
          <a:bodyPr wrap="none" lIns="0" rIns="0" tIns="0" bIns="0" anchor="t">
            <a:spAutoFit/>
          </a:bodyPr>
          <a:lstStyle/>
          <a:p>
            <a:pPr algn="l">
              <a:lnSpc>
                <a:spcPct val="116000"/>
              </a:lnSpc>
              <a:spcBef>
                <a:spcPts val="0"/>
              </a:spcBef>
              <a:spcAft>
                <a:spcPts val="0"/>
              </a:spcAft>
              <a:defRPr sz="4300">
                <a:solidFill>
                  <a:srgbClr val="EFE9DD"/>
                </a:solidFill>
                <a:latin typeface="Bahnschrift"/>
              </a:defRPr>
            </a:pPr>
            <a:r>
              <a:t>91.3%</a:t>
            </a:r>
          </a:p>
        </p:txBody>
      </p:sp>
      <p:sp>
        <p:nvSpPr>
          <p:cNvPr id="31" name="TextBox 30"/>
          <p:cNvSpPr txBox="1"/>
          <p:nvPr/>
        </p:nvSpPr>
        <p:spPr>
          <a:xfrm>
            <a:off x="7498079" y="5961888"/>
            <a:ext cx="3108960" cy="5486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Recall</a:t>
            </a:r>
          </a:p>
        </p:txBody>
      </p:sp>
      <p:sp>
        <p:nvSpPr>
          <p:cNvPr id="32" name="TextBox 31"/>
          <p:cNvSpPr txBox="1"/>
          <p:nvPr/>
        </p:nvSpPr>
        <p:spPr>
          <a:xfrm>
            <a:off x="10881359" y="5047488"/>
            <a:ext cx="3108960" cy="841248"/>
          </a:xfrm>
          <a:prstGeom prst="rect">
            <a:avLst/>
          </a:prstGeom>
          <a:noFill/>
        </p:spPr>
        <p:txBody>
          <a:bodyPr wrap="none" lIns="0" rIns="0" tIns="0" bIns="0" anchor="t">
            <a:spAutoFit/>
          </a:bodyPr>
          <a:lstStyle/>
          <a:p>
            <a:pPr algn="l">
              <a:lnSpc>
                <a:spcPct val="116000"/>
              </a:lnSpc>
              <a:spcBef>
                <a:spcPts val="0"/>
              </a:spcBef>
              <a:spcAft>
                <a:spcPts val="0"/>
              </a:spcAft>
              <a:defRPr sz="4300">
                <a:solidFill>
                  <a:srgbClr val="F69D39"/>
                </a:solidFill>
                <a:latin typeface="Bahnschrift"/>
              </a:defRPr>
            </a:pPr>
            <a:r>
              <a:t>2.0%</a:t>
            </a:r>
          </a:p>
        </p:txBody>
      </p:sp>
      <p:sp>
        <p:nvSpPr>
          <p:cNvPr id="33" name="TextBox 32"/>
          <p:cNvSpPr txBox="1"/>
          <p:nvPr/>
        </p:nvSpPr>
        <p:spPr>
          <a:xfrm>
            <a:off x="10881359" y="5961888"/>
            <a:ext cx="3108960" cy="54864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False-positive rate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66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66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66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66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660"/>
                            </p:stCondLst>
                            <p:childTnLst>
                              <p:par>
                                <p:cTn id="45" presetID="10" presetClass="entr" presetSubtype="0" fill="hold" nodeType="withEffect">
                                  <p:stCondLst>
                                    <p:cond delay="0"/>
                                  </p:stCondLst>
                                  <p:childTnLst>
                                    <p:set>
                                      <p:cBhvr>
                                        <p:cTn id="46" dur="1" fill="hold"/>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par>
                          <p:cTn id="48" fill="hold">
                            <p:stCondLst>
                              <p:cond delay="1140"/>
                            </p:stCondLst>
                            <p:childTnLst>
                              <p:par>
                                <p:cTn id="49" presetID="10" presetClass="entr" presetSubtype="0" fill="hold" nodeType="withEffect">
                                  <p:stCondLst>
                                    <p:cond delay="0"/>
                                  </p:stCondLst>
                                  <p:childTnLst>
                                    <p:set>
                                      <p:cBhvr>
                                        <p:cTn id="50" dur="1" fill="hold"/>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par>
                          <p:cTn id="52" fill="hold">
                            <p:stCondLst>
                              <p:cond delay="1140"/>
                            </p:stCondLst>
                            <p:childTnLst>
                              <p:par>
                                <p:cTn id="53" presetID="10" presetClass="entr" presetSubtype="0" fill="hold" nodeType="withEffect">
                                  <p:stCondLst>
                                    <p:cond delay="0"/>
                                  </p:stCondLst>
                                  <p:childTnLst>
                                    <p:set>
                                      <p:cBhvr>
                                        <p:cTn id="54" dur="1" fill="hold"/>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par>
                          <p:cTn id="56" fill="hold">
                            <p:stCondLst>
                              <p:cond delay="1140"/>
                            </p:stCondLst>
                            <p:childTnLst>
                              <p:par>
                                <p:cTn id="57" presetID="10" presetClass="entr" presetSubtype="0" fill="hold" nodeType="withEffect">
                                  <p:stCondLst>
                                    <p:cond delay="0"/>
                                  </p:stCondLst>
                                  <p:childTnLst>
                                    <p:set>
                                      <p:cBhvr>
                                        <p:cTn id="58" dur="1" fill="hold"/>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60" fill="hold">
                            <p:stCondLst>
                              <p:cond delay="1140"/>
                            </p:stCondLst>
                            <p:childTnLst>
                              <p:par>
                                <p:cTn id="61" presetID="10" presetClass="entr" presetSubtype="0" fill="hold" nodeType="withEffect">
                                  <p:stCondLst>
                                    <p:cond delay="0"/>
                                  </p:stCondLst>
                                  <p:childTnLst>
                                    <p:set>
                                      <p:cBhvr>
                                        <p:cTn id="62" dur="1" fill="hold"/>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par>
                          <p:cTn id="64" fill="hold">
                            <p:stCondLst>
                              <p:cond delay="1140"/>
                            </p:stCondLst>
                            <p:childTnLst>
                              <p:par>
                                <p:cTn id="65" presetID="10" presetClass="entr" presetSubtype="0" fill="hold" nodeType="withEffect">
                                  <p:stCondLst>
                                    <p:cond delay="0"/>
                                  </p:stCondLst>
                                  <p:childTnLst>
                                    <p:set>
                                      <p:cBhvr>
                                        <p:cTn id="66" dur="1" fill="hold"/>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par>
                          <p:cTn id="68" fill="hold">
                            <p:stCondLst>
                              <p:cond delay="1140"/>
                            </p:stCondLst>
                            <p:childTnLst>
                              <p:par>
                                <p:cTn id="69" presetID="10" presetClass="entr" presetSubtype="0" fill="hold" nodeType="withEffect">
                                  <p:stCondLst>
                                    <p:cond delay="0"/>
                                  </p:stCondLst>
                                  <p:childTnLst>
                                    <p:set>
                                      <p:cBhvr>
                                        <p:cTn id="70" dur="1" fill="hold"/>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par>
                          <p:cTn id="72" fill="hold">
                            <p:stCondLst>
                              <p:cond delay="114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162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162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210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210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2580"/>
                            </p:stCondLst>
                            <p:childTnLst>
                              <p:par>
                                <p:cTn id="93" presetID="10" presetClass="entr" presetSubtype="0" fill="hold" nodeType="withEffect">
                                  <p:stCondLst>
                                    <p:cond delay="0"/>
                                  </p:stCondLst>
                                  <p:childTnLst>
                                    <p:set>
                                      <p:cBhvr>
                                        <p:cTn id="94" dur="1" fill="hold"/>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2580"/>
                            </p:stCondLst>
                            <p:childTnLst>
                              <p:par>
                                <p:cTn id="97" presetID="10" presetClass="entr" presetSubtype="0" fill="hold" nodeType="withEffect">
                                  <p:stCondLst>
                                    <p:cond delay="0"/>
                                  </p:stCondLst>
                                  <p:childTnLst>
                                    <p:set>
                                      <p:cBhvr>
                                        <p:cTn id="98" dur="1" fill="hold"/>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par>
                          <p:cTn id="100" fill="hold">
                            <p:stCondLst>
                              <p:cond delay="3060"/>
                            </p:stCondLst>
                            <p:childTnLst>
                              <p:par>
                                <p:cTn id="101" presetID="10" presetClass="entr" presetSubtype="0" fill="hold" nodeType="withEffect">
                                  <p:stCondLst>
                                    <p:cond delay="0"/>
                                  </p:stCondLst>
                                  <p:childTnLst>
                                    <p:set>
                                      <p:cBhvr>
                                        <p:cTn id="102" dur="1" fill="hold"/>
                                        <p:tgtEl>
                                          <p:spTgt spid="32"/>
                                        </p:tgtEl>
                                        <p:attrNameLst>
                                          <p:attrName>style.visibility</p:attrName>
                                        </p:attrNameLst>
                                      </p:cBhvr>
                                      <p:to>
                                        <p:strVal val="visible"/>
                                      </p:to>
                                    </p:set>
                                    <p:animEffect transition="in" filter="fade">
                                      <p:cBhvr>
                                        <p:cTn id="103" dur="500"/>
                                        <p:tgtEl>
                                          <p:spTgt spid="32"/>
                                        </p:tgtEl>
                                      </p:cBhvr>
                                    </p:animEffect>
                                  </p:childTnLst>
                                </p:cTn>
                              </p:par>
                            </p:childTnLst>
                          </p:cTn>
                        </p:par>
                        <p:par>
                          <p:cTn id="104" fill="hold">
                            <p:stCondLst>
                              <p:cond delay="3060"/>
                            </p:stCondLst>
                            <p:childTnLst>
                              <p:par>
                                <p:cTn id="105" presetID="10" presetClass="entr" presetSubtype="0" fill="hold" nodeType="withEffect">
                                  <p:stCondLst>
                                    <p:cond delay="0"/>
                                  </p:stCondLst>
                                  <p:childTnLst>
                                    <p:set>
                                      <p:cBhvr>
                                        <p:cTn id="106" dur="1" fill="hold"/>
                                        <p:tgtEl>
                                          <p:spTgt spid="33"/>
                                        </p:tgtEl>
                                        <p:attrNameLst>
                                          <p:attrName>style.visibility</p:attrName>
                                        </p:attrNameLst>
                                      </p:cBhvr>
                                      <p:to>
                                        <p:strVal val="visible"/>
                                      </p:to>
                                    </p:set>
                                    <p:animEffect transition="in" filter="fade">
                                      <p:cBhvr>
                                        <p:cTn id="10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07 / RESULTS</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12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Results</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2 of 4 · Processing speed: 4.05-second mean end-to-end analysis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Tables 4.1–4.2 and §4.6; original warm target in §3.9</a:t>
            </a:r>
          </a:p>
        </p:txBody>
      </p:sp>
      <p:sp>
        <p:nvSpPr>
          <p:cNvPr id="9" name="Rectangle 8"/>
          <p:cNvSpPr/>
          <p:nvPr/>
        </p:nvSpPr>
        <p:spPr>
          <a:xfrm>
            <a:off x="640080" y="8156448"/>
            <a:ext cx="10680192"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43200"/>
            <a:ext cx="3200400" cy="457200"/>
          </a:xfrm>
          <a:prstGeom prst="rect">
            <a:avLst/>
          </a:prstGeom>
          <a:noFill/>
        </p:spPr>
        <p:txBody>
          <a:bodyPr wrap="none" lIns="0" rIns="0" tIns="0" bIns="0" anchor="t">
            <a:spAutoFit/>
          </a:bodyPr>
          <a:lstStyle/>
          <a:p>
            <a:pPr algn="l">
              <a:lnSpc>
                <a:spcPct val="116000"/>
              </a:lnSpc>
              <a:spcBef>
                <a:spcPts val="0"/>
              </a:spcBef>
              <a:spcAft>
                <a:spcPts val="0"/>
              </a:spcAft>
              <a:defRPr sz="2000">
                <a:solidFill>
                  <a:srgbClr val="EFE9DD"/>
                </a:solidFill>
                <a:latin typeface="Calibri"/>
              </a:defRPr>
            </a:pPr>
            <a:r>
              <a:t>URL / context</a:t>
            </a:r>
          </a:p>
        </p:txBody>
      </p:sp>
      <p:sp>
        <p:nvSpPr>
          <p:cNvPr id="11" name="Rectangle 10"/>
          <p:cNvSpPr/>
          <p:nvPr/>
        </p:nvSpPr>
        <p:spPr>
          <a:xfrm>
            <a:off x="4114800" y="2834640"/>
            <a:ext cx="3608614" cy="274320"/>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2743200"/>
            <a:ext cx="1645920" cy="4572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869B7E"/>
                </a:solidFill>
                <a:latin typeface="Consolas"/>
              </a:defRPr>
            </a:pPr>
            <a:r>
              <a:t>850</a:t>
            </a:r>
          </a:p>
        </p:txBody>
      </p:sp>
      <p:sp>
        <p:nvSpPr>
          <p:cNvPr id="13" name="TextBox 12"/>
          <p:cNvSpPr txBox="1"/>
          <p:nvPr/>
        </p:nvSpPr>
        <p:spPr>
          <a:xfrm>
            <a:off x="777240" y="3675887"/>
            <a:ext cx="3200400" cy="457200"/>
          </a:xfrm>
          <a:prstGeom prst="rect">
            <a:avLst/>
          </a:prstGeom>
          <a:noFill/>
        </p:spPr>
        <p:txBody>
          <a:bodyPr wrap="none" lIns="0" rIns="0" tIns="0" bIns="0" anchor="t">
            <a:spAutoFit/>
          </a:bodyPr>
          <a:lstStyle/>
          <a:p>
            <a:pPr algn="l">
              <a:lnSpc>
                <a:spcPct val="116000"/>
              </a:lnSpc>
              <a:spcBef>
                <a:spcPts val="0"/>
              </a:spcBef>
              <a:spcAft>
                <a:spcPts val="0"/>
              </a:spcAft>
              <a:defRPr sz="2000">
                <a:solidFill>
                  <a:srgbClr val="EFE9DD"/>
                </a:solidFill>
                <a:latin typeface="Calibri"/>
              </a:defRPr>
            </a:pPr>
            <a:r>
              <a:t>Content analysis</a:t>
            </a:r>
          </a:p>
        </p:txBody>
      </p:sp>
      <p:sp>
        <p:nvSpPr>
          <p:cNvPr id="14" name="Rectangle 13"/>
          <p:cNvSpPr/>
          <p:nvPr/>
        </p:nvSpPr>
        <p:spPr>
          <a:xfrm>
            <a:off x="4114800" y="3767327"/>
            <a:ext cx="5094514" cy="274320"/>
          </a:xfrm>
          <a:prstGeom prst="rect">
            <a:avLst/>
          </a:prstGeom>
          <a:solidFill>
            <a:srgbClr val="EFE9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3675887"/>
            <a:ext cx="1645920" cy="4572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Consolas"/>
              </a:defRPr>
            </a:pPr>
            <a:r>
              <a:t>1,200</a:t>
            </a:r>
          </a:p>
        </p:txBody>
      </p:sp>
      <p:sp>
        <p:nvSpPr>
          <p:cNvPr id="16" name="TextBox 15"/>
          <p:cNvSpPr txBox="1"/>
          <p:nvPr/>
        </p:nvSpPr>
        <p:spPr>
          <a:xfrm>
            <a:off x="777240" y="4608576"/>
            <a:ext cx="3200400" cy="457200"/>
          </a:xfrm>
          <a:prstGeom prst="rect">
            <a:avLst/>
          </a:prstGeom>
          <a:noFill/>
        </p:spPr>
        <p:txBody>
          <a:bodyPr wrap="none" lIns="0" rIns="0" tIns="0" bIns="0" anchor="t">
            <a:spAutoFit/>
          </a:bodyPr>
          <a:lstStyle/>
          <a:p>
            <a:pPr algn="l">
              <a:lnSpc>
                <a:spcPct val="116000"/>
              </a:lnSpc>
              <a:spcBef>
                <a:spcPts val="0"/>
              </a:spcBef>
              <a:spcAft>
                <a:spcPts val="0"/>
              </a:spcAft>
              <a:defRPr sz="2000">
                <a:solidFill>
                  <a:srgbClr val="EFE9DD"/>
                </a:solidFill>
                <a:latin typeface="Calibri"/>
              </a:defRPr>
            </a:pPr>
            <a:r>
              <a:t>Threat intelligence</a:t>
            </a:r>
          </a:p>
        </p:txBody>
      </p:sp>
      <p:sp>
        <p:nvSpPr>
          <p:cNvPr id="17" name="Rectangle 16"/>
          <p:cNvSpPr/>
          <p:nvPr/>
        </p:nvSpPr>
        <p:spPr>
          <a:xfrm>
            <a:off x="4114800" y="4700016"/>
            <a:ext cx="2547257" cy="274320"/>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0" y="4608576"/>
            <a:ext cx="1645920" cy="4572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869B7E"/>
                </a:solidFill>
                <a:latin typeface="Consolas"/>
              </a:defRPr>
            </a:pPr>
            <a:r>
              <a:t>600</a:t>
            </a:r>
          </a:p>
        </p:txBody>
      </p:sp>
      <p:sp>
        <p:nvSpPr>
          <p:cNvPr id="19" name="TextBox 18"/>
          <p:cNvSpPr txBox="1"/>
          <p:nvPr/>
        </p:nvSpPr>
        <p:spPr>
          <a:xfrm>
            <a:off x="777240" y="5541264"/>
            <a:ext cx="3200400" cy="457200"/>
          </a:xfrm>
          <a:prstGeom prst="rect">
            <a:avLst/>
          </a:prstGeom>
          <a:noFill/>
        </p:spPr>
        <p:txBody>
          <a:bodyPr wrap="none" lIns="0" rIns="0" tIns="0" bIns="0" anchor="t">
            <a:spAutoFit/>
          </a:bodyPr>
          <a:lstStyle/>
          <a:p>
            <a:pPr algn="l">
              <a:lnSpc>
                <a:spcPct val="116000"/>
              </a:lnSpc>
              <a:spcBef>
                <a:spcPts val="0"/>
              </a:spcBef>
              <a:spcAft>
                <a:spcPts val="0"/>
              </a:spcAft>
              <a:defRPr sz="2000">
                <a:solidFill>
                  <a:srgbClr val="EFE9DD"/>
                </a:solidFill>
                <a:latin typeface="Calibri"/>
              </a:defRPr>
            </a:pPr>
            <a:r>
              <a:t>Reporter</a:t>
            </a:r>
          </a:p>
        </p:txBody>
      </p:sp>
      <p:sp>
        <p:nvSpPr>
          <p:cNvPr id="20" name="Rectangle 19"/>
          <p:cNvSpPr/>
          <p:nvPr/>
        </p:nvSpPr>
        <p:spPr>
          <a:xfrm>
            <a:off x="4114800" y="5632704"/>
            <a:ext cx="5943600" cy="274320"/>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32720" y="5541264"/>
            <a:ext cx="1645920" cy="45720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F69D39"/>
                </a:solidFill>
                <a:latin typeface="Consolas"/>
              </a:defRPr>
            </a:pPr>
            <a:r>
              <a:t>1,400</a:t>
            </a:r>
          </a:p>
        </p:txBody>
      </p:sp>
      <p:sp>
        <p:nvSpPr>
          <p:cNvPr id="22" name="TextBox 21"/>
          <p:cNvSpPr txBox="1"/>
          <p:nvPr/>
        </p:nvSpPr>
        <p:spPr>
          <a:xfrm>
            <a:off x="12070080" y="2743200"/>
            <a:ext cx="1920240" cy="914400"/>
          </a:xfrm>
          <a:prstGeom prst="rect">
            <a:avLst/>
          </a:prstGeom>
          <a:noFill/>
        </p:spPr>
        <p:txBody>
          <a:bodyPr wrap="none" lIns="0" rIns="0" tIns="0" bIns="0" anchor="t">
            <a:spAutoFit/>
          </a:bodyPr>
          <a:lstStyle/>
          <a:p>
            <a:pPr algn="l">
              <a:lnSpc>
                <a:spcPct val="116000"/>
              </a:lnSpc>
              <a:spcBef>
                <a:spcPts val="0"/>
              </a:spcBef>
              <a:spcAft>
                <a:spcPts val="0"/>
              </a:spcAft>
              <a:defRPr sz="3300">
                <a:solidFill>
                  <a:srgbClr val="F69D39"/>
                </a:solidFill>
                <a:latin typeface="Bahnschrift"/>
              </a:defRPr>
            </a:pPr>
            <a:r>
              <a:t>4.05 s</a:t>
            </a:r>
          </a:p>
        </p:txBody>
      </p:sp>
      <p:sp>
        <p:nvSpPr>
          <p:cNvPr id="23" name="TextBox 22"/>
          <p:cNvSpPr txBox="1"/>
          <p:nvPr/>
        </p:nvSpPr>
        <p:spPr>
          <a:xfrm>
            <a:off x="12070080" y="3749039"/>
            <a:ext cx="1920240" cy="155448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Mean total</a:t>
            </a:r>
          </a:p>
          <a:p>
            <a:pPr algn="l">
              <a:lnSpc>
                <a:spcPct val="116000"/>
              </a:lnSpc>
              <a:spcBef>
                <a:spcPts val="0"/>
              </a:spcBef>
              <a:spcAft>
                <a:spcPts val="0"/>
              </a:spcAft>
              <a:defRPr sz="1800">
                <a:solidFill>
                  <a:srgbClr val="C2B8AA"/>
                </a:solidFill>
                <a:latin typeface="Calibri"/>
              </a:defRPr>
            </a:pPr>
          </a:p>
          <a:p>
            <a:pPr algn="l">
              <a:lnSpc>
                <a:spcPct val="116000"/>
              </a:lnSpc>
              <a:spcBef>
                <a:spcPts val="0"/>
              </a:spcBef>
              <a:spcAft>
                <a:spcPts val="0"/>
              </a:spcAft>
              <a:defRPr sz="1800">
                <a:solidFill>
                  <a:srgbClr val="C2B8AA"/>
                </a:solidFill>
                <a:latin typeface="Calibri"/>
              </a:defRPr>
            </a:pPr>
            <a:r>
              <a:t>&lt;100 ms</a:t>
            </a:r>
          </a:p>
          <a:p>
            <a:pPr algn="l">
              <a:lnSpc>
                <a:spcPct val="116000"/>
              </a:lnSpc>
              <a:spcBef>
                <a:spcPts val="0"/>
              </a:spcBef>
              <a:spcAft>
                <a:spcPts val="0"/>
              </a:spcAft>
              <a:defRPr sz="1800">
                <a:solidFill>
                  <a:srgbClr val="C2B8AA"/>
                </a:solidFill>
                <a:latin typeface="Calibri"/>
              </a:defRPr>
            </a:pPr>
            <a:r>
              <a:t>cached repeat</a:t>
            </a:r>
          </a:p>
        </p:txBody>
      </p:sp>
      <p:sp>
        <p:nvSpPr>
          <p:cNvPr id="24" name="Rounded Rectangle 23"/>
          <p:cNvSpPr/>
          <p:nvPr/>
        </p:nvSpPr>
        <p:spPr>
          <a:xfrm>
            <a:off x="777240" y="6629400"/>
            <a:ext cx="13075920" cy="612648"/>
          </a:xfrm>
          <a:prstGeom prst="roundRect">
            <a:avLst>
              <a:gd name="adj" fmla="val 8000"/>
            </a:avLst>
          </a:prstGeom>
          <a:solidFill>
            <a:srgbClr val="2A2425"/>
          </a:solidFill>
          <a:ln w="10160">
            <a:solidFill>
              <a:srgbClr val="514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6766560"/>
            <a:ext cx="12618720" cy="365760"/>
          </a:xfrm>
          <a:prstGeom prst="rect">
            <a:avLst/>
          </a:prstGeom>
          <a:noFill/>
        </p:spPr>
        <p:txBody>
          <a:bodyPr wrap="none" lIns="0" rIns="0" tIns="0" bIns="0" anchor="t">
            <a:spAutoFit/>
          </a:bodyPr>
          <a:lstStyle/>
          <a:p>
            <a:pPr algn="l">
              <a:lnSpc>
                <a:spcPct val="116000"/>
              </a:lnSpc>
              <a:spcBef>
                <a:spcPts val="0"/>
              </a:spcBef>
              <a:spcAft>
                <a:spcPts val="0"/>
              </a:spcAft>
              <a:defRPr sz="1900">
                <a:solidFill>
                  <a:srgbClr val="F69D39"/>
                </a:solidFill>
                <a:latin typeface="Calibri"/>
              </a:defRPr>
            </a:pPr>
            <a:r>
              <a:t>Strict warm target: 4.00 s → measured mean: 0.05 s above target.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22" presetClass="entr" presetSubtype="2" fill="hold" nodeType="withEffect">
                                  <p:stCondLst>
                                    <p:cond delay="0"/>
                                  </p:stCondLst>
                                  <p:childTnLst>
                                    <p:set>
                                      <p:cBhvr>
                                        <p:cTn id="18" dur="1" fill="hold"/>
                                        <p:tgtEl>
                                          <p:spTgt spid="11"/>
                                        </p:tgtEl>
                                        <p:attrNameLst>
                                          <p:attrName>style.visibility</p:attrName>
                                        </p:attrNameLst>
                                      </p:cBhvr>
                                      <p:to>
                                        <p:strVal val="visible"/>
                                      </p:to>
                                    </p:set>
                                    <p:animEffect transition="in" filter="wipe(right)">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114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22" presetClass="entr" presetSubtype="2" fill="hold" nodeType="withEffect">
                                  <p:stCondLst>
                                    <p:cond delay="0"/>
                                  </p:stCondLst>
                                  <p:childTnLst>
                                    <p:set>
                                      <p:cBhvr>
                                        <p:cTn id="30" dur="1" fill="hold"/>
                                        <p:tgtEl>
                                          <p:spTgt spid="14"/>
                                        </p:tgtEl>
                                        <p:attrNameLst>
                                          <p:attrName>style.visibility</p:attrName>
                                        </p:attrNameLst>
                                      </p:cBhvr>
                                      <p:to>
                                        <p:strVal val="visible"/>
                                      </p:to>
                                    </p:set>
                                    <p:animEffect transition="in" filter="wipe(right)">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62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620"/>
                            </p:stCondLst>
                            <p:childTnLst>
                              <p:par>
                                <p:cTn id="41" presetID="22" presetClass="entr" presetSubtype="2" fill="hold" nodeType="withEffect">
                                  <p:stCondLst>
                                    <p:cond delay="0"/>
                                  </p:stCondLst>
                                  <p:childTnLst>
                                    <p:set>
                                      <p:cBhvr>
                                        <p:cTn id="42" dur="1" fill="hold"/>
                                        <p:tgtEl>
                                          <p:spTgt spid="17"/>
                                        </p:tgtEl>
                                        <p:attrNameLst>
                                          <p:attrName>style.visibility</p:attrName>
                                        </p:attrNameLst>
                                      </p:cBhvr>
                                      <p:to>
                                        <p:strVal val="visible"/>
                                      </p:to>
                                    </p:set>
                                    <p:animEffect transition="in" filter="wipe(right)">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210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2100"/>
                            </p:stCondLst>
                            <p:childTnLst>
                              <p:par>
                                <p:cTn id="53" presetID="22" presetClass="entr" presetSubtype="2" fill="hold" nodeType="withEffect">
                                  <p:stCondLst>
                                    <p:cond delay="0"/>
                                  </p:stCondLst>
                                  <p:childTnLst>
                                    <p:set>
                                      <p:cBhvr>
                                        <p:cTn id="54" dur="1" fill="hold"/>
                                        <p:tgtEl>
                                          <p:spTgt spid="20"/>
                                        </p:tgtEl>
                                        <p:attrNameLst>
                                          <p:attrName>style.visibility</p:attrName>
                                        </p:attrNameLst>
                                      </p:cBhvr>
                                      <p:to>
                                        <p:strVal val="visible"/>
                                      </p:to>
                                    </p:set>
                                    <p:animEffect transition="in" filter="wipe(right)">
                                      <p:cBhvr>
                                        <p:cTn id="55" dur="500"/>
                                        <p:tgtEl>
                                          <p:spTgt spid="20"/>
                                        </p:tgtEl>
                                      </p:cBhvr>
                                    </p:animEffect>
                                  </p:childTnLst>
                                </p:cTn>
                              </p:par>
                            </p:childTnLst>
                          </p:cTn>
                        </p:par>
                        <p:par>
                          <p:cTn id="56" fill="hold">
                            <p:stCondLst>
                              <p:cond delay="210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58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58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306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306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07 / RESULTS</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13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Results</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3 of 4 · Explanation quality and the user-facing alert</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Table 4.6 and Fig. 4.3 (original alert screenshot)</a:t>
            </a:r>
          </a:p>
        </p:txBody>
      </p:sp>
      <p:sp>
        <p:nvSpPr>
          <p:cNvPr id="9" name="Rectangle 8"/>
          <p:cNvSpPr/>
          <p:nvPr/>
        </p:nvSpPr>
        <p:spPr>
          <a:xfrm>
            <a:off x="640080" y="8156448"/>
            <a:ext cx="11570208"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80360"/>
            <a:ext cx="5486400" cy="41148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Calibri"/>
              </a:defRPr>
            </a:pPr>
            <a:r>
              <a:t>Factual accuracy</a:t>
            </a:r>
          </a:p>
        </p:txBody>
      </p:sp>
      <p:sp>
        <p:nvSpPr>
          <p:cNvPr id="11" name="Rectangle 10"/>
          <p:cNvSpPr/>
          <p:nvPr/>
        </p:nvSpPr>
        <p:spPr>
          <a:xfrm>
            <a:off x="822960" y="3447288"/>
            <a:ext cx="5760720" cy="146304"/>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3447288"/>
            <a:ext cx="5472684" cy="14630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2880360"/>
            <a:ext cx="1828800" cy="54864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F69D39"/>
                </a:solidFill>
                <a:latin typeface="Consolas"/>
              </a:defRPr>
            </a:pPr>
            <a:r>
              <a:t>9.5/10</a:t>
            </a:r>
          </a:p>
        </p:txBody>
      </p:sp>
      <p:sp>
        <p:nvSpPr>
          <p:cNvPr id="14" name="TextBox 13"/>
          <p:cNvSpPr txBox="1"/>
          <p:nvPr/>
        </p:nvSpPr>
        <p:spPr>
          <a:xfrm>
            <a:off x="822960" y="3959352"/>
            <a:ext cx="5486400" cy="41148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Calibri"/>
              </a:defRPr>
            </a:pPr>
            <a:r>
              <a:t>Readability</a:t>
            </a:r>
          </a:p>
        </p:txBody>
      </p:sp>
      <p:sp>
        <p:nvSpPr>
          <p:cNvPr id="15" name="Rectangle 14"/>
          <p:cNvSpPr/>
          <p:nvPr/>
        </p:nvSpPr>
        <p:spPr>
          <a:xfrm>
            <a:off x="822960" y="4526280"/>
            <a:ext cx="5760720" cy="146304"/>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526280"/>
            <a:ext cx="5184648" cy="146304"/>
          </a:xfrm>
          <a:prstGeom prst="rect">
            <a:avLst/>
          </a:prstGeom>
          <a:solidFill>
            <a:srgbClr val="869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3720" y="3959352"/>
            <a:ext cx="1828800" cy="54864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F69D39"/>
                </a:solidFill>
                <a:latin typeface="Consolas"/>
              </a:defRPr>
            </a:pPr>
            <a:r>
              <a:t>9.0/10</a:t>
            </a:r>
          </a:p>
        </p:txBody>
      </p:sp>
      <p:sp>
        <p:nvSpPr>
          <p:cNvPr id="18" name="TextBox 17"/>
          <p:cNvSpPr txBox="1"/>
          <p:nvPr/>
        </p:nvSpPr>
        <p:spPr>
          <a:xfrm>
            <a:off x="822960" y="5038344"/>
            <a:ext cx="5486400" cy="411480"/>
          </a:xfrm>
          <a:prstGeom prst="rect">
            <a:avLst/>
          </a:prstGeom>
          <a:noFill/>
        </p:spPr>
        <p:txBody>
          <a:bodyPr wrap="none" lIns="0" rIns="0" tIns="0" bIns="0" anchor="t">
            <a:spAutoFit/>
          </a:bodyPr>
          <a:lstStyle/>
          <a:p>
            <a:pPr algn="l">
              <a:lnSpc>
                <a:spcPct val="116000"/>
              </a:lnSpc>
              <a:spcBef>
                <a:spcPts val="0"/>
              </a:spcBef>
              <a:spcAft>
                <a:spcPts val="0"/>
              </a:spcAft>
              <a:defRPr sz="2200">
                <a:solidFill>
                  <a:srgbClr val="EFE9DD"/>
                </a:solidFill>
                <a:latin typeface="Calibri"/>
              </a:defRPr>
            </a:pPr>
            <a:r>
              <a:t>Useful advice</a:t>
            </a:r>
          </a:p>
        </p:txBody>
      </p:sp>
      <p:sp>
        <p:nvSpPr>
          <p:cNvPr id="19" name="Rectangle 18"/>
          <p:cNvSpPr/>
          <p:nvPr/>
        </p:nvSpPr>
        <p:spPr>
          <a:xfrm>
            <a:off x="822960" y="5605272"/>
            <a:ext cx="5760720" cy="146304"/>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5605272"/>
            <a:ext cx="5069433" cy="146304"/>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5038344"/>
            <a:ext cx="1828800" cy="548640"/>
          </a:xfrm>
          <a:prstGeom prst="rect">
            <a:avLst/>
          </a:prstGeom>
          <a:noFill/>
        </p:spPr>
        <p:txBody>
          <a:bodyPr wrap="none" lIns="0" rIns="0" tIns="0" bIns="0" anchor="t">
            <a:spAutoFit/>
          </a:bodyPr>
          <a:lstStyle/>
          <a:p>
            <a:pPr algn="l">
              <a:lnSpc>
                <a:spcPct val="116000"/>
              </a:lnSpc>
              <a:spcBef>
                <a:spcPts val="0"/>
              </a:spcBef>
              <a:spcAft>
                <a:spcPts val="0"/>
              </a:spcAft>
              <a:defRPr sz="2500">
                <a:solidFill>
                  <a:srgbClr val="F69D39"/>
                </a:solidFill>
                <a:latin typeface="Consolas"/>
              </a:defRPr>
            </a:pPr>
            <a:r>
              <a:t>8.8/10</a:t>
            </a:r>
          </a:p>
        </p:txBody>
      </p:sp>
      <p:sp>
        <p:nvSpPr>
          <p:cNvPr id="22" name="TextBox 21"/>
          <p:cNvSpPr txBox="1"/>
          <p:nvPr/>
        </p:nvSpPr>
        <p:spPr>
          <a:xfrm>
            <a:off x="822960" y="6400800"/>
            <a:ext cx="7772400" cy="77724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Human-rated, descriptive results.</a:t>
            </a:r>
          </a:p>
          <a:p>
            <a:pPr algn="l">
              <a:lnSpc>
                <a:spcPct val="116000"/>
              </a:lnSpc>
              <a:spcBef>
                <a:spcPts val="0"/>
              </a:spcBef>
              <a:spcAft>
                <a:spcPts val="0"/>
              </a:spcAft>
              <a:defRPr sz="1700">
                <a:solidFill>
                  <a:srgbClr val="C2B8AA"/>
                </a:solidFill>
                <a:latin typeface="Calibri"/>
              </a:defRPr>
            </a:pPr>
            <a:r>
              <a:t>Not a blinded user study or a current-model score.</a:t>
            </a:r>
          </a:p>
        </p:txBody>
      </p:sp>
      <p:pic>
        <p:nvPicPr>
          <p:cNvPr id="23" name="Picture 22" descr="image11.png"/>
          <p:cNvPicPr>
            <a:picLocks noChangeAspect="1"/>
          </p:cNvPicPr>
          <p:nvPr/>
        </p:nvPicPr>
        <p:blipFill>
          <a:blip r:embed="rId4"/>
          <a:stretch>
            <a:fillRect/>
          </a:stretch>
        </p:blipFill>
        <p:spPr>
          <a:xfrm>
            <a:off x="9738360" y="2606040"/>
            <a:ext cx="3291840" cy="2975316"/>
          </a:xfrm>
          <a:prstGeom prst="rect">
            <a:avLst/>
          </a:prstGeom>
        </p:spPr>
      </p:pic>
      <p:sp>
        <p:nvSpPr>
          <p:cNvPr id="24" name="TextBox 23"/>
          <p:cNvSpPr txBox="1"/>
          <p:nvPr/>
        </p:nvSpPr>
        <p:spPr>
          <a:xfrm>
            <a:off x="9372600" y="6903720"/>
            <a:ext cx="4114800" cy="457200"/>
          </a:xfrm>
          <a:prstGeom prst="rect">
            <a:avLst/>
          </a:prstGeom>
          <a:noFill/>
        </p:spPr>
        <p:txBody>
          <a:bodyPr wrap="none" lIns="0" rIns="0" tIns="0" bIns="0" anchor="t">
            <a:spAutoFit/>
          </a:bodyPr>
          <a:lstStyle/>
          <a:p>
            <a:pPr algn="ctr">
              <a:lnSpc>
                <a:spcPct val="116000"/>
              </a:lnSpc>
              <a:spcBef>
                <a:spcPts val="0"/>
              </a:spcBef>
              <a:spcAft>
                <a:spcPts val="0"/>
              </a:spcAft>
              <a:defRPr sz="1200">
                <a:solidFill>
                  <a:srgbClr val="C2B8AA"/>
                </a:solidFill>
                <a:latin typeface="Calibri"/>
              </a:defRPr>
            </a:pPr>
            <a:r>
              <a:t>Original thesis interface illustration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22" presetClass="entr" presetSubtype="2" fill="hold" nodeType="withEffect">
                                  <p:stCondLst>
                                    <p:cond delay="0"/>
                                  </p:stCondLst>
                                  <p:childTnLst>
                                    <p:set>
                                      <p:cBhvr>
                                        <p:cTn id="18" dur="1" fill="hold"/>
                                        <p:tgtEl>
                                          <p:spTgt spid="11"/>
                                        </p:tgtEl>
                                        <p:attrNameLst>
                                          <p:attrName>style.visibility</p:attrName>
                                        </p:attrNameLst>
                                      </p:cBhvr>
                                      <p:to>
                                        <p:strVal val="visible"/>
                                      </p:to>
                                    </p:set>
                                    <p:animEffect transition="in" filter="wipe(right)">
                                      <p:cBhvr>
                                        <p:cTn id="19" dur="500"/>
                                        <p:tgtEl>
                                          <p:spTgt spid="11"/>
                                        </p:tgtEl>
                                      </p:cBhvr>
                                    </p:animEffect>
                                  </p:childTnLst>
                                </p:cTn>
                              </p:par>
                            </p:childTnLst>
                          </p:cTn>
                        </p:par>
                        <p:par>
                          <p:cTn id="20" fill="hold">
                            <p:stCondLst>
                              <p:cond delay="660"/>
                            </p:stCondLst>
                            <p:childTnLst>
                              <p:par>
                                <p:cTn id="21" presetID="22" presetClass="entr" presetSubtype="2" fill="hold" nodeType="withEffect">
                                  <p:stCondLst>
                                    <p:cond delay="0"/>
                                  </p:stCondLst>
                                  <p:childTnLst>
                                    <p:set>
                                      <p:cBhvr>
                                        <p:cTn id="22" dur="1" fill="hold"/>
                                        <p:tgtEl>
                                          <p:spTgt spid="12"/>
                                        </p:tgtEl>
                                        <p:attrNameLst>
                                          <p:attrName>style.visibility</p:attrName>
                                        </p:attrNameLst>
                                      </p:cBhvr>
                                      <p:to>
                                        <p:strVal val="visible"/>
                                      </p:to>
                                    </p:set>
                                    <p:animEffect transition="in" filter="wipe(right)">
                                      <p:cBhvr>
                                        <p:cTn id="23" dur="500"/>
                                        <p:tgtEl>
                                          <p:spTgt spid="12"/>
                                        </p:tgtEl>
                                      </p:cBhvr>
                                    </p:animEffect>
                                  </p:childTnLst>
                                </p:cTn>
                              </p:par>
                            </p:childTnLst>
                          </p:cTn>
                        </p:par>
                        <p:par>
                          <p:cTn id="24" fill="hold">
                            <p:stCondLst>
                              <p:cond delay="66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22" presetClass="entr" presetSubtype="2" fill="hold" nodeType="withEffect">
                                  <p:stCondLst>
                                    <p:cond delay="0"/>
                                  </p:stCondLst>
                                  <p:childTnLst>
                                    <p:set>
                                      <p:cBhvr>
                                        <p:cTn id="34" dur="1" fill="hold"/>
                                        <p:tgtEl>
                                          <p:spTgt spid="15"/>
                                        </p:tgtEl>
                                        <p:attrNameLst>
                                          <p:attrName>style.visibility</p:attrName>
                                        </p:attrNameLst>
                                      </p:cBhvr>
                                      <p:to>
                                        <p:strVal val="visible"/>
                                      </p:to>
                                    </p:set>
                                    <p:animEffect transition="in" filter="wipe(right)">
                                      <p:cBhvr>
                                        <p:cTn id="35" dur="500"/>
                                        <p:tgtEl>
                                          <p:spTgt spid="15"/>
                                        </p:tgtEl>
                                      </p:cBhvr>
                                    </p:animEffect>
                                  </p:childTnLst>
                                </p:cTn>
                              </p:par>
                            </p:childTnLst>
                          </p:cTn>
                        </p:par>
                        <p:par>
                          <p:cTn id="36" fill="hold">
                            <p:stCondLst>
                              <p:cond delay="1140"/>
                            </p:stCondLst>
                            <p:childTnLst>
                              <p:par>
                                <p:cTn id="37" presetID="22" presetClass="entr" presetSubtype="2" fill="hold" nodeType="withEffect">
                                  <p:stCondLst>
                                    <p:cond delay="0"/>
                                  </p:stCondLst>
                                  <p:childTnLst>
                                    <p:set>
                                      <p:cBhvr>
                                        <p:cTn id="38" dur="1" fill="hold"/>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114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22" presetClass="entr" presetSubtype="2" fill="hold" nodeType="withEffect">
                                  <p:stCondLst>
                                    <p:cond delay="0"/>
                                  </p:stCondLst>
                                  <p:childTnLst>
                                    <p:set>
                                      <p:cBhvr>
                                        <p:cTn id="50" dur="1" fill="hold"/>
                                        <p:tgtEl>
                                          <p:spTgt spid="19"/>
                                        </p:tgtEl>
                                        <p:attrNameLst>
                                          <p:attrName>style.visibility</p:attrName>
                                        </p:attrNameLst>
                                      </p:cBhvr>
                                      <p:to>
                                        <p:strVal val="visible"/>
                                      </p:to>
                                    </p:set>
                                    <p:animEffect transition="in" filter="wipe(right)">
                                      <p:cBhvr>
                                        <p:cTn id="51" dur="500"/>
                                        <p:tgtEl>
                                          <p:spTgt spid="19"/>
                                        </p:tgtEl>
                                      </p:cBhvr>
                                    </p:animEffect>
                                  </p:childTnLst>
                                </p:cTn>
                              </p:par>
                            </p:childTnLst>
                          </p:cTn>
                        </p:par>
                        <p:par>
                          <p:cTn id="52" fill="hold">
                            <p:stCondLst>
                              <p:cond delay="1620"/>
                            </p:stCondLst>
                            <p:childTnLst>
                              <p:par>
                                <p:cTn id="53" presetID="22" presetClass="entr" presetSubtype="2" fill="hold" nodeType="withEffect">
                                  <p:stCondLst>
                                    <p:cond delay="0"/>
                                  </p:stCondLst>
                                  <p:childTnLst>
                                    <p:set>
                                      <p:cBhvr>
                                        <p:cTn id="54" dur="1" fill="hold"/>
                                        <p:tgtEl>
                                          <p:spTgt spid="20"/>
                                        </p:tgtEl>
                                        <p:attrNameLst>
                                          <p:attrName>style.visibility</p:attrName>
                                        </p:attrNameLst>
                                      </p:cBhvr>
                                      <p:to>
                                        <p:strVal val="visible"/>
                                      </p:to>
                                    </p:set>
                                    <p:animEffect transition="in" filter="wipe(right)">
                                      <p:cBhvr>
                                        <p:cTn id="55" dur="500"/>
                                        <p:tgtEl>
                                          <p:spTgt spid="20"/>
                                        </p:tgtEl>
                                      </p:cBhvr>
                                    </p:animEffect>
                                  </p:childTnLst>
                                </p:cTn>
                              </p:par>
                            </p:childTnLst>
                          </p:cTn>
                        </p:par>
                        <p:par>
                          <p:cTn id="56" fill="hold">
                            <p:stCondLst>
                              <p:cond delay="162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620"/>
                            </p:stCondLst>
                            <p:childTnLst>
                              <p:par>
                                <p:cTn id="61" presetID="10" presetClass="entr" presetSubtype="0" fill="hold" nodeType="withEffect">
                                  <p:stCondLst>
                                    <p:cond delay="0"/>
                                  </p:stCondLst>
                                  <p:childTnLst>
                                    <p:set>
                                      <p:cBhvr>
                                        <p:cTn id="62" dur="1" fill="hold"/>
                                        <p:tgtEl>
                                          <p:spTgt spid="23"/>
                                        </p:tgtEl>
                                        <p:attrNameLst>
                                          <p:attrName>style.visibility</p:attrName>
                                        </p:attrNameLst>
                                      </p:cBhvr>
                                      <p:to>
                                        <p:strVal val="visible"/>
                                      </p:to>
                                    </p:set>
                                    <p:animEffect transition="in" filter="fade">
                                      <p:cBhvr>
                                        <p:cTn id="63" dur="500"/>
                                        <p:tgtEl>
                                          <p:spTgt spid="23"/>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par>
                          <p:cTn id="68" fill="hold">
                            <p:stCondLst>
                              <p:cond delay="210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07 / RESULTS</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14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Results</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4 of 4 · Findings in relation to the research objectives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Table 4.8, checked against Tables 4.3–4.6 and §3.9</a:t>
            </a:r>
          </a:p>
        </p:txBody>
      </p:sp>
      <p:sp>
        <p:nvSpPr>
          <p:cNvPr id="9" name="Rectangle 8"/>
          <p:cNvSpPr/>
          <p:nvPr/>
        </p:nvSpPr>
        <p:spPr>
          <a:xfrm>
            <a:off x="640080" y="8156448"/>
            <a:ext cx="12460224"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79192"/>
            <a:ext cx="3931920" cy="365760"/>
          </a:xfrm>
          <a:prstGeom prst="rect">
            <a:avLst/>
          </a:prstGeom>
          <a:noFill/>
        </p:spPr>
        <p:txBody>
          <a:bodyPr wrap="none" lIns="0" rIns="0" tIns="0" bIns="0" anchor="t">
            <a:spAutoFit/>
          </a:bodyPr>
          <a:lstStyle/>
          <a:p>
            <a:pPr algn="l">
              <a:lnSpc>
                <a:spcPct val="116000"/>
              </a:lnSpc>
              <a:spcBef>
                <a:spcPts val="0"/>
              </a:spcBef>
              <a:spcAft>
                <a:spcPts val="0"/>
              </a:spcAft>
              <a:defRPr sz="1300">
                <a:solidFill>
                  <a:srgbClr val="869B7E"/>
                </a:solidFill>
                <a:latin typeface="Consolas"/>
              </a:defRPr>
            </a:pPr>
            <a:r>
              <a:t>RESEARCH AIM</a:t>
            </a:r>
          </a:p>
        </p:txBody>
      </p:sp>
      <p:sp>
        <p:nvSpPr>
          <p:cNvPr id="11" name="TextBox 10"/>
          <p:cNvSpPr txBox="1"/>
          <p:nvPr/>
        </p:nvSpPr>
        <p:spPr>
          <a:xfrm>
            <a:off x="5120640" y="2679192"/>
            <a:ext cx="4114800" cy="365760"/>
          </a:xfrm>
          <a:prstGeom prst="rect">
            <a:avLst/>
          </a:prstGeom>
          <a:noFill/>
        </p:spPr>
        <p:txBody>
          <a:bodyPr wrap="none" lIns="0" rIns="0" tIns="0" bIns="0" anchor="t">
            <a:spAutoFit/>
          </a:bodyPr>
          <a:lstStyle/>
          <a:p>
            <a:pPr algn="l">
              <a:lnSpc>
                <a:spcPct val="116000"/>
              </a:lnSpc>
              <a:spcBef>
                <a:spcPts val="0"/>
              </a:spcBef>
              <a:spcAft>
                <a:spcPts val="0"/>
              </a:spcAft>
              <a:defRPr sz="1300">
                <a:solidFill>
                  <a:srgbClr val="869B7E"/>
                </a:solidFill>
                <a:latin typeface="Consolas"/>
              </a:defRPr>
            </a:pPr>
            <a:r>
              <a:t>REPORTED FINDING</a:t>
            </a:r>
          </a:p>
        </p:txBody>
      </p:sp>
      <p:sp>
        <p:nvSpPr>
          <p:cNvPr id="12" name="TextBox 11"/>
          <p:cNvSpPr txBox="1"/>
          <p:nvPr/>
        </p:nvSpPr>
        <p:spPr>
          <a:xfrm>
            <a:off x="9646920" y="2679192"/>
            <a:ext cx="4023360" cy="365760"/>
          </a:xfrm>
          <a:prstGeom prst="rect">
            <a:avLst/>
          </a:prstGeom>
          <a:noFill/>
        </p:spPr>
        <p:txBody>
          <a:bodyPr wrap="none" lIns="0" rIns="0" tIns="0" bIns="0" anchor="t">
            <a:spAutoFit/>
          </a:bodyPr>
          <a:lstStyle/>
          <a:p>
            <a:pPr algn="l">
              <a:lnSpc>
                <a:spcPct val="116000"/>
              </a:lnSpc>
              <a:spcBef>
                <a:spcPts val="0"/>
              </a:spcBef>
              <a:spcAft>
                <a:spcPts val="0"/>
              </a:spcAft>
              <a:defRPr sz="1300">
                <a:solidFill>
                  <a:srgbClr val="869B7E"/>
                </a:solidFill>
                <a:latin typeface="Consolas"/>
              </a:defRPr>
            </a:pPr>
            <a:r>
              <a:t>INTERPRETATION</a:t>
            </a:r>
          </a:p>
        </p:txBody>
      </p:sp>
      <p:sp>
        <p:nvSpPr>
          <p:cNvPr id="13" name="Rectangle 12"/>
          <p:cNvSpPr/>
          <p:nvPr/>
        </p:nvSpPr>
        <p:spPr>
          <a:xfrm>
            <a:off x="731520" y="3154679"/>
            <a:ext cx="13167360" cy="630936"/>
          </a:xfrm>
          <a:prstGeom prst="rect">
            <a:avLst/>
          </a:prstGeom>
          <a:solidFill>
            <a:srgbClr val="2A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246120"/>
            <a:ext cx="393192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EFE9DD"/>
                </a:solidFill>
                <a:latin typeface="Calibri"/>
              </a:defRPr>
            </a:pPr>
            <a:r>
              <a:t>Coordinate specialist analysis</a:t>
            </a:r>
          </a:p>
        </p:txBody>
      </p:sp>
      <p:sp>
        <p:nvSpPr>
          <p:cNvPr id="15" name="TextBox 14"/>
          <p:cNvSpPr txBox="1"/>
          <p:nvPr/>
        </p:nvSpPr>
        <p:spPr>
          <a:xfrm>
            <a:off x="5120640" y="3246120"/>
            <a:ext cx="411480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F69D39"/>
                </a:solidFill>
                <a:latin typeface="Calibri"/>
              </a:defRPr>
            </a:pPr>
            <a:r>
              <a:t>Eight specialists + reporter</a:t>
            </a:r>
          </a:p>
        </p:txBody>
      </p:sp>
      <p:sp>
        <p:nvSpPr>
          <p:cNvPr id="16" name="TextBox 15"/>
          <p:cNvSpPr txBox="1"/>
          <p:nvPr/>
        </p:nvSpPr>
        <p:spPr>
          <a:xfrm>
            <a:off x="9646920" y="3246120"/>
            <a:ext cx="402336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Implemented architecture</a:t>
            </a:r>
          </a:p>
        </p:txBody>
      </p:sp>
      <p:sp>
        <p:nvSpPr>
          <p:cNvPr id="17" name="TextBox 16"/>
          <p:cNvSpPr txBox="1"/>
          <p:nvPr/>
        </p:nvSpPr>
        <p:spPr>
          <a:xfrm>
            <a:off x="868680" y="3959352"/>
            <a:ext cx="393192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EFE9DD"/>
                </a:solidFill>
                <a:latin typeface="Calibri"/>
              </a:defRPr>
            </a:pPr>
            <a:r>
              <a:t>Classify URLs accurately</a:t>
            </a:r>
          </a:p>
        </p:txBody>
      </p:sp>
      <p:sp>
        <p:nvSpPr>
          <p:cNvPr id="18" name="TextBox 17"/>
          <p:cNvSpPr txBox="1"/>
          <p:nvPr/>
        </p:nvSpPr>
        <p:spPr>
          <a:xfrm>
            <a:off x="5120640" y="3959352"/>
            <a:ext cx="411480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F69D39"/>
                </a:solidFill>
                <a:latin typeface="Calibri"/>
              </a:defRPr>
            </a:pPr>
            <a:r>
              <a:t>94.7% accuracy</a:t>
            </a:r>
          </a:p>
        </p:txBody>
      </p:sp>
      <p:sp>
        <p:nvSpPr>
          <p:cNvPr id="19" name="TextBox 18"/>
          <p:cNvSpPr txBox="1"/>
          <p:nvPr/>
        </p:nvSpPr>
        <p:spPr>
          <a:xfrm>
            <a:off x="9646920" y="3959352"/>
            <a:ext cx="402336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284 / 300 correct</a:t>
            </a:r>
          </a:p>
        </p:txBody>
      </p:sp>
      <p:sp>
        <p:nvSpPr>
          <p:cNvPr id="20" name="Rectangle 19"/>
          <p:cNvSpPr/>
          <p:nvPr/>
        </p:nvSpPr>
        <p:spPr>
          <a:xfrm>
            <a:off x="731520" y="4581144"/>
            <a:ext cx="13167360" cy="630936"/>
          </a:xfrm>
          <a:prstGeom prst="rect">
            <a:avLst/>
          </a:prstGeom>
          <a:solidFill>
            <a:srgbClr val="2A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672583"/>
            <a:ext cx="393192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EFE9DD"/>
                </a:solidFill>
                <a:latin typeface="Calibri"/>
              </a:defRPr>
            </a:pPr>
            <a:r>
              <a:t>Reduce false alarms</a:t>
            </a:r>
          </a:p>
        </p:txBody>
      </p:sp>
      <p:sp>
        <p:nvSpPr>
          <p:cNvPr id="22" name="TextBox 21"/>
          <p:cNvSpPr txBox="1"/>
          <p:nvPr/>
        </p:nvSpPr>
        <p:spPr>
          <a:xfrm>
            <a:off x="5120640" y="4672583"/>
            <a:ext cx="411480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F69D39"/>
                </a:solidFill>
                <a:latin typeface="Calibri"/>
              </a:defRPr>
            </a:pPr>
            <a:r>
              <a:t>2.0% false-positive rate</a:t>
            </a:r>
          </a:p>
        </p:txBody>
      </p:sp>
      <p:sp>
        <p:nvSpPr>
          <p:cNvPr id="23" name="TextBox 22"/>
          <p:cNvSpPr txBox="1"/>
          <p:nvPr/>
        </p:nvSpPr>
        <p:spPr>
          <a:xfrm>
            <a:off x="9646920" y="4672583"/>
            <a:ext cx="402336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3 / 150 benign URLs flagged</a:t>
            </a:r>
          </a:p>
        </p:txBody>
      </p:sp>
      <p:sp>
        <p:nvSpPr>
          <p:cNvPr id="24" name="TextBox 23"/>
          <p:cNvSpPr txBox="1"/>
          <p:nvPr/>
        </p:nvSpPr>
        <p:spPr>
          <a:xfrm>
            <a:off x="868680" y="5385816"/>
            <a:ext cx="393192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EFE9DD"/>
                </a:solidFill>
                <a:latin typeface="Calibri"/>
              </a:defRPr>
            </a:pPr>
            <a:r>
              <a:t>Provide timely feedback</a:t>
            </a:r>
          </a:p>
        </p:txBody>
      </p:sp>
      <p:sp>
        <p:nvSpPr>
          <p:cNvPr id="25" name="TextBox 24"/>
          <p:cNvSpPr txBox="1"/>
          <p:nvPr/>
        </p:nvSpPr>
        <p:spPr>
          <a:xfrm>
            <a:off x="5120640" y="5385816"/>
            <a:ext cx="411480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F69D39"/>
                </a:solidFill>
                <a:latin typeface="Calibri"/>
              </a:defRPr>
            </a:pPr>
            <a:r>
              <a:t>4.05 s mean response</a:t>
            </a:r>
          </a:p>
        </p:txBody>
      </p:sp>
      <p:sp>
        <p:nvSpPr>
          <p:cNvPr id="26" name="TextBox 25"/>
          <p:cNvSpPr txBox="1"/>
          <p:nvPr/>
        </p:nvSpPr>
        <p:spPr>
          <a:xfrm>
            <a:off x="9646920" y="5385816"/>
            <a:ext cx="402336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0.05 s above warm target</a:t>
            </a:r>
          </a:p>
        </p:txBody>
      </p:sp>
      <p:sp>
        <p:nvSpPr>
          <p:cNvPr id="27" name="Rectangle 26"/>
          <p:cNvSpPr/>
          <p:nvPr/>
        </p:nvSpPr>
        <p:spPr>
          <a:xfrm>
            <a:off x="731520" y="6007608"/>
            <a:ext cx="13167360" cy="630936"/>
          </a:xfrm>
          <a:prstGeom prst="rect">
            <a:avLst/>
          </a:prstGeom>
          <a:solidFill>
            <a:srgbClr val="2A2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6099048"/>
            <a:ext cx="393192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EFE9DD"/>
                </a:solidFill>
                <a:latin typeface="Calibri"/>
              </a:defRPr>
            </a:pPr>
            <a:r>
              <a:t>Explain decisions clearly</a:t>
            </a:r>
          </a:p>
        </p:txBody>
      </p:sp>
      <p:sp>
        <p:nvSpPr>
          <p:cNvPr id="29" name="TextBox 28"/>
          <p:cNvSpPr txBox="1"/>
          <p:nvPr/>
        </p:nvSpPr>
        <p:spPr>
          <a:xfrm>
            <a:off x="5120640" y="6099048"/>
            <a:ext cx="411480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F69D39"/>
                </a:solidFill>
                <a:latin typeface="Calibri"/>
              </a:defRPr>
            </a:pPr>
            <a:r>
              <a:t>9.0 / 10 readability</a:t>
            </a:r>
          </a:p>
        </p:txBody>
      </p:sp>
      <p:sp>
        <p:nvSpPr>
          <p:cNvPr id="30" name="TextBox 29"/>
          <p:cNvSpPr txBox="1"/>
          <p:nvPr/>
        </p:nvSpPr>
        <p:spPr>
          <a:xfrm>
            <a:off x="9646920" y="6099048"/>
            <a:ext cx="4023360" cy="475488"/>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Descriptive manual rating</a:t>
            </a:r>
          </a:p>
        </p:txBody>
      </p:sp>
      <p:sp>
        <p:nvSpPr>
          <p:cNvPr id="31" name="TextBox 30"/>
          <p:cNvSpPr txBox="1"/>
          <p:nvPr/>
        </p:nvSpPr>
        <p:spPr>
          <a:xfrm>
            <a:off x="868680" y="7022592"/>
            <a:ext cx="12801600" cy="365760"/>
          </a:xfrm>
          <a:prstGeom prst="rect">
            <a:avLst/>
          </a:prstGeom>
          <a:noFill/>
        </p:spPr>
        <p:txBody>
          <a:bodyPr wrap="none" lIns="0" rIns="0" tIns="0" bIns="0" anchor="t">
            <a:spAutoFit/>
          </a:bodyPr>
          <a:lstStyle/>
          <a:p>
            <a:pPr algn="l">
              <a:lnSpc>
                <a:spcPct val="116000"/>
              </a:lnSpc>
              <a:spcBef>
                <a:spcPts val="0"/>
              </a:spcBef>
              <a:spcAft>
                <a:spcPts val="0"/>
              </a:spcAft>
              <a:defRPr sz="1600">
                <a:solidFill>
                  <a:srgbClr val="C2B8AA"/>
                </a:solidFill>
                <a:latin typeface="Calibri"/>
              </a:defRPr>
            </a:pPr>
            <a:r>
              <a:t>Historical evaluation findings; no new benchmark is claimed for the revised implementation.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1140"/>
                            </p:stCondLst>
                            <p:childTnLst>
                              <p:par>
                                <p:cTn id="25" presetID="10" presetClass="entr" presetSubtype="0" fill="hold" nodeType="withEffect">
                                  <p:stCondLst>
                                    <p:cond delay="0"/>
                                  </p:stCondLst>
                                  <p:childTnLst>
                                    <p:set>
                                      <p:cBhvr>
                                        <p:cTn id="26" dur="1" fill="hold"/>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140"/>
                            </p:stCondLst>
                            <p:childTnLst>
                              <p:par>
                                <p:cTn id="33" presetID="10" presetClass="entr" presetSubtype="0" fill="hold" nodeType="withEffect">
                                  <p:stCondLst>
                                    <p:cond delay="0"/>
                                  </p:stCondLst>
                                  <p:childTnLst>
                                    <p:set>
                                      <p:cBhvr>
                                        <p:cTn id="34" dur="1" fill="hold"/>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1140"/>
                            </p:stCondLst>
                            <p:childTnLst>
                              <p:par>
                                <p:cTn id="37" presetID="10" presetClass="entr" presetSubtype="0" fill="hold" nodeType="withEffect">
                                  <p:stCondLst>
                                    <p:cond delay="0"/>
                                  </p:stCondLst>
                                  <p:childTnLst>
                                    <p:set>
                                      <p:cBhvr>
                                        <p:cTn id="38" dur="1" fill="hold"/>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par>
                          <p:cTn id="40" fill="hold">
                            <p:stCondLst>
                              <p:cond delay="1620"/>
                            </p:stCondLst>
                            <p:childTnLst>
                              <p:par>
                                <p:cTn id="41" presetID="10" presetClass="entr" presetSubtype="0" fill="hold" nodeType="withEffect">
                                  <p:stCondLst>
                                    <p:cond delay="0"/>
                                  </p:stCondLst>
                                  <p:childTnLst>
                                    <p:set>
                                      <p:cBhvr>
                                        <p:cTn id="42" dur="1" fill="hold"/>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620"/>
                            </p:stCondLst>
                            <p:childTnLst>
                              <p:par>
                                <p:cTn id="45" presetID="10" presetClass="entr" presetSubtype="0" fill="hold" nodeType="withEffect">
                                  <p:stCondLst>
                                    <p:cond delay="0"/>
                                  </p:stCondLst>
                                  <p:childTnLst>
                                    <p:set>
                                      <p:cBhvr>
                                        <p:cTn id="46" dur="1" fill="hold"/>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620"/>
                            </p:stCondLst>
                            <p:childTnLst>
                              <p:par>
                                <p:cTn id="49" presetID="10" presetClass="entr" presetSubtype="0" fill="hold" nodeType="withEffect">
                                  <p:stCondLst>
                                    <p:cond delay="0"/>
                                  </p:stCondLst>
                                  <p:childTnLst>
                                    <p:set>
                                      <p:cBhvr>
                                        <p:cTn id="50" dur="1" fill="hold"/>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2100"/>
                            </p:stCondLst>
                            <p:childTnLst>
                              <p:par>
                                <p:cTn id="53" presetID="10" presetClass="entr" presetSubtype="0" fill="hold" nodeType="withEffect">
                                  <p:stCondLst>
                                    <p:cond delay="0"/>
                                  </p:stCondLst>
                                  <p:childTnLst>
                                    <p:set>
                                      <p:cBhvr>
                                        <p:cTn id="54" dur="1" fill="hold"/>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2100"/>
                            </p:stCondLst>
                            <p:childTnLst>
                              <p:par>
                                <p:cTn id="57" presetID="10" presetClass="entr" presetSubtype="0" fill="hold" nodeType="withEffect">
                                  <p:stCondLst>
                                    <p:cond delay="0"/>
                                  </p:stCondLst>
                                  <p:childTnLst>
                                    <p:set>
                                      <p:cBhvr>
                                        <p:cTn id="58" dur="1" fill="hold"/>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2100"/>
                            </p:stCondLst>
                            <p:childTnLst>
                              <p:par>
                                <p:cTn id="61" presetID="10" presetClass="entr" presetSubtype="0" fill="hold" nodeType="withEffect">
                                  <p:stCondLst>
                                    <p:cond delay="0"/>
                                  </p:stCondLst>
                                  <p:childTnLst>
                                    <p:set>
                                      <p:cBhvr>
                                        <p:cTn id="62" dur="1" fill="hold"/>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100"/>
                            </p:stCondLst>
                            <p:childTnLst>
                              <p:par>
                                <p:cTn id="65" presetID="10" presetClass="entr" presetSubtype="0" fill="hold" nodeType="withEffect">
                                  <p:stCondLst>
                                    <p:cond delay="0"/>
                                  </p:stCondLst>
                                  <p:childTnLst>
                                    <p:set>
                                      <p:cBhvr>
                                        <p:cTn id="66" dur="1" fill="hold"/>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580"/>
                            </p:stCondLst>
                            <p:childTnLst>
                              <p:par>
                                <p:cTn id="69" presetID="10" presetClass="entr" presetSubtype="0" fill="hold" nodeType="withEffect">
                                  <p:stCondLst>
                                    <p:cond delay="0"/>
                                  </p:stCondLst>
                                  <p:childTnLst>
                                    <p:set>
                                      <p:cBhvr>
                                        <p:cTn id="70" dur="1" fill="hold"/>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2580"/>
                            </p:stCondLst>
                            <p:childTnLst>
                              <p:par>
                                <p:cTn id="73" presetID="10" presetClass="entr" presetSubtype="0" fill="hold" nodeType="withEffect">
                                  <p:stCondLst>
                                    <p:cond delay="0"/>
                                  </p:stCondLst>
                                  <p:childTnLst>
                                    <p:set>
                                      <p:cBhvr>
                                        <p:cTn id="74" dur="1" fill="hold"/>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76" fill="hold">
                            <p:stCondLst>
                              <p:cond delay="2580"/>
                            </p:stCondLst>
                            <p:childTnLst>
                              <p:par>
                                <p:cTn id="77" presetID="10" presetClass="entr" presetSubtype="0" fill="hold" nodeType="withEffect">
                                  <p:stCondLst>
                                    <p:cond delay="0"/>
                                  </p:stCondLst>
                                  <p:childTnLst>
                                    <p:set>
                                      <p:cBhvr>
                                        <p:cTn id="78" dur="1" fill="hold"/>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3060"/>
                            </p:stCondLst>
                            <p:childTnLst>
                              <p:par>
                                <p:cTn id="81" presetID="10" presetClass="entr" presetSubtype="0" fill="hold" nodeType="withEffect">
                                  <p:stCondLst>
                                    <p:cond delay="0"/>
                                  </p:stCondLst>
                                  <p:childTnLst>
                                    <p:set>
                                      <p:cBhvr>
                                        <p:cTn id="82" dur="1" fill="hold"/>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3060"/>
                            </p:stCondLst>
                            <p:childTnLst>
                              <p:par>
                                <p:cTn id="85" presetID="10" presetClass="entr" presetSubtype="0" fill="hold" nodeType="withEffect">
                                  <p:stCondLst>
                                    <p:cond delay="0"/>
                                  </p:stCondLst>
                                  <p:childTnLst>
                                    <p:set>
                                      <p:cBhvr>
                                        <p:cTn id="86" dur="1" fill="hold"/>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par>
                          <p:cTn id="88" fill="hold">
                            <p:stCondLst>
                              <p:cond delay="3060"/>
                            </p:stCondLst>
                            <p:childTnLst>
                              <p:par>
                                <p:cTn id="89" presetID="10" presetClass="entr" presetSubtype="0" fill="hold" nodeType="withEffect">
                                  <p:stCondLst>
                                    <p:cond delay="0"/>
                                  </p:stCondLst>
                                  <p:childTnLst>
                                    <p:set>
                                      <p:cBhvr>
                                        <p:cTn id="90" dur="1" fill="hold"/>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3060"/>
                            </p:stCondLst>
                            <p:childTnLst>
                              <p:par>
                                <p:cTn id="93" presetID="10" presetClass="entr" presetSubtype="0" fill="hold" nodeType="withEffect">
                                  <p:stCondLst>
                                    <p:cond delay="0"/>
                                  </p:stCondLst>
                                  <p:childTnLst>
                                    <p:set>
                                      <p:cBhvr>
                                        <p:cTn id="94" dur="1" fill="hold"/>
                                        <p:tgtEl>
                                          <p:spTgt spid="30"/>
                                        </p:tgtEl>
                                        <p:attrNameLst>
                                          <p:attrName>style.visibility</p:attrName>
                                        </p:attrNameLst>
                                      </p:cBhvr>
                                      <p:to>
                                        <p:strVal val="visible"/>
                                      </p:to>
                                    </p:set>
                                    <p:animEffect transition="in" filter="fade">
                                      <p:cBhvr>
                                        <p:cTn id="95" dur="500"/>
                                        <p:tgtEl>
                                          <p:spTgt spid="30"/>
                                        </p:tgtEl>
                                      </p:cBhvr>
                                    </p:animEffect>
                                  </p:childTnLst>
                                </p:cTn>
                              </p:par>
                            </p:childTnLst>
                          </p:cTn>
                        </p:par>
                        <p:par>
                          <p:cTn id="96" fill="hold">
                            <p:stCondLst>
                              <p:cond delay="3540"/>
                            </p:stCondLst>
                            <p:childTnLst>
                              <p:par>
                                <p:cTn id="97" presetID="10" presetClass="entr" presetSubtype="0" fill="hold" nodeType="withEffect">
                                  <p:stCondLst>
                                    <p:cond delay="0"/>
                                  </p:stCondLst>
                                  <p:childTnLst>
                                    <p:set>
                                      <p:cBhvr>
                                        <p:cTn id="98" dur="1" fill="hold"/>
                                        <p:tgtEl>
                                          <p:spTgt spid="31"/>
                                        </p:tgtEl>
                                        <p:attrNameLst>
                                          <p:attrName>style.visibility</p:attrName>
                                        </p:attrNameLst>
                                      </p:cBhvr>
                                      <p:to>
                                        <p:strVal val="visible"/>
                                      </p:to>
                                    </p:set>
                                    <p:animEffect transition="in" filter="fade">
                                      <p:cBhvr>
                                        <p:cTn id="9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1A1B"/>
        </a:solidFill>
        <a:effectLst/>
      </p:bgPr>
    </p:bg>
    <p:spTree>
      <p:nvGrpSpPr>
        <p:cNvPr id="1" name=""/>
        <p:cNvGrpSpPr/>
        <p:nvPr/>
      </p:nvGrpSpPr>
      <p:grpSpPr/>
      <p:sp>
        <p:nvSpPr>
          <p:cNvPr id="2" name="TextBox 1"/>
          <p:cNvSpPr txBox="1"/>
          <p:nvPr/>
        </p:nvSpPr>
        <p:spPr>
          <a:xfrm>
            <a:off x="640080" y="292608"/>
            <a:ext cx="10972800" cy="274320"/>
          </a:xfrm>
          <a:prstGeom prst="rect">
            <a:avLst/>
          </a:prstGeom>
          <a:noFill/>
        </p:spPr>
        <p:txBody>
          <a:bodyPr wrap="none" lIns="0" rIns="0" tIns="0" bIns="0" anchor="t">
            <a:spAutoFit/>
          </a:bodyPr>
          <a:lstStyle/>
          <a:p>
            <a:pPr algn="l">
              <a:lnSpc>
                <a:spcPct val="116000"/>
              </a:lnSpc>
              <a:spcBef>
                <a:spcPts val="0"/>
              </a:spcBef>
              <a:spcAft>
                <a:spcPts val="0"/>
              </a:spcAft>
              <a:defRPr sz="1100">
                <a:solidFill>
                  <a:srgbClr val="F69D39"/>
                </a:solidFill>
                <a:latin typeface="Consolas"/>
              </a:defRPr>
            </a:pPr>
            <a:r>
              <a:t>CYBERFORGE / 08 / CONCLUSION</a:t>
            </a:r>
          </a:p>
        </p:txBody>
      </p:sp>
      <p:sp>
        <p:nvSpPr>
          <p:cNvPr id="3" name="TextBox 2"/>
          <p:cNvSpPr txBox="1"/>
          <p:nvPr/>
        </p:nvSpPr>
        <p:spPr>
          <a:xfrm>
            <a:off x="12801600" y="292608"/>
            <a:ext cx="1188720" cy="274320"/>
          </a:xfrm>
          <a:prstGeom prst="rect">
            <a:avLst/>
          </a:prstGeom>
          <a:noFill/>
        </p:spPr>
        <p:txBody>
          <a:bodyPr wrap="none" lIns="0" rIns="0" tIns="0" bIns="0" anchor="t">
            <a:spAutoFit/>
          </a:bodyPr>
          <a:lstStyle/>
          <a:p>
            <a:pPr algn="r">
              <a:lnSpc>
                <a:spcPct val="116000"/>
              </a:lnSpc>
              <a:spcBef>
                <a:spcPts val="0"/>
              </a:spcBef>
              <a:spcAft>
                <a:spcPts val="0"/>
              </a:spcAft>
              <a:defRPr sz="1100">
                <a:solidFill>
                  <a:srgbClr val="C2B8AA"/>
                </a:solidFill>
                <a:latin typeface="Consolas"/>
              </a:defRPr>
            </a:pPr>
            <a:r>
              <a:t>15 / 15</a:t>
            </a:r>
          </a:p>
        </p:txBody>
      </p:sp>
      <p:pic>
        <p:nvPicPr>
          <p:cNvPr id="4" name="Picture 3" descr="signal.gif"/>
          <p:cNvPicPr>
            <a:picLocks noChangeAspect="1"/>
          </p:cNvPicPr>
          <p:nvPr/>
        </p:nvPicPr>
        <p:blipFill>
          <a:blip r:embed="rId2"/>
          <a:stretch>
            <a:fillRect/>
          </a:stretch>
        </p:blipFill>
        <p:spPr>
          <a:xfrm>
            <a:off x="640080" y="713232"/>
            <a:ext cx="13350240" cy="109728"/>
          </a:xfrm>
          <a:prstGeom prst="rect">
            <a:avLst/>
          </a:prstGeom>
        </p:spPr>
      </p:pic>
      <p:sp>
        <p:nvSpPr>
          <p:cNvPr id="5" name="TextBox 4"/>
          <p:cNvSpPr txBox="1"/>
          <p:nvPr/>
        </p:nvSpPr>
        <p:spPr>
          <a:xfrm>
            <a:off x="640080" y="1024128"/>
            <a:ext cx="12893040" cy="731520"/>
          </a:xfrm>
          <a:prstGeom prst="rect">
            <a:avLst/>
          </a:prstGeom>
          <a:noFill/>
        </p:spPr>
        <p:txBody>
          <a:bodyPr wrap="none" lIns="0" rIns="0" tIns="0" bIns="0" anchor="t">
            <a:spAutoFit/>
          </a:bodyPr>
          <a:lstStyle/>
          <a:p>
            <a:pPr algn="l">
              <a:lnSpc>
                <a:spcPct val="116000"/>
              </a:lnSpc>
              <a:spcBef>
                <a:spcPts val="0"/>
              </a:spcBef>
              <a:spcAft>
                <a:spcPts val="0"/>
              </a:spcAft>
              <a:defRPr sz="3600">
                <a:solidFill>
                  <a:srgbClr val="EFE9DD"/>
                </a:solidFill>
                <a:latin typeface="Bahnschrift"/>
              </a:defRPr>
            </a:pPr>
            <a:r>
              <a:t>Conclusion</a:t>
            </a:r>
          </a:p>
        </p:txBody>
      </p:sp>
      <p:sp>
        <p:nvSpPr>
          <p:cNvPr id="6" name="TextBox 5"/>
          <p:cNvSpPr txBox="1"/>
          <p:nvPr/>
        </p:nvSpPr>
        <p:spPr>
          <a:xfrm>
            <a:off x="667512" y="1847088"/>
            <a:ext cx="12801600" cy="50292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C2B8AA"/>
                </a:solidFill>
                <a:latin typeface="Calibri"/>
              </a:defRPr>
            </a:pPr>
            <a:r>
              <a:t>CyberForge integrates threat analysis, supporting evidence and understandable warnings.</a:t>
            </a:r>
          </a:p>
        </p:txBody>
      </p:sp>
      <p:sp>
        <p:nvSpPr>
          <p:cNvPr id="7" name="Rectangle 6"/>
          <p:cNvSpPr/>
          <p:nvPr/>
        </p:nvSpPr>
        <p:spPr>
          <a:xfrm>
            <a:off x="640080" y="7635240"/>
            <a:ext cx="13350240" cy="13716"/>
          </a:xfrm>
          <a:prstGeom prst="rect">
            <a:avLst/>
          </a:prstGeom>
          <a:solidFill>
            <a:srgbClr val="514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7754112"/>
            <a:ext cx="12435840" cy="274320"/>
          </a:xfrm>
          <a:prstGeom prst="rect">
            <a:avLst/>
          </a:prstGeom>
          <a:noFill/>
        </p:spPr>
        <p:txBody>
          <a:bodyPr wrap="none" lIns="0" rIns="0" tIns="0" bIns="0" anchor="t">
            <a:spAutoFit/>
          </a:bodyPr>
          <a:lstStyle/>
          <a:p>
            <a:pPr algn="l">
              <a:lnSpc>
                <a:spcPct val="116000"/>
              </a:lnSpc>
              <a:spcBef>
                <a:spcPts val="0"/>
              </a:spcBef>
              <a:spcAft>
                <a:spcPts val="0"/>
              </a:spcAft>
              <a:defRPr sz="1000">
                <a:solidFill>
                  <a:srgbClr val="C2B8AA"/>
                </a:solidFill>
                <a:latin typeface="Calibri"/>
              </a:defRPr>
            </a:pPr>
            <a:r>
              <a:t>Thesis Chapter 5; revised Appendix C / Thank you — Questions</a:t>
            </a:r>
          </a:p>
        </p:txBody>
      </p:sp>
      <p:sp>
        <p:nvSpPr>
          <p:cNvPr id="9" name="Rectangle 8"/>
          <p:cNvSpPr/>
          <p:nvPr/>
        </p:nvSpPr>
        <p:spPr>
          <a:xfrm>
            <a:off x="640080" y="8156448"/>
            <a:ext cx="13350240" cy="36576"/>
          </a:xfrm>
          <a:prstGeom prst="rect">
            <a:avLst/>
          </a:prstGeom>
          <a:solidFill>
            <a:srgbClr val="F69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71800"/>
            <a:ext cx="8869680" cy="1005840"/>
          </a:xfrm>
          <a:prstGeom prst="rect">
            <a:avLst/>
          </a:prstGeom>
          <a:noFill/>
        </p:spPr>
        <p:txBody>
          <a:bodyPr wrap="none" lIns="0" rIns="0" tIns="0" bIns="0" anchor="t">
            <a:spAutoFit/>
          </a:bodyPr>
          <a:lstStyle/>
          <a:p>
            <a:pPr algn="l">
              <a:lnSpc>
                <a:spcPct val="116000"/>
              </a:lnSpc>
              <a:spcBef>
                <a:spcPts val="0"/>
              </a:spcBef>
              <a:spcAft>
                <a:spcPts val="0"/>
              </a:spcAft>
              <a:defRPr sz="3000">
                <a:solidFill>
                  <a:srgbClr val="F69D39"/>
                </a:solidFill>
                <a:latin typeface="Bahnschrift"/>
              </a:defRPr>
            </a:pPr>
            <a:r>
              <a:t>94.7% accuracy / 2.0% false alarms</a:t>
            </a:r>
          </a:p>
        </p:txBody>
      </p:sp>
      <p:sp>
        <p:nvSpPr>
          <p:cNvPr id="11" name="TextBox 10"/>
          <p:cNvSpPr txBox="1"/>
          <p:nvPr/>
        </p:nvSpPr>
        <p:spPr>
          <a:xfrm>
            <a:off x="868680" y="3886200"/>
            <a:ext cx="8686800" cy="457200"/>
          </a:xfrm>
          <a:prstGeom prst="rect">
            <a:avLst/>
          </a:prstGeom>
          <a:noFill/>
        </p:spPr>
        <p:txBody>
          <a:bodyPr wrap="none" lIns="0" rIns="0" tIns="0" bIns="0" anchor="t">
            <a:spAutoFit/>
          </a:bodyPr>
          <a:lstStyle/>
          <a:p>
            <a:pPr algn="l">
              <a:lnSpc>
                <a:spcPct val="116000"/>
              </a:lnSpc>
              <a:spcBef>
                <a:spcPts val="0"/>
              </a:spcBef>
              <a:spcAft>
                <a:spcPts val="0"/>
              </a:spcAft>
              <a:defRPr sz="1800">
                <a:solidFill>
                  <a:srgbClr val="C2B8AA"/>
                </a:solidFill>
                <a:latin typeface="Calibri"/>
              </a:defRPr>
            </a:pPr>
            <a:r>
              <a:t>Reported on the original 300-URL evaluation.</a:t>
            </a:r>
          </a:p>
        </p:txBody>
      </p:sp>
      <p:sp>
        <p:nvSpPr>
          <p:cNvPr id="12" name="TextBox 11"/>
          <p:cNvSpPr txBox="1"/>
          <p:nvPr/>
        </p:nvSpPr>
        <p:spPr>
          <a:xfrm>
            <a:off x="868680" y="4663440"/>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869B7E"/>
                </a:solidFill>
                <a:latin typeface="Bahnschrift"/>
              </a:defRPr>
            </a:pPr>
            <a:r>
              <a:t>Contribution</a:t>
            </a:r>
          </a:p>
        </p:txBody>
      </p:sp>
      <p:sp>
        <p:nvSpPr>
          <p:cNvPr id="13" name="TextBox 12"/>
          <p:cNvSpPr txBox="1"/>
          <p:nvPr/>
        </p:nvSpPr>
        <p:spPr>
          <a:xfrm>
            <a:off x="3246120" y="4663440"/>
            <a:ext cx="6766560" cy="5943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EFE9DD"/>
                </a:solidFill>
                <a:latin typeface="Calibri"/>
              </a:defRPr>
            </a:pPr>
            <a:r>
              <a:t>Specialised analysis + structured evidence + usable explanations</a:t>
            </a:r>
          </a:p>
        </p:txBody>
      </p:sp>
      <p:sp>
        <p:nvSpPr>
          <p:cNvPr id="14" name="TextBox 13"/>
          <p:cNvSpPr txBox="1"/>
          <p:nvPr/>
        </p:nvSpPr>
        <p:spPr>
          <a:xfrm>
            <a:off x="868680" y="5440679"/>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869B7E"/>
                </a:solidFill>
                <a:latin typeface="Bahnschrift"/>
              </a:defRPr>
            </a:pPr>
            <a:r>
              <a:t>Next validation</a:t>
            </a:r>
          </a:p>
        </p:txBody>
      </p:sp>
      <p:sp>
        <p:nvSpPr>
          <p:cNvPr id="15" name="TextBox 14"/>
          <p:cNvSpPr txBox="1"/>
          <p:nvPr/>
        </p:nvSpPr>
        <p:spPr>
          <a:xfrm>
            <a:off x="3246120" y="5440679"/>
            <a:ext cx="6766560" cy="5943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EFE9DD"/>
                </a:solidFill>
                <a:latin typeface="Calibri"/>
              </a:defRPr>
            </a:pPr>
            <a:r>
              <a:t>Independent data, per-detector errors and controlled comparisons</a:t>
            </a:r>
          </a:p>
        </p:txBody>
      </p:sp>
      <p:sp>
        <p:nvSpPr>
          <p:cNvPr id="16" name="TextBox 15"/>
          <p:cNvSpPr txBox="1"/>
          <p:nvPr/>
        </p:nvSpPr>
        <p:spPr>
          <a:xfrm>
            <a:off x="868680" y="6217920"/>
            <a:ext cx="2286000" cy="3657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869B7E"/>
                </a:solidFill>
                <a:latin typeface="Bahnschrift"/>
              </a:defRPr>
            </a:pPr>
            <a:r>
              <a:t>Next delivery</a:t>
            </a:r>
          </a:p>
        </p:txBody>
      </p:sp>
      <p:sp>
        <p:nvSpPr>
          <p:cNvPr id="17" name="TextBox 16"/>
          <p:cNvSpPr txBox="1"/>
          <p:nvPr/>
        </p:nvSpPr>
        <p:spPr>
          <a:xfrm>
            <a:off x="3246120" y="6217920"/>
            <a:ext cx="6766560" cy="594360"/>
          </a:xfrm>
          <a:prstGeom prst="rect">
            <a:avLst/>
          </a:prstGeom>
          <a:noFill/>
        </p:spPr>
        <p:txBody>
          <a:bodyPr wrap="none" lIns="0" rIns="0" tIns="0" bIns="0" anchor="t">
            <a:spAutoFit/>
          </a:bodyPr>
          <a:lstStyle/>
          <a:p>
            <a:pPr algn="l">
              <a:lnSpc>
                <a:spcPct val="116000"/>
              </a:lnSpc>
              <a:spcBef>
                <a:spcPts val="0"/>
              </a:spcBef>
              <a:spcAft>
                <a:spcPts val="0"/>
              </a:spcAft>
              <a:defRPr sz="1700">
                <a:solidFill>
                  <a:srgbClr val="EFE9DD"/>
                </a:solidFill>
                <a:latin typeface="Calibri"/>
              </a:defRPr>
            </a:pPr>
            <a:r>
              <a:t>Verified releases, training isolation and bounded AI integrations</a:t>
            </a:r>
          </a:p>
        </p:txBody>
      </p:sp>
      <p:pic>
        <p:nvPicPr>
          <p:cNvPr id="18" name="Picture 17" descr="orbit.gif"/>
          <p:cNvPicPr>
            <a:picLocks noChangeAspect="1"/>
          </p:cNvPicPr>
          <p:nvPr/>
        </p:nvPicPr>
        <p:blipFill>
          <a:blip r:embed="rId4"/>
          <a:stretch>
            <a:fillRect/>
          </a:stretch>
        </p:blipFill>
        <p:spPr>
          <a:xfrm>
            <a:off x="10058400" y="2743200"/>
            <a:ext cx="3840480" cy="3840480"/>
          </a:xfrm>
          <a:prstGeom prst="rect">
            <a:avLst/>
          </a:prstGeom>
        </p:spPr>
      </p:pic>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180"/>
                            </p:stCondLst>
                            <p:childTnLst>
                              <p:par>
                                <p:cTn id="5" presetID="10" presetClass="entr" presetSubtype="0" fill="hold" nodeType="withEffect">
                                  <p:stCondLst>
                                    <p:cond delay="0"/>
                                  </p:stCondLst>
                                  <p:childTnLst>
                                    <p:set>
                                      <p:cBhvr>
                                        <p:cTn id="6" dur="1" fill="hold"/>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80"/>
                            </p:stCondLst>
                            <p:childTnLst>
                              <p:par>
                                <p:cTn id="9" presetID="10" presetClass="entr" presetSubtype="0" fill="hold" nodeType="withEffect">
                                  <p:stCondLst>
                                    <p:cond delay="0"/>
                                  </p:stCondLst>
                                  <p:childTnLst>
                                    <p:set>
                                      <p:cBhvr>
                                        <p:cTn id="10" dur="1" fill="hold"/>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660"/>
                            </p:stCondLst>
                            <p:childTnLst>
                              <p:par>
                                <p:cTn id="13" presetID="10" presetClass="entr" presetSubtype="0" fill="hold" nodeType="withEffect">
                                  <p:stCondLst>
                                    <p:cond delay="0"/>
                                  </p:stCondLst>
                                  <p:childTnLst>
                                    <p:set>
                                      <p:cBhvr>
                                        <p:cTn id="14" dur="1" fill="hold"/>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660"/>
                            </p:stCondLst>
                            <p:childTnLst>
                              <p:par>
                                <p:cTn id="17" presetID="10" presetClass="entr" presetSubtype="0" fill="hold" nodeType="withEffect">
                                  <p:stCondLst>
                                    <p:cond delay="0"/>
                                  </p:stCondLst>
                                  <p:childTnLst>
                                    <p:set>
                                      <p:cBhvr>
                                        <p:cTn id="18" dur="1" fill="hold"/>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660"/>
                            </p:stCondLst>
                            <p:childTnLst>
                              <p:par>
                                <p:cTn id="21" presetID="10" presetClass="entr" presetSubtype="0" fill="hold" nodeType="withEffect">
                                  <p:stCondLst>
                                    <p:cond delay="0"/>
                                  </p:stCondLst>
                                  <p:childTnLst>
                                    <p:set>
                                      <p:cBhvr>
                                        <p:cTn id="22" dur="1" fill="hold"/>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par>
                          <p:cTn id="24" fill="hold">
                            <p:stCondLst>
                              <p:cond delay="1140"/>
                            </p:stCondLst>
                            <p:childTnLst>
                              <p:par>
                                <p:cTn id="25" presetID="10" presetClass="entr" presetSubtype="0" fill="hold" nodeType="withEffect">
                                  <p:stCondLst>
                                    <p:cond delay="0"/>
                                  </p:stCondLst>
                                  <p:childTnLst>
                                    <p:set>
                                      <p:cBhvr>
                                        <p:cTn id="26" dur="1" fill="hold"/>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1140"/>
                            </p:stCondLst>
                            <p:childTnLst>
                              <p:par>
                                <p:cTn id="29" presetID="10" presetClass="entr" presetSubtype="0" fill="hold" nodeType="withEffect">
                                  <p:stCondLst>
                                    <p:cond delay="0"/>
                                  </p:stCondLst>
                                  <p:childTnLst>
                                    <p:set>
                                      <p:cBhvr>
                                        <p:cTn id="30" dur="1" fill="hold"/>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1620"/>
                            </p:stCondLst>
                            <p:childTnLst>
                              <p:par>
                                <p:cTn id="33" presetID="10" presetClass="entr" presetSubtype="0" fill="hold" nodeType="withEffect">
                                  <p:stCondLst>
                                    <p:cond delay="0"/>
                                  </p:stCondLst>
                                  <p:childTnLst>
                                    <p:set>
                                      <p:cBhvr>
                                        <p:cTn id="34" dur="1" fill="hold"/>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p:stCondLst>
                              <p:cond delay="1620"/>
                            </p:stCondLst>
                            <p:childTnLst>
                              <p:par>
                                <p:cTn id="37" presetID="10" presetClass="entr" presetSubtype="0" fill="hold" nodeType="withEffect">
                                  <p:stCondLst>
                                    <p:cond delay="0"/>
                                  </p:stCondLst>
                                  <p:childTnLst>
                                    <p:set>
                                      <p:cBhvr>
                                        <p:cTn id="38" dur="1" fill="hold"/>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par>
                          <p:cTn id="40" fill="hold">
                            <p:stCondLst>
                              <p:cond delay="2100"/>
                            </p:stCondLst>
                            <p:childTnLst>
                              <p:par>
                                <p:cTn id="41" presetID="10" presetClass="entr" presetSubtype="0" fill="hold" nodeType="withEffect">
                                  <p:stCondLst>
                                    <p:cond delay="0"/>
                                  </p:stCondLst>
                                  <p:childTnLst>
                                    <p:set>
                                      <p:cBhvr>
                                        <p:cTn id="42" dur="1" fill="hold"/>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par>
                          <p:cTn id="44" fill="hold">
                            <p:stCondLst>
                              <p:cond delay="2100"/>
                            </p:stCondLst>
                            <p:childTnLst>
                              <p:par>
                                <p:cTn id="45" presetID="10" presetClass="entr" presetSubtype="0" fill="hold" nodeType="withEffect">
                                  <p:stCondLst>
                                    <p:cond delay="0"/>
                                  </p:stCondLst>
                                  <p:childTnLst>
                                    <p:set>
                                      <p:cBhvr>
                                        <p:cTn id="46" dur="1" fill="hold"/>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CyberForge — Thesis Defence</dc:title>
  <dc:subject>Historical research results and current implementation review, 18 October 2026</dc:subject>
  <dc:creator>Che Haggai Ngha Kang</dc:creator>
  <cp:keywords>CyberForge, thesis, agentic AI, web threat detection, University of Bamenda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