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759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My dissertation is CyberForge, a real-time agentic AI system for web threat detection and user protection, supervised by Professor Onabid Mathias Akong. I will follow the structure: introduction, problem, research questions and objectives, a brief literature review, methods and materials, results, and the conclusion.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web is now the main attack surface. Signature tools fall behind fast-changing domains, so research moved to machine learning, deep learning and Transformers, and now to systems of specialised agents. CyberForge is my response: specialised agents analyse each URL in real time and agree one explained verdict. Scope is URL and web-context security; kernel, firmware and enterprise lateral movement are out of scope (§1.6).</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problems. First, false alarms: my own early heuristic returned 'medium' for every URL because of a +0.5 baseline offset, which shows how biases stay hidden until deployment. Second, explainability: a probability is not a story an analyst can act on. Third, no open architecture combines specialised analysers, memory and cross-device display; SOAR products do, but at enterprise scale.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general question asks how a network of specialised analysers can give real-time, explainable protection across platforms. It breaks into four: decomposition, integration of the analysis types, aggregation that reduces false alarms without hiding strong threats, and the use of historical browsing context.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general objective is to design, implement and evaluate the system end to end. Each specific objective answers one research question: the agent framework, the unified detection approach, the aggregation that controls false alerts, and contextual threat intelligence.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literature moves through four stages: hand-written rules, classical machine learning, deep learning and Transformers, and now hybrid designs and agents. The timeline scrolls through the works the design builds on: Provos on drive-by downloads, Sommer and Paxson's critique of ML for intrusion detection, Antonakakis on DGAs, Khonji's phishing survey, IOC extraction, MITRE ATT&amp;CK, URLNet, BERT, ReAct and Generative Agents.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gaps motivate the work: few complete multi-agent security systems, little honesty about model and service failure, a focus on accuracy rather than false alarms, unused historical context, and poor reproducibility. Each dark pill shows how CyberForge responds.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architecture separates four layers: clients, native and backend control, inference, and persistence with intelligence. A request passes privacy and session checks in the native layer, the backend selects the service, and the user receives a source-labelled result that states its coverage and any failure.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Eight specialist agents run in three stages plus a Reporter. Stage one works on the URL alone, in parallel: the BERT URL classifier, the DGA detector, the web scraper and the memory reader. Stage two needs the scraped page: IOC extraction with ten patterns, behavioural analysis, and MITRE mapping with twenty signals. Stage three enriches IOCs from AlienVault OTX. The Reporter combines everything. The original blend weights the mean at 60% and the strongest signal at 40%, so one strong signal is not averaged away. The current ReportAgent uses a weighted evidence sum instead (§3.4).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materials: a Tauri 2 and Rust desktop, a Node.js 24 Express backend, a Python FastAPI service on Hugging Face Spaces, a React Native companion, and a shared Rust core with a CLI and MCP adapter. Key libraries include transformers, scikit-learn 1.8.0 and llama-cpp-python. Pretrained BERT and Qwen are used for inference only; the training data sets are public phishing, malware-URL, popularity and web-attack corpora.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Development was iterative: seven deployable iterations, each checked with representative URLs. Iteration three found the +0.5 baseline offset behind the 'medium risk for everything' defect. Calibration used seven labelled URLs for the risk score and thirty domains for the DGA threshold of 0.45; the explanation fallback was exercised from Gemini through Mistral to rules. These are development checks, separate from the evaluation set.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kinds of learning are kept apart: supervised gradient-boosted classifiers, an unsupervised IsolationForest on benign URLs, pretrained BERT and Qwen used only for inference, and rules with memory retrieval. Training follows five phases, with domain-grouped splits so the same domain never sits in both training and test, and thresholds chosen for a 2% false-positive target.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evaluation set has 300 URLs: 150 benign, 100 phishing and 50 malware or DGA domains, with the harmful URLs as the positive class. Four criteria were set before testing: functional correctness, false positives on common benign sites, coverage of curated phishing, and latency of at most ten seconds cold and four seconds warm.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300-URL set the prototype classified 284 correctly: 94.7% accuracy, 97.9% precision, 91.3% recall, 98% specificity and F1 94.5%. Only three of 150 benign sites were flagged, a 2% false-positive rate. Benign detection was 98%, phishing 92% and malware/DGA 90%. These are the historical prototype results; they were not re-run on the revised implementation.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mean end-to-end analysis took 4.05 seconds, 50 milliseconds over the strict four-second warm target, so I report that objective as not met. The Reporter, with the language-model explanation, is the largest share at 34%. Cached repeat visits returned in under 100 milliseconds.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Reliability is how often each agent returned a usable result, not its accuracy. All agents were above 95%; the web scraper and the OTX enricher depend on outside services and were lowest. Every external service had a fallback, so a scan degrades instead of failing; these uptime figures are from the original test period.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Explanations were rated 9.5 for factual accuracy and 9.0 for readability by non-experts; these are descriptive manual ratings, not a blinded user study. Against the targets, four of five objectives were met. Real-time analysis was not: 4.05 seconds against a strict 4.00-second target.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the integrated, explainable workflow classified 284 of 300 URLs correctly with only three false alarms, in a little over four seconds. The contribution is the integration of complementary evidence into one explained verdict. The limits are clear: there is no single-model ablation, and the historical results are not a measurement of the revised system. The current source adds the access, privacy and signing controls recommended after the prototype.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recommendations follow: test the security controls in the packaged product, validate the privacy and retention controls across all clients, strengthen model evaluation and isolate training, and widen automatic actions only after verified rollback. Future research should include ablations, independent corpora and a blinded study of the explanations.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I welcome your questions. The references scroll on the right; the full list is in the dissertation.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1A1B"/>
        </a:solidFill>
        <a:effectLst/>
      </p:bgPr>
    </p:bg>
    <p:spTree>
      <p:nvGrpSpPr>
        <p:cNvPr id="1" name=""/>
        <p:cNvGrpSpPr/>
        <p:nvPr/>
      </p:nvGrpSpPr>
      <p:grpSpPr>
        <a:xfrm>
          <a:off x="0" y="0"/>
          <a:ext cx="0" cy="0"/>
          <a:chOff x="0" y="0"/>
          <a:chExt cx="0" cy="0"/>
        </a:xfrm>
      </p:grpSpPr>
      <p:sp>
        <p:nvSpPr>
          <p:cNvPr id="2" name="!!orb"/>
          <p:cNvSpPr/>
          <p:nvPr/>
        </p:nvSpPr>
        <p:spPr>
          <a:xfrm>
            <a:off x="7818120" y="914400"/>
            <a:ext cx="4937760" cy="4937760"/>
          </a:xfrm>
          <a:prstGeom prst="ellipse">
            <a:avLst/>
          </a:prstGeom>
          <a:noFill/>
          <a:ln w="15875">
            <a:solidFill>
              <a:srgbClr val="3A323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8705088" y="1801368"/>
            <a:ext cx="3163824" cy="3163824"/>
          </a:xfrm>
          <a:prstGeom prst="ellipse">
            <a:avLst/>
          </a:prstGeom>
          <a:noFill/>
          <a:ln w="9525">
            <a:solidFill>
              <a:srgbClr val="3A323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Agent node 1"/>
          <p:cNvSpPr/>
          <p:nvPr/>
        </p:nvSpPr>
        <p:spPr>
          <a:xfrm>
            <a:off x="10168128" y="795528"/>
            <a:ext cx="237744" cy="237744"/>
          </a:xfrm>
          <a:prstGeom prst="ellipse">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Agent node 2"/>
          <p:cNvSpPr/>
          <p:nvPr/>
        </p:nvSpPr>
        <p:spPr>
          <a:xfrm>
            <a:off x="11913889" y="1518646"/>
            <a:ext cx="237744" cy="237744"/>
          </a:xfrm>
          <a:prstGeom prst="ellipse">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Agent node 3"/>
          <p:cNvSpPr/>
          <p:nvPr/>
        </p:nvSpPr>
        <p:spPr>
          <a:xfrm>
            <a:off x="12637007" y="3264408"/>
            <a:ext cx="237744" cy="237744"/>
          </a:xfrm>
          <a:prstGeom prst="ellipse">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Agent node 4"/>
          <p:cNvSpPr/>
          <p:nvPr/>
        </p:nvSpPr>
        <p:spPr>
          <a:xfrm>
            <a:off x="11913889" y="5010169"/>
            <a:ext cx="237744" cy="237744"/>
          </a:xfrm>
          <a:prstGeom prst="ellipse">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Agent node 5"/>
          <p:cNvSpPr/>
          <p:nvPr/>
        </p:nvSpPr>
        <p:spPr>
          <a:xfrm>
            <a:off x="10168128" y="5733288"/>
            <a:ext cx="237744" cy="237744"/>
          </a:xfrm>
          <a:prstGeom prst="ellipse">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Agent node 6"/>
          <p:cNvSpPr/>
          <p:nvPr/>
        </p:nvSpPr>
        <p:spPr>
          <a:xfrm>
            <a:off x="8422366" y="5010169"/>
            <a:ext cx="237744" cy="237744"/>
          </a:xfrm>
          <a:prstGeom prst="ellipse">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Agent node 7"/>
          <p:cNvSpPr/>
          <p:nvPr/>
        </p:nvSpPr>
        <p:spPr>
          <a:xfrm>
            <a:off x="7699248" y="3264408"/>
            <a:ext cx="237744" cy="237744"/>
          </a:xfrm>
          <a:prstGeom prst="ellipse">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Agent node 8"/>
          <p:cNvSpPr/>
          <p:nvPr/>
        </p:nvSpPr>
        <p:spPr>
          <a:xfrm>
            <a:off x="8422366" y="1518646"/>
            <a:ext cx="237744" cy="237744"/>
          </a:xfrm>
          <a:prstGeom prst="ellipse">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grpSp>
        <p:nvGrpSpPr>
          <p:cNvPr id="14" name="Shield 9"/>
          <p:cNvGrpSpPr/>
          <p:nvPr/>
        </p:nvGrpSpPr>
        <p:grpSpPr>
          <a:xfrm>
            <a:off x="9601200" y="2596896"/>
            <a:ext cx="1371600" cy="1572768"/>
            <a:chOff x="9601200" y="2596896"/>
            <a:chExt cx="1371600" cy="1572768"/>
          </a:xfrm>
        </p:grpSpPr>
        <p:sp>
          <p:nvSpPr>
            <p:cNvPr id="12" name="Freeform 11"/>
            <p:cNvSpPr/>
            <p:nvPr/>
          </p:nvSpPr>
          <p:spPr>
            <a:xfrm>
              <a:off x="9601200" y="2596896"/>
              <a:ext cx="1371600" cy="1572768"/>
            </a:xfrm>
            <a:custGeom>
              <a:avLst/>
              <a:gdLst/>
              <a:ahLst/>
              <a:cxnLst/>
              <a:rect l="l" t="t" r="r" b="b"/>
              <a:pathLst>
                <a:path w="1371600" h="1572768">
                  <a:moveTo>
                    <a:pt x="685800" y="0"/>
                  </a:moveTo>
                  <a:lnTo>
                    <a:pt x="1371600" y="256032"/>
                  </a:lnTo>
                  <a:lnTo>
                    <a:pt x="1371600" y="777240"/>
                  </a:lnTo>
                  <a:lnTo>
                    <a:pt x="1207008" y="1170432"/>
                  </a:lnTo>
                  <a:lnTo>
                    <a:pt x="685800" y="1572768"/>
                  </a:lnTo>
                  <a:lnTo>
                    <a:pt x="164592" y="1170432"/>
                  </a:lnTo>
                  <a:lnTo>
                    <a:pt x="0" y="777240"/>
                  </a:lnTo>
                  <a:lnTo>
                    <a:pt x="0" y="256032"/>
                  </a:lnTo>
                  <a:close/>
                </a:path>
              </a:pathLst>
            </a:cu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eeform 12"/>
            <p:cNvSpPr/>
            <p:nvPr/>
          </p:nvSpPr>
          <p:spPr>
            <a:xfrm>
              <a:off x="9985248" y="3145536"/>
              <a:ext cx="621792" cy="457200"/>
            </a:xfrm>
            <a:custGeom>
              <a:avLst/>
              <a:gdLst/>
              <a:ahLst/>
              <a:cxnLst/>
              <a:rect l="l" t="t" r="r" b="b"/>
              <a:pathLst>
                <a:path w="621792" h="457200">
                  <a:moveTo>
                    <a:pt x="0" y="237744"/>
                  </a:moveTo>
                  <a:lnTo>
                    <a:pt x="219456" y="457200"/>
                  </a:lnTo>
                  <a:lnTo>
                    <a:pt x="621792" y="0"/>
                  </a:lnTo>
                </a:path>
              </a:pathLst>
            </a:custGeom>
            <a:noFill/>
            <a:ln w="88900">
              <a:solidFill>
                <a:srgbClr val="1F1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5" name="Scan ring 10"/>
          <p:cNvSpPr/>
          <p:nvPr/>
        </p:nvSpPr>
        <p:spPr>
          <a:xfrm>
            <a:off x="8686800" y="1783080"/>
            <a:ext cx="3200400" cy="3200400"/>
          </a:xfrm>
          <a:prstGeom prst="ellipse">
            <a:avLst/>
          </a:prstGeom>
          <a:noFill/>
          <a:ln w="25400">
            <a:solidFill>
              <a:srgbClr val="F69D39"/>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6" name="University logo 11" descr="image2.png"/>
          <p:cNvPicPr>
            <a:picLocks noChangeAspect="1"/>
          </p:cNvPicPr>
          <p:nvPr/>
        </p:nvPicPr>
        <p:blipFill>
          <a:blip r:embed="rId3"/>
          <a:stretch>
            <a:fillRect/>
          </a:stretch>
        </p:blipFill>
        <p:spPr>
          <a:xfrm>
            <a:off x="731520" y="502920"/>
            <a:ext cx="956278" cy="868680"/>
          </a:xfrm>
          <a:prstGeom prst="rect">
            <a:avLst/>
          </a:prstGeom>
        </p:spPr>
      </p:pic>
      <p:sp>
        <p:nvSpPr>
          <p:cNvPr id="17" name="Institution 12"/>
          <p:cNvSpPr txBox="1"/>
          <p:nvPr/>
        </p:nvSpPr>
        <p:spPr>
          <a:xfrm>
            <a:off x="1737360" y="566928"/>
            <a:ext cx="5669280" cy="822960"/>
          </a:xfrm>
          <a:prstGeom prst="rect">
            <a:avLst/>
          </a:prstGeom>
          <a:noFill/>
        </p:spPr>
        <p:txBody>
          <a:bodyPr wrap="square" lIns="36576" tIns="36576" rIns="36576" bIns="36576" anchor="t">
            <a:spAutoFit/>
          </a:bodyPr>
          <a:lstStyle/>
          <a:p>
            <a:pPr algn="l">
              <a:lnSpc>
                <a:spcPct val="108000"/>
              </a:lnSpc>
              <a:spcAft>
                <a:spcPts val="200"/>
              </a:spcAft>
            </a:pPr>
            <a:r>
              <a:rPr sz="1200" b="1" i="0">
                <a:solidFill>
                  <a:srgbClr val="EFE9DD"/>
                </a:solidFill>
                <a:latin typeface="Consolas"/>
              </a:rPr>
              <a:t>THE UNIVERSITY OF BAMENDA</a:t>
            </a:r>
          </a:p>
          <a:p>
            <a:pPr algn="l">
              <a:lnSpc>
                <a:spcPct val="108000"/>
              </a:lnSpc>
            </a:pPr>
            <a:r>
              <a:rPr sz="1200" b="0" i="0">
                <a:solidFill>
                  <a:srgbClr val="B9AFA2"/>
                </a:solidFill>
                <a:latin typeface="Calibri"/>
              </a:rPr>
              <a:t>College of Technology  ·  Department of Computer Engineering</a:t>
            </a:r>
          </a:p>
        </p:txBody>
      </p:sp>
      <p:sp>
        <p:nvSpPr>
          <p:cNvPr id="18" name="Deck title 13"/>
          <p:cNvSpPr txBox="1"/>
          <p:nvPr/>
        </p:nvSpPr>
        <p:spPr>
          <a:xfrm>
            <a:off x="731520" y="1783080"/>
            <a:ext cx="6949440" cy="1261872"/>
          </a:xfrm>
          <a:prstGeom prst="rect">
            <a:avLst/>
          </a:prstGeom>
          <a:noFill/>
        </p:spPr>
        <p:txBody>
          <a:bodyPr wrap="square" lIns="36576" tIns="36576" rIns="36576" bIns="36576" anchor="t">
            <a:spAutoFit/>
          </a:bodyPr>
          <a:lstStyle/>
          <a:p>
            <a:pPr algn="l">
              <a:lnSpc>
                <a:spcPct val="108000"/>
              </a:lnSpc>
            </a:pPr>
            <a:r>
              <a:rPr sz="7200" b="1" i="0">
                <a:solidFill>
                  <a:srgbClr val="EFE9DD"/>
                </a:solidFill>
                <a:latin typeface="Bahnschrift"/>
              </a:rPr>
              <a:t>CyberForge</a:t>
            </a:r>
          </a:p>
        </p:txBody>
      </p:sp>
      <p:sp>
        <p:nvSpPr>
          <p:cNvPr id="19" name="Deck subtitle 14"/>
          <p:cNvSpPr txBox="1"/>
          <p:nvPr/>
        </p:nvSpPr>
        <p:spPr>
          <a:xfrm>
            <a:off x="731520" y="2971800"/>
            <a:ext cx="6766560" cy="1143000"/>
          </a:xfrm>
          <a:prstGeom prst="rect">
            <a:avLst/>
          </a:prstGeom>
          <a:noFill/>
        </p:spPr>
        <p:txBody>
          <a:bodyPr wrap="square" lIns="36576" tIns="36576" rIns="36576" bIns="36576" anchor="t">
            <a:spAutoFit/>
          </a:bodyPr>
          <a:lstStyle/>
          <a:p>
            <a:pPr algn="l">
              <a:lnSpc>
                <a:spcPct val="100000"/>
              </a:lnSpc>
            </a:pPr>
            <a:r>
              <a:rPr sz="2600" b="0" i="0">
                <a:solidFill>
                  <a:srgbClr val="F69D39"/>
                </a:solidFill>
                <a:latin typeface="Bahnschrift"/>
              </a:rPr>
              <a:t>A Real-Time Agentic AI System for Web Threat Detection and User Protection</a:t>
            </a:r>
          </a:p>
        </p:txBody>
      </p:sp>
      <p:sp>
        <p:nvSpPr>
          <p:cNvPr id="20" name="Divider 15"/>
          <p:cNvSpPr/>
          <p:nvPr/>
        </p:nvSpPr>
        <p:spPr>
          <a:xfrm>
            <a:off x="731520" y="4343400"/>
            <a:ext cx="822960" cy="45720"/>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Candidate 16"/>
          <p:cNvSpPr txBox="1"/>
          <p:nvPr/>
        </p:nvSpPr>
        <p:spPr>
          <a:xfrm>
            <a:off x="731520" y="4526280"/>
            <a:ext cx="6766560" cy="1463040"/>
          </a:xfrm>
          <a:prstGeom prst="rect">
            <a:avLst/>
          </a:prstGeom>
          <a:noFill/>
        </p:spPr>
        <p:txBody>
          <a:bodyPr wrap="square" lIns="36576" tIns="36576" rIns="36576" bIns="36576" anchor="t">
            <a:spAutoFit/>
          </a:bodyPr>
          <a:lstStyle/>
          <a:p>
            <a:pPr algn="l">
              <a:lnSpc>
                <a:spcPct val="108000"/>
              </a:lnSpc>
              <a:spcAft>
                <a:spcPts val="200"/>
              </a:spcAft>
            </a:pPr>
            <a:r>
              <a:rPr sz="2000" b="1" i="0">
                <a:solidFill>
                  <a:srgbClr val="EFE9DD"/>
                </a:solidFill>
                <a:latin typeface="Bahnschrift"/>
              </a:rPr>
              <a:t>CHE HAGGAI NGHA KANG</a:t>
            </a:r>
          </a:p>
          <a:p>
            <a:pPr algn="l">
              <a:lnSpc>
                <a:spcPct val="108000"/>
              </a:lnSpc>
              <a:spcAft>
                <a:spcPts val="800"/>
              </a:spcAft>
            </a:pPr>
            <a:r>
              <a:rPr sz="1400" b="0" i="0">
                <a:solidFill>
                  <a:srgbClr val="B9AFA2"/>
                </a:solidFill>
                <a:latin typeface="Calibri"/>
              </a:rPr>
              <a:t>Registration number UBA24PP134</a:t>
            </a:r>
          </a:p>
          <a:p>
            <a:pPr algn="l">
              <a:lnSpc>
                <a:spcPct val="108000"/>
              </a:lnSpc>
            </a:pPr>
            <a:r>
              <a:rPr sz="1400" b="0" i="0">
                <a:solidFill>
                  <a:srgbClr val="B9AFA2"/>
                </a:solidFill>
                <a:latin typeface="Calibri"/>
              </a:rPr>
              <a:t>Master's in Computer Engineering — Information Technology and Cyber Security</a:t>
            </a:r>
          </a:p>
        </p:txBody>
      </p:sp>
      <p:sp>
        <p:nvSpPr>
          <p:cNvPr id="22" name="Supervisor 17"/>
          <p:cNvSpPr txBox="1"/>
          <p:nvPr/>
        </p:nvSpPr>
        <p:spPr>
          <a:xfrm>
            <a:off x="731520" y="5989320"/>
            <a:ext cx="6949440" cy="548640"/>
          </a:xfrm>
          <a:prstGeom prst="rect">
            <a:avLst/>
          </a:prstGeom>
          <a:noFill/>
        </p:spPr>
        <p:txBody>
          <a:bodyPr wrap="square" lIns="36576" tIns="36576" rIns="36576" bIns="36576" anchor="t">
            <a:spAutoFit/>
          </a:bodyPr>
          <a:lstStyle/>
          <a:p>
            <a:pPr algn="l">
              <a:lnSpc>
                <a:spcPct val="108000"/>
              </a:lnSpc>
            </a:pPr>
            <a:r>
              <a:rPr sz="1300" b="0" i="0">
                <a:solidFill>
                  <a:srgbClr val="EFE9DD"/>
                </a:solidFill>
                <a:latin typeface="Calibri"/>
              </a:rPr>
              <a:t>Supervisor: Prof. Onabid Mathias Akong, Associate Professor   ·   June 2026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50" fill="hold"/>
                                        <p:tgtEl>
                                          <p:spTgt spid="4"/>
                                        </p:tgtEl>
                                        <p:attrNameLst>
                                          <p:attrName>ppt_w</p:attrName>
                                        </p:attrNameLst>
                                      </p:cBhvr>
                                      <p:tavLst>
                                        <p:tav tm="0">
                                          <p:val>
                                            <p:fltVal val="0"/>
                                          </p:val>
                                        </p:tav>
                                        <p:tav tm="100000">
                                          <p:val>
                                            <p:strVal val="#ppt_w"/>
                                          </p:val>
                                        </p:tav>
                                      </p:tavLst>
                                    </p:anim>
                                    <p:anim calcmode="lin" valueType="num">
                                      <p:cBhvr>
                                        <p:cTn id="8" dur="250" fill="hold"/>
                                        <p:tgtEl>
                                          <p:spTgt spid="4"/>
                                        </p:tgtEl>
                                        <p:attrNameLst>
                                          <p:attrName>ppt_h</p:attrName>
                                        </p:attrNameLst>
                                      </p:cBhvr>
                                      <p:tavLst>
                                        <p:tav tm="0">
                                          <p:val>
                                            <p:fltVal val="0"/>
                                          </p:val>
                                        </p:tav>
                                        <p:tav tm="100000">
                                          <p:val>
                                            <p:strVal val="#ppt_h"/>
                                          </p:val>
                                        </p:tav>
                                      </p:tavLst>
                                    </p:anim>
                                  </p:childTnLst>
                                </p:cTn>
                              </p:par>
                            </p:childTnLst>
                          </p:cTn>
                        </p:par>
                        <p:par>
                          <p:cTn id="9" fill="hold">
                            <p:stCondLst>
                              <p:cond delay="250"/>
                            </p:stCondLst>
                            <p:childTnLst>
                              <p:par>
                                <p:cTn id="10" presetID="23" presetClass="entr" presetSubtype="16"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250" fill="hold"/>
                                        <p:tgtEl>
                                          <p:spTgt spid="5"/>
                                        </p:tgtEl>
                                        <p:attrNameLst>
                                          <p:attrName>ppt_w</p:attrName>
                                        </p:attrNameLst>
                                      </p:cBhvr>
                                      <p:tavLst>
                                        <p:tav tm="0">
                                          <p:val>
                                            <p:fltVal val="0"/>
                                          </p:val>
                                        </p:tav>
                                        <p:tav tm="100000">
                                          <p:val>
                                            <p:strVal val="#ppt_w"/>
                                          </p:val>
                                        </p:tav>
                                      </p:tavLst>
                                    </p:anim>
                                    <p:anim calcmode="lin" valueType="num">
                                      <p:cBhvr>
                                        <p:cTn id="13" dur="250" fill="hold"/>
                                        <p:tgtEl>
                                          <p:spTgt spid="5"/>
                                        </p:tgtEl>
                                        <p:attrNameLst>
                                          <p:attrName>ppt_h</p:attrName>
                                        </p:attrNameLst>
                                      </p:cBhvr>
                                      <p:tavLst>
                                        <p:tav tm="0">
                                          <p:val>
                                            <p:fltVal val="0"/>
                                          </p:val>
                                        </p:tav>
                                        <p:tav tm="100000">
                                          <p:val>
                                            <p:strVal val="#ppt_h"/>
                                          </p:val>
                                        </p:tav>
                                      </p:tavLst>
                                    </p:anim>
                                  </p:childTnLst>
                                </p:cTn>
                              </p:par>
                            </p:childTnLst>
                          </p:cTn>
                        </p:par>
                        <p:par>
                          <p:cTn id="14" fill="hold">
                            <p:stCondLst>
                              <p:cond delay="500"/>
                            </p:stCondLst>
                            <p:childTnLst>
                              <p:par>
                                <p:cTn id="15" presetID="23" presetClass="entr" presetSubtype="16"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250" fill="hold"/>
                                        <p:tgtEl>
                                          <p:spTgt spid="6"/>
                                        </p:tgtEl>
                                        <p:attrNameLst>
                                          <p:attrName>ppt_w</p:attrName>
                                        </p:attrNameLst>
                                      </p:cBhvr>
                                      <p:tavLst>
                                        <p:tav tm="0">
                                          <p:val>
                                            <p:fltVal val="0"/>
                                          </p:val>
                                        </p:tav>
                                        <p:tav tm="100000">
                                          <p:val>
                                            <p:strVal val="#ppt_w"/>
                                          </p:val>
                                        </p:tav>
                                      </p:tavLst>
                                    </p:anim>
                                    <p:anim calcmode="lin" valueType="num">
                                      <p:cBhvr>
                                        <p:cTn id="18" dur="250" fill="hold"/>
                                        <p:tgtEl>
                                          <p:spTgt spid="6"/>
                                        </p:tgtEl>
                                        <p:attrNameLst>
                                          <p:attrName>ppt_h</p:attrName>
                                        </p:attrNameLst>
                                      </p:cBhvr>
                                      <p:tavLst>
                                        <p:tav tm="0">
                                          <p:val>
                                            <p:fltVal val="0"/>
                                          </p:val>
                                        </p:tav>
                                        <p:tav tm="100000">
                                          <p:val>
                                            <p:strVal val="#ppt_h"/>
                                          </p:val>
                                        </p:tav>
                                      </p:tavLst>
                                    </p:anim>
                                  </p:childTnLst>
                                </p:cTn>
                              </p:par>
                            </p:childTnLst>
                          </p:cTn>
                        </p:par>
                        <p:par>
                          <p:cTn id="19" fill="hold">
                            <p:stCondLst>
                              <p:cond delay="750"/>
                            </p:stCondLst>
                            <p:childTnLst>
                              <p:par>
                                <p:cTn id="20" presetID="23" presetClass="entr" presetSubtype="16"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250" fill="hold"/>
                                        <p:tgtEl>
                                          <p:spTgt spid="7"/>
                                        </p:tgtEl>
                                        <p:attrNameLst>
                                          <p:attrName>ppt_w</p:attrName>
                                        </p:attrNameLst>
                                      </p:cBhvr>
                                      <p:tavLst>
                                        <p:tav tm="0">
                                          <p:val>
                                            <p:fltVal val="0"/>
                                          </p:val>
                                        </p:tav>
                                        <p:tav tm="100000">
                                          <p:val>
                                            <p:strVal val="#ppt_w"/>
                                          </p:val>
                                        </p:tav>
                                      </p:tavLst>
                                    </p:anim>
                                    <p:anim calcmode="lin" valueType="num">
                                      <p:cBhvr>
                                        <p:cTn id="23" dur="250" fill="hold"/>
                                        <p:tgtEl>
                                          <p:spTgt spid="7"/>
                                        </p:tgtEl>
                                        <p:attrNameLst>
                                          <p:attrName>ppt_h</p:attrName>
                                        </p:attrNameLst>
                                      </p:cBhvr>
                                      <p:tavLst>
                                        <p:tav tm="0">
                                          <p:val>
                                            <p:fltVal val="0"/>
                                          </p:val>
                                        </p:tav>
                                        <p:tav tm="100000">
                                          <p:val>
                                            <p:strVal val="#ppt_h"/>
                                          </p:val>
                                        </p:tav>
                                      </p:tavLst>
                                    </p:anim>
                                  </p:childTnLst>
                                </p:cTn>
                              </p:par>
                            </p:childTnLst>
                          </p:cTn>
                        </p:par>
                        <p:par>
                          <p:cTn id="24" fill="hold">
                            <p:stCondLst>
                              <p:cond delay="1000"/>
                            </p:stCondLst>
                            <p:childTnLst>
                              <p:par>
                                <p:cTn id="25" presetID="23" presetClass="entr" presetSubtype="16"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250" fill="hold"/>
                                        <p:tgtEl>
                                          <p:spTgt spid="8"/>
                                        </p:tgtEl>
                                        <p:attrNameLst>
                                          <p:attrName>ppt_w</p:attrName>
                                        </p:attrNameLst>
                                      </p:cBhvr>
                                      <p:tavLst>
                                        <p:tav tm="0">
                                          <p:val>
                                            <p:fltVal val="0"/>
                                          </p:val>
                                        </p:tav>
                                        <p:tav tm="100000">
                                          <p:val>
                                            <p:strVal val="#ppt_w"/>
                                          </p:val>
                                        </p:tav>
                                      </p:tavLst>
                                    </p:anim>
                                    <p:anim calcmode="lin" valueType="num">
                                      <p:cBhvr>
                                        <p:cTn id="28" dur="250" fill="hold"/>
                                        <p:tgtEl>
                                          <p:spTgt spid="8"/>
                                        </p:tgtEl>
                                        <p:attrNameLst>
                                          <p:attrName>ppt_h</p:attrName>
                                        </p:attrNameLst>
                                      </p:cBhvr>
                                      <p:tavLst>
                                        <p:tav tm="0">
                                          <p:val>
                                            <p:fltVal val="0"/>
                                          </p:val>
                                        </p:tav>
                                        <p:tav tm="100000">
                                          <p:val>
                                            <p:strVal val="#ppt_h"/>
                                          </p:val>
                                        </p:tav>
                                      </p:tavLst>
                                    </p:anim>
                                  </p:childTnLst>
                                </p:cTn>
                              </p:par>
                            </p:childTnLst>
                          </p:cTn>
                        </p:par>
                        <p:par>
                          <p:cTn id="29" fill="hold">
                            <p:stCondLst>
                              <p:cond delay="1250"/>
                            </p:stCondLst>
                            <p:childTnLst>
                              <p:par>
                                <p:cTn id="30" presetID="23" presetClass="entr" presetSubtype="16"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250" fill="hold"/>
                                        <p:tgtEl>
                                          <p:spTgt spid="9"/>
                                        </p:tgtEl>
                                        <p:attrNameLst>
                                          <p:attrName>ppt_w</p:attrName>
                                        </p:attrNameLst>
                                      </p:cBhvr>
                                      <p:tavLst>
                                        <p:tav tm="0">
                                          <p:val>
                                            <p:fltVal val="0"/>
                                          </p:val>
                                        </p:tav>
                                        <p:tav tm="100000">
                                          <p:val>
                                            <p:strVal val="#ppt_w"/>
                                          </p:val>
                                        </p:tav>
                                      </p:tavLst>
                                    </p:anim>
                                    <p:anim calcmode="lin" valueType="num">
                                      <p:cBhvr>
                                        <p:cTn id="33" dur="250" fill="hold"/>
                                        <p:tgtEl>
                                          <p:spTgt spid="9"/>
                                        </p:tgtEl>
                                        <p:attrNameLst>
                                          <p:attrName>ppt_h</p:attrName>
                                        </p:attrNameLst>
                                      </p:cBhvr>
                                      <p:tavLst>
                                        <p:tav tm="0">
                                          <p:val>
                                            <p:fltVal val="0"/>
                                          </p:val>
                                        </p:tav>
                                        <p:tav tm="100000">
                                          <p:val>
                                            <p:strVal val="#ppt_h"/>
                                          </p:val>
                                        </p:tav>
                                      </p:tavLst>
                                    </p:anim>
                                  </p:childTnLst>
                                </p:cTn>
                              </p:par>
                            </p:childTnLst>
                          </p:cTn>
                        </p:par>
                        <p:par>
                          <p:cTn id="34" fill="hold">
                            <p:stCondLst>
                              <p:cond delay="1500"/>
                            </p:stCondLst>
                            <p:childTnLst>
                              <p:par>
                                <p:cTn id="35" presetID="23" presetClass="entr" presetSubtype="16"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250" fill="hold"/>
                                        <p:tgtEl>
                                          <p:spTgt spid="10"/>
                                        </p:tgtEl>
                                        <p:attrNameLst>
                                          <p:attrName>ppt_w</p:attrName>
                                        </p:attrNameLst>
                                      </p:cBhvr>
                                      <p:tavLst>
                                        <p:tav tm="0">
                                          <p:val>
                                            <p:fltVal val="0"/>
                                          </p:val>
                                        </p:tav>
                                        <p:tav tm="100000">
                                          <p:val>
                                            <p:strVal val="#ppt_w"/>
                                          </p:val>
                                        </p:tav>
                                      </p:tavLst>
                                    </p:anim>
                                    <p:anim calcmode="lin" valueType="num">
                                      <p:cBhvr>
                                        <p:cTn id="38" dur="250" fill="hold"/>
                                        <p:tgtEl>
                                          <p:spTgt spid="10"/>
                                        </p:tgtEl>
                                        <p:attrNameLst>
                                          <p:attrName>ppt_h</p:attrName>
                                        </p:attrNameLst>
                                      </p:cBhvr>
                                      <p:tavLst>
                                        <p:tav tm="0">
                                          <p:val>
                                            <p:fltVal val="0"/>
                                          </p:val>
                                        </p:tav>
                                        <p:tav tm="100000">
                                          <p:val>
                                            <p:strVal val="#ppt_h"/>
                                          </p:val>
                                        </p:tav>
                                      </p:tavLst>
                                    </p:anim>
                                  </p:childTnLst>
                                </p:cTn>
                              </p:par>
                            </p:childTnLst>
                          </p:cTn>
                        </p:par>
                        <p:par>
                          <p:cTn id="39" fill="hold">
                            <p:stCondLst>
                              <p:cond delay="1750"/>
                            </p:stCondLst>
                            <p:childTnLst>
                              <p:par>
                                <p:cTn id="40" presetID="23" presetClass="entr" presetSubtype="16"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250" fill="hold"/>
                                        <p:tgtEl>
                                          <p:spTgt spid="11"/>
                                        </p:tgtEl>
                                        <p:attrNameLst>
                                          <p:attrName>ppt_w</p:attrName>
                                        </p:attrNameLst>
                                      </p:cBhvr>
                                      <p:tavLst>
                                        <p:tav tm="0">
                                          <p:val>
                                            <p:fltVal val="0"/>
                                          </p:val>
                                        </p:tav>
                                        <p:tav tm="100000">
                                          <p:val>
                                            <p:strVal val="#ppt_w"/>
                                          </p:val>
                                        </p:tav>
                                      </p:tavLst>
                                    </p:anim>
                                    <p:anim calcmode="lin" valueType="num">
                                      <p:cBhvr>
                                        <p:cTn id="43" dur="250" fill="hold"/>
                                        <p:tgtEl>
                                          <p:spTgt spid="11"/>
                                        </p:tgtEl>
                                        <p:attrNameLst>
                                          <p:attrName>ppt_h</p:attrName>
                                        </p:attrNameLst>
                                      </p:cBhvr>
                                      <p:tavLst>
                                        <p:tav tm="0">
                                          <p:val>
                                            <p:fltVal val="0"/>
                                          </p:val>
                                        </p:tav>
                                        <p:tav tm="100000">
                                          <p:val>
                                            <p:strVal val="#ppt_h"/>
                                          </p:val>
                                        </p:tav>
                                      </p:tavLst>
                                    </p:anim>
                                  </p:childTnLst>
                                </p:cTn>
                              </p:par>
                            </p:childTnLst>
                          </p:cTn>
                        </p:par>
                        <p:par>
                          <p:cTn id="44" fill="hold">
                            <p:stCondLst>
                              <p:cond delay="2000"/>
                            </p:stCondLst>
                            <p:childTnLst>
                              <p:par>
                                <p:cTn id="45" presetID="53" presetClass="entr" presetSubtype="16"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600" fill="hold"/>
                                        <p:tgtEl>
                                          <p:spTgt spid="14"/>
                                        </p:tgtEl>
                                        <p:attrNameLst>
                                          <p:attrName>ppt_w</p:attrName>
                                        </p:attrNameLst>
                                      </p:cBhvr>
                                      <p:tavLst>
                                        <p:tav tm="0">
                                          <p:val>
                                            <p:fltVal val="0"/>
                                          </p:val>
                                        </p:tav>
                                        <p:tav tm="100000">
                                          <p:val>
                                            <p:strVal val="#ppt_w"/>
                                          </p:val>
                                        </p:tav>
                                      </p:tavLst>
                                    </p:anim>
                                    <p:anim calcmode="lin" valueType="num">
                                      <p:cBhvr>
                                        <p:cTn id="48" dur="600" fill="hold"/>
                                        <p:tgtEl>
                                          <p:spTgt spid="14"/>
                                        </p:tgtEl>
                                        <p:attrNameLst>
                                          <p:attrName>ppt_h</p:attrName>
                                        </p:attrNameLst>
                                      </p:cBhvr>
                                      <p:tavLst>
                                        <p:tav tm="0">
                                          <p:val>
                                            <p:fltVal val="0"/>
                                          </p:val>
                                        </p:tav>
                                        <p:tav tm="100000">
                                          <p:val>
                                            <p:strVal val="#ppt_h"/>
                                          </p:val>
                                        </p:tav>
                                      </p:tavLst>
                                    </p:anim>
                                    <p:animEffect transition="in" filter="fade">
                                      <p:cBhvr>
                                        <p:cTn id="49" dur="600"/>
                                        <p:tgtEl>
                                          <p:spTgt spid="14"/>
                                        </p:tgtEl>
                                      </p:cBhvr>
                                    </p:animEffect>
                                  </p:childTnLst>
                                </p:cTn>
                              </p:par>
                              <p:par>
                                <p:cTn id="50" presetID="21" presetClass="entr" presetSubtype="1"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heel(1)">
                                      <p:cBhvr>
                                        <p:cTn id="52" dur="1200"/>
                                        <p:tgtEl>
                                          <p:spTgt spid="15"/>
                                        </p:tgtEl>
                                      </p:cBhvr>
                                    </p:animEffect>
                                  </p:childTnLst>
                                </p:cTn>
                              </p:par>
                              <p:par>
                                <p:cTn id="53" presetID="10" presetClass="entr" presetSubtype="0" fill="hold"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600"/>
                                        <p:tgtEl>
                                          <p:spTgt spid="16"/>
                                        </p:tgtEl>
                                      </p:cBhvr>
                                    </p:animEffect>
                                  </p:childTnLst>
                                </p:cTn>
                              </p:par>
                              <p:par>
                                <p:cTn id="56" presetID="10" presetClass="entr" presetSubtype="0" fill="hold" grpId="0" nodeType="withEffect">
                                  <p:stCondLst>
                                    <p:cond delay="20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600"/>
                                        <p:tgtEl>
                                          <p:spTgt spid="17"/>
                                        </p:tgtEl>
                                      </p:cBhvr>
                                    </p:animEffect>
                                  </p:childTnLst>
                                </p:cTn>
                              </p:par>
                            </p:childTnLst>
                          </p:cTn>
                        </p:par>
                        <p:par>
                          <p:cTn id="59" fill="hold">
                            <p:stCondLst>
                              <p:cond delay="3200"/>
                            </p:stCondLst>
                            <p:childTnLst>
                              <p:par>
                                <p:cTn id="60" presetID="37" presetClass="entr" presetSubtype="0" fill="hold" grpId="0" nodeType="afterEffect">
                                  <p:stCondLst>
                                    <p:cond delay="0"/>
                                  </p:stCondLst>
                                  <p:iterate type="lt">
                                    <p:tmPct val="10000"/>
                                  </p:iterate>
                                  <p:childTnLst>
                                    <p:set>
                                      <p:cBhvr>
                                        <p:cTn id="61" dur="1" fill="hold">
                                          <p:stCondLst>
                                            <p:cond delay="0"/>
                                          </p:stCondLst>
                                        </p:cTn>
                                        <p:tgtEl>
                                          <p:spTgt spid="18"/>
                                        </p:tgtEl>
                                        <p:attrNameLst>
                                          <p:attrName>style.visibility</p:attrName>
                                        </p:attrNameLst>
                                      </p:cBhvr>
                                      <p:to>
                                        <p:strVal val="visible"/>
                                      </p:to>
                                    </p:set>
                                    <p:animEffect transition="in" filter="fade">
                                      <p:cBhvr>
                                        <p:cTn id="62" dur="600"/>
                                        <p:tgtEl>
                                          <p:spTgt spid="18"/>
                                        </p:tgtEl>
                                      </p:cBhvr>
                                    </p:animEffect>
                                    <p:anim calcmode="lin" valueType="num">
                                      <p:cBhvr>
                                        <p:cTn id="63" dur="600" fill="hold"/>
                                        <p:tgtEl>
                                          <p:spTgt spid="18"/>
                                        </p:tgtEl>
                                        <p:attrNameLst>
                                          <p:attrName>ppt_x</p:attrName>
                                        </p:attrNameLst>
                                      </p:cBhvr>
                                      <p:tavLst>
                                        <p:tav tm="0">
                                          <p:val>
                                            <p:strVal val="#ppt_x"/>
                                          </p:val>
                                        </p:tav>
                                        <p:tav tm="100000">
                                          <p:val>
                                            <p:strVal val="#ppt_x"/>
                                          </p:val>
                                        </p:tav>
                                      </p:tavLst>
                                    </p:anim>
                                    <p:anim calcmode="lin" valueType="num">
                                      <p:cBhvr>
                                        <p:cTn id="64" dur="540" decel="100000" fill="hold"/>
                                        <p:tgtEl>
                                          <p:spTgt spid="18"/>
                                        </p:tgtEl>
                                        <p:attrNameLst>
                                          <p:attrName>ppt_y</p:attrName>
                                        </p:attrNameLst>
                                      </p:cBhvr>
                                      <p:tavLst>
                                        <p:tav tm="0">
                                          <p:val>
                                            <p:strVal val="#ppt_y+1"/>
                                          </p:val>
                                        </p:tav>
                                        <p:tav tm="100000">
                                          <p:val>
                                            <p:strVal val="#ppt_y-.03"/>
                                          </p:val>
                                        </p:tav>
                                      </p:tavLst>
                                    </p:anim>
                                    <p:anim calcmode="lin" valueType="num">
                                      <p:cBhvr>
                                        <p:cTn id="65" dur="60" accel="100000" fill="hold">
                                          <p:stCondLst>
                                            <p:cond delay="540"/>
                                          </p:stCondLst>
                                        </p:cTn>
                                        <p:tgtEl>
                                          <p:spTgt spid="18"/>
                                        </p:tgtEl>
                                        <p:attrNameLst>
                                          <p:attrName>ppt_y</p:attrName>
                                        </p:attrNameLst>
                                      </p:cBhvr>
                                      <p:tavLst>
                                        <p:tav tm="0">
                                          <p:val>
                                            <p:strVal val="#ppt_y-.03"/>
                                          </p:val>
                                        </p:tav>
                                        <p:tav tm="100000">
                                          <p:val>
                                            <p:strVal val="#ppt_y"/>
                                          </p:val>
                                        </p:tav>
                                      </p:tavLst>
                                    </p:anim>
                                  </p:childTnLst>
                                </p:cTn>
                              </p:par>
                            </p:childTnLst>
                          </p:cTn>
                        </p:par>
                        <p:par>
                          <p:cTn id="66" fill="hold">
                            <p:stCondLst>
                              <p:cond delay="4340"/>
                            </p:stCondLst>
                            <p:childTnLst>
                              <p:par>
                                <p:cTn id="67" presetID="10" presetClass="entr" presetSubtype="0" fill="hold" grpId="0" nodeType="afterEffect">
                                  <p:stCondLst>
                                    <p:cond delay="0"/>
                                  </p:stCondLst>
                                  <p:iterate type="wd">
                                    <p:tmPct val="10000"/>
                                  </p:iterate>
                                  <p:childTnLst>
                                    <p:set>
                                      <p:cBhvr>
                                        <p:cTn id="68" dur="1" fill="hold">
                                          <p:stCondLst>
                                            <p:cond delay="0"/>
                                          </p:stCondLst>
                                        </p:cTn>
                                        <p:tgtEl>
                                          <p:spTgt spid="19"/>
                                        </p:tgtEl>
                                        <p:attrNameLst>
                                          <p:attrName>style.visibility</p:attrName>
                                        </p:attrNameLst>
                                      </p:cBhvr>
                                      <p:to>
                                        <p:strVal val="visible"/>
                                      </p:to>
                                    </p:set>
                                    <p:animEffect transition="in" filter="fade">
                                      <p:cBhvr>
                                        <p:cTn id="69" dur="600"/>
                                        <p:tgtEl>
                                          <p:spTgt spid="19"/>
                                        </p:tgtEl>
                                      </p:cBhvr>
                                    </p:animEffect>
                                  </p:childTnLst>
                                </p:cTn>
                              </p:par>
                            </p:childTnLst>
                          </p:cTn>
                        </p:par>
                        <p:par>
                          <p:cTn id="70" fill="hold">
                            <p:stCondLst>
                              <p:cond delay="5600"/>
                            </p:stCondLst>
                            <p:childTnLst>
                              <p:par>
                                <p:cTn id="71" presetID="22" presetClass="entr" presetSubtype="8" fill="hold" grpId="0" nodeType="after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wipe(left)">
                                      <p:cBhvr>
                                        <p:cTn id="73" dur="500"/>
                                        <p:tgtEl>
                                          <p:spTgt spid="20"/>
                                        </p:tgtEl>
                                      </p:cBhvr>
                                    </p:animEffect>
                                  </p:childTnLst>
                                </p:cTn>
                              </p:par>
                            </p:childTnLst>
                          </p:cTn>
                        </p:par>
                        <p:par>
                          <p:cTn id="74" fill="hold">
                            <p:stCondLst>
                              <p:cond delay="6100"/>
                            </p:stCondLst>
                            <p:childTnLst>
                              <p:par>
                                <p:cTn id="75" presetID="37" presetClass="entr" presetSubtype="0" fill="hold" grpId="0" nodeType="afterEffect">
                                  <p:stCondLst>
                                    <p:cond delay="0"/>
                                  </p:stCondLst>
                                  <p:childTnLst>
                                    <p:set>
                                      <p:cBhvr>
                                        <p:cTn id="76" dur="1" fill="hold">
                                          <p:stCondLst>
                                            <p:cond delay="0"/>
                                          </p:stCondLst>
                                        </p:cTn>
                                        <p:tgtEl>
                                          <p:spTgt spid="21">
                                            <p:txEl>
                                              <p:pRg st="0" end="0"/>
                                            </p:txEl>
                                          </p:spTgt>
                                        </p:tgtEl>
                                        <p:attrNameLst>
                                          <p:attrName>style.visibility</p:attrName>
                                        </p:attrNameLst>
                                      </p:cBhvr>
                                      <p:to>
                                        <p:strVal val="visible"/>
                                      </p:to>
                                    </p:set>
                                    <p:animEffect transition="in" filter="fade">
                                      <p:cBhvr>
                                        <p:cTn id="77" dur="450"/>
                                        <p:tgtEl>
                                          <p:spTgt spid="21">
                                            <p:txEl>
                                              <p:pRg st="0" end="0"/>
                                            </p:txEl>
                                          </p:spTgt>
                                        </p:tgtEl>
                                      </p:cBhvr>
                                    </p:animEffect>
                                    <p:anim calcmode="lin" valueType="num">
                                      <p:cBhvr>
                                        <p:cTn id="78" dur="45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79" dur="405" decel="100000" fill="hold"/>
                                        <p:tgtEl>
                                          <p:spTgt spid="21">
                                            <p:txEl>
                                              <p:pRg st="0" end="0"/>
                                            </p:txEl>
                                          </p:spTgt>
                                        </p:tgtEl>
                                        <p:attrNameLst>
                                          <p:attrName>ppt_y</p:attrName>
                                        </p:attrNameLst>
                                      </p:cBhvr>
                                      <p:tavLst>
                                        <p:tav tm="0">
                                          <p:val>
                                            <p:strVal val="#ppt_y+1"/>
                                          </p:val>
                                        </p:tav>
                                        <p:tav tm="100000">
                                          <p:val>
                                            <p:strVal val="#ppt_y-.03"/>
                                          </p:val>
                                        </p:tav>
                                      </p:tavLst>
                                    </p:anim>
                                    <p:anim calcmode="lin" valueType="num">
                                      <p:cBhvr>
                                        <p:cTn id="80" dur="45" accel="100000" fill="hold">
                                          <p:stCondLst>
                                            <p:cond delay="405"/>
                                          </p:stCondLst>
                                        </p:cTn>
                                        <p:tgtEl>
                                          <p:spTgt spid="21">
                                            <p:txEl>
                                              <p:pRg st="0" end="0"/>
                                            </p:txEl>
                                          </p:spTgt>
                                        </p:tgtEl>
                                        <p:attrNameLst>
                                          <p:attrName>ppt_y</p:attrName>
                                        </p:attrNameLst>
                                      </p:cBhvr>
                                      <p:tavLst>
                                        <p:tav tm="0">
                                          <p:val>
                                            <p:strVal val="#ppt_y-.03"/>
                                          </p:val>
                                        </p:tav>
                                        <p:tav tm="100000">
                                          <p:val>
                                            <p:strVal val="#ppt_y"/>
                                          </p:val>
                                        </p:tav>
                                      </p:tavLst>
                                    </p:anim>
                                  </p:childTnLst>
                                </p:cTn>
                              </p:par>
                            </p:childTnLst>
                          </p:cTn>
                        </p:par>
                        <p:par>
                          <p:cTn id="81" fill="hold">
                            <p:stCondLst>
                              <p:cond delay="6550"/>
                            </p:stCondLst>
                            <p:childTnLst>
                              <p:par>
                                <p:cTn id="82" presetID="37" presetClass="entr" presetSubtype="0" fill="hold" grpId="0" nodeType="afterEffect">
                                  <p:stCondLst>
                                    <p:cond delay="0"/>
                                  </p:stCondLst>
                                  <p:childTnLst>
                                    <p:set>
                                      <p:cBhvr>
                                        <p:cTn id="83" dur="1" fill="hold">
                                          <p:stCondLst>
                                            <p:cond delay="0"/>
                                          </p:stCondLst>
                                        </p:cTn>
                                        <p:tgtEl>
                                          <p:spTgt spid="21">
                                            <p:txEl>
                                              <p:pRg st="1" end="1"/>
                                            </p:txEl>
                                          </p:spTgt>
                                        </p:tgtEl>
                                        <p:attrNameLst>
                                          <p:attrName>style.visibility</p:attrName>
                                        </p:attrNameLst>
                                      </p:cBhvr>
                                      <p:to>
                                        <p:strVal val="visible"/>
                                      </p:to>
                                    </p:set>
                                    <p:animEffect transition="in" filter="fade">
                                      <p:cBhvr>
                                        <p:cTn id="84" dur="450"/>
                                        <p:tgtEl>
                                          <p:spTgt spid="21">
                                            <p:txEl>
                                              <p:pRg st="1" end="1"/>
                                            </p:txEl>
                                          </p:spTgt>
                                        </p:tgtEl>
                                      </p:cBhvr>
                                    </p:animEffect>
                                    <p:anim calcmode="lin" valueType="num">
                                      <p:cBhvr>
                                        <p:cTn id="85" dur="450" fill="hold"/>
                                        <p:tgtEl>
                                          <p:spTgt spid="21">
                                            <p:txEl>
                                              <p:pRg st="1" end="1"/>
                                            </p:txEl>
                                          </p:spTgt>
                                        </p:tgtEl>
                                        <p:attrNameLst>
                                          <p:attrName>ppt_x</p:attrName>
                                        </p:attrNameLst>
                                      </p:cBhvr>
                                      <p:tavLst>
                                        <p:tav tm="0">
                                          <p:val>
                                            <p:strVal val="#ppt_x"/>
                                          </p:val>
                                        </p:tav>
                                        <p:tav tm="100000">
                                          <p:val>
                                            <p:strVal val="#ppt_x"/>
                                          </p:val>
                                        </p:tav>
                                      </p:tavLst>
                                    </p:anim>
                                    <p:anim calcmode="lin" valueType="num">
                                      <p:cBhvr>
                                        <p:cTn id="86" dur="405" decel="100000" fill="hold"/>
                                        <p:tgtEl>
                                          <p:spTgt spid="21">
                                            <p:txEl>
                                              <p:pRg st="1" end="1"/>
                                            </p:txEl>
                                          </p:spTgt>
                                        </p:tgtEl>
                                        <p:attrNameLst>
                                          <p:attrName>ppt_y</p:attrName>
                                        </p:attrNameLst>
                                      </p:cBhvr>
                                      <p:tavLst>
                                        <p:tav tm="0">
                                          <p:val>
                                            <p:strVal val="#ppt_y+1"/>
                                          </p:val>
                                        </p:tav>
                                        <p:tav tm="100000">
                                          <p:val>
                                            <p:strVal val="#ppt_y-.03"/>
                                          </p:val>
                                        </p:tav>
                                      </p:tavLst>
                                    </p:anim>
                                    <p:anim calcmode="lin" valueType="num">
                                      <p:cBhvr>
                                        <p:cTn id="87" dur="45" accel="100000" fill="hold">
                                          <p:stCondLst>
                                            <p:cond delay="405"/>
                                          </p:stCondLst>
                                        </p:cTn>
                                        <p:tgtEl>
                                          <p:spTgt spid="21">
                                            <p:txEl>
                                              <p:pRg st="1" end="1"/>
                                            </p:txEl>
                                          </p:spTgt>
                                        </p:tgtEl>
                                        <p:attrNameLst>
                                          <p:attrName>ppt_y</p:attrName>
                                        </p:attrNameLst>
                                      </p:cBhvr>
                                      <p:tavLst>
                                        <p:tav tm="0">
                                          <p:val>
                                            <p:strVal val="#ppt_y-.03"/>
                                          </p:val>
                                        </p:tav>
                                        <p:tav tm="100000">
                                          <p:val>
                                            <p:strVal val="#ppt_y"/>
                                          </p:val>
                                        </p:tav>
                                      </p:tavLst>
                                    </p:anim>
                                  </p:childTnLst>
                                </p:cTn>
                              </p:par>
                            </p:childTnLst>
                          </p:cTn>
                        </p:par>
                        <p:par>
                          <p:cTn id="88" fill="hold">
                            <p:stCondLst>
                              <p:cond delay="7000"/>
                            </p:stCondLst>
                            <p:childTnLst>
                              <p:par>
                                <p:cTn id="89" presetID="37" presetClass="entr" presetSubtype="0" fill="hold" grpId="0" nodeType="afterEffect">
                                  <p:stCondLst>
                                    <p:cond delay="0"/>
                                  </p:stCondLst>
                                  <p:childTnLst>
                                    <p:set>
                                      <p:cBhvr>
                                        <p:cTn id="90" dur="1" fill="hold">
                                          <p:stCondLst>
                                            <p:cond delay="0"/>
                                          </p:stCondLst>
                                        </p:cTn>
                                        <p:tgtEl>
                                          <p:spTgt spid="21">
                                            <p:txEl>
                                              <p:pRg st="2" end="2"/>
                                            </p:txEl>
                                          </p:spTgt>
                                        </p:tgtEl>
                                        <p:attrNameLst>
                                          <p:attrName>style.visibility</p:attrName>
                                        </p:attrNameLst>
                                      </p:cBhvr>
                                      <p:to>
                                        <p:strVal val="visible"/>
                                      </p:to>
                                    </p:set>
                                    <p:animEffect transition="in" filter="fade">
                                      <p:cBhvr>
                                        <p:cTn id="91" dur="450"/>
                                        <p:tgtEl>
                                          <p:spTgt spid="21">
                                            <p:txEl>
                                              <p:pRg st="2" end="2"/>
                                            </p:txEl>
                                          </p:spTgt>
                                        </p:tgtEl>
                                      </p:cBhvr>
                                    </p:animEffect>
                                    <p:anim calcmode="lin" valueType="num">
                                      <p:cBhvr>
                                        <p:cTn id="92" dur="450" fill="hold"/>
                                        <p:tgtEl>
                                          <p:spTgt spid="21">
                                            <p:txEl>
                                              <p:pRg st="2" end="2"/>
                                            </p:txEl>
                                          </p:spTgt>
                                        </p:tgtEl>
                                        <p:attrNameLst>
                                          <p:attrName>ppt_x</p:attrName>
                                        </p:attrNameLst>
                                      </p:cBhvr>
                                      <p:tavLst>
                                        <p:tav tm="0">
                                          <p:val>
                                            <p:strVal val="#ppt_x"/>
                                          </p:val>
                                        </p:tav>
                                        <p:tav tm="100000">
                                          <p:val>
                                            <p:strVal val="#ppt_x"/>
                                          </p:val>
                                        </p:tav>
                                      </p:tavLst>
                                    </p:anim>
                                    <p:anim calcmode="lin" valueType="num">
                                      <p:cBhvr>
                                        <p:cTn id="93" dur="405" decel="100000" fill="hold"/>
                                        <p:tgtEl>
                                          <p:spTgt spid="21">
                                            <p:txEl>
                                              <p:pRg st="2" end="2"/>
                                            </p:txEl>
                                          </p:spTgt>
                                        </p:tgtEl>
                                        <p:attrNameLst>
                                          <p:attrName>ppt_y</p:attrName>
                                        </p:attrNameLst>
                                      </p:cBhvr>
                                      <p:tavLst>
                                        <p:tav tm="0">
                                          <p:val>
                                            <p:strVal val="#ppt_y+1"/>
                                          </p:val>
                                        </p:tav>
                                        <p:tav tm="100000">
                                          <p:val>
                                            <p:strVal val="#ppt_y-.03"/>
                                          </p:val>
                                        </p:tav>
                                      </p:tavLst>
                                    </p:anim>
                                    <p:anim calcmode="lin" valueType="num">
                                      <p:cBhvr>
                                        <p:cTn id="94" dur="45" accel="100000" fill="hold">
                                          <p:stCondLst>
                                            <p:cond delay="405"/>
                                          </p:stCondLst>
                                        </p:cTn>
                                        <p:tgtEl>
                                          <p:spTgt spid="21">
                                            <p:txEl>
                                              <p:pRg st="2" end="2"/>
                                            </p:txEl>
                                          </p:spTgt>
                                        </p:tgtEl>
                                        <p:attrNameLst>
                                          <p:attrName>ppt_y</p:attrName>
                                        </p:attrNameLst>
                                      </p:cBhvr>
                                      <p:tavLst>
                                        <p:tav tm="0">
                                          <p:val>
                                            <p:strVal val="#ppt_y-.03"/>
                                          </p:val>
                                        </p:tav>
                                        <p:tav tm="100000">
                                          <p:val>
                                            <p:strVal val="#ppt_y"/>
                                          </p:val>
                                        </p:tav>
                                      </p:tavLst>
                                    </p:anim>
                                  </p:childTnLst>
                                </p:cTn>
                              </p:par>
                            </p:childTnLst>
                          </p:cTn>
                        </p:par>
                        <p:par>
                          <p:cTn id="95" fill="hold">
                            <p:stCondLst>
                              <p:cond delay="7450"/>
                            </p:stCondLst>
                            <p:childTnLst>
                              <p:par>
                                <p:cTn id="96" presetID="10" presetClass="entr" presetSubtype="0" fill="hold" grpId="0" nodeType="after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5" grpId="0" animBg="1"/>
      <p:bldP spid="17" grpId="0"/>
      <p:bldP spid="18" grpId="0"/>
      <p:bldP spid="19" grpId="0"/>
      <p:bldP spid="20" grpId="0" animBg="1"/>
      <p:bldP spid="21" grpId="0" build="p"/>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692640" y="-1097280"/>
            <a:ext cx="3291840" cy="329184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285171" y="-504748"/>
            <a:ext cx="2106777" cy="2106777"/>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01</a:t>
            </a:r>
          </a:p>
        </p:txBody>
      </p:sp>
      <p:sp>
        <p:nvSpPr>
          <p:cNvPr id="7" name="!!rail2"/>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465429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53675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608076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6793992"/>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06</a:t>
            </a:r>
          </a:p>
        </p:txBody>
      </p:sp>
      <p:sp>
        <p:nvSpPr>
          <p:cNvPr id="12" name="!!rail7"/>
          <p:cNvSpPr txBox="1"/>
          <p:nvPr/>
        </p:nvSpPr>
        <p:spPr>
          <a:xfrm>
            <a:off x="45720" y="7507223"/>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822045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18"/>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01  ·  BRIEF INTRODUCTION</a:t>
            </a:r>
          </a:p>
        </p:txBody>
      </p:sp>
      <p:sp>
        <p:nvSpPr>
          <p:cNvPr id="15" name="Title 19"/>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Brief introduction</a:t>
            </a:r>
          </a:p>
        </p:txBody>
      </p:sp>
      <p:sp>
        <p:nvSpPr>
          <p:cNvPr id="16" name="Subtitle 20"/>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Why web-threat detection needs more than one model</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§1.1 Background of the Study</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02 / 20</a:t>
            </a:r>
          </a:p>
        </p:txBody>
      </p:sp>
      <p:sp>
        <p:nvSpPr>
          <p:cNvPr id="20" name="Point dot 21"/>
          <p:cNvSpPr/>
          <p:nvPr/>
        </p:nvSpPr>
        <p:spPr>
          <a:xfrm>
            <a:off x="1417320" y="1984248"/>
            <a:ext cx="310896" cy="310896"/>
          </a:xfrm>
          <a:prstGeom prst="ellipse">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Point n 22"/>
          <p:cNvSpPr txBox="1"/>
          <p:nvPr/>
        </p:nvSpPr>
        <p:spPr>
          <a:xfrm>
            <a:off x="1481328" y="1984248"/>
            <a:ext cx="201168" cy="310896"/>
          </a:xfrm>
          <a:prstGeom prst="rect">
            <a:avLst/>
          </a:prstGeom>
          <a:noFill/>
        </p:spPr>
        <p:txBody>
          <a:bodyPr wrap="square" lIns="0" tIns="0" rIns="0" bIns="0" anchor="ctr">
            <a:spAutoFit/>
          </a:bodyPr>
          <a:lstStyle/>
          <a:p>
            <a:pPr algn="ctr">
              <a:lnSpc>
                <a:spcPct val="108000"/>
              </a:lnSpc>
            </a:pPr>
            <a:r>
              <a:rPr sz="1200" b="1" i="0">
                <a:solidFill>
                  <a:srgbClr val="1F1A1B"/>
                </a:solidFill>
                <a:latin typeface="Bahnschrift"/>
              </a:rPr>
              <a:t>1</a:t>
            </a:r>
          </a:p>
        </p:txBody>
      </p:sp>
      <p:sp>
        <p:nvSpPr>
          <p:cNvPr id="22" name="Point 23"/>
          <p:cNvSpPr txBox="1"/>
          <p:nvPr/>
        </p:nvSpPr>
        <p:spPr>
          <a:xfrm>
            <a:off x="1920240" y="1920240"/>
            <a:ext cx="5257800" cy="1051560"/>
          </a:xfrm>
          <a:prstGeom prst="rect">
            <a:avLst/>
          </a:prstGeom>
          <a:noFill/>
        </p:spPr>
        <p:txBody>
          <a:bodyPr wrap="square" lIns="36576" tIns="36576" rIns="36576" bIns="36576" anchor="t">
            <a:spAutoFit/>
          </a:bodyPr>
          <a:lstStyle/>
          <a:p>
            <a:pPr algn="l">
              <a:lnSpc>
                <a:spcPct val="108000"/>
              </a:lnSpc>
              <a:spcAft>
                <a:spcPts val="300"/>
              </a:spcAft>
            </a:pPr>
            <a:r>
              <a:rPr sz="1800" b="1" i="0">
                <a:solidFill>
                  <a:srgbClr val="1F1A1B"/>
                </a:solidFill>
                <a:latin typeface="Bahnschrift"/>
              </a:rPr>
              <a:t>The browser is the attack surface</a:t>
            </a:r>
          </a:p>
          <a:p>
            <a:pPr algn="l">
              <a:lnSpc>
                <a:spcPct val="104000"/>
              </a:lnSpc>
            </a:pPr>
            <a:r>
              <a:rPr sz="1400" b="0" i="0">
                <a:solidFill>
                  <a:srgbClr val="4A4244"/>
                </a:solidFill>
                <a:latin typeface="Calibri"/>
              </a:rPr>
              <a:t>Phishing, drive-by downloads, credential theft and malicious ads now dominate, as the boundary moved from the firewall to the browser (Provos et al., 2007; Khonji et al., 2013).</a:t>
            </a:r>
          </a:p>
        </p:txBody>
      </p:sp>
      <p:cxnSp>
        <p:nvCxnSpPr>
          <p:cNvPr id="23" name="Point link 24"/>
          <p:cNvCxnSpPr/>
          <p:nvPr/>
        </p:nvCxnSpPr>
        <p:spPr>
          <a:xfrm>
            <a:off x="1572768" y="2331720"/>
            <a:ext cx="0" cy="667512"/>
          </a:xfrm>
          <a:prstGeom prst="line">
            <a:avLst/>
          </a:prstGeom>
          <a:ln w="19050">
            <a:solidFill>
              <a:srgbClr val="DCD2C3"/>
            </a:solidFill>
          </a:ln>
        </p:spPr>
        <p:style>
          <a:lnRef idx="2">
            <a:schemeClr val="accent1"/>
          </a:lnRef>
          <a:fillRef idx="0">
            <a:schemeClr val="accent1"/>
          </a:fillRef>
          <a:effectRef idx="1">
            <a:schemeClr val="accent1"/>
          </a:effectRef>
          <a:fontRef idx="minor">
            <a:schemeClr val="tx1"/>
          </a:fontRef>
        </p:style>
      </p:cxnSp>
      <p:sp>
        <p:nvSpPr>
          <p:cNvPr id="24" name="Point dot 25"/>
          <p:cNvSpPr/>
          <p:nvPr/>
        </p:nvSpPr>
        <p:spPr>
          <a:xfrm>
            <a:off x="1417320" y="3063240"/>
            <a:ext cx="310896" cy="310896"/>
          </a:xfrm>
          <a:prstGeom prst="ellipse">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Point n 26"/>
          <p:cNvSpPr txBox="1"/>
          <p:nvPr/>
        </p:nvSpPr>
        <p:spPr>
          <a:xfrm>
            <a:off x="1481328" y="3063240"/>
            <a:ext cx="201168" cy="310896"/>
          </a:xfrm>
          <a:prstGeom prst="rect">
            <a:avLst/>
          </a:prstGeom>
          <a:noFill/>
        </p:spPr>
        <p:txBody>
          <a:bodyPr wrap="square" lIns="0" tIns="0" rIns="0" bIns="0" anchor="ctr">
            <a:spAutoFit/>
          </a:bodyPr>
          <a:lstStyle/>
          <a:p>
            <a:pPr algn="ctr">
              <a:lnSpc>
                <a:spcPct val="108000"/>
              </a:lnSpc>
            </a:pPr>
            <a:r>
              <a:rPr sz="1200" b="1" i="0">
                <a:solidFill>
                  <a:srgbClr val="1F1A1B"/>
                </a:solidFill>
                <a:latin typeface="Bahnschrift"/>
              </a:rPr>
              <a:t>2</a:t>
            </a:r>
          </a:p>
        </p:txBody>
      </p:sp>
      <p:sp>
        <p:nvSpPr>
          <p:cNvPr id="26" name="Point 27"/>
          <p:cNvSpPr txBox="1"/>
          <p:nvPr/>
        </p:nvSpPr>
        <p:spPr>
          <a:xfrm>
            <a:off x="1920240" y="2999232"/>
            <a:ext cx="5257800" cy="1051560"/>
          </a:xfrm>
          <a:prstGeom prst="rect">
            <a:avLst/>
          </a:prstGeom>
          <a:noFill/>
        </p:spPr>
        <p:txBody>
          <a:bodyPr wrap="square" lIns="36576" tIns="36576" rIns="36576" bIns="36576" anchor="t">
            <a:spAutoFit/>
          </a:bodyPr>
          <a:lstStyle/>
          <a:p>
            <a:pPr algn="l">
              <a:lnSpc>
                <a:spcPct val="108000"/>
              </a:lnSpc>
              <a:spcAft>
                <a:spcPts val="300"/>
              </a:spcAft>
            </a:pPr>
            <a:r>
              <a:rPr sz="1800" b="1" i="0">
                <a:solidFill>
                  <a:srgbClr val="1F1A1B"/>
                </a:solidFill>
                <a:latin typeface="Bahnschrift"/>
              </a:rPr>
              <a:t>Signatures fall behind</a:t>
            </a:r>
          </a:p>
          <a:p>
            <a:pPr algn="l">
              <a:lnSpc>
                <a:spcPct val="104000"/>
              </a:lnSpc>
            </a:pPr>
            <a:r>
              <a:rPr sz="1400" b="0" i="0">
                <a:solidFill>
                  <a:srgbClr val="4A4244"/>
                </a:solidFill>
                <a:latin typeface="Calibri"/>
              </a:rPr>
              <a:t>Fast-changing domains, hidden payloads and short-lived infrastructure defeat signature-based tools.</a:t>
            </a:r>
          </a:p>
        </p:txBody>
      </p:sp>
      <p:cxnSp>
        <p:nvCxnSpPr>
          <p:cNvPr id="27" name="Point link 28"/>
          <p:cNvCxnSpPr/>
          <p:nvPr/>
        </p:nvCxnSpPr>
        <p:spPr>
          <a:xfrm>
            <a:off x="1572768" y="3410712"/>
            <a:ext cx="0" cy="667512"/>
          </a:xfrm>
          <a:prstGeom prst="line">
            <a:avLst/>
          </a:prstGeom>
          <a:ln w="19050">
            <a:solidFill>
              <a:srgbClr val="DCD2C3"/>
            </a:solidFill>
          </a:ln>
        </p:spPr>
        <p:style>
          <a:lnRef idx="2">
            <a:schemeClr val="accent1"/>
          </a:lnRef>
          <a:fillRef idx="0">
            <a:schemeClr val="accent1"/>
          </a:fillRef>
          <a:effectRef idx="1">
            <a:schemeClr val="accent1"/>
          </a:effectRef>
          <a:fontRef idx="minor">
            <a:schemeClr val="tx1"/>
          </a:fontRef>
        </p:style>
      </p:cxnSp>
      <p:sp>
        <p:nvSpPr>
          <p:cNvPr id="28" name="Point dot 29"/>
          <p:cNvSpPr/>
          <p:nvPr/>
        </p:nvSpPr>
        <p:spPr>
          <a:xfrm>
            <a:off x="1417320" y="4142232"/>
            <a:ext cx="310896" cy="310896"/>
          </a:xfrm>
          <a:prstGeom prst="ellipse">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Point n 30"/>
          <p:cNvSpPr txBox="1"/>
          <p:nvPr/>
        </p:nvSpPr>
        <p:spPr>
          <a:xfrm>
            <a:off x="1481328" y="4142232"/>
            <a:ext cx="201168" cy="310896"/>
          </a:xfrm>
          <a:prstGeom prst="rect">
            <a:avLst/>
          </a:prstGeom>
          <a:noFill/>
        </p:spPr>
        <p:txBody>
          <a:bodyPr wrap="square" lIns="0" tIns="0" rIns="0" bIns="0" anchor="ctr">
            <a:spAutoFit/>
          </a:bodyPr>
          <a:lstStyle/>
          <a:p>
            <a:pPr algn="ctr">
              <a:lnSpc>
                <a:spcPct val="108000"/>
              </a:lnSpc>
            </a:pPr>
            <a:r>
              <a:rPr sz="1200" b="1" i="0">
                <a:solidFill>
                  <a:srgbClr val="1F1A1B"/>
                </a:solidFill>
                <a:latin typeface="Bahnschrift"/>
              </a:rPr>
              <a:t>3</a:t>
            </a:r>
          </a:p>
        </p:txBody>
      </p:sp>
      <p:sp>
        <p:nvSpPr>
          <p:cNvPr id="30" name="Point 31"/>
          <p:cNvSpPr txBox="1"/>
          <p:nvPr/>
        </p:nvSpPr>
        <p:spPr>
          <a:xfrm>
            <a:off x="1920240" y="4078224"/>
            <a:ext cx="5257800" cy="1051560"/>
          </a:xfrm>
          <a:prstGeom prst="rect">
            <a:avLst/>
          </a:prstGeom>
          <a:noFill/>
        </p:spPr>
        <p:txBody>
          <a:bodyPr wrap="square" lIns="36576" tIns="36576" rIns="36576" bIns="36576" anchor="t">
            <a:spAutoFit/>
          </a:bodyPr>
          <a:lstStyle/>
          <a:p>
            <a:pPr algn="l">
              <a:lnSpc>
                <a:spcPct val="108000"/>
              </a:lnSpc>
              <a:spcAft>
                <a:spcPts val="300"/>
              </a:spcAft>
            </a:pPr>
            <a:r>
              <a:rPr sz="1800" b="1" i="0">
                <a:solidFill>
                  <a:srgbClr val="1F1A1B"/>
                </a:solidFill>
                <a:latin typeface="Bahnschrift"/>
              </a:rPr>
              <a:t>Detection grew smarter</a:t>
            </a:r>
          </a:p>
          <a:p>
            <a:pPr algn="l">
              <a:lnSpc>
                <a:spcPct val="104000"/>
              </a:lnSpc>
            </a:pPr>
            <a:r>
              <a:rPr sz="1400" b="0" i="0">
                <a:solidFill>
                  <a:srgbClr val="4A4244"/>
                </a:solidFill>
                <a:latin typeface="Calibri"/>
              </a:rPr>
              <a:t>From machine learning to deep learning and Transformers that read URLs in context (Devlin et al., 2019; Buczak &amp; Guven, 2016).</a:t>
            </a:r>
          </a:p>
        </p:txBody>
      </p:sp>
      <p:cxnSp>
        <p:nvCxnSpPr>
          <p:cNvPr id="31" name="Point link 32"/>
          <p:cNvCxnSpPr/>
          <p:nvPr/>
        </p:nvCxnSpPr>
        <p:spPr>
          <a:xfrm>
            <a:off x="1572768" y="4489704"/>
            <a:ext cx="0" cy="667512"/>
          </a:xfrm>
          <a:prstGeom prst="line">
            <a:avLst/>
          </a:prstGeom>
          <a:ln w="19050">
            <a:solidFill>
              <a:srgbClr val="DCD2C3"/>
            </a:solidFill>
          </a:ln>
        </p:spPr>
        <p:style>
          <a:lnRef idx="2">
            <a:schemeClr val="accent1"/>
          </a:lnRef>
          <a:fillRef idx="0">
            <a:schemeClr val="accent1"/>
          </a:fillRef>
          <a:effectRef idx="1">
            <a:schemeClr val="accent1"/>
          </a:effectRef>
          <a:fontRef idx="minor">
            <a:schemeClr val="tx1"/>
          </a:fontRef>
        </p:style>
      </p:cxnSp>
      <p:sp>
        <p:nvSpPr>
          <p:cNvPr id="32" name="Point dot 33"/>
          <p:cNvSpPr/>
          <p:nvPr/>
        </p:nvSpPr>
        <p:spPr>
          <a:xfrm>
            <a:off x="1417320" y="5221224"/>
            <a:ext cx="310896" cy="310896"/>
          </a:xfrm>
          <a:prstGeom prst="ellipse">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Point n 34"/>
          <p:cNvSpPr txBox="1"/>
          <p:nvPr/>
        </p:nvSpPr>
        <p:spPr>
          <a:xfrm>
            <a:off x="1481328" y="5221224"/>
            <a:ext cx="201168" cy="310896"/>
          </a:xfrm>
          <a:prstGeom prst="rect">
            <a:avLst/>
          </a:prstGeom>
          <a:noFill/>
        </p:spPr>
        <p:txBody>
          <a:bodyPr wrap="square" lIns="0" tIns="0" rIns="0" bIns="0" anchor="ctr">
            <a:spAutoFit/>
          </a:bodyPr>
          <a:lstStyle/>
          <a:p>
            <a:pPr algn="ctr">
              <a:lnSpc>
                <a:spcPct val="108000"/>
              </a:lnSpc>
            </a:pPr>
            <a:r>
              <a:rPr sz="1200" b="1" i="0">
                <a:solidFill>
                  <a:srgbClr val="1F1A1B"/>
                </a:solidFill>
                <a:latin typeface="Bahnschrift"/>
              </a:rPr>
              <a:t>4</a:t>
            </a:r>
          </a:p>
        </p:txBody>
      </p:sp>
      <p:sp>
        <p:nvSpPr>
          <p:cNvPr id="34" name="Point 35"/>
          <p:cNvSpPr txBox="1"/>
          <p:nvPr/>
        </p:nvSpPr>
        <p:spPr>
          <a:xfrm>
            <a:off x="1920240" y="5157216"/>
            <a:ext cx="5257800" cy="1051560"/>
          </a:xfrm>
          <a:prstGeom prst="rect">
            <a:avLst/>
          </a:prstGeom>
          <a:noFill/>
        </p:spPr>
        <p:txBody>
          <a:bodyPr wrap="square" lIns="36576" tIns="36576" rIns="36576" bIns="36576" anchor="t">
            <a:spAutoFit/>
          </a:bodyPr>
          <a:lstStyle/>
          <a:p>
            <a:pPr algn="l">
              <a:lnSpc>
                <a:spcPct val="108000"/>
              </a:lnSpc>
              <a:spcAft>
                <a:spcPts val="300"/>
              </a:spcAft>
            </a:pPr>
            <a:r>
              <a:rPr sz="1800" b="1" i="0">
                <a:solidFill>
                  <a:srgbClr val="1F1A1B"/>
                </a:solidFill>
                <a:latin typeface="Bahnschrift"/>
              </a:rPr>
              <a:t>From one model to cooperating agents</a:t>
            </a:r>
          </a:p>
          <a:p>
            <a:pPr algn="l">
              <a:lnSpc>
                <a:spcPct val="104000"/>
              </a:lnSpc>
            </a:pPr>
            <a:r>
              <a:rPr sz="1400" b="0" i="0">
                <a:solidFill>
                  <a:srgbClr val="4A4244"/>
                </a:solidFill>
                <a:latin typeface="Calibri"/>
              </a:rPr>
              <a:t>Specialised agents for detection, extraction, analysis and reporting decide better together, as analysts reason step by step (Yao et al., 2023; Strom et al., 2018).</a:t>
            </a:r>
          </a:p>
        </p:txBody>
      </p:sp>
      <p:sp>
        <p:nvSpPr>
          <p:cNvPr id="35" name="CyberForge panel 36"/>
          <p:cNvSpPr/>
          <p:nvPr/>
        </p:nvSpPr>
        <p:spPr>
          <a:xfrm>
            <a:off x="7360920" y="1920240"/>
            <a:ext cx="4279392" cy="4206240"/>
          </a:xfrm>
          <a:prstGeom prst="roundRect">
            <a:avLst>
              <a:gd name="adj" fmla="val 4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Panel kicker 37"/>
          <p:cNvSpPr txBox="1"/>
          <p:nvPr/>
        </p:nvSpPr>
        <p:spPr>
          <a:xfrm>
            <a:off x="7635240" y="2121408"/>
            <a:ext cx="3749039" cy="365760"/>
          </a:xfrm>
          <a:prstGeom prst="rect">
            <a:avLst/>
          </a:prstGeom>
          <a:noFill/>
        </p:spPr>
        <p:txBody>
          <a:bodyPr wrap="square" lIns="36576" tIns="36576" rIns="36576" bIns="36576" anchor="t">
            <a:spAutoFit/>
          </a:bodyPr>
          <a:lstStyle/>
          <a:p>
            <a:pPr algn="l">
              <a:lnSpc>
                <a:spcPct val="108000"/>
              </a:lnSpc>
            </a:pPr>
            <a:r>
              <a:rPr sz="1100" b="1" i="0">
                <a:solidFill>
                  <a:srgbClr val="F69D39"/>
                </a:solidFill>
                <a:latin typeface="Consolas"/>
              </a:rPr>
              <a:t>THE PRESENT STUDY</a:t>
            </a:r>
          </a:p>
        </p:txBody>
      </p:sp>
      <p:sp>
        <p:nvSpPr>
          <p:cNvPr id="37" name="Panel title 38"/>
          <p:cNvSpPr txBox="1"/>
          <p:nvPr/>
        </p:nvSpPr>
        <p:spPr>
          <a:xfrm>
            <a:off x="7635240" y="2468880"/>
            <a:ext cx="3749039" cy="594360"/>
          </a:xfrm>
          <a:prstGeom prst="rect">
            <a:avLst/>
          </a:prstGeom>
          <a:noFill/>
        </p:spPr>
        <p:txBody>
          <a:bodyPr wrap="square" lIns="36576" tIns="36576" rIns="36576" bIns="36576" anchor="t">
            <a:spAutoFit/>
          </a:bodyPr>
          <a:lstStyle/>
          <a:p>
            <a:pPr algn="l">
              <a:lnSpc>
                <a:spcPct val="108000"/>
              </a:lnSpc>
            </a:pPr>
            <a:r>
              <a:rPr sz="3000" b="1" i="0">
                <a:solidFill>
                  <a:srgbClr val="EFE9DD"/>
                </a:solidFill>
                <a:latin typeface="Bahnschrift"/>
              </a:rPr>
              <a:t>CyberForge</a:t>
            </a:r>
          </a:p>
        </p:txBody>
      </p:sp>
      <p:sp>
        <p:nvSpPr>
          <p:cNvPr id="38" name="Panel body 39"/>
          <p:cNvSpPr txBox="1"/>
          <p:nvPr/>
        </p:nvSpPr>
        <p:spPr>
          <a:xfrm>
            <a:off x="7635240" y="3090672"/>
            <a:ext cx="3767328" cy="2103120"/>
          </a:xfrm>
          <a:prstGeom prst="rect">
            <a:avLst/>
          </a:prstGeom>
          <a:noFill/>
        </p:spPr>
        <p:txBody>
          <a:bodyPr wrap="square" lIns="36576" tIns="36576" rIns="36576" bIns="36576" anchor="t">
            <a:spAutoFit/>
          </a:bodyPr>
          <a:lstStyle/>
          <a:p>
            <a:pPr algn="l">
              <a:lnSpc>
                <a:spcPct val="108000"/>
              </a:lnSpc>
              <a:spcAft>
                <a:spcPts val="800"/>
              </a:spcAft>
            </a:pPr>
            <a:r>
              <a:rPr sz="1550" b="0" i="0">
                <a:solidFill>
                  <a:srgbClr val="EFE9DD"/>
                </a:solidFill>
                <a:latin typeface="Calibri"/>
              </a:rPr>
              <a:t>A multi-platform, agent-based system that analyses URLs in real time and protects users while they browse.</a:t>
            </a:r>
          </a:p>
          <a:p>
            <a:pPr algn="l">
              <a:lnSpc>
                <a:spcPct val="108000"/>
              </a:lnSpc>
            </a:pPr>
            <a:r>
              <a:rPr sz="1400" b="0" i="0">
                <a:solidFill>
                  <a:srgbClr val="CFC6B8"/>
                </a:solidFill>
                <a:latin typeface="Calibri"/>
              </a:rPr>
              <a:t>Specialised agents classify the URL, analyse the domain, inspect behaviour, look up threat intelligence and map adversary techniques, then agree one verdict.</a:t>
            </a:r>
          </a:p>
        </p:txBody>
      </p:sp>
      <p:sp>
        <p:nvSpPr>
          <p:cNvPr id="39" name="Agent chip 40"/>
          <p:cNvSpPr/>
          <p:nvPr/>
        </p:nvSpPr>
        <p:spPr>
          <a:xfrm>
            <a:off x="7635240" y="5577840"/>
            <a:ext cx="502158" cy="310896"/>
          </a:xfrm>
          <a:prstGeom prst="roundRect">
            <a:avLst>
              <a:gd name="adj" fmla="val 50000"/>
            </a:avLst>
          </a:prstGeom>
          <a:solidFill>
            <a:srgbClr val="2A242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69D39"/>
                </a:solidFill>
                <a:latin typeface="Consolas"/>
              </a:rPr>
              <a:t>URL</a:t>
            </a:r>
          </a:p>
        </p:txBody>
      </p:sp>
      <p:sp>
        <p:nvSpPr>
          <p:cNvPr id="40" name="Agent chip 41"/>
          <p:cNvSpPr/>
          <p:nvPr/>
        </p:nvSpPr>
        <p:spPr>
          <a:xfrm>
            <a:off x="8210549" y="5577840"/>
            <a:ext cx="711708" cy="310896"/>
          </a:xfrm>
          <a:prstGeom prst="roundRect">
            <a:avLst>
              <a:gd name="adj" fmla="val 50000"/>
            </a:avLst>
          </a:prstGeom>
          <a:solidFill>
            <a:srgbClr val="2A242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69D39"/>
                </a:solidFill>
                <a:latin typeface="Consolas"/>
              </a:rPr>
              <a:t>Domain</a:t>
            </a:r>
          </a:p>
        </p:txBody>
      </p:sp>
      <p:sp>
        <p:nvSpPr>
          <p:cNvPr id="41" name="Agent chip 42"/>
          <p:cNvSpPr/>
          <p:nvPr/>
        </p:nvSpPr>
        <p:spPr>
          <a:xfrm>
            <a:off x="8995409" y="5577840"/>
            <a:ext cx="921258" cy="310896"/>
          </a:xfrm>
          <a:prstGeom prst="roundRect">
            <a:avLst>
              <a:gd name="adj" fmla="val 50000"/>
            </a:avLst>
          </a:prstGeom>
          <a:solidFill>
            <a:srgbClr val="2A242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69D39"/>
                </a:solidFill>
                <a:latin typeface="Consolas"/>
              </a:rPr>
              <a:t>Behaviour</a:t>
            </a:r>
          </a:p>
        </p:txBody>
      </p:sp>
      <p:sp>
        <p:nvSpPr>
          <p:cNvPr id="42" name="Agent chip 43"/>
          <p:cNvSpPr/>
          <p:nvPr/>
        </p:nvSpPr>
        <p:spPr>
          <a:xfrm>
            <a:off x="9989819" y="5577840"/>
            <a:ext cx="1130808" cy="310896"/>
          </a:xfrm>
          <a:prstGeom prst="roundRect">
            <a:avLst>
              <a:gd name="adj" fmla="val 50000"/>
            </a:avLst>
          </a:prstGeom>
          <a:solidFill>
            <a:srgbClr val="2A242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69D39"/>
                </a:solidFill>
                <a:latin typeface="Consolas"/>
              </a:rPr>
              <a:t>Threat intel</a:t>
            </a:r>
          </a:p>
        </p:txBody>
      </p:sp>
      <p:sp>
        <p:nvSpPr>
          <p:cNvPr id="43" name="Agent chip 44"/>
          <p:cNvSpPr/>
          <p:nvPr/>
        </p:nvSpPr>
        <p:spPr>
          <a:xfrm>
            <a:off x="11193779" y="5577840"/>
            <a:ext cx="711708" cy="310896"/>
          </a:xfrm>
          <a:prstGeom prst="roundRect">
            <a:avLst>
              <a:gd name="adj" fmla="val 50000"/>
            </a:avLst>
          </a:prstGeom>
          <a:solidFill>
            <a:srgbClr val="2A242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69D39"/>
                </a:solidFill>
                <a:latin typeface="Consolas"/>
              </a:rPr>
              <a:t>ATT&amp;CK</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4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2250"/>
                            </p:stCondLst>
                            <p:childTnLst>
                              <p:par>
                                <p:cTn id="19" presetID="23" presetClass="entr" presetSubtype="16"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250" fill="hold"/>
                                        <p:tgtEl>
                                          <p:spTgt spid="20"/>
                                        </p:tgtEl>
                                        <p:attrNameLst>
                                          <p:attrName>ppt_w</p:attrName>
                                        </p:attrNameLst>
                                      </p:cBhvr>
                                      <p:tavLst>
                                        <p:tav tm="0">
                                          <p:val>
                                            <p:fltVal val="0"/>
                                          </p:val>
                                        </p:tav>
                                        <p:tav tm="100000">
                                          <p:val>
                                            <p:strVal val="#ppt_w"/>
                                          </p:val>
                                        </p:tav>
                                      </p:tavLst>
                                    </p:anim>
                                    <p:anim calcmode="lin" valueType="num">
                                      <p:cBhvr>
                                        <p:cTn id="22" dur="250" fill="hold"/>
                                        <p:tgtEl>
                                          <p:spTgt spid="20"/>
                                        </p:tgtEl>
                                        <p:attrNameLst>
                                          <p:attrName>ppt_h</p:attrName>
                                        </p:attrNameLst>
                                      </p:cBhvr>
                                      <p:tavLst>
                                        <p:tav tm="0">
                                          <p:val>
                                            <p:fltVal val="0"/>
                                          </p:val>
                                        </p:tav>
                                        <p:tav tm="100000">
                                          <p:val>
                                            <p:strVal val="#ppt_h"/>
                                          </p:val>
                                        </p:tav>
                                      </p:tavLst>
                                    </p:anim>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50"/>
                                        <p:tgtEl>
                                          <p:spTgt spid="21"/>
                                        </p:tgtEl>
                                      </p:cBhvr>
                                    </p:animEffect>
                                  </p:childTnLst>
                                </p:cTn>
                              </p:par>
                              <p:par>
                                <p:cTn id="26" presetID="37" presetClass="entr" presetSubtype="0" fill="hold" grpId="0" nodeType="withEffect">
                                  <p:stCondLst>
                                    <p:cond delay="0"/>
                                  </p:stCondLst>
                                  <p:childTnLst>
                                    <p:set>
                                      <p:cBhvr>
                                        <p:cTn id="27" dur="1" fill="hold">
                                          <p:stCondLst>
                                            <p:cond delay="0"/>
                                          </p:stCondLst>
                                        </p:cTn>
                                        <p:tgtEl>
                                          <p:spTgt spid="22">
                                            <p:txEl>
                                              <p:pRg st="0" end="0"/>
                                            </p:txEl>
                                          </p:spTgt>
                                        </p:tgtEl>
                                        <p:attrNameLst>
                                          <p:attrName>style.visibility</p:attrName>
                                        </p:attrNameLst>
                                      </p:cBhvr>
                                      <p:to>
                                        <p:strVal val="visible"/>
                                      </p:to>
                                    </p:set>
                                    <p:animEffect transition="in" filter="fade">
                                      <p:cBhvr>
                                        <p:cTn id="28" dur="450"/>
                                        <p:tgtEl>
                                          <p:spTgt spid="22">
                                            <p:txEl>
                                              <p:pRg st="0" end="0"/>
                                            </p:txEl>
                                          </p:spTgt>
                                        </p:tgtEl>
                                      </p:cBhvr>
                                    </p:animEffect>
                                    <p:anim calcmode="lin" valueType="num">
                                      <p:cBhvr>
                                        <p:cTn id="29" dur="450" fill="hold"/>
                                        <p:tgtEl>
                                          <p:spTgt spid="22">
                                            <p:txEl>
                                              <p:pRg st="0" end="0"/>
                                            </p:txEl>
                                          </p:spTgt>
                                        </p:tgtEl>
                                        <p:attrNameLst>
                                          <p:attrName>ppt_x</p:attrName>
                                        </p:attrNameLst>
                                      </p:cBhvr>
                                      <p:tavLst>
                                        <p:tav tm="0">
                                          <p:val>
                                            <p:strVal val="#ppt_x"/>
                                          </p:val>
                                        </p:tav>
                                        <p:tav tm="100000">
                                          <p:val>
                                            <p:strVal val="#ppt_x"/>
                                          </p:val>
                                        </p:tav>
                                      </p:tavLst>
                                    </p:anim>
                                    <p:anim calcmode="lin" valueType="num">
                                      <p:cBhvr>
                                        <p:cTn id="30" dur="405" decel="100000" fill="hold"/>
                                        <p:tgtEl>
                                          <p:spTgt spid="22">
                                            <p:txEl>
                                              <p:pRg st="0" end="0"/>
                                            </p:txEl>
                                          </p:spTgt>
                                        </p:tgtEl>
                                        <p:attrNameLst>
                                          <p:attrName>ppt_y</p:attrName>
                                        </p:attrNameLst>
                                      </p:cBhvr>
                                      <p:tavLst>
                                        <p:tav tm="0">
                                          <p:val>
                                            <p:strVal val="#ppt_y+1"/>
                                          </p:val>
                                        </p:tav>
                                        <p:tav tm="100000">
                                          <p:val>
                                            <p:strVal val="#ppt_y-.03"/>
                                          </p:val>
                                        </p:tav>
                                      </p:tavLst>
                                    </p:anim>
                                    <p:anim calcmode="lin" valueType="num">
                                      <p:cBhvr>
                                        <p:cTn id="31" dur="45" accel="100000" fill="hold">
                                          <p:stCondLst>
                                            <p:cond delay="405"/>
                                          </p:stCondLst>
                                        </p:cTn>
                                        <p:tgtEl>
                                          <p:spTgt spid="22">
                                            <p:txEl>
                                              <p:pRg st="0" end="0"/>
                                            </p:txEl>
                                          </p:spTgt>
                                        </p:tgtEl>
                                        <p:attrNameLst>
                                          <p:attrName>ppt_y</p:attrName>
                                        </p:attrNameLst>
                                      </p:cBhvr>
                                      <p:tavLst>
                                        <p:tav tm="0">
                                          <p:val>
                                            <p:strVal val="#ppt_y-.03"/>
                                          </p:val>
                                        </p:tav>
                                        <p:tav tm="100000">
                                          <p:val>
                                            <p:strVal val="#ppt_y"/>
                                          </p:val>
                                        </p:tav>
                                      </p:tavLst>
                                    </p:anim>
                                  </p:childTnLst>
                                </p:cTn>
                              </p:par>
                            </p:childTnLst>
                          </p:cTn>
                        </p:par>
                        <p:par>
                          <p:cTn id="32" fill="hold">
                            <p:stCondLst>
                              <p:cond delay="2700"/>
                            </p:stCondLst>
                            <p:childTnLst>
                              <p:par>
                                <p:cTn id="33" presetID="37" presetClass="entr" presetSubtype="0" fill="hold" grpId="0" nodeType="after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450"/>
                                        <p:tgtEl>
                                          <p:spTgt spid="22">
                                            <p:txEl>
                                              <p:pRg st="1" end="1"/>
                                            </p:txEl>
                                          </p:spTgt>
                                        </p:tgtEl>
                                      </p:cBhvr>
                                    </p:animEffect>
                                    <p:anim calcmode="lin" valueType="num">
                                      <p:cBhvr>
                                        <p:cTn id="36" dur="450" fill="hold"/>
                                        <p:tgtEl>
                                          <p:spTgt spid="22">
                                            <p:txEl>
                                              <p:pRg st="1" end="1"/>
                                            </p:txEl>
                                          </p:spTgt>
                                        </p:tgtEl>
                                        <p:attrNameLst>
                                          <p:attrName>ppt_x</p:attrName>
                                        </p:attrNameLst>
                                      </p:cBhvr>
                                      <p:tavLst>
                                        <p:tav tm="0">
                                          <p:val>
                                            <p:strVal val="#ppt_x"/>
                                          </p:val>
                                        </p:tav>
                                        <p:tav tm="100000">
                                          <p:val>
                                            <p:strVal val="#ppt_x"/>
                                          </p:val>
                                        </p:tav>
                                      </p:tavLst>
                                    </p:anim>
                                    <p:anim calcmode="lin" valueType="num">
                                      <p:cBhvr>
                                        <p:cTn id="37" dur="405" decel="100000" fill="hold"/>
                                        <p:tgtEl>
                                          <p:spTgt spid="22">
                                            <p:txEl>
                                              <p:pRg st="1" end="1"/>
                                            </p:txEl>
                                          </p:spTgt>
                                        </p:tgtEl>
                                        <p:attrNameLst>
                                          <p:attrName>ppt_y</p:attrName>
                                        </p:attrNameLst>
                                      </p:cBhvr>
                                      <p:tavLst>
                                        <p:tav tm="0">
                                          <p:val>
                                            <p:strVal val="#ppt_y+1"/>
                                          </p:val>
                                        </p:tav>
                                        <p:tav tm="100000">
                                          <p:val>
                                            <p:strVal val="#ppt_y-.03"/>
                                          </p:val>
                                        </p:tav>
                                      </p:tavLst>
                                    </p:anim>
                                    <p:anim calcmode="lin" valueType="num">
                                      <p:cBhvr>
                                        <p:cTn id="38" dur="45" accel="100000" fill="hold">
                                          <p:stCondLst>
                                            <p:cond delay="405"/>
                                          </p:stCondLst>
                                        </p:cTn>
                                        <p:tgtEl>
                                          <p:spTgt spid="22">
                                            <p:txEl>
                                              <p:pRg st="1" end="1"/>
                                            </p:txEl>
                                          </p:spTgt>
                                        </p:tgtEl>
                                        <p:attrNameLst>
                                          <p:attrName>ppt_y</p:attrName>
                                        </p:attrNameLst>
                                      </p:cBhvr>
                                      <p:tavLst>
                                        <p:tav tm="0">
                                          <p:val>
                                            <p:strVal val="#ppt_y-.03"/>
                                          </p:val>
                                        </p:tav>
                                        <p:tav tm="100000">
                                          <p:val>
                                            <p:strVal val="#ppt_y"/>
                                          </p:val>
                                        </p:tav>
                                      </p:tavLst>
                                    </p:anim>
                                  </p:childTnLst>
                                </p:cTn>
                              </p:par>
                            </p:childTnLst>
                          </p:cTn>
                        </p:par>
                        <p:par>
                          <p:cTn id="39" fill="hold">
                            <p:stCondLst>
                              <p:cond delay="3150"/>
                            </p:stCondLst>
                            <p:childTnLst>
                              <p:par>
                                <p:cTn id="40" presetID="22" presetClass="entr" presetSubtype="1" fill="hold" nodeType="after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up)">
                                      <p:cBhvr>
                                        <p:cTn id="42" dur="500"/>
                                        <p:tgtEl>
                                          <p:spTgt spid="23"/>
                                        </p:tgtEl>
                                      </p:cBhvr>
                                    </p:animEffect>
                                  </p:childTnLst>
                                </p:cTn>
                              </p:par>
                            </p:childTnLst>
                          </p:cTn>
                        </p:par>
                        <p:par>
                          <p:cTn id="43" fill="hold">
                            <p:stCondLst>
                              <p:cond delay="3650"/>
                            </p:stCondLst>
                            <p:childTnLst>
                              <p:par>
                                <p:cTn id="44" presetID="23" presetClass="entr" presetSubtype="16" fill="hold" grpId="0" nodeType="afterEffect">
                                  <p:stCondLst>
                                    <p:cond delay="0"/>
                                  </p:stCondLst>
                                  <p:childTnLst>
                                    <p:set>
                                      <p:cBhvr>
                                        <p:cTn id="45" dur="1" fill="hold">
                                          <p:stCondLst>
                                            <p:cond delay="0"/>
                                          </p:stCondLst>
                                        </p:cTn>
                                        <p:tgtEl>
                                          <p:spTgt spid="24"/>
                                        </p:tgtEl>
                                        <p:attrNameLst>
                                          <p:attrName>style.visibility</p:attrName>
                                        </p:attrNameLst>
                                      </p:cBhvr>
                                      <p:to>
                                        <p:strVal val="visible"/>
                                      </p:to>
                                    </p:set>
                                    <p:anim calcmode="lin" valueType="num">
                                      <p:cBhvr>
                                        <p:cTn id="46" dur="250" fill="hold"/>
                                        <p:tgtEl>
                                          <p:spTgt spid="24"/>
                                        </p:tgtEl>
                                        <p:attrNameLst>
                                          <p:attrName>ppt_w</p:attrName>
                                        </p:attrNameLst>
                                      </p:cBhvr>
                                      <p:tavLst>
                                        <p:tav tm="0">
                                          <p:val>
                                            <p:fltVal val="0"/>
                                          </p:val>
                                        </p:tav>
                                        <p:tav tm="100000">
                                          <p:val>
                                            <p:strVal val="#ppt_w"/>
                                          </p:val>
                                        </p:tav>
                                      </p:tavLst>
                                    </p:anim>
                                    <p:anim calcmode="lin" valueType="num">
                                      <p:cBhvr>
                                        <p:cTn id="47" dur="250" fill="hold"/>
                                        <p:tgtEl>
                                          <p:spTgt spid="24"/>
                                        </p:tgtEl>
                                        <p:attrNameLst>
                                          <p:attrName>ppt_h</p:attrName>
                                        </p:attrNameLst>
                                      </p:cBhvr>
                                      <p:tavLst>
                                        <p:tav tm="0">
                                          <p:val>
                                            <p:fltVal val="0"/>
                                          </p:val>
                                        </p:tav>
                                        <p:tav tm="100000">
                                          <p:val>
                                            <p:strVal val="#ppt_h"/>
                                          </p:val>
                                        </p:tav>
                                      </p:tavLst>
                                    </p:anim>
                                  </p:childTnLst>
                                </p:cTn>
                              </p:par>
                              <p:par>
                                <p:cTn id="48"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250"/>
                                        <p:tgtEl>
                                          <p:spTgt spid="25"/>
                                        </p:tgtEl>
                                      </p:cBhvr>
                                    </p:animEffect>
                                  </p:childTnLst>
                                </p:cTn>
                              </p:par>
                              <p:par>
                                <p:cTn id="51" presetID="37" presetClass="entr" presetSubtype="0" fill="hold" grpId="0" nodeType="withEffect">
                                  <p:stCondLst>
                                    <p:cond delay="0"/>
                                  </p:stCondLst>
                                  <p:childTnLst>
                                    <p:set>
                                      <p:cBhvr>
                                        <p:cTn id="52" dur="1" fill="hold">
                                          <p:stCondLst>
                                            <p:cond delay="0"/>
                                          </p:stCondLst>
                                        </p:cTn>
                                        <p:tgtEl>
                                          <p:spTgt spid="26">
                                            <p:txEl>
                                              <p:pRg st="0" end="0"/>
                                            </p:txEl>
                                          </p:spTgt>
                                        </p:tgtEl>
                                        <p:attrNameLst>
                                          <p:attrName>style.visibility</p:attrName>
                                        </p:attrNameLst>
                                      </p:cBhvr>
                                      <p:to>
                                        <p:strVal val="visible"/>
                                      </p:to>
                                    </p:set>
                                    <p:animEffect transition="in" filter="fade">
                                      <p:cBhvr>
                                        <p:cTn id="53" dur="450"/>
                                        <p:tgtEl>
                                          <p:spTgt spid="26">
                                            <p:txEl>
                                              <p:pRg st="0" end="0"/>
                                            </p:txEl>
                                          </p:spTgt>
                                        </p:tgtEl>
                                      </p:cBhvr>
                                    </p:animEffect>
                                    <p:anim calcmode="lin" valueType="num">
                                      <p:cBhvr>
                                        <p:cTn id="54" dur="45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55" dur="405" decel="100000" fill="hold"/>
                                        <p:tgtEl>
                                          <p:spTgt spid="26">
                                            <p:txEl>
                                              <p:pRg st="0" end="0"/>
                                            </p:txEl>
                                          </p:spTgt>
                                        </p:tgtEl>
                                        <p:attrNameLst>
                                          <p:attrName>ppt_y</p:attrName>
                                        </p:attrNameLst>
                                      </p:cBhvr>
                                      <p:tavLst>
                                        <p:tav tm="0">
                                          <p:val>
                                            <p:strVal val="#ppt_y+1"/>
                                          </p:val>
                                        </p:tav>
                                        <p:tav tm="100000">
                                          <p:val>
                                            <p:strVal val="#ppt_y-.03"/>
                                          </p:val>
                                        </p:tav>
                                      </p:tavLst>
                                    </p:anim>
                                    <p:anim calcmode="lin" valueType="num">
                                      <p:cBhvr>
                                        <p:cTn id="56" dur="45" accel="100000" fill="hold">
                                          <p:stCondLst>
                                            <p:cond delay="405"/>
                                          </p:stCondLst>
                                        </p:cTn>
                                        <p:tgtEl>
                                          <p:spTgt spid="26">
                                            <p:txEl>
                                              <p:pRg st="0" end="0"/>
                                            </p:txEl>
                                          </p:spTgt>
                                        </p:tgtEl>
                                        <p:attrNameLst>
                                          <p:attrName>ppt_y</p:attrName>
                                        </p:attrNameLst>
                                      </p:cBhvr>
                                      <p:tavLst>
                                        <p:tav tm="0">
                                          <p:val>
                                            <p:strVal val="#ppt_y-.03"/>
                                          </p:val>
                                        </p:tav>
                                        <p:tav tm="100000">
                                          <p:val>
                                            <p:strVal val="#ppt_y"/>
                                          </p:val>
                                        </p:tav>
                                      </p:tavLst>
                                    </p:anim>
                                  </p:childTnLst>
                                </p:cTn>
                              </p:par>
                            </p:childTnLst>
                          </p:cTn>
                        </p:par>
                        <p:par>
                          <p:cTn id="57" fill="hold">
                            <p:stCondLst>
                              <p:cond delay="4100"/>
                            </p:stCondLst>
                            <p:childTnLst>
                              <p:par>
                                <p:cTn id="58" presetID="37" presetClass="entr" presetSubtype="0" fill="hold" grpId="0" nodeType="afterEffect">
                                  <p:stCondLst>
                                    <p:cond delay="0"/>
                                  </p:stCondLst>
                                  <p:childTnLst>
                                    <p:set>
                                      <p:cBhvr>
                                        <p:cTn id="59" dur="1" fill="hold">
                                          <p:stCondLst>
                                            <p:cond delay="0"/>
                                          </p:stCondLst>
                                        </p:cTn>
                                        <p:tgtEl>
                                          <p:spTgt spid="26">
                                            <p:txEl>
                                              <p:pRg st="1" end="1"/>
                                            </p:txEl>
                                          </p:spTgt>
                                        </p:tgtEl>
                                        <p:attrNameLst>
                                          <p:attrName>style.visibility</p:attrName>
                                        </p:attrNameLst>
                                      </p:cBhvr>
                                      <p:to>
                                        <p:strVal val="visible"/>
                                      </p:to>
                                    </p:set>
                                    <p:animEffect transition="in" filter="fade">
                                      <p:cBhvr>
                                        <p:cTn id="60" dur="450"/>
                                        <p:tgtEl>
                                          <p:spTgt spid="26">
                                            <p:txEl>
                                              <p:pRg st="1" end="1"/>
                                            </p:txEl>
                                          </p:spTgt>
                                        </p:tgtEl>
                                      </p:cBhvr>
                                    </p:animEffect>
                                    <p:anim calcmode="lin" valueType="num">
                                      <p:cBhvr>
                                        <p:cTn id="61" dur="450" fill="hold"/>
                                        <p:tgtEl>
                                          <p:spTgt spid="26">
                                            <p:txEl>
                                              <p:pRg st="1" end="1"/>
                                            </p:txEl>
                                          </p:spTgt>
                                        </p:tgtEl>
                                        <p:attrNameLst>
                                          <p:attrName>ppt_x</p:attrName>
                                        </p:attrNameLst>
                                      </p:cBhvr>
                                      <p:tavLst>
                                        <p:tav tm="0">
                                          <p:val>
                                            <p:strVal val="#ppt_x"/>
                                          </p:val>
                                        </p:tav>
                                        <p:tav tm="100000">
                                          <p:val>
                                            <p:strVal val="#ppt_x"/>
                                          </p:val>
                                        </p:tav>
                                      </p:tavLst>
                                    </p:anim>
                                    <p:anim calcmode="lin" valueType="num">
                                      <p:cBhvr>
                                        <p:cTn id="62" dur="405" decel="100000" fill="hold"/>
                                        <p:tgtEl>
                                          <p:spTgt spid="26">
                                            <p:txEl>
                                              <p:pRg st="1" end="1"/>
                                            </p:txEl>
                                          </p:spTgt>
                                        </p:tgtEl>
                                        <p:attrNameLst>
                                          <p:attrName>ppt_y</p:attrName>
                                        </p:attrNameLst>
                                      </p:cBhvr>
                                      <p:tavLst>
                                        <p:tav tm="0">
                                          <p:val>
                                            <p:strVal val="#ppt_y+1"/>
                                          </p:val>
                                        </p:tav>
                                        <p:tav tm="100000">
                                          <p:val>
                                            <p:strVal val="#ppt_y-.03"/>
                                          </p:val>
                                        </p:tav>
                                      </p:tavLst>
                                    </p:anim>
                                    <p:anim calcmode="lin" valueType="num">
                                      <p:cBhvr>
                                        <p:cTn id="63" dur="45" accel="100000" fill="hold">
                                          <p:stCondLst>
                                            <p:cond delay="405"/>
                                          </p:stCondLst>
                                        </p:cTn>
                                        <p:tgtEl>
                                          <p:spTgt spid="26">
                                            <p:txEl>
                                              <p:pRg st="1" end="1"/>
                                            </p:txEl>
                                          </p:spTgt>
                                        </p:tgtEl>
                                        <p:attrNameLst>
                                          <p:attrName>ppt_y</p:attrName>
                                        </p:attrNameLst>
                                      </p:cBhvr>
                                      <p:tavLst>
                                        <p:tav tm="0">
                                          <p:val>
                                            <p:strVal val="#ppt_y-.03"/>
                                          </p:val>
                                        </p:tav>
                                        <p:tav tm="100000">
                                          <p:val>
                                            <p:strVal val="#ppt_y"/>
                                          </p:val>
                                        </p:tav>
                                      </p:tavLst>
                                    </p:anim>
                                  </p:childTnLst>
                                </p:cTn>
                              </p:par>
                            </p:childTnLst>
                          </p:cTn>
                        </p:par>
                        <p:par>
                          <p:cTn id="64" fill="hold">
                            <p:stCondLst>
                              <p:cond delay="4550"/>
                            </p:stCondLst>
                            <p:childTnLst>
                              <p:par>
                                <p:cTn id="65" presetID="22" presetClass="entr" presetSubtype="1" fill="hold" nodeType="after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up)">
                                      <p:cBhvr>
                                        <p:cTn id="67" dur="500"/>
                                        <p:tgtEl>
                                          <p:spTgt spid="27"/>
                                        </p:tgtEl>
                                      </p:cBhvr>
                                    </p:animEffect>
                                  </p:childTnLst>
                                </p:cTn>
                              </p:par>
                            </p:childTnLst>
                          </p:cTn>
                        </p:par>
                        <p:par>
                          <p:cTn id="68" fill="hold">
                            <p:stCondLst>
                              <p:cond delay="5050"/>
                            </p:stCondLst>
                            <p:childTnLst>
                              <p:par>
                                <p:cTn id="69" presetID="23" presetClass="entr" presetSubtype="16" fill="hold" grpId="0" nodeType="afterEffect">
                                  <p:stCondLst>
                                    <p:cond delay="0"/>
                                  </p:stCondLst>
                                  <p:childTnLst>
                                    <p:set>
                                      <p:cBhvr>
                                        <p:cTn id="70" dur="1" fill="hold">
                                          <p:stCondLst>
                                            <p:cond delay="0"/>
                                          </p:stCondLst>
                                        </p:cTn>
                                        <p:tgtEl>
                                          <p:spTgt spid="28"/>
                                        </p:tgtEl>
                                        <p:attrNameLst>
                                          <p:attrName>style.visibility</p:attrName>
                                        </p:attrNameLst>
                                      </p:cBhvr>
                                      <p:to>
                                        <p:strVal val="visible"/>
                                      </p:to>
                                    </p:set>
                                    <p:anim calcmode="lin" valueType="num">
                                      <p:cBhvr>
                                        <p:cTn id="71" dur="250" fill="hold"/>
                                        <p:tgtEl>
                                          <p:spTgt spid="28"/>
                                        </p:tgtEl>
                                        <p:attrNameLst>
                                          <p:attrName>ppt_w</p:attrName>
                                        </p:attrNameLst>
                                      </p:cBhvr>
                                      <p:tavLst>
                                        <p:tav tm="0">
                                          <p:val>
                                            <p:fltVal val="0"/>
                                          </p:val>
                                        </p:tav>
                                        <p:tav tm="100000">
                                          <p:val>
                                            <p:strVal val="#ppt_w"/>
                                          </p:val>
                                        </p:tav>
                                      </p:tavLst>
                                    </p:anim>
                                    <p:anim calcmode="lin" valueType="num">
                                      <p:cBhvr>
                                        <p:cTn id="72" dur="250" fill="hold"/>
                                        <p:tgtEl>
                                          <p:spTgt spid="28"/>
                                        </p:tgtEl>
                                        <p:attrNameLst>
                                          <p:attrName>ppt_h</p:attrName>
                                        </p:attrNameLst>
                                      </p:cBhvr>
                                      <p:tavLst>
                                        <p:tav tm="0">
                                          <p:val>
                                            <p:fltVal val="0"/>
                                          </p:val>
                                        </p:tav>
                                        <p:tav tm="100000">
                                          <p:val>
                                            <p:strVal val="#ppt_h"/>
                                          </p:val>
                                        </p:tav>
                                      </p:tavLst>
                                    </p:anim>
                                  </p:childTnLst>
                                </p:cTn>
                              </p:par>
                              <p:par>
                                <p:cTn id="73" presetID="10" presetClass="entr" presetSubtype="0"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250"/>
                                        <p:tgtEl>
                                          <p:spTgt spid="29"/>
                                        </p:tgtEl>
                                      </p:cBhvr>
                                    </p:animEffect>
                                  </p:childTnLst>
                                </p:cTn>
                              </p:par>
                              <p:par>
                                <p:cTn id="76" presetID="37" presetClass="entr" presetSubtype="0" fill="hold" grpId="0" nodeType="withEffect">
                                  <p:stCondLst>
                                    <p:cond delay="0"/>
                                  </p:stCondLst>
                                  <p:childTnLst>
                                    <p:set>
                                      <p:cBhvr>
                                        <p:cTn id="77" dur="1" fill="hold">
                                          <p:stCondLst>
                                            <p:cond delay="0"/>
                                          </p:stCondLst>
                                        </p:cTn>
                                        <p:tgtEl>
                                          <p:spTgt spid="30">
                                            <p:txEl>
                                              <p:pRg st="0" end="0"/>
                                            </p:txEl>
                                          </p:spTgt>
                                        </p:tgtEl>
                                        <p:attrNameLst>
                                          <p:attrName>style.visibility</p:attrName>
                                        </p:attrNameLst>
                                      </p:cBhvr>
                                      <p:to>
                                        <p:strVal val="visible"/>
                                      </p:to>
                                    </p:set>
                                    <p:animEffect transition="in" filter="fade">
                                      <p:cBhvr>
                                        <p:cTn id="78" dur="450"/>
                                        <p:tgtEl>
                                          <p:spTgt spid="30">
                                            <p:txEl>
                                              <p:pRg st="0" end="0"/>
                                            </p:txEl>
                                          </p:spTgt>
                                        </p:tgtEl>
                                      </p:cBhvr>
                                    </p:animEffect>
                                    <p:anim calcmode="lin" valueType="num">
                                      <p:cBhvr>
                                        <p:cTn id="79" dur="450" fill="hold"/>
                                        <p:tgtEl>
                                          <p:spTgt spid="30">
                                            <p:txEl>
                                              <p:pRg st="0" end="0"/>
                                            </p:txEl>
                                          </p:spTgt>
                                        </p:tgtEl>
                                        <p:attrNameLst>
                                          <p:attrName>ppt_x</p:attrName>
                                        </p:attrNameLst>
                                      </p:cBhvr>
                                      <p:tavLst>
                                        <p:tav tm="0">
                                          <p:val>
                                            <p:strVal val="#ppt_x"/>
                                          </p:val>
                                        </p:tav>
                                        <p:tav tm="100000">
                                          <p:val>
                                            <p:strVal val="#ppt_x"/>
                                          </p:val>
                                        </p:tav>
                                      </p:tavLst>
                                    </p:anim>
                                    <p:anim calcmode="lin" valueType="num">
                                      <p:cBhvr>
                                        <p:cTn id="80" dur="405" decel="100000" fill="hold"/>
                                        <p:tgtEl>
                                          <p:spTgt spid="30">
                                            <p:txEl>
                                              <p:pRg st="0" end="0"/>
                                            </p:txEl>
                                          </p:spTgt>
                                        </p:tgtEl>
                                        <p:attrNameLst>
                                          <p:attrName>ppt_y</p:attrName>
                                        </p:attrNameLst>
                                      </p:cBhvr>
                                      <p:tavLst>
                                        <p:tav tm="0">
                                          <p:val>
                                            <p:strVal val="#ppt_y+1"/>
                                          </p:val>
                                        </p:tav>
                                        <p:tav tm="100000">
                                          <p:val>
                                            <p:strVal val="#ppt_y-.03"/>
                                          </p:val>
                                        </p:tav>
                                      </p:tavLst>
                                    </p:anim>
                                    <p:anim calcmode="lin" valueType="num">
                                      <p:cBhvr>
                                        <p:cTn id="81" dur="45" accel="100000" fill="hold">
                                          <p:stCondLst>
                                            <p:cond delay="405"/>
                                          </p:stCondLst>
                                        </p:cTn>
                                        <p:tgtEl>
                                          <p:spTgt spid="30">
                                            <p:txEl>
                                              <p:pRg st="0" end="0"/>
                                            </p:txEl>
                                          </p:spTgt>
                                        </p:tgtEl>
                                        <p:attrNameLst>
                                          <p:attrName>ppt_y</p:attrName>
                                        </p:attrNameLst>
                                      </p:cBhvr>
                                      <p:tavLst>
                                        <p:tav tm="0">
                                          <p:val>
                                            <p:strVal val="#ppt_y-.03"/>
                                          </p:val>
                                        </p:tav>
                                        <p:tav tm="100000">
                                          <p:val>
                                            <p:strVal val="#ppt_y"/>
                                          </p:val>
                                        </p:tav>
                                      </p:tavLst>
                                    </p:anim>
                                  </p:childTnLst>
                                </p:cTn>
                              </p:par>
                            </p:childTnLst>
                          </p:cTn>
                        </p:par>
                        <p:par>
                          <p:cTn id="82" fill="hold">
                            <p:stCondLst>
                              <p:cond delay="5500"/>
                            </p:stCondLst>
                            <p:childTnLst>
                              <p:par>
                                <p:cTn id="83" presetID="37" presetClass="entr" presetSubtype="0" fill="hold" grpId="0" nodeType="afterEffect">
                                  <p:stCondLst>
                                    <p:cond delay="0"/>
                                  </p:stCondLst>
                                  <p:childTnLst>
                                    <p:set>
                                      <p:cBhvr>
                                        <p:cTn id="84" dur="1" fill="hold">
                                          <p:stCondLst>
                                            <p:cond delay="0"/>
                                          </p:stCondLst>
                                        </p:cTn>
                                        <p:tgtEl>
                                          <p:spTgt spid="30">
                                            <p:txEl>
                                              <p:pRg st="1" end="1"/>
                                            </p:txEl>
                                          </p:spTgt>
                                        </p:tgtEl>
                                        <p:attrNameLst>
                                          <p:attrName>style.visibility</p:attrName>
                                        </p:attrNameLst>
                                      </p:cBhvr>
                                      <p:to>
                                        <p:strVal val="visible"/>
                                      </p:to>
                                    </p:set>
                                    <p:animEffect transition="in" filter="fade">
                                      <p:cBhvr>
                                        <p:cTn id="85" dur="450"/>
                                        <p:tgtEl>
                                          <p:spTgt spid="30">
                                            <p:txEl>
                                              <p:pRg st="1" end="1"/>
                                            </p:txEl>
                                          </p:spTgt>
                                        </p:tgtEl>
                                      </p:cBhvr>
                                    </p:animEffect>
                                    <p:anim calcmode="lin" valueType="num">
                                      <p:cBhvr>
                                        <p:cTn id="86" dur="450" fill="hold"/>
                                        <p:tgtEl>
                                          <p:spTgt spid="30">
                                            <p:txEl>
                                              <p:pRg st="1" end="1"/>
                                            </p:txEl>
                                          </p:spTgt>
                                        </p:tgtEl>
                                        <p:attrNameLst>
                                          <p:attrName>ppt_x</p:attrName>
                                        </p:attrNameLst>
                                      </p:cBhvr>
                                      <p:tavLst>
                                        <p:tav tm="0">
                                          <p:val>
                                            <p:strVal val="#ppt_x"/>
                                          </p:val>
                                        </p:tav>
                                        <p:tav tm="100000">
                                          <p:val>
                                            <p:strVal val="#ppt_x"/>
                                          </p:val>
                                        </p:tav>
                                      </p:tavLst>
                                    </p:anim>
                                    <p:anim calcmode="lin" valueType="num">
                                      <p:cBhvr>
                                        <p:cTn id="87" dur="405" decel="100000" fill="hold"/>
                                        <p:tgtEl>
                                          <p:spTgt spid="30">
                                            <p:txEl>
                                              <p:pRg st="1" end="1"/>
                                            </p:txEl>
                                          </p:spTgt>
                                        </p:tgtEl>
                                        <p:attrNameLst>
                                          <p:attrName>ppt_y</p:attrName>
                                        </p:attrNameLst>
                                      </p:cBhvr>
                                      <p:tavLst>
                                        <p:tav tm="0">
                                          <p:val>
                                            <p:strVal val="#ppt_y+1"/>
                                          </p:val>
                                        </p:tav>
                                        <p:tav tm="100000">
                                          <p:val>
                                            <p:strVal val="#ppt_y-.03"/>
                                          </p:val>
                                        </p:tav>
                                      </p:tavLst>
                                    </p:anim>
                                    <p:anim calcmode="lin" valueType="num">
                                      <p:cBhvr>
                                        <p:cTn id="88" dur="45" accel="100000" fill="hold">
                                          <p:stCondLst>
                                            <p:cond delay="405"/>
                                          </p:stCondLst>
                                        </p:cTn>
                                        <p:tgtEl>
                                          <p:spTgt spid="30">
                                            <p:txEl>
                                              <p:pRg st="1" end="1"/>
                                            </p:txEl>
                                          </p:spTgt>
                                        </p:tgtEl>
                                        <p:attrNameLst>
                                          <p:attrName>ppt_y</p:attrName>
                                        </p:attrNameLst>
                                      </p:cBhvr>
                                      <p:tavLst>
                                        <p:tav tm="0">
                                          <p:val>
                                            <p:strVal val="#ppt_y-.03"/>
                                          </p:val>
                                        </p:tav>
                                        <p:tav tm="100000">
                                          <p:val>
                                            <p:strVal val="#ppt_y"/>
                                          </p:val>
                                        </p:tav>
                                      </p:tavLst>
                                    </p:anim>
                                  </p:childTnLst>
                                </p:cTn>
                              </p:par>
                            </p:childTnLst>
                          </p:cTn>
                        </p:par>
                        <p:par>
                          <p:cTn id="89" fill="hold">
                            <p:stCondLst>
                              <p:cond delay="5950"/>
                            </p:stCondLst>
                            <p:childTnLst>
                              <p:par>
                                <p:cTn id="90" presetID="22" presetClass="entr" presetSubtype="1" fill="hold" nodeType="after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wipe(up)">
                                      <p:cBhvr>
                                        <p:cTn id="92" dur="500"/>
                                        <p:tgtEl>
                                          <p:spTgt spid="31"/>
                                        </p:tgtEl>
                                      </p:cBhvr>
                                    </p:animEffect>
                                  </p:childTnLst>
                                </p:cTn>
                              </p:par>
                            </p:childTnLst>
                          </p:cTn>
                        </p:par>
                        <p:par>
                          <p:cTn id="93" fill="hold">
                            <p:stCondLst>
                              <p:cond delay="6450"/>
                            </p:stCondLst>
                            <p:childTnLst>
                              <p:par>
                                <p:cTn id="94" presetID="23" presetClass="entr" presetSubtype="16" fill="hold" grpId="0" nodeType="afterEffect">
                                  <p:stCondLst>
                                    <p:cond delay="0"/>
                                  </p:stCondLst>
                                  <p:childTnLst>
                                    <p:set>
                                      <p:cBhvr>
                                        <p:cTn id="95" dur="1" fill="hold">
                                          <p:stCondLst>
                                            <p:cond delay="0"/>
                                          </p:stCondLst>
                                        </p:cTn>
                                        <p:tgtEl>
                                          <p:spTgt spid="32"/>
                                        </p:tgtEl>
                                        <p:attrNameLst>
                                          <p:attrName>style.visibility</p:attrName>
                                        </p:attrNameLst>
                                      </p:cBhvr>
                                      <p:to>
                                        <p:strVal val="visible"/>
                                      </p:to>
                                    </p:set>
                                    <p:anim calcmode="lin" valueType="num">
                                      <p:cBhvr>
                                        <p:cTn id="96" dur="250" fill="hold"/>
                                        <p:tgtEl>
                                          <p:spTgt spid="32"/>
                                        </p:tgtEl>
                                        <p:attrNameLst>
                                          <p:attrName>ppt_w</p:attrName>
                                        </p:attrNameLst>
                                      </p:cBhvr>
                                      <p:tavLst>
                                        <p:tav tm="0">
                                          <p:val>
                                            <p:fltVal val="0"/>
                                          </p:val>
                                        </p:tav>
                                        <p:tav tm="100000">
                                          <p:val>
                                            <p:strVal val="#ppt_w"/>
                                          </p:val>
                                        </p:tav>
                                      </p:tavLst>
                                    </p:anim>
                                    <p:anim calcmode="lin" valueType="num">
                                      <p:cBhvr>
                                        <p:cTn id="97" dur="250" fill="hold"/>
                                        <p:tgtEl>
                                          <p:spTgt spid="32"/>
                                        </p:tgtEl>
                                        <p:attrNameLst>
                                          <p:attrName>ppt_h</p:attrName>
                                        </p:attrNameLst>
                                      </p:cBhvr>
                                      <p:tavLst>
                                        <p:tav tm="0">
                                          <p:val>
                                            <p:fltVal val="0"/>
                                          </p:val>
                                        </p:tav>
                                        <p:tav tm="100000">
                                          <p:val>
                                            <p:strVal val="#ppt_h"/>
                                          </p:val>
                                        </p:tav>
                                      </p:tavLst>
                                    </p:anim>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250"/>
                                        <p:tgtEl>
                                          <p:spTgt spid="33"/>
                                        </p:tgtEl>
                                      </p:cBhvr>
                                    </p:animEffect>
                                  </p:childTnLst>
                                </p:cTn>
                              </p:par>
                              <p:par>
                                <p:cTn id="101" presetID="37" presetClass="entr" presetSubtype="0" fill="hold" grpId="0" nodeType="withEffect">
                                  <p:stCondLst>
                                    <p:cond delay="0"/>
                                  </p:stCondLst>
                                  <p:childTnLst>
                                    <p:set>
                                      <p:cBhvr>
                                        <p:cTn id="102" dur="1" fill="hold">
                                          <p:stCondLst>
                                            <p:cond delay="0"/>
                                          </p:stCondLst>
                                        </p:cTn>
                                        <p:tgtEl>
                                          <p:spTgt spid="34">
                                            <p:txEl>
                                              <p:pRg st="0" end="0"/>
                                            </p:txEl>
                                          </p:spTgt>
                                        </p:tgtEl>
                                        <p:attrNameLst>
                                          <p:attrName>style.visibility</p:attrName>
                                        </p:attrNameLst>
                                      </p:cBhvr>
                                      <p:to>
                                        <p:strVal val="visible"/>
                                      </p:to>
                                    </p:set>
                                    <p:animEffect transition="in" filter="fade">
                                      <p:cBhvr>
                                        <p:cTn id="103" dur="450"/>
                                        <p:tgtEl>
                                          <p:spTgt spid="34">
                                            <p:txEl>
                                              <p:pRg st="0" end="0"/>
                                            </p:txEl>
                                          </p:spTgt>
                                        </p:tgtEl>
                                      </p:cBhvr>
                                    </p:animEffect>
                                    <p:anim calcmode="lin" valueType="num">
                                      <p:cBhvr>
                                        <p:cTn id="104" dur="450" fill="hold"/>
                                        <p:tgtEl>
                                          <p:spTgt spid="34">
                                            <p:txEl>
                                              <p:pRg st="0" end="0"/>
                                            </p:txEl>
                                          </p:spTgt>
                                        </p:tgtEl>
                                        <p:attrNameLst>
                                          <p:attrName>ppt_x</p:attrName>
                                        </p:attrNameLst>
                                      </p:cBhvr>
                                      <p:tavLst>
                                        <p:tav tm="0">
                                          <p:val>
                                            <p:strVal val="#ppt_x"/>
                                          </p:val>
                                        </p:tav>
                                        <p:tav tm="100000">
                                          <p:val>
                                            <p:strVal val="#ppt_x"/>
                                          </p:val>
                                        </p:tav>
                                      </p:tavLst>
                                    </p:anim>
                                    <p:anim calcmode="lin" valueType="num">
                                      <p:cBhvr>
                                        <p:cTn id="105" dur="405" decel="100000" fill="hold"/>
                                        <p:tgtEl>
                                          <p:spTgt spid="34">
                                            <p:txEl>
                                              <p:pRg st="0" end="0"/>
                                            </p:txEl>
                                          </p:spTgt>
                                        </p:tgtEl>
                                        <p:attrNameLst>
                                          <p:attrName>ppt_y</p:attrName>
                                        </p:attrNameLst>
                                      </p:cBhvr>
                                      <p:tavLst>
                                        <p:tav tm="0">
                                          <p:val>
                                            <p:strVal val="#ppt_y+1"/>
                                          </p:val>
                                        </p:tav>
                                        <p:tav tm="100000">
                                          <p:val>
                                            <p:strVal val="#ppt_y-.03"/>
                                          </p:val>
                                        </p:tav>
                                      </p:tavLst>
                                    </p:anim>
                                    <p:anim calcmode="lin" valueType="num">
                                      <p:cBhvr>
                                        <p:cTn id="106" dur="45" accel="100000" fill="hold">
                                          <p:stCondLst>
                                            <p:cond delay="405"/>
                                          </p:stCondLst>
                                        </p:cTn>
                                        <p:tgtEl>
                                          <p:spTgt spid="34">
                                            <p:txEl>
                                              <p:pRg st="0" end="0"/>
                                            </p:txEl>
                                          </p:spTgt>
                                        </p:tgtEl>
                                        <p:attrNameLst>
                                          <p:attrName>ppt_y</p:attrName>
                                        </p:attrNameLst>
                                      </p:cBhvr>
                                      <p:tavLst>
                                        <p:tav tm="0">
                                          <p:val>
                                            <p:strVal val="#ppt_y-.03"/>
                                          </p:val>
                                        </p:tav>
                                        <p:tav tm="100000">
                                          <p:val>
                                            <p:strVal val="#ppt_y"/>
                                          </p:val>
                                        </p:tav>
                                      </p:tavLst>
                                    </p:anim>
                                  </p:childTnLst>
                                </p:cTn>
                              </p:par>
                            </p:childTnLst>
                          </p:cTn>
                        </p:par>
                        <p:par>
                          <p:cTn id="107" fill="hold">
                            <p:stCondLst>
                              <p:cond delay="6900"/>
                            </p:stCondLst>
                            <p:childTnLst>
                              <p:par>
                                <p:cTn id="108" presetID="37" presetClass="entr" presetSubtype="0" fill="hold" grpId="0" nodeType="afterEffect">
                                  <p:stCondLst>
                                    <p:cond delay="0"/>
                                  </p:stCondLst>
                                  <p:childTnLst>
                                    <p:set>
                                      <p:cBhvr>
                                        <p:cTn id="109" dur="1" fill="hold">
                                          <p:stCondLst>
                                            <p:cond delay="0"/>
                                          </p:stCondLst>
                                        </p:cTn>
                                        <p:tgtEl>
                                          <p:spTgt spid="34">
                                            <p:txEl>
                                              <p:pRg st="1" end="1"/>
                                            </p:txEl>
                                          </p:spTgt>
                                        </p:tgtEl>
                                        <p:attrNameLst>
                                          <p:attrName>style.visibility</p:attrName>
                                        </p:attrNameLst>
                                      </p:cBhvr>
                                      <p:to>
                                        <p:strVal val="visible"/>
                                      </p:to>
                                    </p:set>
                                    <p:animEffect transition="in" filter="fade">
                                      <p:cBhvr>
                                        <p:cTn id="110" dur="450"/>
                                        <p:tgtEl>
                                          <p:spTgt spid="34">
                                            <p:txEl>
                                              <p:pRg st="1" end="1"/>
                                            </p:txEl>
                                          </p:spTgt>
                                        </p:tgtEl>
                                      </p:cBhvr>
                                    </p:animEffect>
                                    <p:anim calcmode="lin" valueType="num">
                                      <p:cBhvr>
                                        <p:cTn id="111" dur="450" fill="hold"/>
                                        <p:tgtEl>
                                          <p:spTgt spid="34">
                                            <p:txEl>
                                              <p:pRg st="1" end="1"/>
                                            </p:txEl>
                                          </p:spTgt>
                                        </p:tgtEl>
                                        <p:attrNameLst>
                                          <p:attrName>ppt_x</p:attrName>
                                        </p:attrNameLst>
                                      </p:cBhvr>
                                      <p:tavLst>
                                        <p:tav tm="0">
                                          <p:val>
                                            <p:strVal val="#ppt_x"/>
                                          </p:val>
                                        </p:tav>
                                        <p:tav tm="100000">
                                          <p:val>
                                            <p:strVal val="#ppt_x"/>
                                          </p:val>
                                        </p:tav>
                                      </p:tavLst>
                                    </p:anim>
                                    <p:anim calcmode="lin" valueType="num">
                                      <p:cBhvr>
                                        <p:cTn id="112" dur="405" decel="100000" fill="hold"/>
                                        <p:tgtEl>
                                          <p:spTgt spid="34">
                                            <p:txEl>
                                              <p:pRg st="1" end="1"/>
                                            </p:txEl>
                                          </p:spTgt>
                                        </p:tgtEl>
                                        <p:attrNameLst>
                                          <p:attrName>ppt_y</p:attrName>
                                        </p:attrNameLst>
                                      </p:cBhvr>
                                      <p:tavLst>
                                        <p:tav tm="0">
                                          <p:val>
                                            <p:strVal val="#ppt_y+1"/>
                                          </p:val>
                                        </p:tav>
                                        <p:tav tm="100000">
                                          <p:val>
                                            <p:strVal val="#ppt_y-.03"/>
                                          </p:val>
                                        </p:tav>
                                      </p:tavLst>
                                    </p:anim>
                                    <p:anim calcmode="lin" valueType="num">
                                      <p:cBhvr>
                                        <p:cTn id="113" dur="45" accel="100000" fill="hold">
                                          <p:stCondLst>
                                            <p:cond delay="405"/>
                                          </p:stCondLst>
                                        </p:cTn>
                                        <p:tgtEl>
                                          <p:spTgt spid="34">
                                            <p:txEl>
                                              <p:pRg st="1" end="1"/>
                                            </p:txEl>
                                          </p:spTgt>
                                        </p:tgtEl>
                                        <p:attrNameLst>
                                          <p:attrName>ppt_y</p:attrName>
                                        </p:attrNameLst>
                                      </p:cBhvr>
                                      <p:tavLst>
                                        <p:tav tm="0">
                                          <p:val>
                                            <p:strVal val="#ppt_y-.03"/>
                                          </p:val>
                                        </p:tav>
                                        <p:tav tm="100000">
                                          <p:val>
                                            <p:strVal val="#ppt_y"/>
                                          </p:val>
                                        </p:tav>
                                      </p:tavLst>
                                    </p:anim>
                                  </p:childTnLst>
                                </p:cTn>
                              </p:par>
                            </p:childTnLst>
                          </p:cTn>
                        </p:par>
                        <p:par>
                          <p:cTn id="114" fill="hold">
                            <p:stCondLst>
                              <p:cond delay="7350"/>
                            </p:stCondLst>
                            <p:childTnLst>
                              <p:par>
                                <p:cTn id="115" presetID="2" presetClass="entr" presetSubtype="2" fill="hold" grpId="0" nodeType="afterEffect">
                                  <p:stCondLst>
                                    <p:cond delay="0"/>
                                  </p:stCondLst>
                                  <p:childTnLst>
                                    <p:set>
                                      <p:cBhvr>
                                        <p:cTn id="116" dur="1" fill="hold">
                                          <p:stCondLst>
                                            <p:cond delay="0"/>
                                          </p:stCondLst>
                                        </p:cTn>
                                        <p:tgtEl>
                                          <p:spTgt spid="35"/>
                                        </p:tgtEl>
                                        <p:attrNameLst>
                                          <p:attrName>style.visibility</p:attrName>
                                        </p:attrNameLst>
                                      </p:cBhvr>
                                      <p:to>
                                        <p:strVal val="visible"/>
                                      </p:to>
                                    </p:set>
                                    <p:anim calcmode="lin" valueType="num">
                                      <p:cBhvr additive="base">
                                        <p:cTn id="117" dur="500" fill="hold"/>
                                        <p:tgtEl>
                                          <p:spTgt spid="35"/>
                                        </p:tgtEl>
                                        <p:attrNameLst>
                                          <p:attrName>ppt_x</p:attrName>
                                        </p:attrNameLst>
                                      </p:cBhvr>
                                      <p:tavLst>
                                        <p:tav tm="0">
                                          <p:val>
                                            <p:strVal val="1+#ppt_w/2"/>
                                          </p:val>
                                        </p:tav>
                                        <p:tav tm="100000">
                                          <p:val>
                                            <p:strVal val="#ppt_x"/>
                                          </p:val>
                                        </p:tav>
                                      </p:tavLst>
                                    </p:anim>
                                    <p:anim calcmode="lin" valueType="num">
                                      <p:cBhvr additive="base">
                                        <p:cTn id="118" dur="500" fill="hold"/>
                                        <p:tgtEl>
                                          <p:spTgt spid="35"/>
                                        </p:tgtEl>
                                        <p:attrNameLst>
                                          <p:attrName>ppt_y</p:attrName>
                                        </p:attrNameLst>
                                      </p:cBhvr>
                                      <p:tavLst>
                                        <p:tav tm="0">
                                          <p:val>
                                            <p:strVal val="#ppt_y"/>
                                          </p:val>
                                        </p:tav>
                                        <p:tav tm="100000">
                                          <p:val>
                                            <p:strVal val="#ppt_y"/>
                                          </p:val>
                                        </p:tav>
                                      </p:tavLst>
                                    </p:anim>
                                  </p:childTnLst>
                                </p:cTn>
                              </p:par>
                            </p:childTnLst>
                          </p:cTn>
                        </p:par>
                        <p:par>
                          <p:cTn id="119" fill="hold">
                            <p:stCondLst>
                              <p:cond delay="7850"/>
                            </p:stCondLst>
                            <p:childTnLst>
                              <p:par>
                                <p:cTn id="120" presetID="10" presetClass="entr" presetSubtype="0" fill="hold" grpId="0" nodeType="afterEffect">
                                  <p:stCondLst>
                                    <p:cond delay="0"/>
                                  </p:stCondLst>
                                  <p:childTnLst>
                                    <p:set>
                                      <p:cBhvr>
                                        <p:cTn id="121" dur="1" fill="hold">
                                          <p:stCondLst>
                                            <p:cond delay="0"/>
                                          </p:stCondLst>
                                        </p:cTn>
                                        <p:tgtEl>
                                          <p:spTgt spid="36"/>
                                        </p:tgtEl>
                                        <p:attrNameLst>
                                          <p:attrName>style.visibility</p:attrName>
                                        </p:attrNameLst>
                                      </p:cBhvr>
                                      <p:to>
                                        <p:strVal val="visible"/>
                                      </p:to>
                                    </p:set>
                                    <p:animEffect transition="in" filter="fade">
                                      <p:cBhvr>
                                        <p:cTn id="122" dur="300"/>
                                        <p:tgtEl>
                                          <p:spTgt spid="36"/>
                                        </p:tgtEl>
                                      </p:cBhvr>
                                    </p:animEffect>
                                  </p:childTnLst>
                                </p:cTn>
                              </p:par>
                            </p:childTnLst>
                          </p:cTn>
                        </p:par>
                        <p:par>
                          <p:cTn id="123" fill="hold">
                            <p:stCondLst>
                              <p:cond delay="8150"/>
                            </p:stCondLst>
                            <p:childTnLst>
                              <p:par>
                                <p:cTn id="124" presetID="37" presetClass="entr" presetSubtype="0" fill="hold" grpId="0" nodeType="afterEffect">
                                  <p:stCondLst>
                                    <p:cond delay="0"/>
                                  </p:stCondLst>
                                  <p:iterate type="lt">
                                    <p:tmPct val="10000"/>
                                  </p:iterate>
                                  <p:childTnLst>
                                    <p:set>
                                      <p:cBhvr>
                                        <p:cTn id="125" dur="1" fill="hold">
                                          <p:stCondLst>
                                            <p:cond delay="0"/>
                                          </p:stCondLst>
                                        </p:cTn>
                                        <p:tgtEl>
                                          <p:spTgt spid="37"/>
                                        </p:tgtEl>
                                        <p:attrNameLst>
                                          <p:attrName>style.visibility</p:attrName>
                                        </p:attrNameLst>
                                      </p:cBhvr>
                                      <p:to>
                                        <p:strVal val="visible"/>
                                      </p:to>
                                    </p:set>
                                    <p:animEffect transition="in" filter="fade">
                                      <p:cBhvr>
                                        <p:cTn id="126" dur="500"/>
                                        <p:tgtEl>
                                          <p:spTgt spid="37"/>
                                        </p:tgtEl>
                                      </p:cBhvr>
                                    </p:animEffect>
                                    <p:anim calcmode="lin" valueType="num">
                                      <p:cBhvr>
                                        <p:cTn id="127" dur="500" fill="hold"/>
                                        <p:tgtEl>
                                          <p:spTgt spid="37"/>
                                        </p:tgtEl>
                                        <p:attrNameLst>
                                          <p:attrName>ppt_x</p:attrName>
                                        </p:attrNameLst>
                                      </p:cBhvr>
                                      <p:tavLst>
                                        <p:tav tm="0">
                                          <p:val>
                                            <p:strVal val="#ppt_x"/>
                                          </p:val>
                                        </p:tav>
                                        <p:tav tm="100000">
                                          <p:val>
                                            <p:strVal val="#ppt_x"/>
                                          </p:val>
                                        </p:tav>
                                      </p:tavLst>
                                    </p:anim>
                                    <p:anim calcmode="lin" valueType="num">
                                      <p:cBhvr>
                                        <p:cTn id="128" dur="450" decel="100000" fill="hold"/>
                                        <p:tgtEl>
                                          <p:spTgt spid="37"/>
                                        </p:tgtEl>
                                        <p:attrNameLst>
                                          <p:attrName>ppt_y</p:attrName>
                                        </p:attrNameLst>
                                      </p:cBhvr>
                                      <p:tavLst>
                                        <p:tav tm="0">
                                          <p:val>
                                            <p:strVal val="#ppt_y+1"/>
                                          </p:val>
                                        </p:tav>
                                        <p:tav tm="100000">
                                          <p:val>
                                            <p:strVal val="#ppt_y-.03"/>
                                          </p:val>
                                        </p:tav>
                                      </p:tavLst>
                                    </p:anim>
                                    <p:anim calcmode="lin" valueType="num">
                                      <p:cBhvr>
                                        <p:cTn id="129" dur="50" accel="100000" fill="hold">
                                          <p:stCondLst>
                                            <p:cond delay="450"/>
                                          </p:stCondLst>
                                        </p:cTn>
                                        <p:tgtEl>
                                          <p:spTgt spid="37"/>
                                        </p:tgtEl>
                                        <p:attrNameLst>
                                          <p:attrName>ppt_y</p:attrName>
                                        </p:attrNameLst>
                                      </p:cBhvr>
                                      <p:tavLst>
                                        <p:tav tm="0">
                                          <p:val>
                                            <p:strVal val="#ppt_y-.03"/>
                                          </p:val>
                                        </p:tav>
                                        <p:tav tm="100000">
                                          <p:val>
                                            <p:strVal val="#ppt_y"/>
                                          </p:val>
                                        </p:tav>
                                      </p:tavLst>
                                    </p:anim>
                                  </p:childTnLst>
                                </p:cTn>
                              </p:par>
                            </p:childTnLst>
                          </p:cTn>
                        </p:par>
                        <p:par>
                          <p:cTn id="130" fill="hold">
                            <p:stCondLst>
                              <p:cond delay="9100"/>
                            </p:stCondLst>
                            <p:childTnLst>
                              <p:par>
                                <p:cTn id="131" presetID="10" presetClass="entr" presetSubtype="0" fill="hold" grpId="0" nodeType="afterEffect">
                                  <p:stCondLst>
                                    <p:cond delay="0"/>
                                  </p:stCondLst>
                                  <p:iterate type="wd">
                                    <p:tmPct val="10000"/>
                                  </p:iterate>
                                  <p:childTnLst>
                                    <p:set>
                                      <p:cBhvr>
                                        <p:cTn id="132" dur="1" fill="hold">
                                          <p:stCondLst>
                                            <p:cond delay="0"/>
                                          </p:stCondLst>
                                        </p:cTn>
                                        <p:tgtEl>
                                          <p:spTgt spid="38"/>
                                        </p:tgtEl>
                                        <p:attrNameLst>
                                          <p:attrName>style.visibility</p:attrName>
                                        </p:attrNameLst>
                                      </p:cBhvr>
                                      <p:to>
                                        <p:strVal val="visible"/>
                                      </p:to>
                                    </p:set>
                                    <p:animEffect transition="in" filter="fade">
                                      <p:cBhvr>
                                        <p:cTn id="133" dur="600"/>
                                        <p:tgtEl>
                                          <p:spTgt spid="38"/>
                                        </p:tgtEl>
                                      </p:cBhvr>
                                    </p:animEffect>
                                  </p:childTnLst>
                                </p:cTn>
                              </p:par>
                            </p:childTnLst>
                          </p:cTn>
                        </p:par>
                        <p:par>
                          <p:cTn id="134" fill="hold">
                            <p:stCondLst>
                              <p:cond delay="12340"/>
                            </p:stCondLst>
                            <p:childTnLst>
                              <p:par>
                                <p:cTn id="135" presetID="23" presetClass="entr" presetSubtype="16" fill="hold" grpId="0" nodeType="afterEffect">
                                  <p:stCondLst>
                                    <p:cond delay="0"/>
                                  </p:stCondLst>
                                  <p:childTnLst>
                                    <p:set>
                                      <p:cBhvr>
                                        <p:cTn id="136" dur="1" fill="hold">
                                          <p:stCondLst>
                                            <p:cond delay="0"/>
                                          </p:stCondLst>
                                        </p:cTn>
                                        <p:tgtEl>
                                          <p:spTgt spid="39"/>
                                        </p:tgtEl>
                                        <p:attrNameLst>
                                          <p:attrName>style.visibility</p:attrName>
                                        </p:attrNameLst>
                                      </p:cBhvr>
                                      <p:to>
                                        <p:strVal val="visible"/>
                                      </p:to>
                                    </p:set>
                                    <p:anim calcmode="lin" valueType="num">
                                      <p:cBhvr>
                                        <p:cTn id="137" dur="200" fill="hold"/>
                                        <p:tgtEl>
                                          <p:spTgt spid="39"/>
                                        </p:tgtEl>
                                        <p:attrNameLst>
                                          <p:attrName>ppt_w</p:attrName>
                                        </p:attrNameLst>
                                      </p:cBhvr>
                                      <p:tavLst>
                                        <p:tav tm="0">
                                          <p:val>
                                            <p:fltVal val="0"/>
                                          </p:val>
                                        </p:tav>
                                        <p:tav tm="100000">
                                          <p:val>
                                            <p:strVal val="#ppt_w"/>
                                          </p:val>
                                        </p:tav>
                                      </p:tavLst>
                                    </p:anim>
                                    <p:anim calcmode="lin" valueType="num">
                                      <p:cBhvr>
                                        <p:cTn id="138" dur="200" fill="hold"/>
                                        <p:tgtEl>
                                          <p:spTgt spid="39"/>
                                        </p:tgtEl>
                                        <p:attrNameLst>
                                          <p:attrName>ppt_h</p:attrName>
                                        </p:attrNameLst>
                                      </p:cBhvr>
                                      <p:tavLst>
                                        <p:tav tm="0">
                                          <p:val>
                                            <p:fltVal val="0"/>
                                          </p:val>
                                        </p:tav>
                                        <p:tav tm="100000">
                                          <p:val>
                                            <p:strVal val="#ppt_h"/>
                                          </p:val>
                                        </p:tav>
                                      </p:tavLst>
                                    </p:anim>
                                  </p:childTnLst>
                                </p:cTn>
                              </p:par>
                            </p:childTnLst>
                          </p:cTn>
                        </p:par>
                        <p:par>
                          <p:cTn id="139" fill="hold">
                            <p:stCondLst>
                              <p:cond delay="12540"/>
                            </p:stCondLst>
                            <p:childTnLst>
                              <p:par>
                                <p:cTn id="140" presetID="23" presetClass="entr" presetSubtype="16" fill="hold" grpId="0" nodeType="afterEffect">
                                  <p:stCondLst>
                                    <p:cond delay="0"/>
                                  </p:stCondLst>
                                  <p:childTnLst>
                                    <p:set>
                                      <p:cBhvr>
                                        <p:cTn id="141" dur="1" fill="hold">
                                          <p:stCondLst>
                                            <p:cond delay="0"/>
                                          </p:stCondLst>
                                        </p:cTn>
                                        <p:tgtEl>
                                          <p:spTgt spid="40"/>
                                        </p:tgtEl>
                                        <p:attrNameLst>
                                          <p:attrName>style.visibility</p:attrName>
                                        </p:attrNameLst>
                                      </p:cBhvr>
                                      <p:to>
                                        <p:strVal val="visible"/>
                                      </p:to>
                                    </p:set>
                                    <p:anim calcmode="lin" valueType="num">
                                      <p:cBhvr>
                                        <p:cTn id="142" dur="200" fill="hold"/>
                                        <p:tgtEl>
                                          <p:spTgt spid="40"/>
                                        </p:tgtEl>
                                        <p:attrNameLst>
                                          <p:attrName>ppt_w</p:attrName>
                                        </p:attrNameLst>
                                      </p:cBhvr>
                                      <p:tavLst>
                                        <p:tav tm="0">
                                          <p:val>
                                            <p:fltVal val="0"/>
                                          </p:val>
                                        </p:tav>
                                        <p:tav tm="100000">
                                          <p:val>
                                            <p:strVal val="#ppt_w"/>
                                          </p:val>
                                        </p:tav>
                                      </p:tavLst>
                                    </p:anim>
                                    <p:anim calcmode="lin" valueType="num">
                                      <p:cBhvr>
                                        <p:cTn id="143" dur="200" fill="hold"/>
                                        <p:tgtEl>
                                          <p:spTgt spid="40"/>
                                        </p:tgtEl>
                                        <p:attrNameLst>
                                          <p:attrName>ppt_h</p:attrName>
                                        </p:attrNameLst>
                                      </p:cBhvr>
                                      <p:tavLst>
                                        <p:tav tm="0">
                                          <p:val>
                                            <p:fltVal val="0"/>
                                          </p:val>
                                        </p:tav>
                                        <p:tav tm="100000">
                                          <p:val>
                                            <p:strVal val="#ppt_h"/>
                                          </p:val>
                                        </p:tav>
                                      </p:tavLst>
                                    </p:anim>
                                  </p:childTnLst>
                                </p:cTn>
                              </p:par>
                            </p:childTnLst>
                          </p:cTn>
                        </p:par>
                        <p:par>
                          <p:cTn id="144" fill="hold">
                            <p:stCondLst>
                              <p:cond delay="12740"/>
                            </p:stCondLst>
                            <p:childTnLst>
                              <p:par>
                                <p:cTn id="145" presetID="23" presetClass="entr" presetSubtype="16" fill="hold" grpId="0" nodeType="afterEffect">
                                  <p:stCondLst>
                                    <p:cond delay="0"/>
                                  </p:stCondLst>
                                  <p:childTnLst>
                                    <p:set>
                                      <p:cBhvr>
                                        <p:cTn id="146" dur="1" fill="hold">
                                          <p:stCondLst>
                                            <p:cond delay="0"/>
                                          </p:stCondLst>
                                        </p:cTn>
                                        <p:tgtEl>
                                          <p:spTgt spid="41"/>
                                        </p:tgtEl>
                                        <p:attrNameLst>
                                          <p:attrName>style.visibility</p:attrName>
                                        </p:attrNameLst>
                                      </p:cBhvr>
                                      <p:to>
                                        <p:strVal val="visible"/>
                                      </p:to>
                                    </p:set>
                                    <p:anim calcmode="lin" valueType="num">
                                      <p:cBhvr>
                                        <p:cTn id="147" dur="200" fill="hold"/>
                                        <p:tgtEl>
                                          <p:spTgt spid="41"/>
                                        </p:tgtEl>
                                        <p:attrNameLst>
                                          <p:attrName>ppt_w</p:attrName>
                                        </p:attrNameLst>
                                      </p:cBhvr>
                                      <p:tavLst>
                                        <p:tav tm="0">
                                          <p:val>
                                            <p:fltVal val="0"/>
                                          </p:val>
                                        </p:tav>
                                        <p:tav tm="100000">
                                          <p:val>
                                            <p:strVal val="#ppt_w"/>
                                          </p:val>
                                        </p:tav>
                                      </p:tavLst>
                                    </p:anim>
                                    <p:anim calcmode="lin" valueType="num">
                                      <p:cBhvr>
                                        <p:cTn id="148" dur="200" fill="hold"/>
                                        <p:tgtEl>
                                          <p:spTgt spid="41"/>
                                        </p:tgtEl>
                                        <p:attrNameLst>
                                          <p:attrName>ppt_h</p:attrName>
                                        </p:attrNameLst>
                                      </p:cBhvr>
                                      <p:tavLst>
                                        <p:tav tm="0">
                                          <p:val>
                                            <p:fltVal val="0"/>
                                          </p:val>
                                        </p:tav>
                                        <p:tav tm="100000">
                                          <p:val>
                                            <p:strVal val="#ppt_h"/>
                                          </p:val>
                                        </p:tav>
                                      </p:tavLst>
                                    </p:anim>
                                  </p:childTnLst>
                                </p:cTn>
                              </p:par>
                            </p:childTnLst>
                          </p:cTn>
                        </p:par>
                        <p:par>
                          <p:cTn id="149" fill="hold">
                            <p:stCondLst>
                              <p:cond delay="12940"/>
                            </p:stCondLst>
                            <p:childTnLst>
                              <p:par>
                                <p:cTn id="150" presetID="23" presetClass="entr" presetSubtype="16" fill="hold" grpId="0" nodeType="afterEffect">
                                  <p:stCondLst>
                                    <p:cond delay="0"/>
                                  </p:stCondLst>
                                  <p:childTnLst>
                                    <p:set>
                                      <p:cBhvr>
                                        <p:cTn id="151" dur="1" fill="hold">
                                          <p:stCondLst>
                                            <p:cond delay="0"/>
                                          </p:stCondLst>
                                        </p:cTn>
                                        <p:tgtEl>
                                          <p:spTgt spid="42"/>
                                        </p:tgtEl>
                                        <p:attrNameLst>
                                          <p:attrName>style.visibility</p:attrName>
                                        </p:attrNameLst>
                                      </p:cBhvr>
                                      <p:to>
                                        <p:strVal val="visible"/>
                                      </p:to>
                                    </p:set>
                                    <p:anim calcmode="lin" valueType="num">
                                      <p:cBhvr>
                                        <p:cTn id="152" dur="200" fill="hold"/>
                                        <p:tgtEl>
                                          <p:spTgt spid="42"/>
                                        </p:tgtEl>
                                        <p:attrNameLst>
                                          <p:attrName>ppt_w</p:attrName>
                                        </p:attrNameLst>
                                      </p:cBhvr>
                                      <p:tavLst>
                                        <p:tav tm="0">
                                          <p:val>
                                            <p:fltVal val="0"/>
                                          </p:val>
                                        </p:tav>
                                        <p:tav tm="100000">
                                          <p:val>
                                            <p:strVal val="#ppt_w"/>
                                          </p:val>
                                        </p:tav>
                                      </p:tavLst>
                                    </p:anim>
                                    <p:anim calcmode="lin" valueType="num">
                                      <p:cBhvr>
                                        <p:cTn id="153" dur="200" fill="hold"/>
                                        <p:tgtEl>
                                          <p:spTgt spid="42"/>
                                        </p:tgtEl>
                                        <p:attrNameLst>
                                          <p:attrName>ppt_h</p:attrName>
                                        </p:attrNameLst>
                                      </p:cBhvr>
                                      <p:tavLst>
                                        <p:tav tm="0">
                                          <p:val>
                                            <p:fltVal val="0"/>
                                          </p:val>
                                        </p:tav>
                                        <p:tav tm="100000">
                                          <p:val>
                                            <p:strVal val="#ppt_h"/>
                                          </p:val>
                                        </p:tav>
                                      </p:tavLst>
                                    </p:anim>
                                  </p:childTnLst>
                                </p:cTn>
                              </p:par>
                            </p:childTnLst>
                          </p:cTn>
                        </p:par>
                        <p:par>
                          <p:cTn id="154" fill="hold">
                            <p:stCondLst>
                              <p:cond delay="13140"/>
                            </p:stCondLst>
                            <p:childTnLst>
                              <p:par>
                                <p:cTn id="155" presetID="23" presetClass="entr" presetSubtype="16" fill="hold" grpId="0" nodeType="afterEffect">
                                  <p:stCondLst>
                                    <p:cond delay="0"/>
                                  </p:stCondLst>
                                  <p:childTnLst>
                                    <p:set>
                                      <p:cBhvr>
                                        <p:cTn id="156" dur="1" fill="hold">
                                          <p:stCondLst>
                                            <p:cond delay="0"/>
                                          </p:stCondLst>
                                        </p:cTn>
                                        <p:tgtEl>
                                          <p:spTgt spid="43"/>
                                        </p:tgtEl>
                                        <p:attrNameLst>
                                          <p:attrName>style.visibility</p:attrName>
                                        </p:attrNameLst>
                                      </p:cBhvr>
                                      <p:to>
                                        <p:strVal val="visible"/>
                                      </p:to>
                                    </p:set>
                                    <p:anim calcmode="lin" valueType="num">
                                      <p:cBhvr>
                                        <p:cTn id="157" dur="200" fill="hold"/>
                                        <p:tgtEl>
                                          <p:spTgt spid="43"/>
                                        </p:tgtEl>
                                        <p:attrNameLst>
                                          <p:attrName>ppt_w</p:attrName>
                                        </p:attrNameLst>
                                      </p:cBhvr>
                                      <p:tavLst>
                                        <p:tav tm="0">
                                          <p:val>
                                            <p:fltVal val="0"/>
                                          </p:val>
                                        </p:tav>
                                        <p:tav tm="100000">
                                          <p:val>
                                            <p:strVal val="#ppt_w"/>
                                          </p:val>
                                        </p:tav>
                                      </p:tavLst>
                                    </p:anim>
                                    <p:anim calcmode="lin" valueType="num">
                                      <p:cBhvr>
                                        <p:cTn id="158" dur="200" fill="hold"/>
                                        <p:tgtEl>
                                          <p:spTgt spid="4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20" grpId="0" animBg="1"/>
      <p:bldP spid="21" grpId="0"/>
      <p:bldP spid="22" grpId="0" build="p"/>
      <p:bldP spid="24" grpId="0" animBg="1"/>
      <p:bldP spid="25" grpId="0"/>
      <p:bldP spid="26" grpId="0" build="p"/>
      <p:bldP spid="28" grpId="0" animBg="1"/>
      <p:bldP spid="29" grpId="0"/>
      <p:bldP spid="30" grpId="0" build="p"/>
      <p:bldP spid="32" grpId="0" animBg="1"/>
      <p:bldP spid="33" grpId="0"/>
      <p:bldP spid="34" grpId="0" build="p"/>
      <p:bldP spid="35" grpId="0" animBg="1"/>
      <p:bldP spid="36" grpId="0"/>
      <p:bldP spid="37" grpId="0"/>
      <p:bldP spid="38" grpId="0"/>
      <p:bldP spid="39" grpId="0" animBg="1"/>
      <p:bldP spid="40" grpId="0" animBg="1"/>
      <p:bldP spid="41" grpId="0" animBg="1"/>
      <p:bldP spid="42" grpId="0" animBg="1"/>
      <p:bldP spid="4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326880" y="4206240"/>
            <a:ext cx="3474720" cy="347472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9952329" y="4831689"/>
            <a:ext cx="2223820" cy="2223820"/>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02</a:t>
            </a:r>
          </a:p>
        </p:txBody>
      </p:sp>
      <p:sp>
        <p:nvSpPr>
          <p:cNvPr id="8" name="!!rail3"/>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465429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53675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608076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06</a:t>
            </a:r>
          </a:p>
        </p:txBody>
      </p:sp>
      <p:sp>
        <p:nvSpPr>
          <p:cNvPr id="12" name="!!rail7"/>
          <p:cNvSpPr txBox="1"/>
          <p:nvPr/>
        </p:nvSpPr>
        <p:spPr>
          <a:xfrm>
            <a:off x="45720" y="6793992"/>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7507223"/>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45"/>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02  ·  PROBLEM STATEMENT</a:t>
            </a:r>
          </a:p>
        </p:txBody>
      </p:sp>
      <p:sp>
        <p:nvSpPr>
          <p:cNvPr id="15" name="Title 46"/>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Problem statement</a:t>
            </a:r>
          </a:p>
        </p:txBody>
      </p:sp>
      <p:sp>
        <p:nvSpPr>
          <p:cNvPr id="16" name="Subtitle 47"/>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Three persistent problems limit AI-based threat detection for ordinary users and small teams</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§1.2 Problem Statement</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03 / 20</a:t>
            </a:r>
          </a:p>
        </p:txBody>
      </p:sp>
      <p:grpSp>
        <p:nvGrpSpPr>
          <p:cNvPr id="25" name="Card 48"/>
          <p:cNvGrpSpPr/>
          <p:nvPr/>
        </p:nvGrpSpPr>
        <p:grpSpPr>
          <a:xfrm>
            <a:off x="1417320" y="1965960"/>
            <a:ext cx="3256178" cy="3246120"/>
            <a:chOff x="1417320" y="1965960"/>
            <a:chExt cx="3256178" cy="3246120"/>
          </a:xfrm>
        </p:grpSpPr>
        <p:sp>
          <p:nvSpPr>
            <p:cNvPr id="20" name="Card bg"/>
            <p:cNvSpPr/>
            <p:nvPr/>
          </p:nvSpPr>
          <p:spPr>
            <a:xfrm>
              <a:off x="1417320" y="1965960"/>
              <a:ext cx="3256178" cy="324612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Card accent"/>
            <p:cNvSpPr/>
            <p:nvPr/>
          </p:nvSpPr>
          <p:spPr>
            <a:xfrm>
              <a:off x="1417320" y="1965960"/>
              <a:ext cx="3256178"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Card label"/>
            <p:cNvSpPr txBox="1"/>
            <p:nvPr/>
          </p:nvSpPr>
          <p:spPr>
            <a:xfrm>
              <a:off x="1618488" y="2148840"/>
              <a:ext cx="2853842" cy="274320"/>
            </a:xfrm>
            <a:prstGeom prst="rect">
              <a:avLst/>
            </a:prstGeom>
            <a:noFill/>
          </p:spPr>
          <p:txBody>
            <a:bodyPr wrap="square" lIns="36576" tIns="36576" rIns="36576" bIns="36576" anchor="t">
              <a:spAutoFit/>
            </a:bodyPr>
            <a:lstStyle/>
            <a:p>
              <a:pPr algn="l">
                <a:lnSpc>
                  <a:spcPct val="108000"/>
                </a:lnSpc>
              </a:pPr>
              <a:r>
                <a:rPr sz="1050" b="1" i="0">
                  <a:solidFill>
                    <a:srgbClr val="C77A1E"/>
                  </a:solidFill>
                  <a:latin typeface="Consolas"/>
                </a:rPr>
                <a:t>PROBLEM 1</a:t>
              </a:r>
            </a:p>
          </p:txBody>
        </p:sp>
        <p:sp>
          <p:nvSpPr>
            <p:cNvPr id="23" name="Card title"/>
            <p:cNvSpPr txBox="1"/>
            <p:nvPr/>
          </p:nvSpPr>
          <p:spPr>
            <a:xfrm>
              <a:off x="1618488" y="2441448"/>
              <a:ext cx="2853842" cy="358902"/>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Too many false alarms</a:t>
              </a:r>
            </a:p>
          </p:txBody>
        </p:sp>
        <p:sp>
          <p:nvSpPr>
            <p:cNvPr id="24" name="Card body"/>
            <p:cNvSpPr txBox="1"/>
            <p:nvPr/>
          </p:nvSpPr>
          <p:spPr>
            <a:xfrm>
              <a:off x="1618488" y="2800350"/>
              <a:ext cx="2853842" cy="2302001"/>
            </a:xfrm>
            <a:prstGeom prst="rect">
              <a:avLst/>
            </a:prstGeom>
            <a:noFill/>
          </p:spPr>
          <p:txBody>
            <a:bodyPr wrap="square" lIns="36576" tIns="36576" rIns="36576" bIns="36576" anchor="t">
              <a:spAutoFit/>
            </a:bodyPr>
            <a:lstStyle/>
            <a:p>
              <a:pPr algn="l">
                <a:lnSpc>
                  <a:spcPct val="105000"/>
                </a:lnSpc>
              </a:pPr>
              <a:r>
                <a:rPr sz="1450" b="0" i="0">
                  <a:solidFill>
                    <a:srgbClr val="4A4244"/>
                  </a:solidFill>
                  <a:latin typeface="Calibri"/>
                </a:rPr>
                <a:t>Single-model URL classifiers are prone to false positives. An early CyberForge heuristic rated every URL — google.com and github.com included — "medium risk" because of a +0.5 offset. Alert fatigue makes users ignore genuine threats.</a:t>
              </a:r>
            </a:p>
          </p:txBody>
        </p:sp>
      </p:grpSp>
      <p:grpSp>
        <p:nvGrpSpPr>
          <p:cNvPr id="31" name="Card 49"/>
          <p:cNvGrpSpPr/>
          <p:nvPr/>
        </p:nvGrpSpPr>
        <p:grpSpPr>
          <a:xfrm>
            <a:off x="4902098" y="1965960"/>
            <a:ext cx="3256178" cy="3246120"/>
            <a:chOff x="4902098" y="1965960"/>
            <a:chExt cx="3256178" cy="3246120"/>
          </a:xfrm>
        </p:grpSpPr>
        <p:sp>
          <p:nvSpPr>
            <p:cNvPr id="26" name="Card bg"/>
            <p:cNvSpPr/>
            <p:nvPr/>
          </p:nvSpPr>
          <p:spPr>
            <a:xfrm>
              <a:off x="4902098" y="1965960"/>
              <a:ext cx="3256178" cy="324612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Card accent"/>
            <p:cNvSpPr/>
            <p:nvPr/>
          </p:nvSpPr>
          <p:spPr>
            <a:xfrm>
              <a:off x="4902098" y="1965960"/>
              <a:ext cx="3256178"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Card label"/>
            <p:cNvSpPr txBox="1"/>
            <p:nvPr/>
          </p:nvSpPr>
          <p:spPr>
            <a:xfrm>
              <a:off x="5103266" y="2148840"/>
              <a:ext cx="2853842" cy="274320"/>
            </a:xfrm>
            <a:prstGeom prst="rect">
              <a:avLst/>
            </a:prstGeom>
            <a:noFill/>
          </p:spPr>
          <p:txBody>
            <a:bodyPr wrap="square" lIns="36576" tIns="36576" rIns="36576" bIns="36576" anchor="t">
              <a:spAutoFit/>
            </a:bodyPr>
            <a:lstStyle/>
            <a:p>
              <a:pPr algn="l">
                <a:lnSpc>
                  <a:spcPct val="108000"/>
                </a:lnSpc>
              </a:pPr>
              <a:r>
                <a:rPr sz="1050" b="1" i="0">
                  <a:solidFill>
                    <a:srgbClr val="5E7257"/>
                  </a:solidFill>
                  <a:latin typeface="Consolas"/>
                </a:rPr>
                <a:t>PROBLEM 2</a:t>
              </a:r>
            </a:p>
          </p:txBody>
        </p:sp>
        <p:sp>
          <p:nvSpPr>
            <p:cNvPr id="29" name="Card title"/>
            <p:cNvSpPr txBox="1"/>
            <p:nvPr/>
          </p:nvSpPr>
          <p:spPr>
            <a:xfrm>
              <a:off x="5103266" y="2441448"/>
              <a:ext cx="2853842" cy="358902"/>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A number, not a story</a:t>
              </a:r>
            </a:p>
          </p:txBody>
        </p:sp>
        <p:sp>
          <p:nvSpPr>
            <p:cNvPr id="30" name="Card body"/>
            <p:cNvSpPr txBox="1"/>
            <p:nvPr/>
          </p:nvSpPr>
          <p:spPr>
            <a:xfrm>
              <a:off x="5103266" y="2800350"/>
              <a:ext cx="2853842" cy="2302001"/>
            </a:xfrm>
            <a:prstGeom prst="rect">
              <a:avLst/>
            </a:prstGeom>
            <a:noFill/>
          </p:spPr>
          <p:txBody>
            <a:bodyPr wrap="square" lIns="36576" tIns="36576" rIns="36576" bIns="36576" anchor="t">
              <a:spAutoFit/>
            </a:bodyPr>
            <a:lstStyle/>
            <a:p>
              <a:pPr algn="l">
                <a:lnSpc>
                  <a:spcPct val="105000"/>
                </a:lnSpc>
              </a:pPr>
              <a:r>
                <a:rPr sz="1450" b="0" i="0">
                  <a:solidFill>
                    <a:srgbClr val="4A4244"/>
                  </a:solidFill>
                  <a:latin typeface="Calibri"/>
                </a:rPr>
                <a:t>A classifier outputs a probability, but cannot list the indicators of compromise on the page, map script activity to a MITRE technique, or link the domain to earlier threat reports.</a:t>
              </a:r>
            </a:p>
          </p:txBody>
        </p:sp>
      </p:grpSp>
      <p:grpSp>
        <p:nvGrpSpPr>
          <p:cNvPr id="37" name="Card 50"/>
          <p:cNvGrpSpPr/>
          <p:nvPr/>
        </p:nvGrpSpPr>
        <p:grpSpPr>
          <a:xfrm>
            <a:off x="8386876" y="1965960"/>
            <a:ext cx="3256178" cy="3246120"/>
            <a:chOff x="8386876" y="1965960"/>
            <a:chExt cx="3256178" cy="3246120"/>
          </a:xfrm>
        </p:grpSpPr>
        <p:sp>
          <p:nvSpPr>
            <p:cNvPr id="32" name="Card bg"/>
            <p:cNvSpPr/>
            <p:nvPr/>
          </p:nvSpPr>
          <p:spPr>
            <a:xfrm>
              <a:off x="8386876" y="1965960"/>
              <a:ext cx="3256178" cy="324612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Card accent"/>
            <p:cNvSpPr/>
            <p:nvPr/>
          </p:nvSpPr>
          <p:spPr>
            <a:xfrm>
              <a:off x="8386876" y="1965960"/>
              <a:ext cx="3256178"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Card label"/>
            <p:cNvSpPr txBox="1"/>
            <p:nvPr/>
          </p:nvSpPr>
          <p:spPr>
            <a:xfrm>
              <a:off x="8588044" y="2148840"/>
              <a:ext cx="2853842" cy="274320"/>
            </a:xfrm>
            <a:prstGeom prst="rect">
              <a:avLst/>
            </a:prstGeom>
            <a:noFill/>
          </p:spPr>
          <p:txBody>
            <a:bodyPr wrap="square" lIns="36576" tIns="36576" rIns="36576" bIns="36576" anchor="t">
              <a:spAutoFit/>
            </a:bodyPr>
            <a:lstStyle/>
            <a:p>
              <a:pPr algn="l">
                <a:lnSpc>
                  <a:spcPct val="108000"/>
                </a:lnSpc>
              </a:pPr>
              <a:r>
                <a:rPr sz="1050" b="1" i="0">
                  <a:solidFill>
                    <a:srgbClr val="C77A1E"/>
                  </a:solidFill>
                  <a:latin typeface="Consolas"/>
                </a:rPr>
                <a:t>PROBLEM 3</a:t>
              </a:r>
            </a:p>
          </p:txBody>
        </p:sp>
        <p:sp>
          <p:nvSpPr>
            <p:cNvPr id="35" name="Card title"/>
            <p:cNvSpPr txBox="1"/>
            <p:nvPr/>
          </p:nvSpPr>
          <p:spPr>
            <a:xfrm>
              <a:off x="8588044" y="2441448"/>
              <a:ext cx="2853842" cy="644652"/>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No open, connected architecture</a:t>
              </a:r>
            </a:p>
          </p:txBody>
        </p:sp>
        <p:sp>
          <p:nvSpPr>
            <p:cNvPr id="36" name="Card body"/>
            <p:cNvSpPr txBox="1"/>
            <p:nvPr/>
          </p:nvSpPr>
          <p:spPr>
            <a:xfrm>
              <a:off x="8588044" y="3086100"/>
              <a:ext cx="2853842" cy="2016251"/>
            </a:xfrm>
            <a:prstGeom prst="rect">
              <a:avLst/>
            </a:prstGeom>
            <a:noFill/>
          </p:spPr>
          <p:txBody>
            <a:bodyPr wrap="square" lIns="36576" tIns="36576" rIns="36576" bIns="36576" anchor="t">
              <a:spAutoFit/>
            </a:bodyPr>
            <a:lstStyle/>
            <a:p>
              <a:pPr algn="l">
                <a:lnSpc>
                  <a:spcPct val="105000"/>
                </a:lnSpc>
              </a:pPr>
              <a:r>
                <a:rPr sz="1450" b="0" i="0">
                  <a:solidFill>
                    <a:srgbClr val="4A4244"/>
                  </a:solidFill>
                  <a:latin typeface="Calibri"/>
                </a:rPr>
                <a:t>No widely deployed open system fans one browser event out to specialised analysers, keeps the result, reuses past visits and shows it on desktop and mobile. SOAR platforms do, at enterprise price and complexity.</a:t>
              </a:r>
            </a:p>
          </p:txBody>
        </p:sp>
      </p:grpSp>
      <p:sp>
        <p:nvSpPr>
          <p:cNvPr id="38" name="Answer band 51"/>
          <p:cNvSpPr/>
          <p:nvPr/>
        </p:nvSpPr>
        <p:spPr>
          <a:xfrm>
            <a:off x="1417320" y="5440680"/>
            <a:ext cx="10225735" cy="749808"/>
          </a:xfrm>
          <a:prstGeom prst="roundRect">
            <a:avLst>
              <a:gd name="adj" fmla="val 12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Answer 52"/>
          <p:cNvSpPr txBox="1"/>
          <p:nvPr/>
        </p:nvSpPr>
        <p:spPr>
          <a:xfrm>
            <a:off x="1691640" y="5440680"/>
            <a:ext cx="9677095" cy="749808"/>
          </a:xfrm>
          <a:prstGeom prst="rect">
            <a:avLst/>
          </a:prstGeom>
          <a:noFill/>
        </p:spPr>
        <p:txBody>
          <a:bodyPr wrap="square" lIns="36576" tIns="36576" rIns="36576" bIns="36576" anchor="ctr">
            <a:spAutoFit/>
          </a:bodyPr>
          <a:lstStyle/>
          <a:p>
            <a:pPr algn="l">
              <a:lnSpc>
                <a:spcPct val="108000"/>
              </a:lnSpc>
            </a:pPr>
            <a:r>
              <a:rPr sz="1700" b="0" i="0">
                <a:solidFill>
                  <a:srgbClr val="EFE9DD"/>
                </a:solidFill>
                <a:latin typeface="Calibri"/>
              </a:rPr>
              <a:t>CyberForge answers with </a:t>
            </a:r>
            <a:r>
              <a:rPr sz="1700" b="1" i="0">
                <a:solidFill>
                  <a:srgbClr val="F69D39"/>
                </a:solidFill>
                <a:latin typeface="Calibri"/>
              </a:rPr>
              <a:t>specialist analysis</a:t>
            </a:r>
            <a:r>
              <a:rPr sz="1700" b="0" i="0">
                <a:solidFill>
                  <a:srgbClr val="EFE9DD"/>
                </a:solidFill>
                <a:latin typeface="Calibri"/>
              </a:rPr>
              <a:t>, </a:t>
            </a:r>
            <a:r>
              <a:rPr sz="1700" b="1" i="0">
                <a:solidFill>
                  <a:srgbClr val="F69D39"/>
                </a:solidFill>
                <a:latin typeface="Calibri"/>
              </a:rPr>
              <a:t>inspectable evidence</a:t>
            </a:r>
            <a:r>
              <a:rPr sz="1700" b="0" i="0">
                <a:solidFill>
                  <a:srgbClr val="EFE9DD"/>
                </a:solidFill>
                <a:latin typeface="Calibri"/>
              </a:rPr>
              <a:t> and </a:t>
            </a:r>
            <a:r>
              <a:rPr sz="1700" b="1" i="0">
                <a:solidFill>
                  <a:srgbClr val="F69D39"/>
                </a:solidFill>
                <a:latin typeface="Calibri"/>
              </a:rPr>
              <a:t>controlled sharing of results</a:t>
            </a:r>
            <a:r>
              <a:rPr sz="1700" b="0" i="0">
                <a:solidFill>
                  <a:srgbClr val="EFE9DD"/>
                </a:solidFill>
                <a:latin typeface="Calibri"/>
              </a:rPr>
              <a: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35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2450"/>
                            </p:stCondLst>
                            <p:childTnLst>
                              <p:par>
                                <p:cTn id="19" presetID="2" presetClass="entr" presetSubtype="4" fill="hold" nodeType="after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ppt_x"/>
                                          </p:val>
                                        </p:tav>
                                        <p:tav tm="100000">
                                          <p:val>
                                            <p:strVal val="#ppt_x"/>
                                          </p:val>
                                        </p:tav>
                                      </p:tavLst>
                                    </p:anim>
                                    <p:anim calcmode="lin" valueType="num">
                                      <p:cBhvr additive="base">
                                        <p:cTn id="22" dur="500" fill="hold"/>
                                        <p:tgtEl>
                                          <p:spTgt spid="25"/>
                                        </p:tgtEl>
                                        <p:attrNameLst>
                                          <p:attrName>ppt_y</p:attrName>
                                        </p:attrNameLst>
                                      </p:cBhvr>
                                      <p:tavLst>
                                        <p:tav tm="0">
                                          <p:val>
                                            <p:strVal val="1+#ppt_h/2"/>
                                          </p:val>
                                        </p:tav>
                                        <p:tav tm="100000">
                                          <p:val>
                                            <p:strVal val="#ppt_y"/>
                                          </p:val>
                                        </p:tav>
                                      </p:tavLst>
                                    </p:anim>
                                  </p:childTnLst>
                                </p:cTn>
                              </p:par>
                            </p:childTnLst>
                          </p:cTn>
                        </p:par>
                        <p:par>
                          <p:cTn id="23" fill="hold">
                            <p:stCondLst>
                              <p:cond delay="2950"/>
                            </p:stCondLst>
                            <p:childTnLst>
                              <p:par>
                                <p:cTn id="24" presetID="2" presetClass="entr" presetSubtype="4" fill="hold" nodeType="afterEffect">
                                  <p:stCondLst>
                                    <p:cond delay="0"/>
                                  </p:stCondLst>
                                  <p:childTnLst>
                                    <p:set>
                                      <p:cBhvr>
                                        <p:cTn id="25" dur="1" fill="hold">
                                          <p:stCondLst>
                                            <p:cond delay="0"/>
                                          </p:stCondLst>
                                        </p:cTn>
                                        <p:tgtEl>
                                          <p:spTgt spid="31"/>
                                        </p:tgtEl>
                                        <p:attrNameLst>
                                          <p:attrName>style.visibility</p:attrName>
                                        </p:attrNameLst>
                                      </p:cBhvr>
                                      <p:to>
                                        <p:strVal val="visible"/>
                                      </p:to>
                                    </p:set>
                                    <p:anim calcmode="lin" valueType="num">
                                      <p:cBhvr additive="base">
                                        <p:cTn id="26" dur="500" fill="hold"/>
                                        <p:tgtEl>
                                          <p:spTgt spid="31"/>
                                        </p:tgtEl>
                                        <p:attrNameLst>
                                          <p:attrName>ppt_x</p:attrName>
                                        </p:attrNameLst>
                                      </p:cBhvr>
                                      <p:tavLst>
                                        <p:tav tm="0">
                                          <p:val>
                                            <p:strVal val="#ppt_x"/>
                                          </p:val>
                                        </p:tav>
                                        <p:tav tm="100000">
                                          <p:val>
                                            <p:strVal val="#ppt_x"/>
                                          </p:val>
                                        </p:tav>
                                      </p:tavLst>
                                    </p:anim>
                                    <p:anim calcmode="lin" valueType="num">
                                      <p:cBhvr additive="base">
                                        <p:cTn id="27" dur="500" fill="hold"/>
                                        <p:tgtEl>
                                          <p:spTgt spid="31"/>
                                        </p:tgtEl>
                                        <p:attrNameLst>
                                          <p:attrName>ppt_y</p:attrName>
                                        </p:attrNameLst>
                                      </p:cBhvr>
                                      <p:tavLst>
                                        <p:tav tm="0">
                                          <p:val>
                                            <p:strVal val="1+#ppt_h/2"/>
                                          </p:val>
                                        </p:tav>
                                        <p:tav tm="100000">
                                          <p:val>
                                            <p:strVal val="#ppt_y"/>
                                          </p:val>
                                        </p:tav>
                                      </p:tavLst>
                                    </p:anim>
                                  </p:childTnLst>
                                </p:cTn>
                              </p:par>
                            </p:childTnLst>
                          </p:cTn>
                        </p:par>
                        <p:par>
                          <p:cTn id="28" fill="hold">
                            <p:stCondLst>
                              <p:cond delay="3450"/>
                            </p:stCondLst>
                            <p:childTnLst>
                              <p:par>
                                <p:cTn id="29" presetID="2" presetClass="entr" presetSubtype="4" fill="hold" nodeType="after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500" fill="hold"/>
                                        <p:tgtEl>
                                          <p:spTgt spid="37"/>
                                        </p:tgtEl>
                                        <p:attrNameLst>
                                          <p:attrName>ppt_x</p:attrName>
                                        </p:attrNameLst>
                                      </p:cBhvr>
                                      <p:tavLst>
                                        <p:tav tm="0">
                                          <p:val>
                                            <p:strVal val="#ppt_x"/>
                                          </p:val>
                                        </p:tav>
                                        <p:tav tm="100000">
                                          <p:val>
                                            <p:strVal val="#ppt_x"/>
                                          </p:val>
                                        </p:tav>
                                      </p:tavLst>
                                    </p:anim>
                                    <p:anim calcmode="lin" valueType="num">
                                      <p:cBhvr additive="base">
                                        <p:cTn id="32" dur="500" fill="hold"/>
                                        <p:tgtEl>
                                          <p:spTgt spid="37"/>
                                        </p:tgtEl>
                                        <p:attrNameLst>
                                          <p:attrName>ppt_y</p:attrName>
                                        </p:attrNameLst>
                                      </p:cBhvr>
                                      <p:tavLst>
                                        <p:tav tm="0">
                                          <p:val>
                                            <p:strVal val="1+#ppt_h/2"/>
                                          </p:val>
                                        </p:tav>
                                        <p:tav tm="100000">
                                          <p:val>
                                            <p:strVal val="#ppt_y"/>
                                          </p:val>
                                        </p:tav>
                                      </p:tavLst>
                                    </p:anim>
                                  </p:childTnLst>
                                </p:cTn>
                              </p:par>
                            </p:childTnLst>
                          </p:cTn>
                        </p:par>
                        <p:par>
                          <p:cTn id="33" fill="hold">
                            <p:stCondLst>
                              <p:cond delay="3950"/>
                            </p:stCondLst>
                            <p:childTnLst>
                              <p:par>
                                <p:cTn id="34" presetID="22" presetClass="entr" presetSubtype="8" fill="hold" grpId="0" nodeType="after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wipe(left)">
                                      <p:cBhvr>
                                        <p:cTn id="36" dur="500"/>
                                        <p:tgtEl>
                                          <p:spTgt spid="38"/>
                                        </p:tgtEl>
                                      </p:cBhvr>
                                    </p:animEffect>
                                  </p:childTnLst>
                                </p:cTn>
                              </p:par>
                            </p:childTnLst>
                          </p:cTn>
                        </p:par>
                        <p:par>
                          <p:cTn id="37" fill="hold">
                            <p:stCondLst>
                              <p:cond delay="4450"/>
                            </p:stCondLst>
                            <p:childTnLst>
                              <p:par>
                                <p:cTn id="38" presetID="10" presetClass="entr" presetSubtype="0" fill="hold" grpId="0" nodeType="afterEffect">
                                  <p:stCondLst>
                                    <p:cond delay="0"/>
                                  </p:stCondLst>
                                  <p:iterate type="wd">
                                    <p:tmPct val="10000"/>
                                  </p:iterate>
                                  <p:childTnLst>
                                    <p:set>
                                      <p:cBhvr>
                                        <p:cTn id="39" dur="1" fill="hold">
                                          <p:stCondLst>
                                            <p:cond delay="0"/>
                                          </p:stCondLst>
                                        </p:cTn>
                                        <p:tgtEl>
                                          <p:spTgt spid="39"/>
                                        </p:tgtEl>
                                        <p:attrNameLst>
                                          <p:attrName>style.visibility</p:attrName>
                                        </p:attrNameLst>
                                      </p:cBhvr>
                                      <p:to>
                                        <p:strVal val="visible"/>
                                      </p:to>
                                    </p:set>
                                    <p:animEffect transition="in" filter="fade">
                                      <p:cBhvr>
                                        <p:cTn id="4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38" grpId="0" animBg="1"/>
      <p:bldP spid="3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966960" y="-1463040"/>
            <a:ext cx="3108960" cy="310896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526572" y="-903427"/>
            <a:ext cx="1989734" cy="1989734"/>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03</a:t>
            </a:r>
          </a:p>
        </p:txBody>
      </p:sp>
      <p:sp>
        <p:nvSpPr>
          <p:cNvPr id="9" name="!!rail4"/>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465429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53675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06</a:t>
            </a:r>
          </a:p>
        </p:txBody>
      </p:sp>
      <p:sp>
        <p:nvSpPr>
          <p:cNvPr id="12" name="!!rail7"/>
          <p:cNvSpPr txBox="1"/>
          <p:nvPr/>
        </p:nvSpPr>
        <p:spPr>
          <a:xfrm>
            <a:off x="45720" y="608076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6793992"/>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53"/>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03  ·  RESEARCH QUESTIONS</a:t>
            </a:r>
          </a:p>
        </p:txBody>
      </p:sp>
      <p:sp>
        <p:nvSpPr>
          <p:cNvPr id="15" name="Title 54"/>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Research questions</a:t>
            </a:r>
          </a:p>
        </p:txBody>
      </p:sp>
      <p:cxnSp>
        <p:nvCxnSpPr>
          <p:cNvPr id="16"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7"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§1.3 Research Questions</a:t>
            </a:r>
          </a:p>
        </p:txBody>
      </p:sp>
      <p:sp>
        <p:nvSpPr>
          <p:cNvPr id="18"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04 / 20</a:t>
            </a:r>
          </a:p>
        </p:txBody>
      </p:sp>
      <p:sp>
        <p:nvSpPr>
          <p:cNvPr id="19" name="GRQ band 55"/>
          <p:cNvSpPr/>
          <p:nvPr/>
        </p:nvSpPr>
        <p:spPr>
          <a:xfrm>
            <a:off x="1417320" y="1463040"/>
            <a:ext cx="10225735" cy="1234440"/>
          </a:xfrm>
          <a:prstGeom prst="roundRect">
            <a:avLst>
              <a:gd name="adj" fmla="val 8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GRQ label 56"/>
          <p:cNvSpPr txBox="1"/>
          <p:nvPr/>
        </p:nvSpPr>
        <p:spPr>
          <a:xfrm>
            <a:off x="1691640" y="1572768"/>
            <a:ext cx="2011680" cy="274320"/>
          </a:xfrm>
          <a:prstGeom prst="rect">
            <a:avLst/>
          </a:prstGeom>
          <a:noFill/>
        </p:spPr>
        <p:txBody>
          <a:bodyPr wrap="square" lIns="36576" tIns="36576" rIns="36576" bIns="36576" anchor="t">
            <a:spAutoFit/>
          </a:bodyPr>
          <a:lstStyle/>
          <a:p>
            <a:pPr algn="l">
              <a:lnSpc>
                <a:spcPct val="108000"/>
              </a:lnSpc>
            </a:pPr>
            <a:r>
              <a:rPr sz="1100" b="1" i="0">
                <a:solidFill>
                  <a:srgbClr val="F69D39"/>
                </a:solidFill>
                <a:latin typeface="Consolas"/>
              </a:rPr>
              <a:t>GENERAL QUESTION</a:t>
            </a:r>
          </a:p>
        </p:txBody>
      </p:sp>
      <p:sp>
        <p:nvSpPr>
          <p:cNvPr id="21" name="GRQ 57"/>
          <p:cNvSpPr txBox="1"/>
          <p:nvPr/>
        </p:nvSpPr>
        <p:spPr>
          <a:xfrm>
            <a:off x="1691640" y="1847088"/>
            <a:ext cx="9677095" cy="822960"/>
          </a:xfrm>
          <a:prstGeom prst="rect">
            <a:avLst/>
          </a:prstGeom>
          <a:noFill/>
        </p:spPr>
        <p:txBody>
          <a:bodyPr wrap="square" lIns="36576" tIns="36576" rIns="36576" bIns="36576" anchor="t">
            <a:spAutoFit/>
          </a:bodyPr>
          <a:lstStyle/>
          <a:p>
            <a:pPr algn="l">
              <a:lnSpc>
                <a:spcPct val="104000"/>
              </a:lnSpc>
            </a:pPr>
            <a:r>
              <a:rPr sz="1650" b="0" i="0">
                <a:solidFill>
                  <a:srgbClr val="EFE9DD"/>
                </a:solidFill>
                <a:latin typeface="Calibri"/>
              </a:rPr>
              <a:t>How can a multi-agent AI system, organised as a network of specialised analysers, be designed to provide real-time and explainable threat intelligence and protection for URLs and web resources across different platforms?</a:t>
            </a:r>
          </a:p>
        </p:txBody>
      </p:sp>
      <p:sp>
        <p:nvSpPr>
          <p:cNvPr id="22" name="RQ n 58"/>
          <p:cNvSpPr txBox="1"/>
          <p:nvPr/>
        </p:nvSpPr>
        <p:spPr>
          <a:xfrm>
            <a:off x="1417320" y="2926080"/>
            <a:ext cx="777240" cy="777240"/>
          </a:xfrm>
          <a:prstGeom prst="rect">
            <a:avLst/>
          </a:prstGeom>
          <a:noFill/>
        </p:spPr>
        <p:txBody>
          <a:bodyPr wrap="square" lIns="36576" tIns="36576" rIns="36576" bIns="36576" anchor="t">
            <a:spAutoFit/>
          </a:bodyPr>
          <a:lstStyle/>
          <a:p>
            <a:pPr algn="l">
              <a:lnSpc>
                <a:spcPct val="108000"/>
              </a:lnSpc>
            </a:pPr>
            <a:r>
              <a:rPr sz="2400" b="1" i="0">
                <a:solidFill>
                  <a:srgbClr val="F69D39"/>
                </a:solidFill>
                <a:latin typeface="Bahnschrift"/>
              </a:rPr>
              <a:t>RQ1</a:t>
            </a:r>
          </a:p>
        </p:txBody>
      </p:sp>
      <p:sp>
        <p:nvSpPr>
          <p:cNvPr id="23" name="RQ key 59"/>
          <p:cNvSpPr txBox="1"/>
          <p:nvPr/>
        </p:nvSpPr>
        <p:spPr>
          <a:xfrm>
            <a:off x="2286000" y="2944368"/>
            <a:ext cx="2194560" cy="457200"/>
          </a:xfrm>
          <a:prstGeom prst="rect">
            <a:avLst/>
          </a:prstGeom>
          <a:noFill/>
        </p:spPr>
        <p:txBody>
          <a:bodyPr wrap="square" lIns="36576" tIns="36576" rIns="36576" bIns="36576" anchor="t">
            <a:spAutoFit/>
          </a:bodyPr>
          <a:lstStyle/>
          <a:p>
            <a:pPr algn="l">
              <a:lnSpc>
                <a:spcPct val="108000"/>
              </a:lnSpc>
            </a:pPr>
            <a:r>
              <a:rPr sz="1700" b="1" i="0">
                <a:solidFill>
                  <a:srgbClr val="1F1A1B"/>
                </a:solidFill>
                <a:latin typeface="Bahnschrift"/>
              </a:rPr>
              <a:t>Decomposition</a:t>
            </a:r>
          </a:p>
        </p:txBody>
      </p:sp>
      <p:sp>
        <p:nvSpPr>
          <p:cNvPr id="24" name="RQ text 60"/>
          <p:cNvSpPr txBox="1"/>
          <p:nvPr/>
        </p:nvSpPr>
        <p:spPr>
          <a:xfrm>
            <a:off x="4526280" y="2926080"/>
            <a:ext cx="7116775" cy="777240"/>
          </a:xfrm>
          <a:prstGeom prst="rect">
            <a:avLst/>
          </a:prstGeom>
          <a:noFill/>
        </p:spPr>
        <p:txBody>
          <a:bodyPr wrap="square" lIns="36576" tIns="36576" rIns="36576" bIns="36576" anchor="t">
            <a:spAutoFit/>
          </a:bodyPr>
          <a:lstStyle/>
          <a:p>
            <a:pPr algn="l">
              <a:lnSpc>
                <a:spcPct val="103000"/>
              </a:lnSpc>
            </a:pPr>
            <a:r>
              <a:rPr sz="1500" b="0" i="0">
                <a:solidFill>
                  <a:srgbClr val="4A4244"/>
                </a:solidFill>
                <a:latin typeface="Calibri"/>
              </a:rPr>
              <a:t>How can the analysis of a URL be divided among different AI agents, and what is the smallest set of agents needed for a reliable threat assessment?</a:t>
            </a:r>
          </a:p>
        </p:txBody>
      </p:sp>
      <p:cxnSp>
        <p:nvCxnSpPr>
          <p:cNvPr id="25" name="RQ rule 61"/>
          <p:cNvCxnSpPr/>
          <p:nvPr/>
        </p:nvCxnSpPr>
        <p:spPr>
          <a:xfrm>
            <a:off x="1417320" y="3712464"/>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26" name="RQ n 62"/>
          <p:cNvSpPr txBox="1"/>
          <p:nvPr/>
        </p:nvSpPr>
        <p:spPr>
          <a:xfrm>
            <a:off x="1417320" y="3767328"/>
            <a:ext cx="777240" cy="777240"/>
          </a:xfrm>
          <a:prstGeom prst="rect">
            <a:avLst/>
          </a:prstGeom>
          <a:noFill/>
        </p:spPr>
        <p:txBody>
          <a:bodyPr wrap="square" lIns="36576" tIns="36576" rIns="36576" bIns="36576" anchor="t">
            <a:spAutoFit/>
          </a:bodyPr>
          <a:lstStyle/>
          <a:p>
            <a:pPr algn="l">
              <a:lnSpc>
                <a:spcPct val="108000"/>
              </a:lnSpc>
            </a:pPr>
            <a:r>
              <a:rPr sz="2400" b="1" i="0">
                <a:solidFill>
                  <a:srgbClr val="F69D39"/>
                </a:solidFill>
                <a:latin typeface="Bahnschrift"/>
              </a:rPr>
              <a:t>RQ2</a:t>
            </a:r>
          </a:p>
        </p:txBody>
      </p:sp>
      <p:sp>
        <p:nvSpPr>
          <p:cNvPr id="27" name="RQ key 63"/>
          <p:cNvSpPr txBox="1"/>
          <p:nvPr/>
        </p:nvSpPr>
        <p:spPr>
          <a:xfrm>
            <a:off x="2286000" y="3785615"/>
            <a:ext cx="2194560" cy="457200"/>
          </a:xfrm>
          <a:prstGeom prst="rect">
            <a:avLst/>
          </a:prstGeom>
          <a:noFill/>
        </p:spPr>
        <p:txBody>
          <a:bodyPr wrap="square" lIns="36576" tIns="36576" rIns="36576" bIns="36576" anchor="t">
            <a:spAutoFit/>
          </a:bodyPr>
          <a:lstStyle/>
          <a:p>
            <a:pPr algn="l">
              <a:lnSpc>
                <a:spcPct val="108000"/>
              </a:lnSpc>
            </a:pPr>
            <a:r>
              <a:rPr sz="1700" b="1" i="0">
                <a:solidFill>
                  <a:srgbClr val="1F1A1B"/>
                </a:solidFill>
                <a:latin typeface="Bahnschrift"/>
              </a:rPr>
              <a:t>Integration</a:t>
            </a:r>
          </a:p>
        </p:txBody>
      </p:sp>
      <p:sp>
        <p:nvSpPr>
          <p:cNvPr id="28" name="RQ text 64"/>
          <p:cNvSpPr txBox="1"/>
          <p:nvPr/>
        </p:nvSpPr>
        <p:spPr>
          <a:xfrm>
            <a:off x="4526280" y="3767328"/>
            <a:ext cx="7116775" cy="777240"/>
          </a:xfrm>
          <a:prstGeom prst="rect">
            <a:avLst/>
          </a:prstGeom>
          <a:noFill/>
        </p:spPr>
        <p:txBody>
          <a:bodyPr wrap="square" lIns="36576" tIns="36576" rIns="36576" bIns="36576" anchor="t">
            <a:spAutoFit/>
          </a:bodyPr>
          <a:lstStyle/>
          <a:p>
            <a:pPr algn="l">
              <a:lnSpc>
                <a:spcPct val="103000"/>
              </a:lnSpc>
            </a:pPr>
            <a:r>
              <a:rPr sz="1500" b="0" i="0">
                <a:solidFill>
                  <a:srgbClr val="4A4244"/>
                </a:solidFill>
                <a:latin typeface="Calibri"/>
              </a:rPr>
              <a:t>How can URL classification, behavioural analysis, IOC extraction, MITRE ATT&amp;CK mapping and threat-intelligence lookup be combined into one system with consistent, accurate assessments?</a:t>
            </a:r>
          </a:p>
        </p:txBody>
      </p:sp>
      <p:cxnSp>
        <p:nvCxnSpPr>
          <p:cNvPr id="29" name="RQ rule 65"/>
          <p:cNvCxnSpPr/>
          <p:nvPr/>
        </p:nvCxnSpPr>
        <p:spPr>
          <a:xfrm>
            <a:off x="1417320" y="4553712"/>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30" name="RQ n 66"/>
          <p:cNvSpPr txBox="1"/>
          <p:nvPr/>
        </p:nvSpPr>
        <p:spPr>
          <a:xfrm>
            <a:off x="1417320" y="4608576"/>
            <a:ext cx="777240" cy="777240"/>
          </a:xfrm>
          <a:prstGeom prst="rect">
            <a:avLst/>
          </a:prstGeom>
          <a:noFill/>
        </p:spPr>
        <p:txBody>
          <a:bodyPr wrap="square" lIns="36576" tIns="36576" rIns="36576" bIns="36576" anchor="t">
            <a:spAutoFit/>
          </a:bodyPr>
          <a:lstStyle/>
          <a:p>
            <a:pPr algn="l">
              <a:lnSpc>
                <a:spcPct val="108000"/>
              </a:lnSpc>
            </a:pPr>
            <a:r>
              <a:rPr sz="2400" b="1" i="0">
                <a:solidFill>
                  <a:srgbClr val="F69D39"/>
                </a:solidFill>
                <a:latin typeface="Bahnschrift"/>
              </a:rPr>
              <a:t>RQ3</a:t>
            </a:r>
          </a:p>
        </p:txBody>
      </p:sp>
      <p:sp>
        <p:nvSpPr>
          <p:cNvPr id="31" name="RQ key 67"/>
          <p:cNvSpPr txBox="1"/>
          <p:nvPr/>
        </p:nvSpPr>
        <p:spPr>
          <a:xfrm>
            <a:off x="2286000" y="4626864"/>
            <a:ext cx="2194560" cy="457200"/>
          </a:xfrm>
          <a:prstGeom prst="rect">
            <a:avLst/>
          </a:prstGeom>
          <a:noFill/>
        </p:spPr>
        <p:txBody>
          <a:bodyPr wrap="square" lIns="36576" tIns="36576" rIns="36576" bIns="36576" anchor="t">
            <a:spAutoFit/>
          </a:bodyPr>
          <a:lstStyle/>
          <a:p>
            <a:pPr algn="l">
              <a:lnSpc>
                <a:spcPct val="108000"/>
              </a:lnSpc>
            </a:pPr>
            <a:r>
              <a:rPr sz="1700" b="1" i="0">
                <a:solidFill>
                  <a:srgbClr val="1F1A1B"/>
                </a:solidFill>
                <a:latin typeface="Bahnschrift"/>
              </a:rPr>
              <a:t>Aggregation</a:t>
            </a:r>
          </a:p>
        </p:txBody>
      </p:sp>
      <p:sp>
        <p:nvSpPr>
          <p:cNvPr id="32" name="RQ text 68"/>
          <p:cNvSpPr txBox="1"/>
          <p:nvPr/>
        </p:nvSpPr>
        <p:spPr>
          <a:xfrm>
            <a:off x="4526280" y="4608576"/>
            <a:ext cx="7116775" cy="777240"/>
          </a:xfrm>
          <a:prstGeom prst="rect">
            <a:avLst/>
          </a:prstGeom>
          <a:noFill/>
        </p:spPr>
        <p:txBody>
          <a:bodyPr wrap="square" lIns="36576" tIns="36576" rIns="36576" bIns="36576" anchor="t">
            <a:spAutoFit/>
          </a:bodyPr>
          <a:lstStyle/>
          <a:p>
            <a:pPr algn="l">
              <a:lnSpc>
                <a:spcPct val="103000"/>
              </a:lnSpc>
            </a:pPr>
            <a:r>
              <a:rPr sz="1500" b="0" i="0">
                <a:solidFill>
                  <a:srgbClr val="4A4244"/>
                </a:solidFill>
                <a:latin typeface="Calibri"/>
              </a:rPr>
              <a:t>What method can combine the agents' results to reduce false alarms while still identifying serious threats when strong evidence is available?</a:t>
            </a:r>
          </a:p>
        </p:txBody>
      </p:sp>
      <p:cxnSp>
        <p:nvCxnSpPr>
          <p:cNvPr id="33" name="RQ rule 69"/>
          <p:cNvCxnSpPr/>
          <p:nvPr/>
        </p:nvCxnSpPr>
        <p:spPr>
          <a:xfrm>
            <a:off x="1417320" y="539496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34" name="RQ n 70"/>
          <p:cNvSpPr txBox="1"/>
          <p:nvPr/>
        </p:nvSpPr>
        <p:spPr>
          <a:xfrm>
            <a:off x="1417320" y="5449824"/>
            <a:ext cx="777240" cy="777240"/>
          </a:xfrm>
          <a:prstGeom prst="rect">
            <a:avLst/>
          </a:prstGeom>
          <a:noFill/>
        </p:spPr>
        <p:txBody>
          <a:bodyPr wrap="square" lIns="36576" tIns="36576" rIns="36576" bIns="36576" anchor="t">
            <a:spAutoFit/>
          </a:bodyPr>
          <a:lstStyle/>
          <a:p>
            <a:pPr algn="l">
              <a:lnSpc>
                <a:spcPct val="108000"/>
              </a:lnSpc>
            </a:pPr>
            <a:r>
              <a:rPr sz="2400" b="1" i="0">
                <a:solidFill>
                  <a:srgbClr val="F69D39"/>
                </a:solidFill>
                <a:latin typeface="Bahnschrift"/>
              </a:rPr>
              <a:t>RQ4</a:t>
            </a:r>
          </a:p>
        </p:txBody>
      </p:sp>
      <p:sp>
        <p:nvSpPr>
          <p:cNvPr id="35" name="RQ key 71"/>
          <p:cNvSpPr txBox="1"/>
          <p:nvPr/>
        </p:nvSpPr>
        <p:spPr>
          <a:xfrm>
            <a:off x="2286000" y="5468112"/>
            <a:ext cx="2194560" cy="457200"/>
          </a:xfrm>
          <a:prstGeom prst="rect">
            <a:avLst/>
          </a:prstGeom>
          <a:noFill/>
        </p:spPr>
        <p:txBody>
          <a:bodyPr wrap="square" lIns="36576" tIns="36576" rIns="36576" bIns="36576" anchor="t">
            <a:spAutoFit/>
          </a:bodyPr>
          <a:lstStyle/>
          <a:p>
            <a:pPr algn="l">
              <a:lnSpc>
                <a:spcPct val="108000"/>
              </a:lnSpc>
            </a:pPr>
            <a:r>
              <a:rPr sz="1700" b="1" i="0">
                <a:solidFill>
                  <a:srgbClr val="1F1A1B"/>
                </a:solidFill>
                <a:latin typeface="Bahnschrift"/>
              </a:rPr>
              <a:t>Historical context</a:t>
            </a:r>
          </a:p>
        </p:txBody>
      </p:sp>
      <p:sp>
        <p:nvSpPr>
          <p:cNvPr id="36" name="RQ text 72"/>
          <p:cNvSpPr txBox="1"/>
          <p:nvPr/>
        </p:nvSpPr>
        <p:spPr>
          <a:xfrm>
            <a:off x="4526280" y="5449824"/>
            <a:ext cx="7116775" cy="777240"/>
          </a:xfrm>
          <a:prstGeom prst="rect">
            <a:avLst/>
          </a:prstGeom>
          <a:noFill/>
        </p:spPr>
        <p:txBody>
          <a:bodyPr wrap="square" lIns="36576" tIns="36576" rIns="36576" bIns="36576" anchor="t">
            <a:spAutoFit/>
          </a:bodyPr>
          <a:lstStyle/>
          <a:p>
            <a:pPr algn="l">
              <a:lnSpc>
                <a:spcPct val="103000"/>
              </a:lnSpc>
            </a:pPr>
            <a:r>
              <a:rPr sz="1500" b="0" i="0">
                <a:solidFill>
                  <a:srgbClr val="4A4244"/>
                </a:solidFill>
                <a:latin typeface="Calibri"/>
              </a:rPr>
              <a:t>How can historical browsing information improve threat detection, identify recurring malicious activity and strengthen user protection over time?</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400"/>
                            </p:stCondLst>
                            <p:childTnLst>
                              <p:par>
                                <p:cTn id="15" presetID="22" presetClass="entr" presetSubtype="8"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par>
                          <p:cTn id="18" fill="hold">
                            <p:stCondLst>
                              <p:cond delay="1900"/>
                            </p:stCondLst>
                            <p:childTnLst>
                              <p:par>
                                <p:cTn id="19" presetID="10" presetClass="entr" presetSubtype="0"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childTnLst>
                          </p:cTn>
                        </p:par>
                        <p:par>
                          <p:cTn id="22" fill="hold">
                            <p:stCondLst>
                              <p:cond delay="2200"/>
                            </p:stCondLst>
                            <p:childTnLst>
                              <p:par>
                                <p:cTn id="23" presetID="10" presetClass="entr" presetSubtype="0" fill="hold" grpId="0" nodeType="afterEffect">
                                  <p:stCondLst>
                                    <p:cond delay="0"/>
                                  </p:stCondLst>
                                  <p:iterate type="wd">
                                    <p:tmPct val="10000"/>
                                  </p:iterate>
                                  <p:childTnLst>
                                    <p:set>
                                      <p:cBhvr>
                                        <p:cTn id="24" dur="1" fill="hold">
                                          <p:stCondLst>
                                            <p:cond delay="0"/>
                                          </p:stCondLst>
                                        </p:cTn>
                                        <p:tgtEl>
                                          <p:spTgt spid="21"/>
                                        </p:tgtEl>
                                        <p:attrNameLst>
                                          <p:attrName>style.visibility</p:attrName>
                                        </p:attrNameLst>
                                      </p:cBhvr>
                                      <p:to>
                                        <p:strVal val="visible"/>
                                      </p:to>
                                    </p:set>
                                    <p:animEffect transition="in" filter="fade">
                                      <p:cBhvr>
                                        <p:cTn id="25" dur="900"/>
                                        <p:tgtEl>
                                          <p:spTgt spid="21"/>
                                        </p:tgtEl>
                                      </p:cBhvr>
                                    </p:animEffect>
                                  </p:childTnLst>
                                </p:cTn>
                              </p:par>
                            </p:childTnLst>
                          </p:cTn>
                        </p:par>
                        <p:par>
                          <p:cTn id="26" fill="hold">
                            <p:stCondLst>
                              <p:cond delay="6160"/>
                            </p:stCondLst>
                            <p:childTnLst>
                              <p:par>
                                <p:cTn id="27" presetID="53" presetClass="entr" presetSubtype="16"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300" fill="hold"/>
                                        <p:tgtEl>
                                          <p:spTgt spid="22"/>
                                        </p:tgtEl>
                                        <p:attrNameLst>
                                          <p:attrName>ppt_w</p:attrName>
                                        </p:attrNameLst>
                                      </p:cBhvr>
                                      <p:tavLst>
                                        <p:tav tm="0">
                                          <p:val>
                                            <p:fltVal val="0"/>
                                          </p:val>
                                        </p:tav>
                                        <p:tav tm="100000">
                                          <p:val>
                                            <p:strVal val="#ppt_w"/>
                                          </p:val>
                                        </p:tav>
                                      </p:tavLst>
                                    </p:anim>
                                    <p:anim calcmode="lin" valueType="num">
                                      <p:cBhvr>
                                        <p:cTn id="30" dur="300" fill="hold"/>
                                        <p:tgtEl>
                                          <p:spTgt spid="22"/>
                                        </p:tgtEl>
                                        <p:attrNameLst>
                                          <p:attrName>ppt_h</p:attrName>
                                        </p:attrNameLst>
                                      </p:cBhvr>
                                      <p:tavLst>
                                        <p:tav tm="0">
                                          <p:val>
                                            <p:fltVal val="0"/>
                                          </p:val>
                                        </p:tav>
                                        <p:tav tm="100000">
                                          <p:val>
                                            <p:strVal val="#ppt_h"/>
                                          </p:val>
                                        </p:tav>
                                      </p:tavLst>
                                    </p:anim>
                                    <p:animEffect transition="in" filter="fade">
                                      <p:cBhvr>
                                        <p:cTn id="31" dur="300"/>
                                        <p:tgtEl>
                                          <p:spTgt spid="22"/>
                                        </p:tgtEl>
                                      </p:cBhvr>
                                    </p:animEffect>
                                  </p:childTnLst>
                                </p:cTn>
                              </p:par>
                              <p:par>
                                <p:cTn id="32" presetID="37" presetClass="entr" presetSubtype="0" fill="hold" grpId="0" nodeType="withEffect">
                                  <p:stCondLst>
                                    <p:cond delay="0"/>
                                  </p:stCondLst>
                                  <p:iterate type="lt">
                                    <p:tmPct val="10000"/>
                                  </p:iterate>
                                  <p:childTnLst>
                                    <p:set>
                                      <p:cBhvr>
                                        <p:cTn id="33" dur="1" fill="hold">
                                          <p:stCondLst>
                                            <p:cond delay="0"/>
                                          </p:stCondLst>
                                        </p:cTn>
                                        <p:tgtEl>
                                          <p:spTgt spid="23"/>
                                        </p:tgtEl>
                                        <p:attrNameLst>
                                          <p:attrName>style.visibility</p:attrName>
                                        </p:attrNameLst>
                                      </p:cBhvr>
                                      <p:to>
                                        <p:strVal val="visible"/>
                                      </p:to>
                                    </p:set>
                                    <p:animEffect transition="in" filter="fade">
                                      <p:cBhvr>
                                        <p:cTn id="34" dur="350"/>
                                        <p:tgtEl>
                                          <p:spTgt spid="23"/>
                                        </p:tgtEl>
                                      </p:cBhvr>
                                    </p:animEffect>
                                    <p:anim calcmode="lin" valueType="num">
                                      <p:cBhvr>
                                        <p:cTn id="35" dur="350" fill="hold"/>
                                        <p:tgtEl>
                                          <p:spTgt spid="23"/>
                                        </p:tgtEl>
                                        <p:attrNameLst>
                                          <p:attrName>ppt_x</p:attrName>
                                        </p:attrNameLst>
                                      </p:cBhvr>
                                      <p:tavLst>
                                        <p:tav tm="0">
                                          <p:val>
                                            <p:strVal val="#ppt_x"/>
                                          </p:val>
                                        </p:tav>
                                        <p:tav tm="100000">
                                          <p:val>
                                            <p:strVal val="#ppt_x"/>
                                          </p:val>
                                        </p:tav>
                                      </p:tavLst>
                                    </p:anim>
                                    <p:anim calcmode="lin" valueType="num">
                                      <p:cBhvr>
                                        <p:cTn id="36" dur="315" decel="100000" fill="hold"/>
                                        <p:tgtEl>
                                          <p:spTgt spid="23"/>
                                        </p:tgtEl>
                                        <p:attrNameLst>
                                          <p:attrName>ppt_y</p:attrName>
                                        </p:attrNameLst>
                                      </p:cBhvr>
                                      <p:tavLst>
                                        <p:tav tm="0">
                                          <p:val>
                                            <p:strVal val="#ppt_y+1"/>
                                          </p:val>
                                        </p:tav>
                                        <p:tav tm="100000">
                                          <p:val>
                                            <p:strVal val="#ppt_y-.03"/>
                                          </p:val>
                                        </p:tav>
                                      </p:tavLst>
                                    </p:anim>
                                    <p:anim calcmode="lin" valueType="num">
                                      <p:cBhvr>
                                        <p:cTn id="37" dur="35" accel="100000" fill="hold">
                                          <p:stCondLst>
                                            <p:cond delay="315"/>
                                          </p:stCondLst>
                                        </p:cTn>
                                        <p:tgtEl>
                                          <p:spTgt spid="23"/>
                                        </p:tgtEl>
                                        <p:attrNameLst>
                                          <p:attrName>ppt_y</p:attrName>
                                        </p:attrNameLst>
                                      </p:cBhvr>
                                      <p:tavLst>
                                        <p:tav tm="0">
                                          <p:val>
                                            <p:strVal val="#ppt_y-.03"/>
                                          </p:val>
                                        </p:tav>
                                        <p:tav tm="100000">
                                          <p:val>
                                            <p:strVal val="#ppt_y"/>
                                          </p:val>
                                        </p:tav>
                                      </p:tavLst>
                                    </p:anim>
                                  </p:childTnLst>
                                </p:cTn>
                              </p:par>
                              <p:par>
                                <p:cTn id="38" presetID="10" presetClass="entr" presetSubtype="0" fill="hold" grpId="0" nodeType="withEffect">
                                  <p:stCondLst>
                                    <p:cond delay="100"/>
                                  </p:stCondLst>
                                  <p:iterate type="wd">
                                    <p:tmPct val="10000"/>
                                  </p:iterate>
                                  <p:childTnLst>
                                    <p:set>
                                      <p:cBhvr>
                                        <p:cTn id="39" dur="1" fill="hold">
                                          <p:stCondLst>
                                            <p:cond delay="0"/>
                                          </p:stCondLst>
                                        </p:cTn>
                                        <p:tgtEl>
                                          <p:spTgt spid="24"/>
                                        </p:tgtEl>
                                        <p:attrNameLst>
                                          <p:attrName>style.visibility</p:attrName>
                                        </p:attrNameLst>
                                      </p:cBhvr>
                                      <p:to>
                                        <p:strVal val="visible"/>
                                      </p:to>
                                    </p:set>
                                    <p:animEffect transition="in" filter="fade">
                                      <p:cBhvr>
                                        <p:cTn id="40" dur="600"/>
                                        <p:tgtEl>
                                          <p:spTgt spid="24"/>
                                        </p:tgtEl>
                                      </p:cBhvr>
                                    </p:animEffect>
                                  </p:childTnLst>
                                </p:cTn>
                              </p:par>
                            </p:childTnLst>
                          </p:cTn>
                        </p:par>
                        <p:par>
                          <p:cTn id="41" fill="hold">
                            <p:stCondLst>
                              <p:cond delay="8540"/>
                            </p:stCondLst>
                            <p:childTnLst>
                              <p:par>
                                <p:cTn id="42" presetID="22" presetClass="entr" presetSubtype="8" fill="hold" nodeType="after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wipe(left)">
                                      <p:cBhvr>
                                        <p:cTn id="44" dur="500"/>
                                        <p:tgtEl>
                                          <p:spTgt spid="25"/>
                                        </p:tgtEl>
                                      </p:cBhvr>
                                    </p:animEffect>
                                  </p:childTnLst>
                                </p:cTn>
                              </p:par>
                            </p:childTnLst>
                          </p:cTn>
                        </p:par>
                        <p:par>
                          <p:cTn id="45" fill="hold">
                            <p:stCondLst>
                              <p:cond delay="9040"/>
                            </p:stCondLst>
                            <p:childTnLst>
                              <p:par>
                                <p:cTn id="46" presetID="53" presetClass="entr" presetSubtype="16" fill="hold" grpId="0" nodeType="after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p:cTn id="48" dur="300" fill="hold"/>
                                        <p:tgtEl>
                                          <p:spTgt spid="26"/>
                                        </p:tgtEl>
                                        <p:attrNameLst>
                                          <p:attrName>ppt_w</p:attrName>
                                        </p:attrNameLst>
                                      </p:cBhvr>
                                      <p:tavLst>
                                        <p:tav tm="0">
                                          <p:val>
                                            <p:fltVal val="0"/>
                                          </p:val>
                                        </p:tav>
                                        <p:tav tm="100000">
                                          <p:val>
                                            <p:strVal val="#ppt_w"/>
                                          </p:val>
                                        </p:tav>
                                      </p:tavLst>
                                    </p:anim>
                                    <p:anim calcmode="lin" valueType="num">
                                      <p:cBhvr>
                                        <p:cTn id="49" dur="300" fill="hold"/>
                                        <p:tgtEl>
                                          <p:spTgt spid="26"/>
                                        </p:tgtEl>
                                        <p:attrNameLst>
                                          <p:attrName>ppt_h</p:attrName>
                                        </p:attrNameLst>
                                      </p:cBhvr>
                                      <p:tavLst>
                                        <p:tav tm="0">
                                          <p:val>
                                            <p:fltVal val="0"/>
                                          </p:val>
                                        </p:tav>
                                        <p:tav tm="100000">
                                          <p:val>
                                            <p:strVal val="#ppt_h"/>
                                          </p:val>
                                        </p:tav>
                                      </p:tavLst>
                                    </p:anim>
                                    <p:animEffect transition="in" filter="fade">
                                      <p:cBhvr>
                                        <p:cTn id="50" dur="300"/>
                                        <p:tgtEl>
                                          <p:spTgt spid="26"/>
                                        </p:tgtEl>
                                      </p:cBhvr>
                                    </p:animEffect>
                                  </p:childTnLst>
                                </p:cTn>
                              </p:par>
                              <p:par>
                                <p:cTn id="51" presetID="37" presetClass="entr" presetSubtype="0" fill="hold" grpId="0" nodeType="withEffect">
                                  <p:stCondLst>
                                    <p:cond delay="0"/>
                                  </p:stCondLst>
                                  <p:iterate type="lt">
                                    <p:tmPct val="10000"/>
                                  </p:iterate>
                                  <p:childTnLst>
                                    <p:set>
                                      <p:cBhvr>
                                        <p:cTn id="52" dur="1" fill="hold">
                                          <p:stCondLst>
                                            <p:cond delay="0"/>
                                          </p:stCondLst>
                                        </p:cTn>
                                        <p:tgtEl>
                                          <p:spTgt spid="27"/>
                                        </p:tgtEl>
                                        <p:attrNameLst>
                                          <p:attrName>style.visibility</p:attrName>
                                        </p:attrNameLst>
                                      </p:cBhvr>
                                      <p:to>
                                        <p:strVal val="visible"/>
                                      </p:to>
                                    </p:set>
                                    <p:animEffect transition="in" filter="fade">
                                      <p:cBhvr>
                                        <p:cTn id="53" dur="350"/>
                                        <p:tgtEl>
                                          <p:spTgt spid="27"/>
                                        </p:tgtEl>
                                      </p:cBhvr>
                                    </p:animEffect>
                                    <p:anim calcmode="lin" valueType="num">
                                      <p:cBhvr>
                                        <p:cTn id="54" dur="350" fill="hold"/>
                                        <p:tgtEl>
                                          <p:spTgt spid="27"/>
                                        </p:tgtEl>
                                        <p:attrNameLst>
                                          <p:attrName>ppt_x</p:attrName>
                                        </p:attrNameLst>
                                      </p:cBhvr>
                                      <p:tavLst>
                                        <p:tav tm="0">
                                          <p:val>
                                            <p:strVal val="#ppt_x"/>
                                          </p:val>
                                        </p:tav>
                                        <p:tav tm="100000">
                                          <p:val>
                                            <p:strVal val="#ppt_x"/>
                                          </p:val>
                                        </p:tav>
                                      </p:tavLst>
                                    </p:anim>
                                    <p:anim calcmode="lin" valueType="num">
                                      <p:cBhvr>
                                        <p:cTn id="55" dur="315" decel="100000" fill="hold"/>
                                        <p:tgtEl>
                                          <p:spTgt spid="27"/>
                                        </p:tgtEl>
                                        <p:attrNameLst>
                                          <p:attrName>ppt_y</p:attrName>
                                        </p:attrNameLst>
                                      </p:cBhvr>
                                      <p:tavLst>
                                        <p:tav tm="0">
                                          <p:val>
                                            <p:strVal val="#ppt_y+1"/>
                                          </p:val>
                                        </p:tav>
                                        <p:tav tm="100000">
                                          <p:val>
                                            <p:strVal val="#ppt_y-.03"/>
                                          </p:val>
                                        </p:tav>
                                      </p:tavLst>
                                    </p:anim>
                                    <p:anim calcmode="lin" valueType="num">
                                      <p:cBhvr>
                                        <p:cTn id="56" dur="35" accel="100000" fill="hold">
                                          <p:stCondLst>
                                            <p:cond delay="315"/>
                                          </p:stCondLst>
                                        </p:cTn>
                                        <p:tgtEl>
                                          <p:spTgt spid="27"/>
                                        </p:tgtEl>
                                        <p:attrNameLst>
                                          <p:attrName>ppt_y</p:attrName>
                                        </p:attrNameLst>
                                      </p:cBhvr>
                                      <p:tavLst>
                                        <p:tav tm="0">
                                          <p:val>
                                            <p:strVal val="#ppt_y-.03"/>
                                          </p:val>
                                        </p:tav>
                                        <p:tav tm="100000">
                                          <p:val>
                                            <p:strVal val="#ppt_y"/>
                                          </p:val>
                                        </p:tav>
                                      </p:tavLst>
                                    </p:anim>
                                  </p:childTnLst>
                                </p:cTn>
                              </p:par>
                              <p:par>
                                <p:cTn id="57" presetID="10" presetClass="entr" presetSubtype="0" fill="hold" grpId="0" nodeType="withEffect">
                                  <p:stCondLst>
                                    <p:cond delay="100"/>
                                  </p:stCondLst>
                                  <p:iterate type="wd">
                                    <p:tmPct val="10000"/>
                                  </p:iterate>
                                  <p:childTnLst>
                                    <p:set>
                                      <p:cBhvr>
                                        <p:cTn id="58" dur="1" fill="hold">
                                          <p:stCondLst>
                                            <p:cond delay="0"/>
                                          </p:stCondLst>
                                        </p:cTn>
                                        <p:tgtEl>
                                          <p:spTgt spid="28"/>
                                        </p:tgtEl>
                                        <p:attrNameLst>
                                          <p:attrName>style.visibility</p:attrName>
                                        </p:attrNameLst>
                                      </p:cBhvr>
                                      <p:to>
                                        <p:strVal val="visible"/>
                                      </p:to>
                                    </p:set>
                                    <p:animEffect transition="in" filter="fade">
                                      <p:cBhvr>
                                        <p:cTn id="59" dur="600"/>
                                        <p:tgtEl>
                                          <p:spTgt spid="28"/>
                                        </p:tgtEl>
                                      </p:cBhvr>
                                    </p:animEffect>
                                  </p:childTnLst>
                                </p:cTn>
                              </p:par>
                            </p:childTnLst>
                          </p:cTn>
                        </p:par>
                        <p:par>
                          <p:cTn id="60" fill="hold">
                            <p:stCondLst>
                              <p:cond delay="11480"/>
                            </p:stCondLst>
                            <p:childTnLst>
                              <p:par>
                                <p:cTn id="61" presetID="22" presetClass="entr" presetSubtype="8" fill="hold" nodeType="after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wipe(left)">
                                      <p:cBhvr>
                                        <p:cTn id="63" dur="500"/>
                                        <p:tgtEl>
                                          <p:spTgt spid="29"/>
                                        </p:tgtEl>
                                      </p:cBhvr>
                                    </p:animEffect>
                                  </p:childTnLst>
                                </p:cTn>
                              </p:par>
                            </p:childTnLst>
                          </p:cTn>
                        </p:par>
                        <p:par>
                          <p:cTn id="64" fill="hold">
                            <p:stCondLst>
                              <p:cond delay="11980"/>
                            </p:stCondLst>
                            <p:childTnLst>
                              <p:par>
                                <p:cTn id="65" presetID="53" presetClass="entr" presetSubtype="16" fill="hold" grpId="0" nodeType="afterEffect">
                                  <p:stCondLst>
                                    <p:cond delay="0"/>
                                  </p:stCondLst>
                                  <p:childTnLst>
                                    <p:set>
                                      <p:cBhvr>
                                        <p:cTn id="66" dur="1" fill="hold">
                                          <p:stCondLst>
                                            <p:cond delay="0"/>
                                          </p:stCondLst>
                                        </p:cTn>
                                        <p:tgtEl>
                                          <p:spTgt spid="30"/>
                                        </p:tgtEl>
                                        <p:attrNameLst>
                                          <p:attrName>style.visibility</p:attrName>
                                        </p:attrNameLst>
                                      </p:cBhvr>
                                      <p:to>
                                        <p:strVal val="visible"/>
                                      </p:to>
                                    </p:set>
                                    <p:anim calcmode="lin" valueType="num">
                                      <p:cBhvr>
                                        <p:cTn id="67" dur="300" fill="hold"/>
                                        <p:tgtEl>
                                          <p:spTgt spid="30"/>
                                        </p:tgtEl>
                                        <p:attrNameLst>
                                          <p:attrName>ppt_w</p:attrName>
                                        </p:attrNameLst>
                                      </p:cBhvr>
                                      <p:tavLst>
                                        <p:tav tm="0">
                                          <p:val>
                                            <p:fltVal val="0"/>
                                          </p:val>
                                        </p:tav>
                                        <p:tav tm="100000">
                                          <p:val>
                                            <p:strVal val="#ppt_w"/>
                                          </p:val>
                                        </p:tav>
                                      </p:tavLst>
                                    </p:anim>
                                    <p:anim calcmode="lin" valueType="num">
                                      <p:cBhvr>
                                        <p:cTn id="68" dur="300" fill="hold"/>
                                        <p:tgtEl>
                                          <p:spTgt spid="30"/>
                                        </p:tgtEl>
                                        <p:attrNameLst>
                                          <p:attrName>ppt_h</p:attrName>
                                        </p:attrNameLst>
                                      </p:cBhvr>
                                      <p:tavLst>
                                        <p:tav tm="0">
                                          <p:val>
                                            <p:fltVal val="0"/>
                                          </p:val>
                                        </p:tav>
                                        <p:tav tm="100000">
                                          <p:val>
                                            <p:strVal val="#ppt_h"/>
                                          </p:val>
                                        </p:tav>
                                      </p:tavLst>
                                    </p:anim>
                                    <p:animEffect transition="in" filter="fade">
                                      <p:cBhvr>
                                        <p:cTn id="69" dur="300"/>
                                        <p:tgtEl>
                                          <p:spTgt spid="30"/>
                                        </p:tgtEl>
                                      </p:cBhvr>
                                    </p:animEffect>
                                  </p:childTnLst>
                                </p:cTn>
                              </p:par>
                              <p:par>
                                <p:cTn id="70" presetID="37" presetClass="entr" presetSubtype="0" fill="hold" grpId="0" nodeType="withEffect">
                                  <p:stCondLst>
                                    <p:cond delay="0"/>
                                  </p:stCondLst>
                                  <p:iterate type="lt">
                                    <p:tmPct val="10000"/>
                                  </p:iterate>
                                  <p:childTnLst>
                                    <p:set>
                                      <p:cBhvr>
                                        <p:cTn id="71" dur="1" fill="hold">
                                          <p:stCondLst>
                                            <p:cond delay="0"/>
                                          </p:stCondLst>
                                        </p:cTn>
                                        <p:tgtEl>
                                          <p:spTgt spid="31"/>
                                        </p:tgtEl>
                                        <p:attrNameLst>
                                          <p:attrName>style.visibility</p:attrName>
                                        </p:attrNameLst>
                                      </p:cBhvr>
                                      <p:to>
                                        <p:strVal val="visible"/>
                                      </p:to>
                                    </p:set>
                                    <p:animEffect transition="in" filter="fade">
                                      <p:cBhvr>
                                        <p:cTn id="72" dur="350"/>
                                        <p:tgtEl>
                                          <p:spTgt spid="31"/>
                                        </p:tgtEl>
                                      </p:cBhvr>
                                    </p:animEffect>
                                    <p:anim calcmode="lin" valueType="num">
                                      <p:cBhvr>
                                        <p:cTn id="73" dur="350" fill="hold"/>
                                        <p:tgtEl>
                                          <p:spTgt spid="31"/>
                                        </p:tgtEl>
                                        <p:attrNameLst>
                                          <p:attrName>ppt_x</p:attrName>
                                        </p:attrNameLst>
                                      </p:cBhvr>
                                      <p:tavLst>
                                        <p:tav tm="0">
                                          <p:val>
                                            <p:strVal val="#ppt_x"/>
                                          </p:val>
                                        </p:tav>
                                        <p:tav tm="100000">
                                          <p:val>
                                            <p:strVal val="#ppt_x"/>
                                          </p:val>
                                        </p:tav>
                                      </p:tavLst>
                                    </p:anim>
                                    <p:anim calcmode="lin" valueType="num">
                                      <p:cBhvr>
                                        <p:cTn id="74" dur="315" decel="100000" fill="hold"/>
                                        <p:tgtEl>
                                          <p:spTgt spid="31"/>
                                        </p:tgtEl>
                                        <p:attrNameLst>
                                          <p:attrName>ppt_y</p:attrName>
                                        </p:attrNameLst>
                                      </p:cBhvr>
                                      <p:tavLst>
                                        <p:tav tm="0">
                                          <p:val>
                                            <p:strVal val="#ppt_y+1"/>
                                          </p:val>
                                        </p:tav>
                                        <p:tav tm="100000">
                                          <p:val>
                                            <p:strVal val="#ppt_y-.03"/>
                                          </p:val>
                                        </p:tav>
                                      </p:tavLst>
                                    </p:anim>
                                    <p:anim calcmode="lin" valueType="num">
                                      <p:cBhvr>
                                        <p:cTn id="75" dur="35" accel="100000" fill="hold">
                                          <p:stCondLst>
                                            <p:cond delay="315"/>
                                          </p:stCondLst>
                                        </p:cTn>
                                        <p:tgtEl>
                                          <p:spTgt spid="31"/>
                                        </p:tgtEl>
                                        <p:attrNameLst>
                                          <p:attrName>ppt_y</p:attrName>
                                        </p:attrNameLst>
                                      </p:cBhvr>
                                      <p:tavLst>
                                        <p:tav tm="0">
                                          <p:val>
                                            <p:strVal val="#ppt_y-.03"/>
                                          </p:val>
                                        </p:tav>
                                        <p:tav tm="100000">
                                          <p:val>
                                            <p:strVal val="#ppt_y"/>
                                          </p:val>
                                        </p:tav>
                                      </p:tavLst>
                                    </p:anim>
                                  </p:childTnLst>
                                </p:cTn>
                              </p:par>
                              <p:par>
                                <p:cTn id="76" presetID="10" presetClass="entr" presetSubtype="0" fill="hold" grpId="0" nodeType="withEffect">
                                  <p:stCondLst>
                                    <p:cond delay="100"/>
                                  </p:stCondLst>
                                  <p:iterate type="wd">
                                    <p:tmPct val="10000"/>
                                  </p:iterate>
                                  <p:childTnLst>
                                    <p:set>
                                      <p:cBhvr>
                                        <p:cTn id="77" dur="1" fill="hold">
                                          <p:stCondLst>
                                            <p:cond delay="0"/>
                                          </p:stCondLst>
                                        </p:cTn>
                                        <p:tgtEl>
                                          <p:spTgt spid="32"/>
                                        </p:tgtEl>
                                        <p:attrNameLst>
                                          <p:attrName>style.visibility</p:attrName>
                                        </p:attrNameLst>
                                      </p:cBhvr>
                                      <p:to>
                                        <p:strVal val="visible"/>
                                      </p:to>
                                    </p:set>
                                    <p:animEffect transition="in" filter="fade">
                                      <p:cBhvr>
                                        <p:cTn id="78" dur="600"/>
                                        <p:tgtEl>
                                          <p:spTgt spid="32"/>
                                        </p:tgtEl>
                                      </p:cBhvr>
                                    </p:animEffect>
                                  </p:childTnLst>
                                </p:cTn>
                              </p:par>
                            </p:childTnLst>
                          </p:cTn>
                        </p:par>
                        <p:par>
                          <p:cTn id="79" fill="hold">
                            <p:stCondLst>
                              <p:cond delay="14000"/>
                            </p:stCondLst>
                            <p:childTnLst>
                              <p:par>
                                <p:cTn id="80" presetID="22" presetClass="entr" presetSubtype="8" fill="hold" nodeType="after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wipe(left)">
                                      <p:cBhvr>
                                        <p:cTn id="82" dur="500"/>
                                        <p:tgtEl>
                                          <p:spTgt spid="33"/>
                                        </p:tgtEl>
                                      </p:cBhvr>
                                    </p:animEffect>
                                  </p:childTnLst>
                                </p:cTn>
                              </p:par>
                            </p:childTnLst>
                          </p:cTn>
                        </p:par>
                        <p:par>
                          <p:cTn id="83" fill="hold">
                            <p:stCondLst>
                              <p:cond delay="14500"/>
                            </p:stCondLst>
                            <p:childTnLst>
                              <p:par>
                                <p:cTn id="84" presetID="53" presetClass="entr" presetSubtype="16" fill="hold" grpId="0" nodeType="afterEffect">
                                  <p:stCondLst>
                                    <p:cond delay="0"/>
                                  </p:stCondLst>
                                  <p:childTnLst>
                                    <p:set>
                                      <p:cBhvr>
                                        <p:cTn id="85" dur="1" fill="hold">
                                          <p:stCondLst>
                                            <p:cond delay="0"/>
                                          </p:stCondLst>
                                        </p:cTn>
                                        <p:tgtEl>
                                          <p:spTgt spid="34"/>
                                        </p:tgtEl>
                                        <p:attrNameLst>
                                          <p:attrName>style.visibility</p:attrName>
                                        </p:attrNameLst>
                                      </p:cBhvr>
                                      <p:to>
                                        <p:strVal val="visible"/>
                                      </p:to>
                                    </p:set>
                                    <p:anim calcmode="lin" valueType="num">
                                      <p:cBhvr>
                                        <p:cTn id="86" dur="300" fill="hold"/>
                                        <p:tgtEl>
                                          <p:spTgt spid="34"/>
                                        </p:tgtEl>
                                        <p:attrNameLst>
                                          <p:attrName>ppt_w</p:attrName>
                                        </p:attrNameLst>
                                      </p:cBhvr>
                                      <p:tavLst>
                                        <p:tav tm="0">
                                          <p:val>
                                            <p:fltVal val="0"/>
                                          </p:val>
                                        </p:tav>
                                        <p:tav tm="100000">
                                          <p:val>
                                            <p:strVal val="#ppt_w"/>
                                          </p:val>
                                        </p:tav>
                                      </p:tavLst>
                                    </p:anim>
                                    <p:anim calcmode="lin" valueType="num">
                                      <p:cBhvr>
                                        <p:cTn id="87" dur="300" fill="hold"/>
                                        <p:tgtEl>
                                          <p:spTgt spid="34"/>
                                        </p:tgtEl>
                                        <p:attrNameLst>
                                          <p:attrName>ppt_h</p:attrName>
                                        </p:attrNameLst>
                                      </p:cBhvr>
                                      <p:tavLst>
                                        <p:tav tm="0">
                                          <p:val>
                                            <p:fltVal val="0"/>
                                          </p:val>
                                        </p:tav>
                                        <p:tav tm="100000">
                                          <p:val>
                                            <p:strVal val="#ppt_h"/>
                                          </p:val>
                                        </p:tav>
                                      </p:tavLst>
                                    </p:anim>
                                    <p:animEffect transition="in" filter="fade">
                                      <p:cBhvr>
                                        <p:cTn id="88" dur="300"/>
                                        <p:tgtEl>
                                          <p:spTgt spid="34"/>
                                        </p:tgtEl>
                                      </p:cBhvr>
                                    </p:animEffect>
                                  </p:childTnLst>
                                </p:cTn>
                              </p:par>
                              <p:par>
                                <p:cTn id="89" presetID="37" presetClass="entr" presetSubtype="0" fill="hold" grpId="0" nodeType="withEffect">
                                  <p:stCondLst>
                                    <p:cond delay="0"/>
                                  </p:stCondLst>
                                  <p:iterate type="lt">
                                    <p:tmPct val="10000"/>
                                  </p:iterate>
                                  <p:childTnLst>
                                    <p:set>
                                      <p:cBhvr>
                                        <p:cTn id="90" dur="1" fill="hold">
                                          <p:stCondLst>
                                            <p:cond delay="0"/>
                                          </p:stCondLst>
                                        </p:cTn>
                                        <p:tgtEl>
                                          <p:spTgt spid="35"/>
                                        </p:tgtEl>
                                        <p:attrNameLst>
                                          <p:attrName>style.visibility</p:attrName>
                                        </p:attrNameLst>
                                      </p:cBhvr>
                                      <p:to>
                                        <p:strVal val="visible"/>
                                      </p:to>
                                    </p:set>
                                    <p:animEffect transition="in" filter="fade">
                                      <p:cBhvr>
                                        <p:cTn id="91" dur="350"/>
                                        <p:tgtEl>
                                          <p:spTgt spid="35"/>
                                        </p:tgtEl>
                                      </p:cBhvr>
                                    </p:animEffect>
                                    <p:anim calcmode="lin" valueType="num">
                                      <p:cBhvr>
                                        <p:cTn id="92" dur="350" fill="hold"/>
                                        <p:tgtEl>
                                          <p:spTgt spid="35"/>
                                        </p:tgtEl>
                                        <p:attrNameLst>
                                          <p:attrName>ppt_x</p:attrName>
                                        </p:attrNameLst>
                                      </p:cBhvr>
                                      <p:tavLst>
                                        <p:tav tm="0">
                                          <p:val>
                                            <p:strVal val="#ppt_x"/>
                                          </p:val>
                                        </p:tav>
                                        <p:tav tm="100000">
                                          <p:val>
                                            <p:strVal val="#ppt_x"/>
                                          </p:val>
                                        </p:tav>
                                      </p:tavLst>
                                    </p:anim>
                                    <p:anim calcmode="lin" valueType="num">
                                      <p:cBhvr>
                                        <p:cTn id="93" dur="315" decel="100000" fill="hold"/>
                                        <p:tgtEl>
                                          <p:spTgt spid="35"/>
                                        </p:tgtEl>
                                        <p:attrNameLst>
                                          <p:attrName>ppt_y</p:attrName>
                                        </p:attrNameLst>
                                      </p:cBhvr>
                                      <p:tavLst>
                                        <p:tav tm="0">
                                          <p:val>
                                            <p:strVal val="#ppt_y+1"/>
                                          </p:val>
                                        </p:tav>
                                        <p:tav tm="100000">
                                          <p:val>
                                            <p:strVal val="#ppt_y-.03"/>
                                          </p:val>
                                        </p:tav>
                                      </p:tavLst>
                                    </p:anim>
                                    <p:anim calcmode="lin" valueType="num">
                                      <p:cBhvr>
                                        <p:cTn id="94" dur="35" accel="100000" fill="hold">
                                          <p:stCondLst>
                                            <p:cond delay="315"/>
                                          </p:stCondLst>
                                        </p:cTn>
                                        <p:tgtEl>
                                          <p:spTgt spid="35"/>
                                        </p:tgtEl>
                                        <p:attrNameLst>
                                          <p:attrName>ppt_y</p:attrName>
                                        </p:attrNameLst>
                                      </p:cBhvr>
                                      <p:tavLst>
                                        <p:tav tm="0">
                                          <p:val>
                                            <p:strVal val="#ppt_y-.03"/>
                                          </p:val>
                                        </p:tav>
                                        <p:tav tm="100000">
                                          <p:val>
                                            <p:strVal val="#ppt_y"/>
                                          </p:val>
                                        </p:tav>
                                      </p:tavLst>
                                    </p:anim>
                                  </p:childTnLst>
                                </p:cTn>
                              </p:par>
                              <p:par>
                                <p:cTn id="95" presetID="10" presetClass="entr" presetSubtype="0" fill="hold" grpId="0" nodeType="withEffect">
                                  <p:stCondLst>
                                    <p:cond delay="100"/>
                                  </p:stCondLst>
                                  <p:iterate type="wd">
                                    <p:tmPct val="10000"/>
                                  </p:iterate>
                                  <p:childTnLst>
                                    <p:set>
                                      <p:cBhvr>
                                        <p:cTn id="96" dur="1" fill="hold">
                                          <p:stCondLst>
                                            <p:cond delay="0"/>
                                          </p:stCondLst>
                                        </p:cTn>
                                        <p:tgtEl>
                                          <p:spTgt spid="36"/>
                                        </p:tgtEl>
                                        <p:attrNameLst>
                                          <p:attrName>style.visibility</p:attrName>
                                        </p:attrNameLst>
                                      </p:cBhvr>
                                      <p:to>
                                        <p:strVal val="visible"/>
                                      </p:to>
                                    </p:set>
                                    <p:animEffect transition="in" filter="fade">
                                      <p:cBhvr>
                                        <p:cTn id="97" dur="6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9" grpId="0" animBg="1"/>
      <p:bldP spid="20" grpId="0"/>
      <p:bldP spid="21" grpId="0"/>
      <p:bldP spid="22" grpId="0"/>
      <p:bldP spid="23" grpId="0"/>
      <p:bldP spid="24" grpId="0"/>
      <p:bldP spid="26" grpId="0"/>
      <p:bldP spid="27" grpId="0"/>
      <p:bldP spid="28" grpId="0"/>
      <p:bldP spid="30" grpId="0"/>
      <p:bldP spid="31" grpId="0"/>
      <p:bldP spid="32" grpId="0"/>
      <p:bldP spid="34" grpId="0"/>
      <p:bldP spid="35" grpId="0"/>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052560" y="4480560"/>
            <a:ext cx="3291840" cy="329184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9645091" y="5073091"/>
            <a:ext cx="2106777" cy="2106777"/>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04</a:t>
            </a:r>
          </a:p>
        </p:txBody>
      </p:sp>
      <p:sp>
        <p:nvSpPr>
          <p:cNvPr id="10" name="!!rail5"/>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465429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06</a:t>
            </a:r>
          </a:p>
        </p:txBody>
      </p:sp>
      <p:sp>
        <p:nvSpPr>
          <p:cNvPr id="12" name="!!rail7"/>
          <p:cNvSpPr txBox="1"/>
          <p:nvPr/>
        </p:nvSpPr>
        <p:spPr>
          <a:xfrm>
            <a:off x="45720" y="53675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608076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73"/>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04  ·  RESEARCH OBJECTIVES</a:t>
            </a:r>
          </a:p>
        </p:txBody>
      </p:sp>
      <p:sp>
        <p:nvSpPr>
          <p:cNvPr id="15" name="Title 74"/>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Research objectives</a:t>
            </a:r>
          </a:p>
        </p:txBody>
      </p:sp>
      <p:cxnSp>
        <p:nvCxnSpPr>
          <p:cNvPr id="16"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7"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§1.4 Objectives of the Study</a:t>
            </a:r>
          </a:p>
        </p:txBody>
      </p:sp>
      <p:sp>
        <p:nvSpPr>
          <p:cNvPr id="18"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05 / 20</a:t>
            </a:r>
          </a:p>
        </p:txBody>
      </p:sp>
      <p:sp>
        <p:nvSpPr>
          <p:cNvPr id="19" name="GO band 75"/>
          <p:cNvSpPr/>
          <p:nvPr/>
        </p:nvSpPr>
        <p:spPr>
          <a:xfrm>
            <a:off x="1417320" y="1463040"/>
            <a:ext cx="10225735" cy="1234440"/>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GO accent 76"/>
          <p:cNvSpPr/>
          <p:nvPr/>
        </p:nvSpPr>
        <p:spPr>
          <a:xfrm>
            <a:off x="1417320" y="1463040"/>
            <a:ext cx="82296" cy="12344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GO label 77"/>
          <p:cNvSpPr txBox="1"/>
          <p:nvPr/>
        </p:nvSpPr>
        <p:spPr>
          <a:xfrm>
            <a:off x="1691640" y="1572768"/>
            <a:ext cx="2194560" cy="274320"/>
          </a:xfrm>
          <a:prstGeom prst="rect">
            <a:avLst/>
          </a:prstGeom>
          <a:noFill/>
        </p:spPr>
        <p:txBody>
          <a:bodyPr wrap="square" lIns="36576" tIns="36576" rIns="36576" bIns="36576" anchor="t">
            <a:spAutoFit/>
          </a:bodyPr>
          <a:lstStyle/>
          <a:p>
            <a:pPr algn="l">
              <a:lnSpc>
                <a:spcPct val="108000"/>
              </a:lnSpc>
            </a:pPr>
            <a:r>
              <a:rPr sz="1100" b="1" i="0">
                <a:solidFill>
                  <a:srgbClr val="C77A1E"/>
                </a:solidFill>
                <a:latin typeface="Consolas"/>
              </a:rPr>
              <a:t>GENERAL OBJECTIVE</a:t>
            </a:r>
          </a:p>
        </p:txBody>
      </p:sp>
      <p:sp>
        <p:nvSpPr>
          <p:cNvPr id="22" name="GO 78"/>
          <p:cNvSpPr txBox="1"/>
          <p:nvPr/>
        </p:nvSpPr>
        <p:spPr>
          <a:xfrm>
            <a:off x="1691640" y="1847088"/>
            <a:ext cx="9677095" cy="822960"/>
          </a:xfrm>
          <a:prstGeom prst="rect">
            <a:avLst/>
          </a:prstGeom>
          <a:noFill/>
        </p:spPr>
        <p:txBody>
          <a:bodyPr wrap="square" lIns="36576" tIns="36576" rIns="36576" bIns="36576" anchor="t">
            <a:spAutoFit/>
          </a:bodyPr>
          <a:lstStyle/>
          <a:p>
            <a:pPr algn="l">
              <a:lnSpc>
                <a:spcPct val="104000"/>
              </a:lnSpc>
            </a:pPr>
            <a:r>
              <a:rPr sz="1550" b="0" i="0">
                <a:solidFill>
                  <a:srgbClr val="1F1A1B"/>
                </a:solidFill>
                <a:latin typeface="Calibri"/>
              </a:rPr>
              <a:t>To design, implement and evaluate a multi-platform AI-driven cybersecurity system that monitors URLs in real time, detects and explains threats with cooperating agents, and gives timely alerts and protective feedback while keeping historical context and persistent threat records.</a:t>
            </a:r>
          </a:p>
        </p:txBody>
      </p:sp>
      <p:grpSp>
        <p:nvGrpSpPr>
          <p:cNvPr id="28" name="Card 79"/>
          <p:cNvGrpSpPr/>
          <p:nvPr/>
        </p:nvGrpSpPr>
        <p:grpSpPr>
          <a:xfrm>
            <a:off x="1417320" y="2880360"/>
            <a:ext cx="4975707" cy="1591056"/>
            <a:chOff x="1417320" y="2880360"/>
            <a:chExt cx="4975707" cy="1591056"/>
          </a:xfrm>
        </p:grpSpPr>
        <p:sp>
          <p:nvSpPr>
            <p:cNvPr id="23" name="Card bg"/>
            <p:cNvSpPr/>
            <p:nvPr/>
          </p:nvSpPr>
          <p:spPr>
            <a:xfrm>
              <a:off x="1417320" y="2880360"/>
              <a:ext cx="4975707" cy="1591056"/>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Card accent"/>
            <p:cNvSpPr/>
            <p:nvPr/>
          </p:nvSpPr>
          <p:spPr>
            <a:xfrm>
              <a:off x="1417320" y="2880360"/>
              <a:ext cx="4975707"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Card label"/>
            <p:cNvSpPr txBox="1"/>
            <p:nvPr/>
          </p:nvSpPr>
          <p:spPr>
            <a:xfrm>
              <a:off x="1618488" y="3063240"/>
              <a:ext cx="4573371" cy="274320"/>
            </a:xfrm>
            <a:prstGeom prst="rect">
              <a:avLst/>
            </a:prstGeom>
            <a:noFill/>
          </p:spPr>
          <p:txBody>
            <a:bodyPr wrap="square" lIns="36576" tIns="36576" rIns="36576" bIns="36576" anchor="t">
              <a:spAutoFit/>
            </a:bodyPr>
            <a:lstStyle/>
            <a:p>
              <a:pPr algn="l">
                <a:lnSpc>
                  <a:spcPct val="108000"/>
                </a:lnSpc>
              </a:pPr>
              <a:r>
                <a:rPr sz="1050" b="1" i="0">
                  <a:solidFill>
                    <a:srgbClr val="C77A1E"/>
                  </a:solidFill>
                  <a:latin typeface="Consolas"/>
                </a:rPr>
                <a:t>SPECIFIC OBJECTIVE 1  →  RQ1</a:t>
              </a:r>
            </a:p>
          </p:txBody>
        </p:sp>
        <p:sp>
          <p:nvSpPr>
            <p:cNvPr id="26" name="Card title"/>
            <p:cNvSpPr txBox="1"/>
            <p:nvPr/>
          </p:nvSpPr>
          <p:spPr>
            <a:xfrm>
              <a:off x="1618488" y="3355848"/>
              <a:ext cx="4573371" cy="358902"/>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Multi-agent decision framework</a:t>
              </a:r>
            </a:p>
          </p:txBody>
        </p:sp>
        <p:sp>
          <p:nvSpPr>
            <p:cNvPr id="27" name="Card body"/>
            <p:cNvSpPr txBox="1"/>
            <p:nvPr/>
          </p:nvSpPr>
          <p:spPr>
            <a:xfrm>
              <a:off x="1618488" y="3714750"/>
              <a:ext cx="4573371" cy="646937"/>
            </a:xfrm>
            <a:prstGeom prst="rect">
              <a:avLst/>
            </a:prstGeom>
            <a:noFill/>
          </p:spPr>
          <p:txBody>
            <a:bodyPr wrap="square" lIns="36576" tIns="36576" rIns="36576" bIns="36576" anchor="t">
              <a:spAutoFit/>
            </a:bodyPr>
            <a:lstStyle/>
            <a:p>
              <a:pPr algn="l">
                <a:lnSpc>
                  <a:spcPct val="105000"/>
                </a:lnSpc>
              </a:pPr>
              <a:r>
                <a:rPr sz="1450" b="0" i="0">
                  <a:solidFill>
                    <a:srgbClr val="4A4244"/>
                  </a:solidFill>
                  <a:latin typeface="Calibri"/>
                </a:rPr>
                <a:t>Decompose URL analysis into coordinated tasks that produce reliable real-time assessments.</a:t>
              </a:r>
            </a:p>
          </p:txBody>
        </p:sp>
      </p:grpSp>
      <p:grpSp>
        <p:nvGrpSpPr>
          <p:cNvPr id="34" name="Card 80"/>
          <p:cNvGrpSpPr/>
          <p:nvPr/>
        </p:nvGrpSpPr>
        <p:grpSpPr>
          <a:xfrm>
            <a:off x="6667347" y="2880360"/>
            <a:ext cx="4975707" cy="1591056"/>
            <a:chOff x="6667347" y="2880360"/>
            <a:chExt cx="4975707" cy="1591056"/>
          </a:xfrm>
        </p:grpSpPr>
        <p:sp>
          <p:nvSpPr>
            <p:cNvPr id="29" name="Card bg"/>
            <p:cNvSpPr/>
            <p:nvPr/>
          </p:nvSpPr>
          <p:spPr>
            <a:xfrm>
              <a:off x="6667347" y="2880360"/>
              <a:ext cx="4975707" cy="1591056"/>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Card accent"/>
            <p:cNvSpPr/>
            <p:nvPr/>
          </p:nvSpPr>
          <p:spPr>
            <a:xfrm>
              <a:off x="6667347" y="2880360"/>
              <a:ext cx="4975707"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Card label"/>
            <p:cNvSpPr txBox="1"/>
            <p:nvPr/>
          </p:nvSpPr>
          <p:spPr>
            <a:xfrm>
              <a:off x="6868515" y="3063240"/>
              <a:ext cx="4573371" cy="274320"/>
            </a:xfrm>
            <a:prstGeom prst="rect">
              <a:avLst/>
            </a:prstGeom>
            <a:noFill/>
          </p:spPr>
          <p:txBody>
            <a:bodyPr wrap="square" lIns="36576" tIns="36576" rIns="36576" bIns="36576" anchor="t">
              <a:spAutoFit/>
            </a:bodyPr>
            <a:lstStyle/>
            <a:p>
              <a:pPr algn="l">
                <a:lnSpc>
                  <a:spcPct val="108000"/>
                </a:lnSpc>
              </a:pPr>
              <a:r>
                <a:rPr sz="1050" b="1" i="0">
                  <a:solidFill>
                    <a:srgbClr val="5E7257"/>
                  </a:solidFill>
                  <a:latin typeface="Consolas"/>
                </a:rPr>
                <a:t>SPECIFIC OBJECTIVE 2  →  RQ2</a:t>
              </a:r>
            </a:p>
          </p:txBody>
        </p:sp>
        <p:sp>
          <p:nvSpPr>
            <p:cNvPr id="32" name="Card title"/>
            <p:cNvSpPr txBox="1"/>
            <p:nvPr/>
          </p:nvSpPr>
          <p:spPr>
            <a:xfrm>
              <a:off x="6868515" y="3355848"/>
              <a:ext cx="4573371" cy="358902"/>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Unified detection approach</a:t>
              </a:r>
            </a:p>
          </p:txBody>
        </p:sp>
        <p:sp>
          <p:nvSpPr>
            <p:cNvPr id="33" name="Card body"/>
            <p:cNvSpPr txBox="1"/>
            <p:nvPr/>
          </p:nvSpPr>
          <p:spPr>
            <a:xfrm>
              <a:off x="6868515" y="3714750"/>
              <a:ext cx="4573371" cy="646937"/>
            </a:xfrm>
            <a:prstGeom prst="rect">
              <a:avLst/>
            </a:prstGeom>
            <a:noFill/>
          </p:spPr>
          <p:txBody>
            <a:bodyPr wrap="square" lIns="36576" tIns="36576" rIns="36576" bIns="36576" anchor="t">
              <a:spAutoFit/>
            </a:bodyPr>
            <a:lstStyle/>
            <a:p>
              <a:pPr algn="l">
                <a:lnSpc>
                  <a:spcPct val="105000"/>
                </a:lnSpc>
              </a:pPr>
              <a:r>
                <a:rPr sz="1450" b="0" i="0">
                  <a:solidFill>
                    <a:srgbClr val="4A4244"/>
                  </a:solidFill>
                  <a:latin typeface="Calibri"/>
                </a:rPr>
                <a:t>Combine content, behavioural signals, structural patterns and threat intelligence for accuracy and consistency.</a:t>
              </a:r>
            </a:p>
          </p:txBody>
        </p:sp>
      </p:grpSp>
      <p:grpSp>
        <p:nvGrpSpPr>
          <p:cNvPr id="40" name="Card 81"/>
          <p:cNvGrpSpPr/>
          <p:nvPr/>
        </p:nvGrpSpPr>
        <p:grpSpPr>
          <a:xfrm>
            <a:off x="1417320" y="4581144"/>
            <a:ext cx="4975707" cy="1591056"/>
            <a:chOff x="1417320" y="4581144"/>
            <a:chExt cx="4975707" cy="1591056"/>
          </a:xfrm>
        </p:grpSpPr>
        <p:sp>
          <p:nvSpPr>
            <p:cNvPr id="35" name="Card bg"/>
            <p:cNvSpPr/>
            <p:nvPr/>
          </p:nvSpPr>
          <p:spPr>
            <a:xfrm>
              <a:off x="1417320" y="4581144"/>
              <a:ext cx="4975707" cy="1591056"/>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Card accent"/>
            <p:cNvSpPr/>
            <p:nvPr/>
          </p:nvSpPr>
          <p:spPr>
            <a:xfrm>
              <a:off x="1417320" y="4581144"/>
              <a:ext cx="4975707"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Card label"/>
            <p:cNvSpPr txBox="1"/>
            <p:nvPr/>
          </p:nvSpPr>
          <p:spPr>
            <a:xfrm>
              <a:off x="1618488" y="4764024"/>
              <a:ext cx="4573371" cy="274320"/>
            </a:xfrm>
            <a:prstGeom prst="rect">
              <a:avLst/>
            </a:prstGeom>
            <a:noFill/>
          </p:spPr>
          <p:txBody>
            <a:bodyPr wrap="square" lIns="36576" tIns="36576" rIns="36576" bIns="36576" anchor="t">
              <a:spAutoFit/>
            </a:bodyPr>
            <a:lstStyle/>
            <a:p>
              <a:pPr algn="l">
                <a:lnSpc>
                  <a:spcPct val="108000"/>
                </a:lnSpc>
              </a:pPr>
              <a:r>
                <a:rPr sz="1050" b="1" i="0">
                  <a:solidFill>
                    <a:srgbClr val="C77A1E"/>
                  </a:solidFill>
                  <a:latin typeface="Consolas"/>
                </a:rPr>
                <a:t>SPECIFIC OBJECTIVE 3  →  RQ3</a:t>
              </a:r>
            </a:p>
          </p:txBody>
        </p:sp>
        <p:sp>
          <p:nvSpPr>
            <p:cNvPr id="38" name="Card title"/>
            <p:cNvSpPr txBox="1"/>
            <p:nvPr/>
          </p:nvSpPr>
          <p:spPr>
            <a:xfrm>
              <a:off x="1618488" y="5056632"/>
              <a:ext cx="4573371" cy="358902"/>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Decision aggregation</a:t>
              </a:r>
            </a:p>
          </p:txBody>
        </p:sp>
        <p:sp>
          <p:nvSpPr>
            <p:cNvPr id="39" name="Card body"/>
            <p:cNvSpPr txBox="1"/>
            <p:nvPr/>
          </p:nvSpPr>
          <p:spPr>
            <a:xfrm>
              <a:off x="1618488" y="5415534"/>
              <a:ext cx="4573371" cy="646937"/>
            </a:xfrm>
            <a:prstGeom prst="rect">
              <a:avLst/>
            </a:prstGeom>
            <a:noFill/>
          </p:spPr>
          <p:txBody>
            <a:bodyPr wrap="square" lIns="36576" tIns="36576" rIns="36576" bIns="36576" anchor="t">
              <a:spAutoFit/>
            </a:bodyPr>
            <a:lstStyle/>
            <a:p>
              <a:pPr algn="l">
                <a:lnSpc>
                  <a:spcPct val="105000"/>
                </a:lnSpc>
              </a:pPr>
              <a:r>
                <a:rPr sz="1450" b="0" i="0">
                  <a:solidFill>
                    <a:srgbClr val="4A4244"/>
                  </a:solidFill>
                  <a:latin typeface="Calibri"/>
                </a:rPr>
                <a:t>Reduce false alerts while high-confidence malicious indicators still trigger immediate warnings and protection.</a:t>
              </a:r>
            </a:p>
          </p:txBody>
        </p:sp>
      </p:grpSp>
      <p:grpSp>
        <p:nvGrpSpPr>
          <p:cNvPr id="46" name="Card 82"/>
          <p:cNvGrpSpPr/>
          <p:nvPr/>
        </p:nvGrpSpPr>
        <p:grpSpPr>
          <a:xfrm>
            <a:off x="6667347" y="4581144"/>
            <a:ext cx="4975707" cy="1591056"/>
            <a:chOff x="6667347" y="4581144"/>
            <a:chExt cx="4975707" cy="1591056"/>
          </a:xfrm>
        </p:grpSpPr>
        <p:sp>
          <p:nvSpPr>
            <p:cNvPr id="41" name="Card bg"/>
            <p:cNvSpPr/>
            <p:nvPr/>
          </p:nvSpPr>
          <p:spPr>
            <a:xfrm>
              <a:off x="6667347" y="4581144"/>
              <a:ext cx="4975707" cy="1591056"/>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Card accent"/>
            <p:cNvSpPr/>
            <p:nvPr/>
          </p:nvSpPr>
          <p:spPr>
            <a:xfrm>
              <a:off x="6667347" y="4581144"/>
              <a:ext cx="4975707"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Card label"/>
            <p:cNvSpPr txBox="1"/>
            <p:nvPr/>
          </p:nvSpPr>
          <p:spPr>
            <a:xfrm>
              <a:off x="6868515" y="4764024"/>
              <a:ext cx="4573371" cy="274320"/>
            </a:xfrm>
            <a:prstGeom prst="rect">
              <a:avLst/>
            </a:prstGeom>
            <a:noFill/>
          </p:spPr>
          <p:txBody>
            <a:bodyPr wrap="square" lIns="36576" tIns="36576" rIns="36576" bIns="36576" anchor="t">
              <a:spAutoFit/>
            </a:bodyPr>
            <a:lstStyle/>
            <a:p>
              <a:pPr algn="l">
                <a:lnSpc>
                  <a:spcPct val="108000"/>
                </a:lnSpc>
              </a:pPr>
              <a:r>
                <a:rPr sz="1050" b="1" i="0">
                  <a:solidFill>
                    <a:srgbClr val="5E7257"/>
                  </a:solidFill>
                  <a:latin typeface="Consolas"/>
                </a:rPr>
                <a:t>SPECIFIC OBJECTIVE 4  →  RQ4</a:t>
              </a:r>
            </a:p>
          </p:txBody>
        </p:sp>
        <p:sp>
          <p:nvSpPr>
            <p:cNvPr id="44" name="Card title"/>
            <p:cNvSpPr txBox="1"/>
            <p:nvPr/>
          </p:nvSpPr>
          <p:spPr>
            <a:xfrm>
              <a:off x="6868515" y="5056632"/>
              <a:ext cx="4573371" cy="358902"/>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Contextual threat intelligence</a:t>
              </a:r>
            </a:p>
          </p:txBody>
        </p:sp>
        <p:sp>
          <p:nvSpPr>
            <p:cNvPr id="45" name="Card body"/>
            <p:cNvSpPr txBox="1"/>
            <p:nvPr/>
          </p:nvSpPr>
          <p:spPr>
            <a:xfrm>
              <a:off x="6868515" y="5415534"/>
              <a:ext cx="4573371" cy="646937"/>
            </a:xfrm>
            <a:prstGeom prst="rect">
              <a:avLst/>
            </a:prstGeom>
            <a:noFill/>
          </p:spPr>
          <p:txBody>
            <a:bodyPr wrap="square" lIns="36576" tIns="36576" rIns="36576" bIns="36576" anchor="t">
              <a:spAutoFit/>
            </a:bodyPr>
            <a:lstStyle/>
            <a:p>
              <a:pPr algn="l">
                <a:lnSpc>
                  <a:spcPct val="105000"/>
                </a:lnSpc>
              </a:pPr>
              <a:r>
                <a:rPr sz="1450" b="0" i="0">
                  <a:solidFill>
                    <a:srgbClr val="4A4244"/>
                  </a:solidFill>
                  <a:latin typeface="Calibri"/>
                </a:rPr>
                <a:t>Link current URL behaviour with known attack patterns and external threat databases.</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450"/>
                            </p:stCondLst>
                            <p:childTnLst>
                              <p:par>
                                <p:cTn id="15" presetID="22" presetClass="entr" presetSubtype="8"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up)">
                                      <p:cBhvr>
                                        <p:cTn id="20" dur="500"/>
                                        <p:tgtEl>
                                          <p:spTgt spid="20"/>
                                        </p:tgtEl>
                                      </p:cBhvr>
                                    </p:animEffect>
                                  </p:childTnLst>
                                </p:cTn>
                              </p:par>
                            </p:childTnLst>
                          </p:cTn>
                        </p:par>
                        <p:par>
                          <p:cTn id="21" fill="hold">
                            <p:stCondLst>
                              <p:cond delay="1950"/>
                            </p:stCondLst>
                            <p:childTnLst>
                              <p:par>
                                <p:cTn id="22" presetID="10" presetClass="entr" presetSubtype="0" fill="hold" grpId="0"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300"/>
                                        <p:tgtEl>
                                          <p:spTgt spid="21"/>
                                        </p:tgtEl>
                                      </p:cBhvr>
                                    </p:animEffect>
                                  </p:childTnLst>
                                </p:cTn>
                              </p:par>
                            </p:childTnLst>
                          </p:cTn>
                        </p:par>
                        <p:par>
                          <p:cTn id="25" fill="hold">
                            <p:stCondLst>
                              <p:cond delay="2250"/>
                            </p:stCondLst>
                            <p:childTnLst>
                              <p:par>
                                <p:cTn id="26" presetID="10" presetClass="entr" presetSubtype="0" fill="hold" grpId="0" nodeType="afterEffect">
                                  <p:stCondLst>
                                    <p:cond delay="0"/>
                                  </p:stCondLst>
                                  <p:iterate type="wd">
                                    <p:tmPct val="10000"/>
                                  </p:iterate>
                                  <p:childTnLst>
                                    <p:set>
                                      <p:cBhvr>
                                        <p:cTn id="27" dur="1" fill="hold">
                                          <p:stCondLst>
                                            <p:cond delay="0"/>
                                          </p:stCondLst>
                                        </p:cTn>
                                        <p:tgtEl>
                                          <p:spTgt spid="22"/>
                                        </p:tgtEl>
                                        <p:attrNameLst>
                                          <p:attrName>style.visibility</p:attrName>
                                        </p:attrNameLst>
                                      </p:cBhvr>
                                      <p:to>
                                        <p:strVal val="visible"/>
                                      </p:to>
                                    </p:set>
                                    <p:animEffect transition="in" filter="fade">
                                      <p:cBhvr>
                                        <p:cTn id="28" dur="900"/>
                                        <p:tgtEl>
                                          <p:spTgt spid="22"/>
                                        </p:tgtEl>
                                      </p:cBhvr>
                                    </p:animEffect>
                                  </p:childTnLst>
                                </p:cTn>
                              </p:par>
                            </p:childTnLst>
                          </p:cTn>
                        </p:par>
                        <p:par>
                          <p:cTn id="29" fill="hold">
                            <p:stCondLst>
                              <p:cond delay="6840"/>
                            </p:stCondLst>
                            <p:childTnLst>
                              <p:par>
                                <p:cTn id="30" presetID="2" presetClass="entr" presetSubtype="4" fill="hold" nodeType="afterEffect">
                                  <p:stCondLst>
                                    <p:cond delay="0"/>
                                  </p:stCondLst>
                                  <p:childTnLst>
                                    <p:set>
                                      <p:cBhvr>
                                        <p:cTn id="31" dur="1" fill="hold">
                                          <p:stCondLst>
                                            <p:cond delay="0"/>
                                          </p:stCondLst>
                                        </p:cTn>
                                        <p:tgtEl>
                                          <p:spTgt spid="28"/>
                                        </p:tgtEl>
                                        <p:attrNameLst>
                                          <p:attrName>style.visibility</p:attrName>
                                        </p:attrNameLst>
                                      </p:cBhvr>
                                      <p:to>
                                        <p:strVal val="visible"/>
                                      </p:to>
                                    </p:set>
                                    <p:anim calcmode="lin" valueType="num">
                                      <p:cBhvr additive="base">
                                        <p:cTn id="32" dur="500" fill="hold"/>
                                        <p:tgtEl>
                                          <p:spTgt spid="28"/>
                                        </p:tgtEl>
                                        <p:attrNameLst>
                                          <p:attrName>ppt_x</p:attrName>
                                        </p:attrNameLst>
                                      </p:cBhvr>
                                      <p:tavLst>
                                        <p:tav tm="0">
                                          <p:val>
                                            <p:strVal val="#ppt_x"/>
                                          </p:val>
                                        </p:tav>
                                        <p:tav tm="100000">
                                          <p:val>
                                            <p:strVal val="#ppt_x"/>
                                          </p:val>
                                        </p:tav>
                                      </p:tavLst>
                                    </p:anim>
                                    <p:anim calcmode="lin" valueType="num">
                                      <p:cBhvr additive="base">
                                        <p:cTn id="33" dur="500" fill="hold"/>
                                        <p:tgtEl>
                                          <p:spTgt spid="28"/>
                                        </p:tgtEl>
                                        <p:attrNameLst>
                                          <p:attrName>ppt_y</p:attrName>
                                        </p:attrNameLst>
                                      </p:cBhvr>
                                      <p:tavLst>
                                        <p:tav tm="0">
                                          <p:val>
                                            <p:strVal val="1+#ppt_h/2"/>
                                          </p:val>
                                        </p:tav>
                                        <p:tav tm="100000">
                                          <p:val>
                                            <p:strVal val="#ppt_y"/>
                                          </p:val>
                                        </p:tav>
                                      </p:tavLst>
                                    </p:anim>
                                  </p:childTnLst>
                                </p:cTn>
                              </p:par>
                            </p:childTnLst>
                          </p:cTn>
                        </p:par>
                        <p:par>
                          <p:cTn id="34" fill="hold">
                            <p:stCondLst>
                              <p:cond delay="7340"/>
                            </p:stCondLst>
                            <p:childTnLst>
                              <p:par>
                                <p:cTn id="35" presetID="2" presetClass="entr" presetSubtype="4" fill="hold" nodeType="after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additive="base">
                                        <p:cTn id="37" dur="500" fill="hold"/>
                                        <p:tgtEl>
                                          <p:spTgt spid="34"/>
                                        </p:tgtEl>
                                        <p:attrNameLst>
                                          <p:attrName>ppt_x</p:attrName>
                                        </p:attrNameLst>
                                      </p:cBhvr>
                                      <p:tavLst>
                                        <p:tav tm="0">
                                          <p:val>
                                            <p:strVal val="#ppt_x"/>
                                          </p:val>
                                        </p:tav>
                                        <p:tav tm="100000">
                                          <p:val>
                                            <p:strVal val="#ppt_x"/>
                                          </p:val>
                                        </p:tav>
                                      </p:tavLst>
                                    </p:anim>
                                    <p:anim calcmode="lin" valueType="num">
                                      <p:cBhvr additive="base">
                                        <p:cTn id="38" dur="500" fill="hold"/>
                                        <p:tgtEl>
                                          <p:spTgt spid="34"/>
                                        </p:tgtEl>
                                        <p:attrNameLst>
                                          <p:attrName>ppt_y</p:attrName>
                                        </p:attrNameLst>
                                      </p:cBhvr>
                                      <p:tavLst>
                                        <p:tav tm="0">
                                          <p:val>
                                            <p:strVal val="1+#ppt_h/2"/>
                                          </p:val>
                                        </p:tav>
                                        <p:tav tm="100000">
                                          <p:val>
                                            <p:strVal val="#ppt_y"/>
                                          </p:val>
                                        </p:tav>
                                      </p:tavLst>
                                    </p:anim>
                                  </p:childTnLst>
                                </p:cTn>
                              </p:par>
                            </p:childTnLst>
                          </p:cTn>
                        </p:par>
                        <p:par>
                          <p:cTn id="39" fill="hold">
                            <p:stCondLst>
                              <p:cond delay="7840"/>
                            </p:stCondLst>
                            <p:childTnLst>
                              <p:par>
                                <p:cTn id="40" presetID="2" presetClass="entr" presetSubtype="4" fill="hold" nodeType="afterEffect">
                                  <p:stCondLst>
                                    <p:cond delay="0"/>
                                  </p:stCondLst>
                                  <p:childTnLst>
                                    <p:set>
                                      <p:cBhvr>
                                        <p:cTn id="41" dur="1" fill="hold">
                                          <p:stCondLst>
                                            <p:cond delay="0"/>
                                          </p:stCondLst>
                                        </p:cTn>
                                        <p:tgtEl>
                                          <p:spTgt spid="40"/>
                                        </p:tgtEl>
                                        <p:attrNameLst>
                                          <p:attrName>style.visibility</p:attrName>
                                        </p:attrNameLst>
                                      </p:cBhvr>
                                      <p:to>
                                        <p:strVal val="visible"/>
                                      </p:to>
                                    </p:set>
                                    <p:anim calcmode="lin" valueType="num">
                                      <p:cBhvr additive="base">
                                        <p:cTn id="42" dur="500" fill="hold"/>
                                        <p:tgtEl>
                                          <p:spTgt spid="40"/>
                                        </p:tgtEl>
                                        <p:attrNameLst>
                                          <p:attrName>ppt_x</p:attrName>
                                        </p:attrNameLst>
                                      </p:cBhvr>
                                      <p:tavLst>
                                        <p:tav tm="0">
                                          <p:val>
                                            <p:strVal val="#ppt_x"/>
                                          </p:val>
                                        </p:tav>
                                        <p:tav tm="100000">
                                          <p:val>
                                            <p:strVal val="#ppt_x"/>
                                          </p:val>
                                        </p:tav>
                                      </p:tavLst>
                                    </p:anim>
                                    <p:anim calcmode="lin" valueType="num">
                                      <p:cBhvr additive="base">
                                        <p:cTn id="43" dur="500" fill="hold"/>
                                        <p:tgtEl>
                                          <p:spTgt spid="40"/>
                                        </p:tgtEl>
                                        <p:attrNameLst>
                                          <p:attrName>ppt_y</p:attrName>
                                        </p:attrNameLst>
                                      </p:cBhvr>
                                      <p:tavLst>
                                        <p:tav tm="0">
                                          <p:val>
                                            <p:strVal val="1+#ppt_h/2"/>
                                          </p:val>
                                        </p:tav>
                                        <p:tav tm="100000">
                                          <p:val>
                                            <p:strVal val="#ppt_y"/>
                                          </p:val>
                                        </p:tav>
                                      </p:tavLst>
                                    </p:anim>
                                  </p:childTnLst>
                                </p:cTn>
                              </p:par>
                            </p:childTnLst>
                          </p:cTn>
                        </p:par>
                        <p:par>
                          <p:cTn id="44" fill="hold">
                            <p:stCondLst>
                              <p:cond delay="8340"/>
                            </p:stCondLst>
                            <p:childTnLst>
                              <p:par>
                                <p:cTn id="45" presetID="2" presetClass="entr" presetSubtype="4" fill="hold" nodeType="afterEffect">
                                  <p:stCondLst>
                                    <p:cond delay="0"/>
                                  </p:stCondLst>
                                  <p:childTnLst>
                                    <p:set>
                                      <p:cBhvr>
                                        <p:cTn id="46" dur="1" fill="hold">
                                          <p:stCondLst>
                                            <p:cond delay="0"/>
                                          </p:stCondLst>
                                        </p:cTn>
                                        <p:tgtEl>
                                          <p:spTgt spid="46"/>
                                        </p:tgtEl>
                                        <p:attrNameLst>
                                          <p:attrName>style.visibility</p:attrName>
                                        </p:attrNameLst>
                                      </p:cBhvr>
                                      <p:to>
                                        <p:strVal val="visible"/>
                                      </p:to>
                                    </p:set>
                                    <p:anim calcmode="lin" valueType="num">
                                      <p:cBhvr additive="base">
                                        <p:cTn id="47" dur="500" fill="hold"/>
                                        <p:tgtEl>
                                          <p:spTgt spid="46"/>
                                        </p:tgtEl>
                                        <p:attrNameLst>
                                          <p:attrName>ppt_x</p:attrName>
                                        </p:attrNameLst>
                                      </p:cBhvr>
                                      <p:tavLst>
                                        <p:tav tm="0">
                                          <p:val>
                                            <p:strVal val="#ppt_x"/>
                                          </p:val>
                                        </p:tav>
                                        <p:tav tm="100000">
                                          <p:val>
                                            <p:strVal val="#ppt_x"/>
                                          </p:val>
                                        </p:tav>
                                      </p:tavLst>
                                    </p:anim>
                                    <p:anim calcmode="lin" valueType="num">
                                      <p:cBhvr additive="base">
                                        <p:cTn id="48"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9" grpId="0" animBg="1"/>
      <p:bldP spid="20" grpId="0" animBg="1"/>
      <p:bldP spid="21"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784080" y="-1280160"/>
            <a:ext cx="3108960" cy="310896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343692" y="-720547"/>
            <a:ext cx="1989734" cy="1989734"/>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Kicker 83"/>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05  ·  BRIEF LITERATURE REVIEW  ·  1 OF 2</a:t>
            </a:r>
          </a:p>
        </p:txBody>
      </p:sp>
      <p:sp>
        <p:nvSpPr>
          <p:cNvPr id="15" name="Title 84"/>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Brief literature review</a:t>
            </a:r>
          </a:p>
        </p:txBody>
      </p:sp>
      <p:sp>
        <p:nvSpPr>
          <p:cNvPr id="16" name="Subtitle 85"/>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From rules to learning to cooperating agents</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Chapter 2 (§2.2–2.9); full references on the final slide</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06 / 20</a:t>
            </a:r>
          </a:p>
        </p:txBody>
      </p:sp>
      <p:grpSp>
        <p:nvGrpSpPr>
          <p:cNvPr id="23" name="Stage 86"/>
          <p:cNvGrpSpPr/>
          <p:nvPr/>
        </p:nvGrpSpPr>
        <p:grpSpPr>
          <a:xfrm>
            <a:off x="1417320" y="1874519"/>
            <a:ext cx="2453563" cy="713232"/>
            <a:chOff x="1417320" y="1874519"/>
            <a:chExt cx="2453563" cy="713232"/>
          </a:xfrm>
        </p:grpSpPr>
        <p:sp>
          <p:nvSpPr>
            <p:cNvPr id="20" name="Stage box"/>
            <p:cNvSpPr/>
            <p:nvPr/>
          </p:nvSpPr>
          <p:spPr>
            <a:xfrm>
              <a:off x="1417320" y="1874519"/>
              <a:ext cx="2453563" cy="713232"/>
            </a:xfrm>
            <a:prstGeom prst="roundRect">
              <a:avLst>
                <a:gd name="adj" fmla="val 12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Stage title"/>
            <p:cNvSpPr txBox="1"/>
            <p:nvPr/>
          </p:nvSpPr>
          <p:spPr>
            <a:xfrm>
              <a:off x="1554480" y="1911095"/>
              <a:ext cx="2179243" cy="365760"/>
            </a:xfrm>
            <a:prstGeom prst="rect">
              <a:avLst/>
            </a:prstGeom>
            <a:noFill/>
          </p:spPr>
          <p:txBody>
            <a:bodyPr wrap="square" lIns="36576" tIns="36576" rIns="36576" bIns="36576" anchor="t">
              <a:spAutoFit/>
            </a:bodyPr>
            <a:lstStyle/>
            <a:p>
              <a:pPr algn="ctr">
                <a:lnSpc>
                  <a:spcPct val="108000"/>
                </a:lnSpc>
              </a:pPr>
              <a:r>
                <a:rPr sz="1500" b="1" i="0">
                  <a:solidFill>
                    <a:srgbClr val="1F1A1B"/>
                  </a:solidFill>
                  <a:latin typeface="Bahnschrift"/>
                </a:rPr>
                <a:t>Rule &amp; feature based</a:t>
              </a:r>
            </a:p>
          </p:txBody>
        </p:sp>
        <p:sp>
          <p:nvSpPr>
            <p:cNvPr id="22" name="Stage ref"/>
            <p:cNvSpPr txBox="1"/>
            <p:nvPr/>
          </p:nvSpPr>
          <p:spPr>
            <a:xfrm>
              <a:off x="1554480" y="2240280"/>
              <a:ext cx="2179243" cy="292608"/>
            </a:xfrm>
            <a:prstGeom prst="rect">
              <a:avLst/>
            </a:prstGeom>
            <a:noFill/>
          </p:spPr>
          <p:txBody>
            <a:bodyPr wrap="square" lIns="36576" tIns="36576" rIns="36576" bIns="36576" anchor="t">
              <a:spAutoFit/>
            </a:bodyPr>
            <a:lstStyle/>
            <a:p>
              <a:pPr algn="ctr">
                <a:lnSpc>
                  <a:spcPct val="108000"/>
                </a:lnSpc>
              </a:pPr>
              <a:r>
                <a:rPr sz="1050" b="0" i="0">
                  <a:solidFill>
                    <a:srgbClr val="857A72"/>
                  </a:solidFill>
                  <a:latin typeface="Calibri"/>
                </a:rPr>
                <a:t>Mohammad et al., 2014</a:t>
              </a:r>
            </a:p>
          </p:txBody>
        </p:sp>
      </p:grpSp>
      <p:cxnSp>
        <p:nvCxnSpPr>
          <p:cNvPr id="24" name="Stage arrow 87"/>
          <p:cNvCxnSpPr/>
          <p:nvPr/>
        </p:nvCxnSpPr>
        <p:spPr>
          <a:xfrm>
            <a:off x="3889171" y="2231136"/>
            <a:ext cx="100584" cy="0"/>
          </a:xfrm>
          <a:prstGeom prst="line">
            <a:avLst/>
          </a:prstGeom>
          <a:ln w="19050">
            <a:solidFill>
              <a:srgbClr val="F69D39"/>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28" name="Stage 88"/>
          <p:cNvGrpSpPr/>
          <p:nvPr/>
        </p:nvGrpSpPr>
        <p:grpSpPr>
          <a:xfrm>
            <a:off x="4008043" y="1874519"/>
            <a:ext cx="2453563" cy="713232"/>
            <a:chOff x="4008043" y="1874519"/>
            <a:chExt cx="2453563" cy="713232"/>
          </a:xfrm>
        </p:grpSpPr>
        <p:sp>
          <p:nvSpPr>
            <p:cNvPr id="25" name="Stage box"/>
            <p:cNvSpPr/>
            <p:nvPr/>
          </p:nvSpPr>
          <p:spPr>
            <a:xfrm>
              <a:off x="4008043" y="1874519"/>
              <a:ext cx="2453563" cy="713232"/>
            </a:xfrm>
            <a:prstGeom prst="roundRect">
              <a:avLst>
                <a:gd name="adj" fmla="val 12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Stage title"/>
            <p:cNvSpPr txBox="1"/>
            <p:nvPr/>
          </p:nvSpPr>
          <p:spPr>
            <a:xfrm>
              <a:off x="4145203" y="1911095"/>
              <a:ext cx="2179243" cy="365760"/>
            </a:xfrm>
            <a:prstGeom prst="rect">
              <a:avLst/>
            </a:prstGeom>
            <a:noFill/>
          </p:spPr>
          <p:txBody>
            <a:bodyPr wrap="square" lIns="36576" tIns="36576" rIns="36576" bIns="36576" anchor="t">
              <a:spAutoFit/>
            </a:bodyPr>
            <a:lstStyle/>
            <a:p>
              <a:pPr algn="ctr">
                <a:lnSpc>
                  <a:spcPct val="108000"/>
                </a:lnSpc>
              </a:pPr>
              <a:r>
                <a:rPr sz="1500" b="1" i="0">
                  <a:solidFill>
                    <a:srgbClr val="1F1A1B"/>
                  </a:solidFill>
                  <a:latin typeface="Bahnschrift"/>
                </a:rPr>
                <a:t>Classical ML</a:t>
              </a:r>
            </a:p>
          </p:txBody>
        </p:sp>
        <p:sp>
          <p:nvSpPr>
            <p:cNvPr id="27" name="Stage ref"/>
            <p:cNvSpPr txBox="1"/>
            <p:nvPr/>
          </p:nvSpPr>
          <p:spPr>
            <a:xfrm>
              <a:off x="4145203" y="2240280"/>
              <a:ext cx="2179243" cy="292608"/>
            </a:xfrm>
            <a:prstGeom prst="rect">
              <a:avLst/>
            </a:prstGeom>
            <a:noFill/>
          </p:spPr>
          <p:txBody>
            <a:bodyPr wrap="square" lIns="36576" tIns="36576" rIns="36576" bIns="36576" anchor="t">
              <a:spAutoFit/>
            </a:bodyPr>
            <a:lstStyle/>
            <a:p>
              <a:pPr algn="ctr">
                <a:lnSpc>
                  <a:spcPct val="108000"/>
                </a:lnSpc>
              </a:pPr>
              <a:r>
                <a:rPr sz="1050" b="0" i="0">
                  <a:solidFill>
                    <a:srgbClr val="857A72"/>
                  </a:solidFill>
                  <a:latin typeface="Calibri"/>
                </a:rPr>
                <a:t>Sahingoz et al., 2019</a:t>
              </a:r>
            </a:p>
          </p:txBody>
        </p:sp>
      </p:grpSp>
      <p:cxnSp>
        <p:nvCxnSpPr>
          <p:cNvPr id="29" name="Stage arrow 89"/>
          <p:cNvCxnSpPr/>
          <p:nvPr/>
        </p:nvCxnSpPr>
        <p:spPr>
          <a:xfrm>
            <a:off x="6479895" y="2231136"/>
            <a:ext cx="100584" cy="0"/>
          </a:xfrm>
          <a:prstGeom prst="line">
            <a:avLst/>
          </a:prstGeom>
          <a:ln w="19050">
            <a:solidFill>
              <a:srgbClr val="F69D39"/>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3" name="Stage 90"/>
          <p:cNvGrpSpPr/>
          <p:nvPr/>
        </p:nvGrpSpPr>
        <p:grpSpPr>
          <a:xfrm>
            <a:off x="6598767" y="1874519"/>
            <a:ext cx="2453563" cy="713232"/>
            <a:chOff x="6598767" y="1874519"/>
            <a:chExt cx="2453563" cy="713232"/>
          </a:xfrm>
        </p:grpSpPr>
        <p:sp>
          <p:nvSpPr>
            <p:cNvPr id="30" name="Stage box"/>
            <p:cNvSpPr/>
            <p:nvPr/>
          </p:nvSpPr>
          <p:spPr>
            <a:xfrm>
              <a:off x="6598767" y="1874519"/>
              <a:ext cx="2453563" cy="713232"/>
            </a:xfrm>
            <a:prstGeom prst="roundRect">
              <a:avLst>
                <a:gd name="adj" fmla="val 12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Stage title"/>
            <p:cNvSpPr txBox="1"/>
            <p:nvPr/>
          </p:nvSpPr>
          <p:spPr>
            <a:xfrm>
              <a:off x="6735927" y="1911095"/>
              <a:ext cx="2179243" cy="365760"/>
            </a:xfrm>
            <a:prstGeom prst="rect">
              <a:avLst/>
            </a:prstGeom>
            <a:noFill/>
          </p:spPr>
          <p:txBody>
            <a:bodyPr wrap="square" lIns="36576" tIns="36576" rIns="36576" bIns="36576" anchor="t">
              <a:spAutoFit/>
            </a:bodyPr>
            <a:lstStyle/>
            <a:p>
              <a:pPr algn="ctr">
                <a:lnSpc>
                  <a:spcPct val="108000"/>
                </a:lnSpc>
              </a:pPr>
              <a:r>
                <a:rPr sz="1500" b="1" i="0">
                  <a:solidFill>
                    <a:srgbClr val="1F1A1B"/>
                  </a:solidFill>
                  <a:latin typeface="Bahnschrift"/>
                </a:rPr>
                <a:t>Deep learning</a:t>
              </a:r>
            </a:p>
          </p:txBody>
        </p:sp>
        <p:sp>
          <p:nvSpPr>
            <p:cNvPr id="32" name="Stage ref"/>
            <p:cNvSpPr txBox="1"/>
            <p:nvPr/>
          </p:nvSpPr>
          <p:spPr>
            <a:xfrm>
              <a:off x="6735927" y="2240280"/>
              <a:ext cx="2179243" cy="292608"/>
            </a:xfrm>
            <a:prstGeom prst="rect">
              <a:avLst/>
            </a:prstGeom>
            <a:noFill/>
          </p:spPr>
          <p:txBody>
            <a:bodyPr wrap="square" lIns="36576" tIns="36576" rIns="36576" bIns="36576" anchor="t">
              <a:spAutoFit/>
            </a:bodyPr>
            <a:lstStyle/>
            <a:p>
              <a:pPr algn="ctr">
                <a:lnSpc>
                  <a:spcPct val="108000"/>
                </a:lnSpc>
              </a:pPr>
              <a:r>
                <a:rPr sz="1050" b="0" i="0">
                  <a:solidFill>
                    <a:srgbClr val="857A72"/>
                  </a:solidFill>
                  <a:latin typeface="Calibri"/>
                </a:rPr>
                <a:t>Le et al., 2018; Devlin et al., 2019</a:t>
              </a:r>
            </a:p>
          </p:txBody>
        </p:sp>
      </p:grpSp>
      <p:cxnSp>
        <p:nvCxnSpPr>
          <p:cNvPr id="34" name="Stage arrow 91"/>
          <p:cNvCxnSpPr/>
          <p:nvPr/>
        </p:nvCxnSpPr>
        <p:spPr>
          <a:xfrm>
            <a:off x="9070619" y="2231136"/>
            <a:ext cx="100584" cy="0"/>
          </a:xfrm>
          <a:prstGeom prst="line">
            <a:avLst/>
          </a:prstGeom>
          <a:ln w="19050">
            <a:solidFill>
              <a:srgbClr val="F69D39"/>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8" name="Stage 92"/>
          <p:cNvGrpSpPr/>
          <p:nvPr/>
        </p:nvGrpSpPr>
        <p:grpSpPr>
          <a:xfrm>
            <a:off x="9189491" y="1874519"/>
            <a:ext cx="2453563" cy="713232"/>
            <a:chOff x="9189491" y="1874519"/>
            <a:chExt cx="2453563" cy="713232"/>
          </a:xfrm>
        </p:grpSpPr>
        <p:sp>
          <p:nvSpPr>
            <p:cNvPr id="35" name="Stage box"/>
            <p:cNvSpPr/>
            <p:nvPr/>
          </p:nvSpPr>
          <p:spPr>
            <a:xfrm>
              <a:off x="9189491" y="1874519"/>
              <a:ext cx="2453563" cy="713232"/>
            </a:xfrm>
            <a:prstGeom prst="roundRect">
              <a:avLst>
                <a:gd name="adj" fmla="val 12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Stage title"/>
            <p:cNvSpPr txBox="1"/>
            <p:nvPr/>
          </p:nvSpPr>
          <p:spPr>
            <a:xfrm>
              <a:off x="9326651" y="1911095"/>
              <a:ext cx="2179243" cy="365760"/>
            </a:xfrm>
            <a:prstGeom prst="rect">
              <a:avLst/>
            </a:prstGeom>
            <a:noFill/>
          </p:spPr>
          <p:txBody>
            <a:bodyPr wrap="square" lIns="36576" tIns="36576" rIns="36576" bIns="36576" anchor="t">
              <a:spAutoFit/>
            </a:bodyPr>
            <a:lstStyle/>
            <a:p>
              <a:pPr algn="ctr">
                <a:lnSpc>
                  <a:spcPct val="108000"/>
                </a:lnSpc>
              </a:pPr>
              <a:r>
                <a:rPr sz="1500" b="1" i="0">
                  <a:solidFill>
                    <a:srgbClr val="F69D39"/>
                  </a:solidFill>
                  <a:latin typeface="Bahnschrift"/>
                </a:rPr>
                <a:t>Hybrid + agents</a:t>
              </a:r>
            </a:p>
          </p:txBody>
        </p:sp>
        <p:sp>
          <p:nvSpPr>
            <p:cNvPr id="37" name="Stage ref"/>
            <p:cNvSpPr txBox="1"/>
            <p:nvPr/>
          </p:nvSpPr>
          <p:spPr>
            <a:xfrm>
              <a:off x="9326651" y="2240280"/>
              <a:ext cx="2179243" cy="292608"/>
            </a:xfrm>
            <a:prstGeom prst="rect">
              <a:avLst/>
            </a:prstGeom>
            <a:noFill/>
          </p:spPr>
          <p:txBody>
            <a:bodyPr wrap="square" lIns="36576" tIns="36576" rIns="36576" bIns="36576" anchor="t">
              <a:spAutoFit/>
            </a:bodyPr>
            <a:lstStyle/>
            <a:p>
              <a:pPr algn="ctr">
                <a:lnSpc>
                  <a:spcPct val="108000"/>
                </a:lnSpc>
              </a:pPr>
              <a:r>
                <a:rPr sz="1050" b="0" i="0">
                  <a:solidFill>
                    <a:srgbClr val="CFC6B8"/>
                  </a:solidFill>
                  <a:latin typeface="Calibri"/>
                </a:rPr>
                <a:t>Khonji et al., 2013; Yao et al., 2023</a:t>
              </a:r>
            </a:p>
          </p:txBody>
        </p:sp>
      </p:grpSp>
      <p:grpSp>
        <p:nvGrpSpPr>
          <p:cNvPr id="90" name="Timeline strip 93"/>
          <p:cNvGrpSpPr/>
          <p:nvPr/>
        </p:nvGrpSpPr>
        <p:grpSpPr>
          <a:xfrm>
            <a:off x="1399032" y="2862072"/>
            <a:ext cx="25347168" cy="3127248"/>
            <a:chOff x="1399032" y="2862072"/>
            <a:chExt cx="25347168" cy="3127248"/>
          </a:xfrm>
        </p:grpSpPr>
        <p:cxnSp>
          <p:nvCxnSpPr>
            <p:cNvPr id="39" name="Timeline"/>
            <p:cNvCxnSpPr/>
            <p:nvPr/>
          </p:nvCxnSpPr>
          <p:spPr>
            <a:xfrm>
              <a:off x="1417320" y="3447288"/>
              <a:ext cx="25328880" cy="0"/>
            </a:xfrm>
            <a:prstGeom prst="line">
              <a:avLst/>
            </a:prstGeom>
            <a:ln w="19050">
              <a:solidFill>
                <a:srgbClr val="F69D39"/>
              </a:solidFill>
            </a:ln>
          </p:spPr>
          <p:style>
            <a:lnRef idx="2">
              <a:schemeClr val="accent1"/>
            </a:lnRef>
            <a:fillRef idx="0">
              <a:schemeClr val="accent1"/>
            </a:fillRef>
            <a:effectRef idx="1">
              <a:schemeClr val="accent1"/>
            </a:effectRef>
            <a:fontRef idx="minor">
              <a:schemeClr val="tx1"/>
            </a:fontRef>
          </p:style>
        </p:cxnSp>
        <p:sp>
          <p:nvSpPr>
            <p:cNvPr id="40" name="Year dot"/>
            <p:cNvSpPr/>
            <p:nvPr/>
          </p:nvSpPr>
          <p:spPr>
            <a:xfrm>
              <a:off x="1417320" y="3355848"/>
              <a:ext cx="182880" cy="182880"/>
            </a:xfrm>
            <a:prstGeom prst="ellipse">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1" name="Year"/>
            <p:cNvSpPr txBox="1"/>
            <p:nvPr/>
          </p:nvSpPr>
          <p:spPr>
            <a:xfrm>
              <a:off x="1399032" y="2862072"/>
              <a:ext cx="1097280" cy="457200"/>
            </a:xfrm>
            <a:prstGeom prst="rect">
              <a:avLst/>
            </a:prstGeom>
            <a:noFill/>
          </p:spPr>
          <p:txBody>
            <a:bodyPr wrap="square" lIns="36576" tIns="36576" rIns="36576" bIns="36576" anchor="t">
              <a:spAutoFit/>
            </a:bodyPr>
            <a:lstStyle/>
            <a:p>
              <a:pPr algn="l">
                <a:lnSpc>
                  <a:spcPct val="108000"/>
                </a:lnSpc>
              </a:pPr>
              <a:r>
                <a:rPr sz="2000" b="1" i="0">
                  <a:solidFill>
                    <a:srgbClr val="F69D39"/>
                  </a:solidFill>
                  <a:latin typeface="Bahnschrift"/>
                </a:rPr>
                <a:t>2007</a:t>
              </a:r>
            </a:p>
          </p:txBody>
        </p:sp>
        <p:sp>
          <p:nvSpPr>
            <p:cNvPr id="42" name="Work card"/>
            <p:cNvSpPr/>
            <p:nvPr/>
          </p:nvSpPr>
          <p:spPr>
            <a:xfrm>
              <a:off x="1417320" y="3840480"/>
              <a:ext cx="2331720" cy="21488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Work author"/>
            <p:cNvSpPr txBox="1"/>
            <p:nvPr/>
          </p:nvSpPr>
          <p:spPr>
            <a:xfrm>
              <a:off x="1581912" y="3977639"/>
              <a:ext cx="2002536" cy="411480"/>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Provos et al.</a:t>
              </a:r>
            </a:p>
          </p:txBody>
        </p:sp>
        <p:sp>
          <p:nvSpPr>
            <p:cNvPr id="44" name="Work finding"/>
            <p:cNvSpPr txBox="1"/>
            <p:nvPr/>
          </p:nvSpPr>
          <p:spPr>
            <a:xfrm>
              <a:off x="1581912" y="4389120"/>
              <a:ext cx="2002536" cy="1554480"/>
            </a:xfrm>
            <a:prstGeom prst="rect">
              <a:avLst/>
            </a:prstGeom>
            <a:noFill/>
          </p:spPr>
          <p:txBody>
            <a:bodyPr wrap="square" lIns="36576" tIns="36576" rIns="36576" bIns="36576" anchor="t">
              <a:spAutoFit/>
            </a:bodyPr>
            <a:lstStyle/>
            <a:p>
              <a:pPr algn="l">
                <a:lnSpc>
                  <a:spcPct val="104000"/>
                </a:lnSpc>
              </a:pPr>
              <a:r>
                <a:rPr sz="1350" b="0" i="0">
                  <a:solidFill>
                    <a:srgbClr val="4A4244"/>
                  </a:solidFill>
                  <a:latin typeface="Calibri"/>
                </a:rPr>
                <a:t>Drive-by downloads: 1.3% of sampled pages; predicted short-lived domains and polymorphic JavaScript.</a:t>
              </a:r>
            </a:p>
          </p:txBody>
        </p:sp>
        <p:sp>
          <p:nvSpPr>
            <p:cNvPr id="45" name="Year dot"/>
            <p:cNvSpPr/>
            <p:nvPr/>
          </p:nvSpPr>
          <p:spPr>
            <a:xfrm>
              <a:off x="3950208" y="3355848"/>
              <a:ext cx="182880" cy="182880"/>
            </a:xfrm>
            <a:prstGeom prst="ellipse">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6" name="Year"/>
            <p:cNvSpPr txBox="1"/>
            <p:nvPr/>
          </p:nvSpPr>
          <p:spPr>
            <a:xfrm>
              <a:off x="3931920" y="2862072"/>
              <a:ext cx="1097280" cy="457200"/>
            </a:xfrm>
            <a:prstGeom prst="rect">
              <a:avLst/>
            </a:prstGeom>
            <a:noFill/>
          </p:spPr>
          <p:txBody>
            <a:bodyPr wrap="square" lIns="36576" tIns="36576" rIns="36576" bIns="36576" anchor="t">
              <a:spAutoFit/>
            </a:bodyPr>
            <a:lstStyle/>
            <a:p>
              <a:pPr algn="l">
                <a:lnSpc>
                  <a:spcPct val="108000"/>
                </a:lnSpc>
              </a:pPr>
              <a:r>
                <a:rPr sz="2000" b="1" i="0">
                  <a:solidFill>
                    <a:srgbClr val="5E7257"/>
                  </a:solidFill>
                  <a:latin typeface="Bahnschrift"/>
                </a:rPr>
                <a:t>2010</a:t>
              </a:r>
            </a:p>
          </p:txBody>
        </p:sp>
        <p:sp>
          <p:nvSpPr>
            <p:cNvPr id="47" name="Work card"/>
            <p:cNvSpPr/>
            <p:nvPr/>
          </p:nvSpPr>
          <p:spPr>
            <a:xfrm>
              <a:off x="3950208" y="3840480"/>
              <a:ext cx="2331720" cy="21488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8" name="Work author"/>
            <p:cNvSpPr txBox="1"/>
            <p:nvPr/>
          </p:nvSpPr>
          <p:spPr>
            <a:xfrm>
              <a:off x="4114800" y="3977639"/>
              <a:ext cx="2002536" cy="411480"/>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Sommer &amp; Paxson</a:t>
              </a:r>
            </a:p>
          </p:txBody>
        </p:sp>
        <p:sp>
          <p:nvSpPr>
            <p:cNvPr id="49" name="Work finding"/>
            <p:cNvSpPr txBox="1"/>
            <p:nvPr/>
          </p:nvSpPr>
          <p:spPr>
            <a:xfrm>
              <a:off x="4114800" y="4389120"/>
              <a:ext cx="2002536" cy="1554480"/>
            </a:xfrm>
            <a:prstGeom prst="rect">
              <a:avLst/>
            </a:prstGeom>
            <a:noFill/>
          </p:spPr>
          <p:txBody>
            <a:bodyPr wrap="square" lIns="36576" tIns="36576" rIns="36576" bIns="36576" anchor="t">
              <a:spAutoFit/>
            </a:bodyPr>
            <a:lstStyle/>
            <a:p>
              <a:pPr algn="l">
                <a:lnSpc>
                  <a:spcPct val="104000"/>
                </a:lnSpc>
              </a:pPr>
              <a:r>
                <a:rPr sz="1350" b="0" i="0">
                  <a:solidFill>
                    <a:srgbClr val="4A4244"/>
                  </a:solidFill>
                  <a:latin typeface="Calibri"/>
                </a:rPr>
                <a:t>ML for intrusion detection must handle cost-asymmetric errors and be interpretable.</a:t>
              </a:r>
            </a:p>
          </p:txBody>
        </p:sp>
        <p:sp>
          <p:nvSpPr>
            <p:cNvPr id="50" name="Year dot"/>
            <p:cNvSpPr/>
            <p:nvPr/>
          </p:nvSpPr>
          <p:spPr>
            <a:xfrm>
              <a:off x="6483096" y="3355848"/>
              <a:ext cx="182880" cy="182880"/>
            </a:xfrm>
            <a:prstGeom prst="ellipse">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1" name="Year"/>
            <p:cNvSpPr txBox="1"/>
            <p:nvPr/>
          </p:nvSpPr>
          <p:spPr>
            <a:xfrm>
              <a:off x="6464808" y="2862072"/>
              <a:ext cx="1097280" cy="457200"/>
            </a:xfrm>
            <a:prstGeom prst="rect">
              <a:avLst/>
            </a:prstGeom>
            <a:noFill/>
          </p:spPr>
          <p:txBody>
            <a:bodyPr wrap="square" lIns="36576" tIns="36576" rIns="36576" bIns="36576" anchor="t">
              <a:spAutoFit/>
            </a:bodyPr>
            <a:lstStyle/>
            <a:p>
              <a:pPr algn="l">
                <a:lnSpc>
                  <a:spcPct val="108000"/>
                </a:lnSpc>
              </a:pPr>
              <a:r>
                <a:rPr sz="2000" b="1" i="0">
                  <a:solidFill>
                    <a:srgbClr val="F69D39"/>
                  </a:solidFill>
                  <a:latin typeface="Bahnschrift"/>
                </a:rPr>
                <a:t>2012</a:t>
              </a:r>
            </a:p>
          </p:txBody>
        </p:sp>
        <p:sp>
          <p:nvSpPr>
            <p:cNvPr id="52" name="Work card"/>
            <p:cNvSpPr/>
            <p:nvPr/>
          </p:nvSpPr>
          <p:spPr>
            <a:xfrm>
              <a:off x="6483096" y="3840480"/>
              <a:ext cx="2331720" cy="21488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3" name="Work author"/>
            <p:cNvSpPr txBox="1"/>
            <p:nvPr/>
          </p:nvSpPr>
          <p:spPr>
            <a:xfrm>
              <a:off x="6647688" y="3977639"/>
              <a:ext cx="2002536" cy="411480"/>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Antonakakis et al.</a:t>
              </a:r>
            </a:p>
          </p:txBody>
        </p:sp>
        <p:sp>
          <p:nvSpPr>
            <p:cNvPr id="54" name="Work finding"/>
            <p:cNvSpPr txBox="1"/>
            <p:nvPr/>
          </p:nvSpPr>
          <p:spPr>
            <a:xfrm>
              <a:off x="6647688" y="4389120"/>
              <a:ext cx="2002536" cy="1554480"/>
            </a:xfrm>
            <a:prstGeom prst="rect">
              <a:avLst/>
            </a:prstGeom>
            <a:noFill/>
          </p:spPr>
          <p:txBody>
            <a:bodyPr wrap="square" lIns="36576" tIns="36576" rIns="36576" bIns="36576" anchor="t">
              <a:spAutoFit/>
            </a:bodyPr>
            <a:lstStyle/>
            <a:p>
              <a:pPr algn="l">
                <a:lnSpc>
                  <a:spcPct val="104000"/>
                </a:lnSpc>
              </a:pPr>
              <a:r>
                <a:rPr sz="1350" b="0" i="0">
                  <a:solidFill>
                    <a:srgbClr val="4A4244"/>
                  </a:solidFill>
                  <a:latin typeface="Calibri"/>
                </a:rPr>
                <a:t>DGA domains look random: high entropy, few vowels, digit mixing; detect families, not single names.</a:t>
              </a:r>
            </a:p>
          </p:txBody>
        </p:sp>
        <p:sp>
          <p:nvSpPr>
            <p:cNvPr id="55" name="Year dot"/>
            <p:cNvSpPr/>
            <p:nvPr/>
          </p:nvSpPr>
          <p:spPr>
            <a:xfrm>
              <a:off x="9015984" y="3355848"/>
              <a:ext cx="182880" cy="182880"/>
            </a:xfrm>
            <a:prstGeom prst="ellipse">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6" name="Year"/>
            <p:cNvSpPr txBox="1"/>
            <p:nvPr/>
          </p:nvSpPr>
          <p:spPr>
            <a:xfrm>
              <a:off x="8997696" y="2862072"/>
              <a:ext cx="1097280" cy="457200"/>
            </a:xfrm>
            <a:prstGeom prst="rect">
              <a:avLst/>
            </a:prstGeom>
            <a:noFill/>
          </p:spPr>
          <p:txBody>
            <a:bodyPr wrap="square" lIns="36576" tIns="36576" rIns="36576" bIns="36576" anchor="t">
              <a:spAutoFit/>
            </a:bodyPr>
            <a:lstStyle/>
            <a:p>
              <a:pPr algn="l">
                <a:lnSpc>
                  <a:spcPct val="108000"/>
                </a:lnSpc>
              </a:pPr>
              <a:r>
                <a:rPr sz="2000" b="1" i="0">
                  <a:solidFill>
                    <a:srgbClr val="5E7257"/>
                  </a:solidFill>
                  <a:latin typeface="Bahnschrift"/>
                </a:rPr>
                <a:t>2013</a:t>
              </a:r>
            </a:p>
          </p:txBody>
        </p:sp>
        <p:sp>
          <p:nvSpPr>
            <p:cNvPr id="57" name="Work card"/>
            <p:cNvSpPr/>
            <p:nvPr/>
          </p:nvSpPr>
          <p:spPr>
            <a:xfrm>
              <a:off x="9015984" y="3840480"/>
              <a:ext cx="2331720" cy="21488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8" name="Work author"/>
            <p:cNvSpPr txBox="1"/>
            <p:nvPr/>
          </p:nvSpPr>
          <p:spPr>
            <a:xfrm>
              <a:off x="9180576" y="3977639"/>
              <a:ext cx="2002536" cy="411480"/>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Khonji et al.</a:t>
              </a:r>
            </a:p>
          </p:txBody>
        </p:sp>
        <p:sp>
          <p:nvSpPr>
            <p:cNvPr id="59" name="Work finding"/>
            <p:cNvSpPr txBox="1"/>
            <p:nvPr/>
          </p:nvSpPr>
          <p:spPr>
            <a:xfrm>
              <a:off x="9180576" y="4389120"/>
              <a:ext cx="2002536" cy="1554480"/>
            </a:xfrm>
            <a:prstGeom prst="rect">
              <a:avLst/>
            </a:prstGeom>
            <a:noFill/>
          </p:spPr>
          <p:txBody>
            <a:bodyPr wrap="square" lIns="36576" tIns="36576" rIns="36576" bIns="36576" anchor="t">
              <a:spAutoFit/>
            </a:bodyPr>
            <a:lstStyle/>
            <a:p>
              <a:pPr algn="l">
                <a:lnSpc>
                  <a:spcPct val="104000"/>
                </a:lnSpc>
              </a:pPr>
              <a:r>
                <a:rPr sz="1350" b="0" i="0">
                  <a:solidFill>
                    <a:srgbClr val="4A4244"/>
                  </a:solidFill>
                  <a:latin typeface="Calibri"/>
                </a:rPr>
                <a:t>Survey of 70+ phishing works: combine lexical, content and reputation features.</a:t>
              </a:r>
            </a:p>
          </p:txBody>
        </p:sp>
        <p:sp>
          <p:nvSpPr>
            <p:cNvPr id="60" name="Year dot"/>
            <p:cNvSpPr/>
            <p:nvPr/>
          </p:nvSpPr>
          <p:spPr>
            <a:xfrm>
              <a:off x="11548872" y="3355848"/>
              <a:ext cx="182880" cy="182880"/>
            </a:xfrm>
            <a:prstGeom prst="ellipse">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1" name="Year"/>
            <p:cNvSpPr txBox="1"/>
            <p:nvPr/>
          </p:nvSpPr>
          <p:spPr>
            <a:xfrm>
              <a:off x="11530584" y="2862072"/>
              <a:ext cx="1097280" cy="457200"/>
            </a:xfrm>
            <a:prstGeom prst="rect">
              <a:avLst/>
            </a:prstGeom>
            <a:noFill/>
          </p:spPr>
          <p:txBody>
            <a:bodyPr wrap="square" lIns="36576" tIns="36576" rIns="36576" bIns="36576" anchor="t">
              <a:spAutoFit/>
            </a:bodyPr>
            <a:lstStyle/>
            <a:p>
              <a:pPr algn="l">
                <a:lnSpc>
                  <a:spcPct val="108000"/>
                </a:lnSpc>
              </a:pPr>
              <a:r>
                <a:rPr sz="2000" b="1" i="0">
                  <a:solidFill>
                    <a:srgbClr val="F69D39"/>
                  </a:solidFill>
                  <a:latin typeface="Bahnschrift"/>
                </a:rPr>
                <a:t>2016</a:t>
              </a:r>
            </a:p>
          </p:txBody>
        </p:sp>
        <p:sp>
          <p:nvSpPr>
            <p:cNvPr id="62" name="Work card"/>
            <p:cNvSpPr/>
            <p:nvPr/>
          </p:nvSpPr>
          <p:spPr>
            <a:xfrm>
              <a:off x="11548872" y="3840480"/>
              <a:ext cx="2331720" cy="21488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3" name="Work author"/>
            <p:cNvSpPr txBox="1"/>
            <p:nvPr/>
          </p:nvSpPr>
          <p:spPr>
            <a:xfrm>
              <a:off x="11713464" y="3977639"/>
              <a:ext cx="2002536" cy="411480"/>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Liao et al.</a:t>
              </a:r>
            </a:p>
          </p:txBody>
        </p:sp>
        <p:sp>
          <p:nvSpPr>
            <p:cNvPr id="64" name="Work finding"/>
            <p:cNvSpPr txBox="1"/>
            <p:nvPr/>
          </p:nvSpPr>
          <p:spPr>
            <a:xfrm>
              <a:off x="11713464" y="4389120"/>
              <a:ext cx="2002536" cy="1554480"/>
            </a:xfrm>
            <a:prstGeom prst="rect">
              <a:avLst/>
            </a:prstGeom>
            <a:noFill/>
          </p:spPr>
          <p:txBody>
            <a:bodyPr wrap="square" lIns="36576" tIns="36576" rIns="36576" bIns="36576" anchor="t">
              <a:spAutoFit/>
            </a:bodyPr>
            <a:lstStyle/>
            <a:p>
              <a:pPr algn="l">
                <a:lnSpc>
                  <a:spcPct val="104000"/>
                </a:lnSpc>
              </a:pPr>
              <a:r>
                <a:rPr sz="1350" b="0" i="0">
                  <a:solidFill>
                    <a:srgbClr val="4A4244"/>
                  </a:solidFill>
                  <a:latin typeface="Calibri"/>
                </a:rPr>
                <a:t>Automatic IOC discovery from open threat reports; STIX/TAXII for sharing (Barnum, 2012).</a:t>
              </a:r>
            </a:p>
          </p:txBody>
        </p:sp>
        <p:sp>
          <p:nvSpPr>
            <p:cNvPr id="65" name="Year dot"/>
            <p:cNvSpPr/>
            <p:nvPr/>
          </p:nvSpPr>
          <p:spPr>
            <a:xfrm>
              <a:off x="14081760" y="3355848"/>
              <a:ext cx="182880" cy="182880"/>
            </a:xfrm>
            <a:prstGeom prst="ellipse">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6" name="Year"/>
            <p:cNvSpPr txBox="1"/>
            <p:nvPr/>
          </p:nvSpPr>
          <p:spPr>
            <a:xfrm>
              <a:off x="14063472" y="2862072"/>
              <a:ext cx="1097280" cy="457200"/>
            </a:xfrm>
            <a:prstGeom prst="rect">
              <a:avLst/>
            </a:prstGeom>
            <a:noFill/>
          </p:spPr>
          <p:txBody>
            <a:bodyPr wrap="square" lIns="36576" tIns="36576" rIns="36576" bIns="36576" anchor="t">
              <a:spAutoFit/>
            </a:bodyPr>
            <a:lstStyle/>
            <a:p>
              <a:pPr algn="l">
                <a:lnSpc>
                  <a:spcPct val="108000"/>
                </a:lnSpc>
              </a:pPr>
              <a:r>
                <a:rPr sz="2000" b="1" i="0">
                  <a:solidFill>
                    <a:srgbClr val="5E7257"/>
                  </a:solidFill>
                  <a:latin typeface="Bahnschrift"/>
                </a:rPr>
                <a:t>2018</a:t>
              </a:r>
            </a:p>
          </p:txBody>
        </p:sp>
        <p:sp>
          <p:nvSpPr>
            <p:cNvPr id="67" name="Work card"/>
            <p:cNvSpPr/>
            <p:nvPr/>
          </p:nvSpPr>
          <p:spPr>
            <a:xfrm>
              <a:off x="14081760" y="3840480"/>
              <a:ext cx="2331720" cy="21488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8" name="Work author"/>
            <p:cNvSpPr txBox="1"/>
            <p:nvPr/>
          </p:nvSpPr>
          <p:spPr>
            <a:xfrm>
              <a:off x="14246352" y="3977639"/>
              <a:ext cx="2002536" cy="411480"/>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Strom et al.</a:t>
              </a:r>
            </a:p>
          </p:txBody>
        </p:sp>
        <p:sp>
          <p:nvSpPr>
            <p:cNvPr id="69" name="Work finding"/>
            <p:cNvSpPr txBox="1"/>
            <p:nvPr/>
          </p:nvSpPr>
          <p:spPr>
            <a:xfrm>
              <a:off x="14246352" y="4389120"/>
              <a:ext cx="2002536" cy="1554480"/>
            </a:xfrm>
            <a:prstGeom prst="rect">
              <a:avLst/>
            </a:prstGeom>
            <a:noFill/>
          </p:spPr>
          <p:txBody>
            <a:bodyPr wrap="square" lIns="36576" tIns="36576" rIns="36576" bIns="36576" anchor="t">
              <a:spAutoFit/>
            </a:bodyPr>
            <a:lstStyle/>
            <a:p>
              <a:pPr algn="l">
                <a:lnSpc>
                  <a:spcPct val="104000"/>
                </a:lnSpc>
              </a:pPr>
              <a:r>
                <a:rPr sz="1350" b="0" i="0">
                  <a:solidFill>
                    <a:srgbClr val="4A4244"/>
                  </a:solidFill>
                  <a:latin typeface="Calibri"/>
                </a:rPr>
                <a:t>MITRE ATT&amp;CK: shared language of adversary tactics and techniques.</a:t>
              </a:r>
            </a:p>
          </p:txBody>
        </p:sp>
        <p:sp>
          <p:nvSpPr>
            <p:cNvPr id="70" name="Year dot"/>
            <p:cNvSpPr/>
            <p:nvPr/>
          </p:nvSpPr>
          <p:spPr>
            <a:xfrm>
              <a:off x="16614648" y="3355848"/>
              <a:ext cx="182880" cy="182880"/>
            </a:xfrm>
            <a:prstGeom prst="ellipse">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1" name="Year"/>
            <p:cNvSpPr txBox="1"/>
            <p:nvPr/>
          </p:nvSpPr>
          <p:spPr>
            <a:xfrm>
              <a:off x="16596360" y="2862072"/>
              <a:ext cx="1097280" cy="457200"/>
            </a:xfrm>
            <a:prstGeom prst="rect">
              <a:avLst/>
            </a:prstGeom>
            <a:noFill/>
          </p:spPr>
          <p:txBody>
            <a:bodyPr wrap="square" lIns="36576" tIns="36576" rIns="36576" bIns="36576" anchor="t">
              <a:spAutoFit/>
            </a:bodyPr>
            <a:lstStyle/>
            <a:p>
              <a:pPr algn="l">
                <a:lnSpc>
                  <a:spcPct val="108000"/>
                </a:lnSpc>
              </a:pPr>
              <a:r>
                <a:rPr sz="2000" b="1" i="0">
                  <a:solidFill>
                    <a:srgbClr val="F69D39"/>
                  </a:solidFill>
                  <a:latin typeface="Bahnschrift"/>
                </a:rPr>
                <a:t>2018</a:t>
              </a:r>
            </a:p>
          </p:txBody>
        </p:sp>
        <p:sp>
          <p:nvSpPr>
            <p:cNvPr id="72" name="Work card"/>
            <p:cNvSpPr/>
            <p:nvPr/>
          </p:nvSpPr>
          <p:spPr>
            <a:xfrm>
              <a:off x="16614648" y="3840480"/>
              <a:ext cx="2331720" cy="21488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3" name="Work author"/>
            <p:cNvSpPr txBox="1"/>
            <p:nvPr/>
          </p:nvSpPr>
          <p:spPr>
            <a:xfrm>
              <a:off x="16779240" y="3977639"/>
              <a:ext cx="2002536" cy="411480"/>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Le et al.</a:t>
              </a:r>
            </a:p>
          </p:txBody>
        </p:sp>
        <p:sp>
          <p:nvSpPr>
            <p:cNvPr id="74" name="Work finding"/>
            <p:cNvSpPr txBox="1"/>
            <p:nvPr/>
          </p:nvSpPr>
          <p:spPr>
            <a:xfrm>
              <a:off x="16779240" y="4389120"/>
              <a:ext cx="2002536" cy="1554480"/>
            </a:xfrm>
            <a:prstGeom prst="rect">
              <a:avLst/>
            </a:prstGeom>
            <a:noFill/>
          </p:spPr>
          <p:txBody>
            <a:bodyPr wrap="square" lIns="36576" tIns="36576" rIns="36576" bIns="36576" anchor="t">
              <a:spAutoFit/>
            </a:bodyPr>
            <a:lstStyle/>
            <a:p>
              <a:pPr algn="l">
                <a:lnSpc>
                  <a:spcPct val="104000"/>
                </a:lnSpc>
              </a:pPr>
              <a:r>
                <a:rPr sz="1350" b="0" i="0">
                  <a:solidFill>
                    <a:srgbClr val="4A4244"/>
                  </a:solidFill>
                  <a:latin typeface="Calibri"/>
                </a:rPr>
                <a:t>URLNet learns URL representations from raw text with deep learning.</a:t>
              </a:r>
            </a:p>
          </p:txBody>
        </p:sp>
        <p:sp>
          <p:nvSpPr>
            <p:cNvPr id="75" name="Year dot"/>
            <p:cNvSpPr/>
            <p:nvPr/>
          </p:nvSpPr>
          <p:spPr>
            <a:xfrm>
              <a:off x="19147536" y="3355848"/>
              <a:ext cx="182880" cy="182880"/>
            </a:xfrm>
            <a:prstGeom prst="ellipse">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6" name="Year"/>
            <p:cNvSpPr txBox="1"/>
            <p:nvPr/>
          </p:nvSpPr>
          <p:spPr>
            <a:xfrm>
              <a:off x="19129248" y="2862072"/>
              <a:ext cx="1097280" cy="457200"/>
            </a:xfrm>
            <a:prstGeom prst="rect">
              <a:avLst/>
            </a:prstGeom>
            <a:noFill/>
          </p:spPr>
          <p:txBody>
            <a:bodyPr wrap="square" lIns="36576" tIns="36576" rIns="36576" bIns="36576" anchor="t">
              <a:spAutoFit/>
            </a:bodyPr>
            <a:lstStyle/>
            <a:p>
              <a:pPr algn="l">
                <a:lnSpc>
                  <a:spcPct val="108000"/>
                </a:lnSpc>
              </a:pPr>
              <a:r>
                <a:rPr sz="2000" b="1" i="0">
                  <a:solidFill>
                    <a:srgbClr val="5E7257"/>
                  </a:solidFill>
                  <a:latin typeface="Bahnschrift"/>
                </a:rPr>
                <a:t>2019</a:t>
              </a:r>
            </a:p>
          </p:txBody>
        </p:sp>
        <p:sp>
          <p:nvSpPr>
            <p:cNvPr id="77" name="Work card"/>
            <p:cNvSpPr/>
            <p:nvPr/>
          </p:nvSpPr>
          <p:spPr>
            <a:xfrm>
              <a:off x="19147536" y="3840480"/>
              <a:ext cx="2331720" cy="21488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8" name="Work author"/>
            <p:cNvSpPr txBox="1"/>
            <p:nvPr/>
          </p:nvSpPr>
          <p:spPr>
            <a:xfrm>
              <a:off x="19312128" y="3977639"/>
              <a:ext cx="2002536" cy="411480"/>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Devlin et al.</a:t>
              </a:r>
            </a:p>
          </p:txBody>
        </p:sp>
        <p:sp>
          <p:nvSpPr>
            <p:cNvPr id="79" name="Work finding"/>
            <p:cNvSpPr txBox="1"/>
            <p:nvPr/>
          </p:nvSpPr>
          <p:spPr>
            <a:xfrm>
              <a:off x="19312128" y="4389120"/>
              <a:ext cx="2002536" cy="1554480"/>
            </a:xfrm>
            <a:prstGeom prst="rect">
              <a:avLst/>
            </a:prstGeom>
            <a:noFill/>
          </p:spPr>
          <p:txBody>
            <a:bodyPr wrap="square" lIns="36576" tIns="36576" rIns="36576" bIns="36576" anchor="t">
              <a:spAutoFit/>
            </a:bodyPr>
            <a:lstStyle/>
            <a:p>
              <a:pPr algn="l">
                <a:lnSpc>
                  <a:spcPct val="104000"/>
                </a:lnSpc>
              </a:pPr>
              <a:r>
                <a:rPr sz="1350" b="0" i="0">
                  <a:solidFill>
                    <a:srgbClr val="4A4244"/>
                  </a:solidFill>
                  <a:latin typeface="Calibri"/>
                </a:rPr>
                <a:t>BERT: pre-train then fine-tune; domain-adapted variants for security.</a:t>
              </a:r>
            </a:p>
          </p:txBody>
        </p:sp>
        <p:sp>
          <p:nvSpPr>
            <p:cNvPr id="80" name="Year dot"/>
            <p:cNvSpPr/>
            <p:nvPr/>
          </p:nvSpPr>
          <p:spPr>
            <a:xfrm>
              <a:off x="21680424" y="3355848"/>
              <a:ext cx="182880" cy="182880"/>
            </a:xfrm>
            <a:prstGeom prst="ellipse">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1" name="Year"/>
            <p:cNvSpPr txBox="1"/>
            <p:nvPr/>
          </p:nvSpPr>
          <p:spPr>
            <a:xfrm>
              <a:off x="21662136" y="2862072"/>
              <a:ext cx="1097280" cy="457200"/>
            </a:xfrm>
            <a:prstGeom prst="rect">
              <a:avLst/>
            </a:prstGeom>
            <a:noFill/>
          </p:spPr>
          <p:txBody>
            <a:bodyPr wrap="square" lIns="36576" tIns="36576" rIns="36576" bIns="36576" anchor="t">
              <a:spAutoFit/>
            </a:bodyPr>
            <a:lstStyle/>
            <a:p>
              <a:pPr algn="l">
                <a:lnSpc>
                  <a:spcPct val="108000"/>
                </a:lnSpc>
              </a:pPr>
              <a:r>
                <a:rPr sz="2000" b="1" i="0">
                  <a:solidFill>
                    <a:srgbClr val="F69D39"/>
                  </a:solidFill>
                  <a:latin typeface="Bahnschrift"/>
                </a:rPr>
                <a:t>2023</a:t>
              </a:r>
            </a:p>
          </p:txBody>
        </p:sp>
        <p:sp>
          <p:nvSpPr>
            <p:cNvPr id="82" name="Work card"/>
            <p:cNvSpPr/>
            <p:nvPr/>
          </p:nvSpPr>
          <p:spPr>
            <a:xfrm>
              <a:off x="21680424" y="3840480"/>
              <a:ext cx="2331720" cy="21488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3" name="Work author"/>
            <p:cNvSpPr txBox="1"/>
            <p:nvPr/>
          </p:nvSpPr>
          <p:spPr>
            <a:xfrm>
              <a:off x="21845016" y="3977639"/>
              <a:ext cx="2002536" cy="411480"/>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Yao et al.</a:t>
              </a:r>
            </a:p>
          </p:txBody>
        </p:sp>
        <p:sp>
          <p:nvSpPr>
            <p:cNvPr id="84" name="Work finding"/>
            <p:cNvSpPr txBox="1"/>
            <p:nvPr/>
          </p:nvSpPr>
          <p:spPr>
            <a:xfrm>
              <a:off x="21845016" y="4389120"/>
              <a:ext cx="2002536" cy="1554480"/>
            </a:xfrm>
            <a:prstGeom prst="rect">
              <a:avLst/>
            </a:prstGeom>
            <a:noFill/>
          </p:spPr>
          <p:txBody>
            <a:bodyPr wrap="square" lIns="36576" tIns="36576" rIns="36576" bIns="36576" anchor="t">
              <a:spAutoFit/>
            </a:bodyPr>
            <a:lstStyle/>
            <a:p>
              <a:pPr algn="l">
                <a:lnSpc>
                  <a:spcPct val="104000"/>
                </a:lnSpc>
              </a:pPr>
              <a:r>
                <a:rPr sz="1350" b="0" i="0">
                  <a:solidFill>
                    <a:srgbClr val="4A4244"/>
                  </a:solidFill>
                  <a:latin typeface="Calibri"/>
                </a:rPr>
                <a:t>ReAct: reason, act, observe, repeat — the loop behind agentic systems.</a:t>
              </a:r>
            </a:p>
          </p:txBody>
        </p:sp>
        <p:sp>
          <p:nvSpPr>
            <p:cNvPr id="85" name="Year dot"/>
            <p:cNvSpPr/>
            <p:nvPr/>
          </p:nvSpPr>
          <p:spPr>
            <a:xfrm>
              <a:off x="24213312" y="3355848"/>
              <a:ext cx="182880" cy="182880"/>
            </a:xfrm>
            <a:prstGeom prst="ellipse">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6" name="Year"/>
            <p:cNvSpPr txBox="1"/>
            <p:nvPr/>
          </p:nvSpPr>
          <p:spPr>
            <a:xfrm>
              <a:off x="24195024" y="2862072"/>
              <a:ext cx="1097280" cy="457200"/>
            </a:xfrm>
            <a:prstGeom prst="rect">
              <a:avLst/>
            </a:prstGeom>
            <a:noFill/>
          </p:spPr>
          <p:txBody>
            <a:bodyPr wrap="square" lIns="36576" tIns="36576" rIns="36576" bIns="36576" anchor="t">
              <a:spAutoFit/>
            </a:bodyPr>
            <a:lstStyle/>
            <a:p>
              <a:pPr algn="l">
                <a:lnSpc>
                  <a:spcPct val="108000"/>
                </a:lnSpc>
              </a:pPr>
              <a:r>
                <a:rPr sz="2000" b="1" i="0">
                  <a:solidFill>
                    <a:srgbClr val="5E7257"/>
                  </a:solidFill>
                  <a:latin typeface="Bahnschrift"/>
                </a:rPr>
                <a:t>2023</a:t>
              </a:r>
            </a:p>
          </p:txBody>
        </p:sp>
        <p:sp>
          <p:nvSpPr>
            <p:cNvPr id="87" name="Work card"/>
            <p:cNvSpPr/>
            <p:nvPr/>
          </p:nvSpPr>
          <p:spPr>
            <a:xfrm>
              <a:off x="24213312" y="3840480"/>
              <a:ext cx="2331720" cy="21488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8" name="Work author"/>
            <p:cNvSpPr txBox="1"/>
            <p:nvPr/>
          </p:nvSpPr>
          <p:spPr>
            <a:xfrm>
              <a:off x="24377904" y="3977639"/>
              <a:ext cx="2002536" cy="411480"/>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Park et al.</a:t>
              </a:r>
            </a:p>
          </p:txBody>
        </p:sp>
        <p:sp>
          <p:nvSpPr>
            <p:cNvPr id="89" name="Work finding"/>
            <p:cNvSpPr txBox="1"/>
            <p:nvPr/>
          </p:nvSpPr>
          <p:spPr>
            <a:xfrm>
              <a:off x="24377904" y="4389120"/>
              <a:ext cx="2002536" cy="1554480"/>
            </a:xfrm>
            <a:prstGeom prst="rect">
              <a:avLst/>
            </a:prstGeom>
            <a:noFill/>
          </p:spPr>
          <p:txBody>
            <a:bodyPr wrap="square" lIns="36576" tIns="36576" rIns="36576" bIns="36576" anchor="t">
              <a:spAutoFit/>
            </a:bodyPr>
            <a:lstStyle/>
            <a:p>
              <a:pPr algn="l">
                <a:lnSpc>
                  <a:spcPct val="104000"/>
                </a:lnSpc>
              </a:pPr>
              <a:r>
                <a:rPr sz="1350" b="0" i="0">
                  <a:solidFill>
                    <a:srgbClr val="4A4244"/>
                  </a:solidFill>
                  <a:latin typeface="Calibri"/>
                </a:rPr>
                <a:t>Generative Agents: memory lets agents behave consistently over time.</a:t>
              </a:r>
            </a:p>
          </p:txBody>
        </p:sp>
      </p:gr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05</a:t>
            </a:r>
          </a:p>
        </p:txBody>
      </p:sp>
      <p:sp>
        <p:nvSpPr>
          <p:cNvPr id="11" name="!!rail6"/>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06</a:t>
            </a:r>
          </a:p>
        </p:txBody>
      </p:sp>
      <p:sp>
        <p:nvSpPr>
          <p:cNvPr id="12" name="!!rail7"/>
          <p:cNvSpPr txBox="1"/>
          <p:nvPr/>
        </p:nvSpPr>
        <p:spPr>
          <a:xfrm>
            <a:off x="45720" y="465429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53675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6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2400"/>
                            </p:stCondLst>
                            <p:childTnLst>
                              <p:par>
                                <p:cTn id="19" presetID="2" presetClass="entr" presetSubtype="8" fill="hold" nodeType="after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0-#ppt_w/2"/>
                                          </p:val>
                                        </p:tav>
                                        <p:tav tm="100000">
                                          <p:val>
                                            <p:strVal val="#ppt_x"/>
                                          </p:val>
                                        </p:tav>
                                      </p:tavLst>
                                    </p:anim>
                                    <p:anim calcmode="lin" valueType="num">
                                      <p:cBhvr additive="base">
                                        <p:cTn id="22" dur="500" fill="hold"/>
                                        <p:tgtEl>
                                          <p:spTgt spid="23"/>
                                        </p:tgtEl>
                                        <p:attrNameLst>
                                          <p:attrName>ppt_y</p:attrName>
                                        </p:attrNameLst>
                                      </p:cBhvr>
                                      <p:tavLst>
                                        <p:tav tm="0">
                                          <p:val>
                                            <p:strVal val="#ppt_y"/>
                                          </p:val>
                                        </p:tav>
                                        <p:tav tm="100000">
                                          <p:val>
                                            <p:strVal val="#ppt_y"/>
                                          </p:val>
                                        </p:tav>
                                      </p:tavLst>
                                    </p:anim>
                                  </p:childTnLst>
                                </p:cTn>
                              </p:par>
                            </p:childTnLst>
                          </p:cTn>
                        </p:par>
                        <p:par>
                          <p:cTn id="23" fill="hold">
                            <p:stCondLst>
                              <p:cond delay="2900"/>
                            </p:stCondLst>
                            <p:childTnLst>
                              <p:par>
                                <p:cTn id="24" presetID="22" presetClass="entr" presetSubtype="8"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left)">
                                      <p:cBhvr>
                                        <p:cTn id="26" dur="500"/>
                                        <p:tgtEl>
                                          <p:spTgt spid="24"/>
                                        </p:tgtEl>
                                      </p:cBhvr>
                                    </p:animEffect>
                                  </p:childTnLst>
                                </p:cTn>
                              </p:par>
                            </p:childTnLst>
                          </p:cTn>
                        </p:par>
                        <p:par>
                          <p:cTn id="27" fill="hold">
                            <p:stCondLst>
                              <p:cond delay="3400"/>
                            </p:stCondLst>
                            <p:childTnLst>
                              <p:par>
                                <p:cTn id="28" presetID="2" presetClass="entr" presetSubtype="8" fill="hold" nodeType="after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fill="hold"/>
                                        <p:tgtEl>
                                          <p:spTgt spid="28"/>
                                        </p:tgtEl>
                                        <p:attrNameLst>
                                          <p:attrName>ppt_x</p:attrName>
                                        </p:attrNameLst>
                                      </p:cBhvr>
                                      <p:tavLst>
                                        <p:tav tm="0">
                                          <p:val>
                                            <p:strVal val="0-#ppt_w/2"/>
                                          </p:val>
                                        </p:tav>
                                        <p:tav tm="100000">
                                          <p:val>
                                            <p:strVal val="#ppt_x"/>
                                          </p:val>
                                        </p:tav>
                                      </p:tavLst>
                                    </p:anim>
                                    <p:anim calcmode="lin" valueType="num">
                                      <p:cBhvr additive="base">
                                        <p:cTn id="31" dur="500" fill="hold"/>
                                        <p:tgtEl>
                                          <p:spTgt spid="28"/>
                                        </p:tgtEl>
                                        <p:attrNameLst>
                                          <p:attrName>ppt_y</p:attrName>
                                        </p:attrNameLst>
                                      </p:cBhvr>
                                      <p:tavLst>
                                        <p:tav tm="0">
                                          <p:val>
                                            <p:strVal val="#ppt_y"/>
                                          </p:val>
                                        </p:tav>
                                        <p:tav tm="100000">
                                          <p:val>
                                            <p:strVal val="#ppt_y"/>
                                          </p:val>
                                        </p:tav>
                                      </p:tavLst>
                                    </p:anim>
                                  </p:childTnLst>
                                </p:cTn>
                              </p:par>
                            </p:childTnLst>
                          </p:cTn>
                        </p:par>
                        <p:par>
                          <p:cTn id="32" fill="hold">
                            <p:stCondLst>
                              <p:cond delay="3900"/>
                            </p:stCondLst>
                            <p:childTnLst>
                              <p:par>
                                <p:cTn id="33" presetID="22" presetClass="entr" presetSubtype="8" fill="hold"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left)">
                                      <p:cBhvr>
                                        <p:cTn id="35" dur="500"/>
                                        <p:tgtEl>
                                          <p:spTgt spid="29"/>
                                        </p:tgtEl>
                                      </p:cBhvr>
                                    </p:animEffect>
                                  </p:childTnLst>
                                </p:cTn>
                              </p:par>
                            </p:childTnLst>
                          </p:cTn>
                        </p:par>
                        <p:par>
                          <p:cTn id="36" fill="hold">
                            <p:stCondLst>
                              <p:cond delay="4400"/>
                            </p:stCondLst>
                            <p:childTnLst>
                              <p:par>
                                <p:cTn id="37" presetID="2" presetClass="entr" presetSubtype="8" fill="hold" nodeType="afterEffect">
                                  <p:stCondLst>
                                    <p:cond delay="0"/>
                                  </p:stCondLst>
                                  <p:childTnLst>
                                    <p:set>
                                      <p:cBhvr>
                                        <p:cTn id="38" dur="1" fill="hold">
                                          <p:stCondLst>
                                            <p:cond delay="0"/>
                                          </p:stCondLst>
                                        </p:cTn>
                                        <p:tgtEl>
                                          <p:spTgt spid="33"/>
                                        </p:tgtEl>
                                        <p:attrNameLst>
                                          <p:attrName>style.visibility</p:attrName>
                                        </p:attrNameLst>
                                      </p:cBhvr>
                                      <p:to>
                                        <p:strVal val="visible"/>
                                      </p:to>
                                    </p:set>
                                    <p:anim calcmode="lin" valueType="num">
                                      <p:cBhvr additive="base">
                                        <p:cTn id="39" dur="500" fill="hold"/>
                                        <p:tgtEl>
                                          <p:spTgt spid="33"/>
                                        </p:tgtEl>
                                        <p:attrNameLst>
                                          <p:attrName>ppt_x</p:attrName>
                                        </p:attrNameLst>
                                      </p:cBhvr>
                                      <p:tavLst>
                                        <p:tav tm="0">
                                          <p:val>
                                            <p:strVal val="0-#ppt_w/2"/>
                                          </p:val>
                                        </p:tav>
                                        <p:tav tm="100000">
                                          <p:val>
                                            <p:strVal val="#ppt_x"/>
                                          </p:val>
                                        </p:tav>
                                      </p:tavLst>
                                    </p:anim>
                                    <p:anim calcmode="lin" valueType="num">
                                      <p:cBhvr additive="base">
                                        <p:cTn id="40" dur="500" fill="hold"/>
                                        <p:tgtEl>
                                          <p:spTgt spid="33"/>
                                        </p:tgtEl>
                                        <p:attrNameLst>
                                          <p:attrName>ppt_y</p:attrName>
                                        </p:attrNameLst>
                                      </p:cBhvr>
                                      <p:tavLst>
                                        <p:tav tm="0">
                                          <p:val>
                                            <p:strVal val="#ppt_y"/>
                                          </p:val>
                                        </p:tav>
                                        <p:tav tm="100000">
                                          <p:val>
                                            <p:strVal val="#ppt_y"/>
                                          </p:val>
                                        </p:tav>
                                      </p:tavLst>
                                    </p:anim>
                                  </p:childTnLst>
                                </p:cTn>
                              </p:par>
                            </p:childTnLst>
                          </p:cTn>
                        </p:par>
                        <p:par>
                          <p:cTn id="41" fill="hold">
                            <p:stCondLst>
                              <p:cond delay="4900"/>
                            </p:stCondLst>
                            <p:childTnLst>
                              <p:par>
                                <p:cTn id="42" presetID="22" presetClass="entr" presetSubtype="8" fill="hold" nodeType="after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wipe(left)">
                                      <p:cBhvr>
                                        <p:cTn id="44" dur="500"/>
                                        <p:tgtEl>
                                          <p:spTgt spid="34"/>
                                        </p:tgtEl>
                                      </p:cBhvr>
                                    </p:animEffect>
                                  </p:childTnLst>
                                </p:cTn>
                              </p:par>
                            </p:childTnLst>
                          </p:cTn>
                        </p:par>
                        <p:par>
                          <p:cTn id="45" fill="hold">
                            <p:stCondLst>
                              <p:cond delay="5400"/>
                            </p:stCondLst>
                            <p:childTnLst>
                              <p:par>
                                <p:cTn id="46" presetID="2" presetClass="entr" presetSubtype="8" fill="hold" nodeType="afterEffect">
                                  <p:stCondLst>
                                    <p:cond delay="0"/>
                                  </p:stCondLst>
                                  <p:childTnLst>
                                    <p:set>
                                      <p:cBhvr>
                                        <p:cTn id="47" dur="1" fill="hold">
                                          <p:stCondLst>
                                            <p:cond delay="0"/>
                                          </p:stCondLst>
                                        </p:cTn>
                                        <p:tgtEl>
                                          <p:spTgt spid="38"/>
                                        </p:tgtEl>
                                        <p:attrNameLst>
                                          <p:attrName>style.visibility</p:attrName>
                                        </p:attrNameLst>
                                      </p:cBhvr>
                                      <p:to>
                                        <p:strVal val="visible"/>
                                      </p:to>
                                    </p:set>
                                    <p:anim calcmode="lin" valueType="num">
                                      <p:cBhvr additive="base">
                                        <p:cTn id="48" dur="500" fill="hold"/>
                                        <p:tgtEl>
                                          <p:spTgt spid="38"/>
                                        </p:tgtEl>
                                        <p:attrNameLst>
                                          <p:attrName>ppt_x</p:attrName>
                                        </p:attrNameLst>
                                      </p:cBhvr>
                                      <p:tavLst>
                                        <p:tav tm="0">
                                          <p:val>
                                            <p:strVal val="0-#ppt_w/2"/>
                                          </p:val>
                                        </p:tav>
                                        <p:tav tm="100000">
                                          <p:val>
                                            <p:strVal val="#ppt_x"/>
                                          </p:val>
                                        </p:tav>
                                      </p:tavLst>
                                    </p:anim>
                                    <p:anim calcmode="lin" valueType="num">
                                      <p:cBhvr additive="base">
                                        <p:cTn id="49" dur="500" fill="hold"/>
                                        <p:tgtEl>
                                          <p:spTgt spid="38"/>
                                        </p:tgtEl>
                                        <p:attrNameLst>
                                          <p:attrName>ppt_y</p:attrName>
                                        </p:attrNameLst>
                                      </p:cBhvr>
                                      <p:tavLst>
                                        <p:tav tm="0">
                                          <p:val>
                                            <p:strVal val="#ppt_y"/>
                                          </p:val>
                                        </p:tav>
                                        <p:tav tm="100000">
                                          <p:val>
                                            <p:strVal val="#ppt_y"/>
                                          </p:val>
                                        </p:tav>
                                      </p:tavLst>
                                    </p:anim>
                                  </p:childTnLst>
                                </p:cTn>
                              </p:par>
                            </p:childTnLst>
                          </p:cTn>
                        </p:par>
                        <p:par>
                          <p:cTn id="50" fill="hold">
                            <p:stCondLst>
                              <p:cond delay="5900"/>
                            </p:stCondLst>
                            <p:childTnLst>
                              <p:par>
                                <p:cTn id="51" presetID="10" presetClass="entr" presetSubtype="0" fill="hold" nodeType="afterEffect">
                                  <p:stCondLst>
                                    <p:cond delay="0"/>
                                  </p:stCondLst>
                                  <p:childTnLst>
                                    <p:set>
                                      <p:cBhvr>
                                        <p:cTn id="52" dur="1" fill="hold">
                                          <p:stCondLst>
                                            <p:cond delay="0"/>
                                          </p:stCondLst>
                                        </p:cTn>
                                        <p:tgtEl>
                                          <p:spTgt spid="90"/>
                                        </p:tgtEl>
                                        <p:attrNameLst>
                                          <p:attrName>style.visibility</p:attrName>
                                        </p:attrNameLst>
                                      </p:cBhvr>
                                      <p:to>
                                        <p:strVal val="visible"/>
                                      </p:to>
                                    </p:set>
                                    <p:animEffect transition="in" filter="fade">
                                      <p:cBhvr>
                                        <p:cTn id="53" dur="500"/>
                                        <p:tgtEl>
                                          <p:spTgt spid="90"/>
                                        </p:tgtEl>
                                      </p:cBhvr>
                                    </p:animEffect>
                                  </p:childTnLst>
                                </p:cTn>
                              </p:par>
                            </p:childTnLst>
                          </p:cTn>
                        </p:par>
                        <p:par>
                          <p:cTn id="54" fill="hold">
                            <p:stCondLst>
                              <p:cond delay="6400"/>
                            </p:stCondLst>
                            <p:childTnLst>
                              <p:par>
                                <p:cTn id="55" presetID="35" presetClass="path" presetSubtype="0" accel="50000" decel="50000" fill="hold" nodeType="afterEffect">
                                  <p:stCondLst>
                                    <p:cond delay="800"/>
                                  </p:stCondLst>
                                  <p:childTnLst>
                                    <p:animMotion origin="layout" path="M 0 0 L -1.2388 0 E" pathEditMode="relative" ptsTypes="">
                                      <p:cBhvr>
                                        <p:cTn id="56" dur="7000" fill="hold"/>
                                        <p:tgtEl>
                                          <p:spTgt spid="9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418320" y="4297680"/>
            <a:ext cx="3383280" cy="338328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027310" y="4906670"/>
            <a:ext cx="2165299" cy="2165299"/>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05</a:t>
            </a:r>
          </a:p>
        </p:txBody>
      </p:sp>
      <p:sp>
        <p:nvSpPr>
          <p:cNvPr id="11" name="!!rail6"/>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06</a:t>
            </a:r>
          </a:p>
        </p:txBody>
      </p:sp>
      <p:sp>
        <p:nvSpPr>
          <p:cNvPr id="12" name="!!rail7"/>
          <p:cNvSpPr txBox="1"/>
          <p:nvPr/>
        </p:nvSpPr>
        <p:spPr>
          <a:xfrm>
            <a:off x="45720" y="465429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53675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94"/>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05  ·  BRIEF LITERATURE REVIEW  ·  2 OF 2</a:t>
            </a:r>
          </a:p>
        </p:txBody>
      </p:sp>
      <p:sp>
        <p:nvSpPr>
          <p:cNvPr id="15" name="Title 95"/>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Brief literature review</a:t>
            </a:r>
          </a:p>
        </p:txBody>
      </p:sp>
      <p:sp>
        <p:nvSpPr>
          <p:cNvPr id="16" name="Subtitle 96"/>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Five gaps between research ideas and working systems</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§2.10 Research Gaps</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07 / 20</a:t>
            </a:r>
          </a:p>
        </p:txBody>
      </p:sp>
      <p:sp>
        <p:nvSpPr>
          <p:cNvPr id="20" name="Gap n 97"/>
          <p:cNvSpPr txBox="1"/>
          <p:nvPr/>
        </p:nvSpPr>
        <p:spPr>
          <a:xfrm>
            <a:off x="1417320" y="1828800"/>
            <a:ext cx="685800" cy="731520"/>
          </a:xfrm>
          <a:prstGeom prst="rect">
            <a:avLst/>
          </a:prstGeom>
          <a:noFill/>
        </p:spPr>
        <p:txBody>
          <a:bodyPr wrap="square" lIns="36576" tIns="36576" rIns="36576" bIns="36576" anchor="t">
            <a:spAutoFit/>
          </a:bodyPr>
          <a:lstStyle/>
          <a:p>
            <a:pPr algn="l">
              <a:lnSpc>
                <a:spcPct val="108000"/>
              </a:lnSpc>
            </a:pPr>
            <a:r>
              <a:rPr sz="2200" b="1" i="0">
                <a:solidFill>
                  <a:srgbClr val="F69D39"/>
                </a:solidFill>
                <a:latin typeface="Bahnschrift"/>
              </a:rPr>
              <a:t>G1</a:t>
            </a:r>
          </a:p>
        </p:txBody>
      </p:sp>
      <p:sp>
        <p:nvSpPr>
          <p:cNvPr id="21" name="Gap 98"/>
          <p:cNvSpPr txBox="1"/>
          <p:nvPr/>
        </p:nvSpPr>
        <p:spPr>
          <a:xfrm>
            <a:off x="2148840" y="1792224"/>
            <a:ext cx="4434840" cy="896112"/>
          </a:xfrm>
          <a:prstGeom prst="rect">
            <a:avLst/>
          </a:prstGeom>
          <a:noFill/>
        </p:spPr>
        <p:txBody>
          <a:bodyPr wrap="square" lIns="36576" tIns="36576" rIns="36576" bIns="36576" anchor="t">
            <a:spAutoFit/>
          </a:bodyPr>
          <a:lstStyle/>
          <a:p>
            <a:pPr algn="l">
              <a:lnSpc>
                <a:spcPct val="108000"/>
              </a:lnSpc>
              <a:spcAft>
                <a:spcPts val="100"/>
              </a:spcAft>
            </a:pPr>
            <a:r>
              <a:rPr sz="1600" b="1" i="0">
                <a:solidFill>
                  <a:srgbClr val="1F1A1B"/>
                </a:solidFill>
                <a:latin typeface="Bahnschrift"/>
              </a:rPr>
              <a:t>Few complete multi-agent security systems</a:t>
            </a:r>
          </a:p>
          <a:p>
            <a:pPr algn="l">
              <a:lnSpc>
                <a:spcPct val="100000"/>
              </a:lnSpc>
            </a:pPr>
            <a:r>
              <a:rPr sz="1250" b="0" i="0">
                <a:solidFill>
                  <a:srgbClr val="4A4244"/>
                </a:solidFill>
                <a:latin typeface="Calibri"/>
              </a:rPr>
              <a:t>Agent frameworks show the idea; few open systems apply it end to end to URL security.</a:t>
            </a:r>
          </a:p>
        </p:txBody>
      </p:sp>
      <p:grpSp>
        <p:nvGrpSpPr>
          <p:cNvPr id="24" name="Gap answer 99"/>
          <p:cNvGrpSpPr/>
          <p:nvPr/>
        </p:nvGrpSpPr>
        <p:grpSpPr>
          <a:xfrm>
            <a:off x="6675120" y="1883664"/>
            <a:ext cx="4967935" cy="621792"/>
            <a:chOff x="6675120" y="1883664"/>
            <a:chExt cx="4967935" cy="621792"/>
          </a:xfrm>
        </p:grpSpPr>
        <p:sp>
          <p:nvSpPr>
            <p:cNvPr id="22" name="Gap answer bg"/>
            <p:cNvSpPr/>
            <p:nvPr/>
          </p:nvSpPr>
          <p:spPr>
            <a:xfrm>
              <a:off x="6675120" y="1883664"/>
              <a:ext cx="4967935" cy="621792"/>
            </a:xfrm>
            <a:prstGeom prst="roundRect">
              <a:avLst>
                <a:gd name="adj" fmla="val 18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Gap answer"/>
            <p:cNvSpPr txBox="1"/>
            <p:nvPr/>
          </p:nvSpPr>
          <p:spPr>
            <a:xfrm>
              <a:off x="6903720" y="1883664"/>
              <a:ext cx="4510735" cy="621792"/>
            </a:xfrm>
            <a:prstGeom prst="rect">
              <a:avLst/>
            </a:prstGeom>
            <a:noFill/>
          </p:spPr>
          <p:txBody>
            <a:bodyPr wrap="square" lIns="36576" tIns="36576" rIns="36576" bIns="36576" anchor="ctr">
              <a:spAutoFit/>
            </a:bodyPr>
            <a:lstStyle/>
            <a:p>
              <a:pPr algn="l">
                <a:lnSpc>
                  <a:spcPct val="108000"/>
                </a:lnSpc>
              </a:pPr>
              <a:r>
                <a:rPr sz="1100" b="1" i="0">
                  <a:solidFill>
                    <a:srgbClr val="F69D39"/>
                  </a:solidFill>
                  <a:latin typeface="Consolas"/>
                </a:rPr>
                <a:t>CyberForge  </a:t>
              </a:r>
              <a:r>
                <a:rPr sz="1450" b="0" i="0">
                  <a:solidFill>
                    <a:srgbClr val="EFE9DD"/>
                  </a:solidFill>
                  <a:latin typeface="Calibri"/>
                </a:rPr>
                <a:t>A full working pipeline of connected agents.</a:t>
              </a:r>
            </a:p>
          </p:txBody>
        </p:sp>
      </p:grpSp>
      <p:sp>
        <p:nvSpPr>
          <p:cNvPr id="25" name="Gap n 100"/>
          <p:cNvSpPr txBox="1"/>
          <p:nvPr/>
        </p:nvSpPr>
        <p:spPr>
          <a:xfrm>
            <a:off x="1417320" y="2715768"/>
            <a:ext cx="685800" cy="731520"/>
          </a:xfrm>
          <a:prstGeom prst="rect">
            <a:avLst/>
          </a:prstGeom>
          <a:noFill/>
        </p:spPr>
        <p:txBody>
          <a:bodyPr wrap="square" lIns="36576" tIns="36576" rIns="36576" bIns="36576" anchor="t">
            <a:spAutoFit/>
          </a:bodyPr>
          <a:lstStyle/>
          <a:p>
            <a:pPr algn="l">
              <a:lnSpc>
                <a:spcPct val="108000"/>
              </a:lnSpc>
            </a:pPr>
            <a:r>
              <a:rPr sz="2200" b="1" i="0">
                <a:solidFill>
                  <a:srgbClr val="F69D39"/>
                </a:solidFill>
                <a:latin typeface="Bahnschrift"/>
              </a:rPr>
              <a:t>G2</a:t>
            </a:r>
          </a:p>
        </p:txBody>
      </p:sp>
      <p:sp>
        <p:nvSpPr>
          <p:cNvPr id="26" name="Gap 101"/>
          <p:cNvSpPr txBox="1"/>
          <p:nvPr/>
        </p:nvSpPr>
        <p:spPr>
          <a:xfrm>
            <a:off x="2148840" y="2679191"/>
            <a:ext cx="4434840" cy="896112"/>
          </a:xfrm>
          <a:prstGeom prst="rect">
            <a:avLst/>
          </a:prstGeom>
          <a:noFill/>
        </p:spPr>
        <p:txBody>
          <a:bodyPr wrap="square" lIns="36576" tIns="36576" rIns="36576" bIns="36576" anchor="t">
            <a:spAutoFit/>
          </a:bodyPr>
          <a:lstStyle/>
          <a:p>
            <a:pPr algn="l">
              <a:lnSpc>
                <a:spcPct val="108000"/>
              </a:lnSpc>
              <a:spcAft>
                <a:spcPts val="100"/>
              </a:spcAft>
            </a:pPr>
            <a:r>
              <a:rPr sz="1600" b="1" i="0">
                <a:solidFill>
                  <a:srgbClr val="1F1A1B"/>
                </a:solidFill>
                <a:latin typeface="Bahnschrift"/>
              </a:rPr>
              <a:t>Model and service failure</a:t>
            </a:r>
          </a:p>
          <a:p>
            <a:pPr algn="l">
              <a:lnSpc>
                <a:spcPct val="100000"/>
              </a:lnSpc>
            </a:pPr>
            <a:r>
              <a:rPr sz="1250" b="0" i="0">
                <a:solidFill>
                  <a:srgbClr val="4A4244"/>
                </a:solidFill>
                <a:latin typeface="Calibri"/>
              </a:rPr>
              <a:t>Systems rarely say when a model or service did not answer.</a:t>
            </a:r>
          </a:p>
        </p:txBody>
      </p:sp>
      <p:grpSp>
        <p:nvGrpSpPr>
          <p:cNvPr id="29" name="Gap answer 102"/>
          <p:cNvGrpSpPr/>
          <p:nvPr/>
        </p:nvGrpSpPr>
        <p:grpSpPr>
          <a:xfrm>
            <a:off x="6675120" y="2770632"/>
            <a:ext cx="4967935" cy="621792"/>
            <a:chOff x="6675120" y="2770632"/>
            <a:chExt cx="4967935" cy="621792"/>
          </a:xfrm>
        </p:grpSpPr>
        <p:sp>
          <p:nvSpPr>
            <p:cNvPr id="27" name="Gap answer bg"/>
            <p:cNvSpPr/>
            <p:nvPr/>
          </p:nvSpPr>
          <p:spPr>
            <a:xfrm>
              <a:off x="6675120" y="2770632"/>
              <a:ext cx="4967935" cy="621792"/>
            </a:xfrm>
            <a:prstGeom prst="roundRect">
              <a:avLst>
                <a:gd name="adj" fmla="val 18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Gap answer"/>
            <p:cNvSpPr txBox="1"/>
            <p:nvPr/>
          </p:nvSpPr>
          <p:spPr>
            <a:xfrm>
              <a:off x="6903720" y="2770632"/>
              <a:ext cx="4510735" cy="621792"/>
            </a:xfrm>
            <a:prstGeom prst="rect">
              <a:avLst/>
            </a:prstGeom>
            <a:noFill/>
          </p:spPr>
          <p:txBody>
            <a:bodyPr wrap="square" lIns="36576" tIns="36576" rIns="36576" bIns="36576" anchor="ctr">
              <a:spAutoFit/>
            </a:bodyPr>
            <a:lstStyle/>
            <a:p>
              <a:pPr algn="l">
                <a:lnSpc>
                  <a:spcPct val="108000"/>
                </a:lnSpc>
              </a:pPr>
              <a:r>
                <a:rPr sz="1100" b="1" i="0">
                  <a:solidFill>
                    <a:srgbClr val="F69D39"/>
                  </a:solidFill>
                  <a:latin typeface="Consolas"/>
                </a:rPr>
                <a:t>CyberForge  </a:t>
              </a:r>
              <a:r>
                <a:rPr sz="1450" b="0" i="0">
                  <a:solidFill>
                    <a:srgbClr val="EFE9DD"/>
                  </a:solidFill>
                  <a:latin typeface="Calibri"/>
                </a:rPr>
                <a:t>Capability readiness and explicit unknown states.</a:t>
              </a:r>
            </a:p>
          </p:txBody>
        </p:sp>
      </p:grpSp>
      <p:sp>
        <p:nvSpPr>
          <p:cNvPr id="30" name="Gap n 103"/>
          <p:cNvSpPr txBox="1"/>
          <p:nvPr/>
        </p:nvSpPr>
        <p:spPr>
          <a:xfrm>
            <a:off x="1417320" y="3602735"/>
            <a:ext cx="685800" cy="731520"/>
          </a:xfrm>
          <a:prstGeom prst="rect">
            <a:avLst/>
          </a:prstGeom>
          <a:noFill/>
        </p:spPr>
        <p:txBody>
          <a:bodyPr wrap="square" lIns="36576" tIns="36576" rIns="36576" bIns="36576" anchor="t">
            <a:spAutoFit/>
          </a:bodyPr>
          <a:lstStyle/>
          <a:p>
            <a:pPr algn="l">
              <a:lnSpc>
                <a:spcPct val="108000"/>
              </a:lnSpc>
            </a:pPr>
            <a:r>
              <a:rPr sz="2200" b="1" i="0">
                <a:solidFill>
                  <a:srgbClr val="F69D39"/>
                </a:solidFill>
                <a:latin typeface="Bahnschrift"/>
              </a:rPr>
              <a:t>G3</a:t>
            </a:r>
          </a:p>
        </p:txBody>
      </p:sp>
      <p:sp>
        <p:nvSpPr>
          <p:cNvPr id="31" name="Gap 104"/>
          <p:cNvSpPr txBox="1"/>
          <p:nvPr/>
        </p:nvSpPr>
        <p:spPr>
          <a:xfrm>
            <a:off x="2148840" y="3566159"/>
            <a:ext cx="4434840" cy="896112"/>
          </a:xfrm>
          <a:prstGeom prst="rect">
            <a:avLst/>
          </a:prstGeom>
          <a:noFill/>
        </p:spPr>
        <p:txBody>
          <a:bodyPr wrap="square" lIns="36576" tIns="36576" rIns="36576" bIns="36576" anchor="t">
            <a:spAutoFit/>
          </a:bodyPr>
          <a:lstStyle/>
          <a:p>
            <a:pPr algn="l">
              <a:lnSpc>
                <a:spcPct val="108000"/>
              </a:lnSpc>
              <a:spcAft>
                <a:spcPts val="100"/>
              </a:spcAft>
            </a:pPr>
            <a:r>
              <a:rPr sz="1600" b="1" i="0">
                <a:solidFill>
                  <a:srgbClr val="1F1A1B"/>
                </a:solidFill>
                <a:latin typeface="Bahnschrift"/>
              </a:rPr>
              <a:t>Accuracy over real false alarms</a:t>
            </a:r>
          </a:p>
          <a:p>
            <a:pPr algn="l">
              <a:lnSpc>
                <a:spcPct val="100000"/>
              </a:lnSpc>
            </a:pPr>
            <a:r>
              <a:rPr sz="1250" b="0" i="0">
                <a:solidFill>
                  <a:srgbClr val="4A4244"/>
                </a:solidFill>
                <a:latin typeface="Calibri"/>
              </a:rPr>
              <a:t>Lab scores hide how often safe sites are flagged (Sommer &amp; Paxson, 2010).</a:t>
            </a:r>
          </a:p>
        </p:txBody>
      </p:sp>
      <p:grpSp>
        <p:nvGrpSpPr>
          <p:cNvPr id="34" name="Gap answer 105"/>
          <p:cNvGrpSpPr/>
          <p:nvPr/>
        </p:nvGrpSpPr>
        <p:grpSpPr>
          <a:xfrm>
            <a:off x="6675120" y="3657599"/>
            <a:ext cx="4967935" cy="621792"/>
            <a:chOff x="6675120" y="3657599"/>
            <a:chExt cx="4967935" cy="621792"/>
          </a:xfrm>
        </p:grpSpPr>
        <p:sp>
          <p:nvSpPr>
            <p:cNvPr id="32" name="Gap answer bg"/>
            <p:cNvSpPr/>
            <p:nvPr/>
          </p:nvSpPr>
          <p:spPr>
            <a:xfrm>
              <a:off x="6675120" y="3657599"/>
              <a:ext cx="4967935" cy="621792"/>
            </a:xfrm>
            <a:prstGeom prst="roundRect">
              <a:avLst>
                <a:gd name="adj" fmla="val 18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Gap answer"/>
            <p:cNvSpPr txBox="1"/>
            <p:nvPr/>
          </p:nvSpPr>
          <p:spPr>
            <a:xfrm>
              <a:off x="6903720" y="3657599"/>
              <a:ext cx="4510735" cy="621792"/>
            </a:xfrm>
            <a:prstGeom prst="rect">
              <a:avLst/>
            </a:prstGeom>
            <a:noFill/>
          </p:spPr>
          <p:txBody>
            <a:bodyPr wrap="square" lIns="36576" tIns="36576" rIns="36576" bIns="36576" anchor="ctr">
              <a:spAutoFit/>
            </a:bodyPr>
            <a:lstStyle/>
            <a:p>
              <a:pPr algn="l">
                <a:lnSpc>
                  <a:spcPct val="108000"/>
                </a:lnSpc>
              </a:pPr>
              <a:r>
                <a:rPr sz="1100" b="1" i="0">
                  <a:solidFill>
                    <a:srgbClr val="F69D39"/>
                  </a:solidFill>
                  <a:latin typeface="Consolas"/>
                </a:rPr>
                <a:t>CyberForge  </a:t>
              </a:r>
              <a:r>
                <a:rPr sz="1450" b="0" i="0">
                  <a:solidFill>
                    <a:srgbClr val="EFE9DD"/>
                  </a:solidFill>
                  <a:latin typeface="Calibri"/>
                </a:rPr>
                <a:t>Multi-signal aggregation tuned for few false positives.</a:t>
              </a:r>
            </a:p>
          </p:txBody>
        </p:sp>
      </p:grpSp>
      <p:sp>
        <p:nvSpPr>
          <p:cNvPr id="35" name="Gap n 106"/>
          <p:cNvSpPr txBox="1"/>
          <p:nvPr/>
        </p:nvSpPr>
        <p:spPr>
          <a:xfrm>
            <a:off x="1417320" y="4489703"/>
            <a:ext cx="685800" cy="731520"/>
          </a:xfrm>
          <a:prstGeom prst="rect">
            <a:avLst/>
          </a:prstGeom>
          <a:noFill/>
        </p:spPr>
        <p:txBody>
          <a:bodyPr wrap="square" lIns="36576" tIns="36576" rIns="36576" bIns="36576" anchor="t">
            <a:spAutoFit/>
          </a:bodyPr>
          <a:lstStyle/>
          <a:p>
            <a:pPr algn="l">
              <a:lnSpc>
                <a:spcPct val="108000"/>
              </a:lnSpc>
            </a:pPr>
            <a:r>
              <a:rPr sz="2200" b="1" i="0">
                <a:solidFill>
                  <a:srgbClr val="F69D39"/>
                </a:solidFill>
                <a:latin typeface="Bahnschrift"/>
              </a:rPr>
              <a:t>G4</a:t>
            </a:r>
          </a:p>
        </p:txBody>
      </p:sp>
      <p:sp>
        <p:nvSpPr>
          <p:cNvPr id="36" name="Gap 107"/>
          <p:cNvSpPr txBox="1"/>
          <p:nvPr/>
        </p:nvSpPr>
        <p:spPr>
          <a:xfrm>
            <a:off x="2148840" y="4453127"/>
            <a:ext cx="4434840" cy="896112"/>
          </a:xfrm>
          <a:prstGeom prst="rect">
            <a:avLst/>
          </a:prstGeom>
          <a:noFill/>
        </p:spPr>
        <p:txBody>
          <a:bodyPr wrap="square" lIns="36576" tIns="36576" rIns="36576" bIns="36576" anchor="t">
            <a:spAutoFit/>
          </a:bodyPr>
          <a:lstStyle/>
          <a:p>
            <a:pPr algn="l">
              <a:lnSpc>
                <a:spcPct val="108000"/>
              </a:lnSpc>
              <a:spcAft>
                <a:spcPts val="100"/>
              </a:spcAft>
            </a:pPr>
            <a:r>
              <a:rPr sz="1600" b="1" i="0">
                <a:solidFill>
                  <a:srgbClr val="1F1A1B"/>
                </a:solidFill>
                <a:latin typeface="Bahnschrift"/>
              </a:rPr>
              <a:t>Historical context unused</a:t>
            </a:r>
          </a:p>
          <a:p>
            <a:pPr algn="l">
              <a:lnSpc>
                <a:spcPct val="100000"/>
              </a:lnSpc>
            </a:pPr>
            <a:r>
              <a:rPr sz="1250" b="0" i="0">
                <a:solidFill>
                  <a:srgbClr val="4A4244"/>
                </a:solidFill>
                <a:latin typeface="Calibri"/>
              </a:rPr>
              <a:t>Past observations are rarely reused for later assessment (Park et al., 2023).</a:t>
            </a:r>
          </a:p>
        </p:txBody>
      </p:sp>
      <p:grpSp>
        <p:nvGrpSpPr>
          <p:cNvPr id="39" name="Gap answer 108"/>
          <p:cNvGrpSpPr/>
          <p:nvPr/>
        </p:nvGrpSpPr>
        <p:grpSpPr>
          <a:xfrm>
            <a:off x="6675120" y="4544567"/>
            <a:ext cx="4967935" cy="621792"/>
            <a:chOff x="6675120" y="4544567"/>
            <a:chExt cx="4967935" cy="621792"/>
          </a:xfrm>
        </p:grpSpPr>
        <p:sp>
          <p:nvSpPr>
            <p:cNvPr id="37" name="Gap answer bg"/>
            <p:cNvSpPr/>
            <p:nvPr/>
          </p:nvSpPr>
          <p:spPr>
            <a:xfrm>
              <a:off x="6675120" y="4544567"/>
              <a:ext cx="4967935" cy="621792"/>
            </a:xfrm>
            <a:prstGeom prst="roundRect">
              <a:avLst>
                <a:gd name="adj" fmla="val 18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Gap answer"/>
            <p:cNvSpPr txBox="1"/>
            <p:nvPr/>
          </p:nvSpPr>
          <p:spPr>
            <a:xfrm>
              <a:off x="6903720" y="4544567"/>
              <a:ext cx="4510735" cy="621792"/>
            </a:xfrm>
            <a:prstGeom prst="rect">
              <a:avLst/>
            </a:prstGeom>
            <a:noFill/>
          </p:spPr>
          <p:txBody>
            <a:bodyPr wrap="square" lIns="36576" tIns="36576" rIns="36576" bIns="36576" anchor="ctr">
              <a:spAutoFit/>
            </a:bodyPr>
            <a:lstStyle/>
            <a:p>
              <a:pPr algn="l">
                <a:lnSpc>
                  <a:spcPct val="108000"/>
                </a:lnSpc>
              </a:pPr>
              <a:r>
                <a:rPr sz="1100" b="1" i="0">
                  <a:solidFill>
                    <a:srgbClr val="F69D39"/>
                  </a:solidFill>
                  <a:latin typeface="Consolas"/>
                </a:rPr>
                <a:t>CyberForge  </a:t>
              </a:r>
              <a:r>
                <a:rPr sz="1450" b="0" i="0">
                  <a:solidFill>
                    <a:srgbClr val="EFE9DD"/>
                  </a:solidFill>
                  <a:latin typeface="Calibri"/>
                </a:rPr>
                <a:t>Memory supplies prior verdicts as context.</a:t>
              </a:r>
            </a:p>
          </p:txBody>
        </p:sp>
      </p:grpSp>
      <p:sp>
        <p:nvSpPr>
          <p:cNvPr id="40" name="Gap n 109"/>
          <p:cNvSpPr txBox="1"/>
          <p:nvPr/>
        </p:nvSpPr>
        <p:spPr>
          <a:xfrm>
            <a:off x="1417320" y="5376671"/>
            <a:ext cx="685800" cy="731520"/>
          </a:xfrm>
          <a:prstGeom prst="rect">
            <a:avLst/>
          </a:prstGeom>
          <a:noFill/>
        </p:spPr>
        <p:txBody>
          <a:bodyPr wrap="square" lIns="36576" tIns="36576" rIns="36576" bIns="36576" anchor="t">
            <a:spAutoFit/>
          </a:bodyPr>
          <a:lstStyle/>
          <a:p>
            <a:pPr algn="l">
              <a:lnSpc>
                <a:spcPct val="108000"/>
              </a:lnSpc>
            </a:pPr>
            <a:r>
              <a:rPr sz="2200" b="1" i="0">
                <a:solidFill>
                  <a:srgbClr val="F69D39"/>
                </a:solidFill>
                <a:latin typeface="Bahnschrift"/>
              </a:rPr>
              <a:t>G5</a:t>
            </a:r>
          </a:p>
        </p:txBody>
      </p:sp>
      <p:sp>
        <p:nvSpPr>
          <p:cNvPr id="41" name="Gap 110"/>
          <p:cNvSpPr txBox="1"/>
          <p:nvPr/>
        </p:nvSpPr>
        <p:spPr>
          <a:xfrm>
            <a:off x="2148840" y="5340095"/>
            <a:ext cx="4434840" cy="896112"/>
          </a:xfrm>
          <a:prstGeom prst="rect">
            <a:avLst/>
          </a:prstGeom>
          <a:noFill/>
        </p:spPr>
        <p:txBody>
          <a:bodyPr wrap="square" lIns="36576" tIns="36576" rIns="36576" bIns="36576" anchor="t">
            <a:spAutoFit/>
          </a:bodyPr>
          <a:lstStyle/>
          <a:p>
            <a:pPr algn="l">
              <a:lnSpc>
                <a:spcPct val="108000"/>
              </a:lnSpc>
              <a:spcAft>
                <a:spcPts val="100"/>
              </a:spcAft>
            </a:pPr>
            <a:r>
              <a:rPr sz="1600" b="1" i="0">
                <a:solidFill>
                  <a:srgbClr val="1F1A1B"/>
                </a:solidFill>
                <a:latin typeface="Bahnschrift"/>
              </a:rPr>
              <a:t>Hard to reproduce</a:t>
            </a:r>
          </a:p>
          <a:p>
            <a:pPr algn="l">
              <a:lnSpc>
                <a:spcPct val="100000"/>
              </a:lnSpc>
            </a:pPr>
            <a:r>
              <a:rPr sz="1250" b="0" i="0">
                <a:solidFill>
                  <a:srgbClr val="4A4244"/>
                </a:solidFill>
                <a:latin typeface="Calibri"/>
              </a:rPr>
              <a:t>Private data, closed systems and costly infrastructure block follow-up work.</a:t>
            </a:r>
          </a:p>
        </p:txBody>
      </p:sp>
      <p:grpSp>
        <p:nvGrpSpPr>
          <p:cNvPr id="44" name="Gap answer 111"/>
          <p:cNvGrpSpPr/>
          <p:nvPr/>
        </p:nvGrpSpPr>
        <p:grpSpPr>
          <a:xfrm>
            <a:off x="6675120" y="5431535"/>
            <a:ext cx="4967935" cy="621792"/>
            <a:chOff x="6675120" y="5431535"/>
            <a:chExt cx="4967935" cy="621792"/>
          </a:xfrm>
        </p:grpSpPr>
        <p:sp>
          <p:nvSpPr>
            <p:cNvPr id="42" name="Gap answer bg"/>
            <p:cNvSpPr/>
            <p:nvPr/>
          </p:nvSpPr>
          <p:spPr>
            <a:xfrm>
              <a:off x="6675120" y="5431535"/>
              <a:ext cx="4967935" cy="621792"/>
            </a:xfrm>
            <a:prstGeom prst="roundRect">
              <a:avLst>
                <a:gd name="adj" fmla="val 18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Gap answer"/>
            <p:cNvSpPr txBox="1"/>
            <p:nvPr/>
          </p:nvSpPr>
          <p:spPr>
            <a:xfrm>
              <a:off x="6903720" y="5431535"/>
              <a:ext cx="4510735" cy="621792"/>
            </a:xfrm>
            <a:prstGeom prst="rect">
              <a:avLst/>
            </a:prstGeom>
            <a:noFill/>
          </p:spPr>
          <p:txBody>
            <a:bodyPr wrap="square" lIns="36576" tIns="36576" rIns="36576" bIns="36576" anchor="ctr">
              <a:spAutoFit/>
            </a:bodyPr>
            <a:lstStyle/>
            <a:p>
              <a:pPr algn="l">
                <a:lnSpc>
                  <a:spcPct val="108000"/>
                </a:lnSpc>
              </a:pPr>
              <a:r>
                <a:rPr sz="1100" b="1" i="0">
                  <a:solidFill>
                    <a:srgbClr val="F69D39"/>
                  </a:solidFill>
                  <a:latin typeface="Consolas"/>
                </a:rPr>
                <a:t>CyberForge  </a:t>
              </a:r>
              <a:r>
                <a:rPr sz="1450" b="0" i="0">
                  <a:solidFill>
                    <a:srgbClr val="EFE9DD"/>
                  </a:solidFill>
                  <a:latin typeface="Calibri"/>
                </a:rPr>
                <a:t>Public tools and modular, testable services.</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6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2450"/>
                            </p:stCondLst>
                            <p:childTnLst>
                              <p:par>
                                <p:cTn id="19" presetID="53" presetClass="entr" presetSubtype="16"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250" fill="hold"/>
                                        <p:tgtEl>
                                          <p:spTgt spid="20"/>
                                        </p:tgtEl>
                                        <p:attrNameLst>
                                          <p:attrName>ppt_w</p:attrName>
                                        </p:attrNameLst>
                                      </p:cBhvr>
                                      <p:tavLst>
                                        <p:tav tm="0">
                                          <p:val>
                                            <p:fltVal val="0"/>
                                          </p:val>
                                        </p:tav>
                                        <p:tav tm="100000">
                                          <p:val>
                                            <p:strVal val="#ppt_w"/>
                                          </p:val>
                                        </p:tav>
                                      </p:tavLst>
                                    </p:anim>
                                    <p:anim calcmode="lin" valueType="num">
                                      <p:cBhvr>
                                        <p:cTn id="22" dur="250" fill="hold"/>
                                        <p:tgtEl>
                                          <p:spTgt spid="20"/>
                                        </p:tgtEl>
                                        <p:attrNameLst>
                                          <p:attrName>ppt_h</p:attrName>
                                        </p:attrNameLst>
                                      </p:cBhvr>
                                      <p:tavLst>
                                        <p:tav tm="0">
                                          <p:val>
                                            <p:fltVal val="0"/>
                                          </p:val>
                                        </p:tav>
                                        <p:tav tm="100000">
                                          <p:val>
                                            <p:strVal val="#ppt_h"/>
                                          </p:val>
                                        </p:tav>
                                      </p:tavLst>
                                    </p:anim>
                                    <p:animEffect transition="in" filter="fade">
                                      <p:cBhvr>
                                        <p:cTn id="23" dur="250"/>
                                        <p:tgtEl>
                                          <p:spTgt spid="20"/>
                                        </p:tgtEl>
                                      </p:cBhvr>
                                    </p:animEffect>
                                  </p:childTnLst>
                                </p:cTn>
                              </p:par>
                              <p:par>
                                <p:cTn id="24" presetID="37" presetClass="entr" presetSubtype="0" fill="hold" grpId="0" nodeType="withEffect">
                                  <p:stCondLst>
                                    <p:cond delay="0"/>
                                  </p:stCondLst>
                                  <p:childTnLst>
                                    <p:set>
                                      <p:cBhvr>
                                        <p:cTn id="25" dur="1" fill="hold">
                                          <p:stCondLst>
                                            <p:cond delay="0"/>
                                          </p:stCondLst>
                                        </p:cTn>
                                        <p:tgtEl>
                                          <p:spTgt spid="21">
                                            <p:txEl>
                                              <p:pRg st="0" end="0"/>
                                            </p:txEl>
                                          </p:spTgt>
                                        </p:tgtEl>
                                        <p:attrNameLst>
                                          <p:attrName>style.visibility</p:attrName>
                                        </p:attrNameLst>
                                      </p:cBhvr>
                                      <p:to>
                                        <p:strVal val="visible"/>
                                      </p:to>
                                    </p:set>
                                    <p:animEffect transition="in" filter="fade">
                                      <p:cBhvr>
                                        <p:cTn id="26" dur="400"/>
                                        <p:tgtEl>
                                          <p:spTgt spid="21">
                                            <p:txEl>
                                              <p:pRg st="0" end="0"/>
                                            </p:txEl>
                                          </p:spTgt>
                                        </p:tgtEl>
                                      </p:cBhvr>
                                    </p:animEffect>
                                    <p:anim calcmode="lin" valueType="num">
                                      <p:cBhvr>
                                        <p:cTn id="27" dur="4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28" dur="360" decel="100000" fill="hold"/>
                                        <p:tgtEl>
                                          <p:spTgt spid="21">
                                            <p:txEl>
                                              <p:pRg st="0" end="0"/>
                                            </p:txEl>
                                          </p:spTgt>
                                        </p:tgtEl>
                                        <p:attrNameLst>
                                          <p:attrName>ppt_y</p:attrName>
                                        </p:attrNameLst>
                                      </p:cBhvr>
                                      <p:tavLst>
                                        <p:tav tm="0">
                                          <p:val>
                                            <p:strVal val="#ppt_y+1"/>
                                          </p:val>
                                        </p:tav>
                                        <p:tav tm="100000">
                                          <p:val>
                                            <p:strVal val="#ppt_y-.03"/>
                                          </p:val>
                                        </p:tav>
                                      </p:tavLst>
                                    </p:anim>
                                    <p:anim calcmode="lin" valueType="num">
                                      <p:cBhvr>
                                        <p:cTn id="29" dur="40" accel="100000" fill="hold">
                                          <p:stCondLst>
                                            <p:cond delay="360"/>
                                          </p:stCondLst>
                                        </p:cTn>
                                        <p:tgtEl>
                                          <p:spTgt spid="21">
                                            <p:txEl>
                                              <p:pRg st="0" end="0"/>
                                            </p:txEl>
                                          </p:spTgt>
                                        </p:tgtEl>
                                        <p:attrNameLst>
                                          <p:attrName>ppt_y</p:attrName>
                                        </p:attrNameLst>
                                      </p:cBhvr>
                                      <p:tavLst>
                                        <p:tav tm="0">
                                          <p:val>
                                            <p:strVal val="#ppt_y-.03"/>
                                          </p:val>
                                        </p:tav>
                                        <p:tav tm="100000">
                                          <p:val>
                                            <p:strVal val="#ppt_y"/>
                                          </p:val>
                                        </p:tav>
                                      </p:tavLst>
                                    </p:anim>
                                  </p:childTnLst>
                                </p:cTn>
                              </p:par>
                            </p:childTnLst>
                          </p:cTn>
                        </p:par>
                        <p:par>
                          <p:cTn id="30" fill="hold">
                            <p:stCondLst>
                              <p:cond delay="2850"/>
                            </p:stCondLst>
                            <p:childTnLst>
                              <p:par>
                                <p:cTn id="31" presetID="37" presetClass="entr" presetSubtype="0" fill="hold" grpId="0" nodeType="afterEffect">
                                  <p:stCondLst>
                                    <p:cond delay="0"/>
                                  </p:stCondLst>
                                  <p:childTnLst>
                                    <p:set>
                                      <p:cBhvr>
                                        <p:cTn id="32" dur="1" fill="hold">
                                          <p:stCondLst>
                                            <p:cond delay="0"/>
                                          </p:stCondLst>
                                        </p:cTn>
                                        <p:tgtEl>
                                          <p:spTgt spid="21">
                                            <p:txEl>
                                              <p:pRg st="1" end="1"/>
                                            </p:txEl>
                                          </p:spTgt>
                                        </p:tgtEl>
                                        <p:attrNameLst>
                                          <p:attrName>style.visibility</p:attrName>
                                        </p:attrNameLst>
                                      </p:cBhvr>
                                      <p:to>
                                        <p:strVal val="visible"/>
                                      </p:to>
                                    </p:set>
                                    <p:animEffect transition="in" filter="fade">
                                      <p:cBhvr>
                                        <p:cTn id="33" dur="400"/>
                                        <p:tgtEl>
                                          <p:spTgt spid="21">
                                            <p:txEl>
                                              <p:pRg st="1" end="1"/>
                                            </p:txEl>
                                          </p:spTgt>
                                        </p:tgtEl>
                                      </p:cBhvr>
                                    </p:animEffect>
                                    <p:anim calcmode="lin" valueType="num">
                                      <p:cBhvr>
                                        <p:cTn id="34" dur="400" fill="hold"/>
                                        <p:tgtEl>
                                          <p:spTgt spid="21">
                                            <p:txEl>
                                              <p:pRg st="1" end="1"/>
                                            </p:txEl>
                                          </p:spTgt>
                                        </p:tgtEl>
                                        <p:attrNameLst>
                                          <p:attrName>ppt_x</p:attrName>
                                        </p:attrNameLst>
                                      </p:cBhvr>
                                      <p:tavLst>
                                        <p:tav tm="0">
                                          <p:val>
                                            <p:strVal val="#ppt_x"/>
                                          </p:val>
                                        </p:tav>
                                        <p:tav tm="100000">
                                          <p:val>
                                            <p:strVal val="#ppt_x"/>
                                          </p:val>
                                        </p:tav>
                                      </p:tavLst>
                                    </p:anim>
                                    <p:anim calcmode="lin" valueType="num">
                                      <p:cBhvr>
                                        <p:cTn id="35" dur="360" decel="100000" fill="hold"/>
                                        <p:tgtEl>
                                          <p:spTgt spid="21">
                                            <p:txEl>
                                              <p:pRg st="1" end="1"/>
                                            </p:txEl>
                                          </p:spTgt>
                                        </p:tgtEl>
                                        <p:attrNameLst>
                                          <p:attrName>ppt_y</p:attrName>
                                        </p:attrNameLst>
                                      </p:cBhvr>
                                      <p:tavLst>
                                        <p:tav tm="0">
                                          <p:val>
                                            <p:strVal val="#ppt_y+1"/>
                                          </p:val>
                                        </p:tav>
                                        <p:tav tm="100000">
                                          <p:val>
                                            <p:strVal val="#ppt_y-.03"/>
                                          </p:val>
                                        </p:tav>
                                      </p:tavLst>
                                    </p:anim>
                                    <p:anim calcmode="lin" valueType="num">
                                      <p:cBhvr>
                                        <p:cTn id="36" dur="40" accel="100000" fill="hold">
                                          <p:stCondLst>
                                            <p:cond delay="360"/>
                                          </p:stCondLst>
                                        </p:cTn>
                                        <p:tgtEl>
                                          <p:spTgt spid="21">
                                            <p:txEl>
                                              <p:pRg st="1" end="1"/>
                                            </p:txEl>
                                          </p:spTgt>
                                        </p:tgtEl>
                                        <p:attrNameLst>
                                          <p:attrName>ppt_y</p:attrName>
                                        </p:attrNameLst>
                                      </p:cBhvr>
                                      <p:tavLst>
                                        <p:tav tm="0">
                                          <p:val>
                                            <p:strVal val="#ppt_y-.03"/>
                                          </p:val>
                                        </p:tav>
                                        <p:tav tm="100000">
                                          <p:val>
                                            <p:strVal val="#ppt_y"/>
                                          </p:val>
                                        </p:tav>
                                      </p:tavLst>
                                    </p:anim>
                                  </p:childTnLst>
                                </p:cTn>
                              </p:par>
                            </p:childTnLst>
                          </p:cTn>
                        </p:par>
                        <p:par>
                          <p:cTn id="37" fill="hold">
                            <p:stCondLst>
                              <p:cond delay="3250"/>
                            </p:stCondLst>
                            <p:childTnLst>
                              <p:par>
                                <p:cTn id="38" presetID="2" presetClass="entr" presetSubtype="2" fill="hold" nodeType="afterEffect">
                                  <p:stCondLst>
                                    <p:cond delay="0"/>
                                  </p:stCondLst>
                                  <p:childTnLst>
                                    <p:set>
                                      <p:cBhvr>
                                        <p:cTn id="39" dur="1" fill="hold">
                                          <p:stCondLst>
                                            <p:cond delay="0"/>
                                          </p:stCondLst>
                                        </p:cTn>
                                        <p:tgtEl>
                                          <p:spTgt spid="24"/>
                                        </p:tgtEl>
                                        <p:attrNameLst>
                                          <p:attrName>style.visibility</p:attrName>
                                        </p:attrNameLst>
                                      </p:cBhvr>
                                      <p:to>
                                        <p:strVal val="visible"/>
                                      </p:to>
                                    </p:set>
                                    <p:anim calcmode="lin" valueType="num">
                                      <p:cBhvr additive="base">
                                        <p:cTn id="40" dur="500" fill="hold"/>
                                        <p:tgtEl>
                                          <p:spTgt spid="24"/>
                                        </p:tgtEl>
                                        <p:attrNameLst>
                                          <p:attrName>ppt_x</p:attrName>
                                        </p:attrNameLst>
                                      </p:cBhvr>
                                      <p:tavLst>
                                        <p:tav tm="0">
                                          <p:val>
                                            <p:strVal val="1+#ppt_w/2"/>
                                          </p:val>
                                        </p:tav>
                                        <p:tav tm="100000">
                                          <p:val>
                                            <p:strVal val="#ppt_x"/>
                                          </p:val>
                                        </p:tav>
                                      </p:tavLst>
                                    </p:anim>
                                    <p:anim calcmode="lin" valueType="num">
                                      <p:cBhvr additive="base">
                                        <p:cTn id="41" dur="500" fill="hold"/>
                                        <p:tgtEl>
                                          <p:spTgt spid="24"/>
                                        </p:tgtEl>
                                        <p:attrNameLst>
                                          <p:attrName>ppt_y</p:attrName>
                                        </p:attrNameLst>
                                      </p:cBhvr>
                                      <p:tavLst>
                                        <p:tav tm="0">
                                          <p:val>
                                            <p:strVal val="#ppt_y"/>
                                          </p:val>
                                        </p:tav>
                                        <p:tav tm="100000">
                                          <p:val>
                                            <p:strVal val="#ppt_y"/>
                                          </p:val>
                                        </p:tav>
                                      </p:tavLst>
                                    </p:anim>
                                  </p:childTnLst>
                                </p:cTn>
                              </p:par>
                            </p:childTnLst>
                          </p:cTn>
                        </p:par>
                        <p:par>
                          <p:cTn id="42" fill="hold">
                            <p:stCondLst>
                              <p:cond delay="3750"/>
                            </p:stCondLst>
                            <p:childTnLst>
                              <p:par>
                                <p:cTn id="43" presetID="53" presetClass="entr" presetSubtype="16"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 calcmode="lin" valueType="num">
                                      <p:cBhvr>
                                        <p:cTn id="45" dur="250" fill="hold"/>
                                        <p:tgtEl>
                                          <p:spTgt spid="25"/>
                                        </p:tgtEl>
                                        <p:attrNameLst>
                                          <p:attrName>ppt_w</p:attrName>
                                        </p:attrNameLst>
                                      </p:cBhvr>
                                      <p:tavLst>
                                        <p:tav tm="0">
                                          <p:val>
                                            <p:fltVal val="0"/>
                                          </p:val>
                                        </p:tav>
                                        <p:tav tm="100000">
                                          <p:val>
                                            <p:strVal val="#ppt_w"/>
                                          </p:val>
                                        </p:tav>
                                      </p:tavLst>
                                    </p:anim>
                                    <p:anim calcmode="lin" valueType="num">
                                      <p:cBhvr>
                                        <p:cTn id="46" dur="250" fill="hold"/>
                                        <p:tgtEl>
                                          <p:spTgt spid="25"/>
                                        </p:tgtEl>
                                        <p:attrNameLst>
                                          <p:attrName>ppt_h</p:attrName>
                                        </p:attrNameLst>
                                      </p:cBhvr>
                                      <p:tavLst>
                                        <p:tav tm="0">
                                          <p:val>
                                            <p:fltVal val="0"/>
                                          </p:val>
                                        </p:tav>
                                        <p:tav tm="100000">
                                          <p:val>
                                            <p:strVal val="#ppt_h"/>
                                          </p:val>
                                        </p:tav>
                                      </p:tavLst>
                                    </p:anim>
                                    <p:animEffect transition="in" filter="fade">
                                      <p:cBhvr>
                                        <p:cTn id="47" dur="250"/>
                                        <p:tgtEl>
                                          <p:spTgt spid="25"/>
                                        </p:tgtEl>
                                      </p:cBhvr>
                                    </p:animEffect>
                                  </p:childTnLst>
                                </p:cTn>
                              </p:par>
                              <p:par>
                                <p:cTn id="48" presetID="37" presetClass="entr" presetSubtype="0" fill="hold" grpId="0" nodeType="withEffect">
                                  <p:stCondLst>
                                    <p:cond delay="0"/>
                                  </p:stCondLst>
                                  <p:childTnLst>
                                    <p:set>
                                      <p:cBhvr>
                                        <p:cTn id="49" dur="1" fill="hold">
                                          <p:stCondLst>
                                            <p:cond delay="0"/>
                                          </p:stCondLst>
                                        </p:cTn>
                                        <p:tgtEl>
                                          <p:spTgt spid="26">
                                            <p:txEl>
                                              <p:pRg st="0" end="0"/>
                                            </p:txEl>
                                          </p:spTgt>
                                        </p:tgtEl>
                                        <p:attrNameLst>
                                          <p:attrName>style.visibility</p:attrName>
                                        </p:attrNameLst>
                                      </p:cBhvr>
                                      <p:to>
                                        <p:strVal val="visible"/>
                                      </p:to>
                                    </p:set>
                                    <p:animEffect transition="in" filter="fade">
                                      <p:cBhvr>
                                        <p:cTn id="50" dur="400"/>
                                        <p:tgtEl>
                                          <p:spTgt spid="26">
                                            <p:txEl>
                                              <p:pRg st="0" end="0"/>
                                            </p:txEl>
                                          </p:spTgt>
                                        </p:tgtEl>
                                      </p:cBhvr>
                                    </p:animEffect>
                                    <p:anim calcmode="lin" valueType="num">
                                      <p:cBhvr>
                                        <p:cTn id="51" dur="4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52" dur="360" decel="100000" fill="hold"/>
                                        <p:tgtEl>
                                          <p:spTgt spid="26">
                                            <p:txEl>
                                              <p:pRg st="0" end="0"/>
                                            </p:txEl>
                                          </p:spTgt>
                                        </p:tgtEl>
                                        <p:attrNameLst>
                                          <p:attrName>ppt_y</p:attrName>
                                        </p:attrNameLst>
                                      </p:cBhvr>
                                      <p:tavLst>
                                        <p:tav tm="0">
                                          <p:val>
                                            <p:strVal val="#ppt_y+1"/>
                                          </p:val>
                                        </p:tav>
                                        <p:tav tm="100000">
                                          <p:val>
                                            <p:strVal val="#ppt_y-.03"/>
                                          </p:val>
                                        </p:tav>
                                      </p:tavLst>
                                    </p:anim>
                                    <p:anim calcmode="lin" valueType="num">
                                      <p:cBhvr>
                                        <p:cTn id="53" dur="40" accel="100000" fill="hold">
                                          <p:stCondLst>
                                            <p:cond delay="360"/>
                                          </p:stCondLst>
                                        </p:cTn>
                                        <p:tgtEl>
                                          <p:spTgt spid="26">
                                            <p:txEl>
                                              <p:pRg st="0" end="0"/>
                                            </p:txEl>
                                          </p:spTgt>
                                        </p:tgtEl>
                                        <p:attrNameLst>
                                          <p:attrName>ppt_y</p:attrName>
                                        </p:attrNameLst>
                                      </p:cBhvr>
                                      <p:tavLst>
                                        <p:tav tm="0">
                                          <p:val>
                                            <p:strVal val="#ppt_y-.03"/>
                                          </p:val>
                                        </p:tav>
                                        <p:tav tm="100000">
                                          <p:val>
                                            <p:strVal val="#ppt_y"/>
                                          </p:val>
                                        </p:tav>
                                      </p:tavLst>
                                    </p:anim>
                                  </p:childTnLst>
                                </p:cTn>
                              </p:par>
                            </p:childTnLst>
                          </p:cTn>
                        </p:par>
                        <p:par>
                          <p:cTn id="54" fill="hold">
                            <p:stCondLst>
                              <p:cond delay="4150"/>
                            </p:stCondLst>
                            <p:childTnLst>
                              <p:par>
                                <p:cTn id="55" presetID="37" presetClass="entr" presetSubtype="0" fill="hold" grpId="0" nodeType="afterEffect">
                                  <p:stCondLst>
                                    <p:cond delay="0"/>
                                  </p:stCondLst>
                                  <p:childTnLst>
                                    <p:set>
                                      <p:cBhvr>
                                        <p:cTn id="56" dur="1" fill="hold">
                                          <p:stCondLst>
                                            <p:cond delay="0"/>
                                          </p:stCondLst>
                                        </p:cTn>
                                        <p:tgtEl>
                                          <p:spTgt spid="26">
                                            <p:txEl>
                                              <p:pRg st="1" end="1"/>
                                            </p:txEl>
                                          </p:spTgt>
                                        </p:tgtEl>
                                        <p:attrNameLst>
                                          <p:attrName>style.visibility</p:attrName>
                                        </p:attrNameLst>
                                      </p:cBhvr>
                                      <p:to>
                                        <p:strVal val="visible"/>
                                      </p:to>
                                    </p:set>
                                    <p:animEffect transition="in" filter="fade">
                                      <p:cBhvr>
                                        <p:cTn id="57" dur="400"/>
                                        <p:tgtEl>
                                          <p:spTgt spid="26">
                                            <p:txEl>
                                              <p:pRg st="1" end="1"/>
                                            </p:txEl>
                                          </p:spTgt>
                                        </p:tgtEl>
                                      </p:cBhvr>
                                    </p:animEffect>
                                    <p:anim calcmode="lin" valueType="num">
                                      <p:cBhvr>
                                        <p:cTn id="58" dur="400" fill="hold"/>
                                        <p:tgtEl>
                                          <p:spTgt spid="26">
                                            <p:txEl>
                                              <p:pRg st="1" end="1"/>
                                            </p:txEl>
                                          </p:spTgt>
                                        </p:tgtEl>
                                        <p:attrNameLst>
                                          <p:attrName>ppt_x</p:attrName>
                                        </p:attrNameLst>
                                      </p:cBhvr>
                                      <p:tavLst>
                                        <p:tav tm="0">
                                          <p:val>
                                            <p:strVal val="#ppt_x"/>
                                          </p:val>
                                        </p:tav>
                                        <p:tav tm="100000">
                                          <p:val>
                                            <p:strVal val="#ppt_x"/>
                                          </p:val>
                                        </p:tav>
                                      </p:tavLst>
                                    </p:anim>
                                    <p:anim calcmode="lin" valueType="num">
                                      <p:cBhvr>
                                        <p:cTn id="59" dur="360" decel="100000" fill="hold"/>
                                        <p:tgtEl>
                                          <p:spTgt spid="26">
                                            <p:txEl>
                                              <p:pRg st="1" end="1"/>
                                            </p:txEl>
                                          </p:spTgt>
                                        </p:tgtEl>
                                        <p:attrNameLst>
                                          <p:attrName>ppt_y</p:attrName>
                                        </p:attrNameLst>
                                      </p:cBhvr>
                                      <p:tavLst>
                                        <p:tav tm="0">
                                          <p:val>
                                            <p:strVal val="#ppt_y+1"/>
                                          </p:val>
                                        </p:tav>
                                        <p:tav tm="100000">
                                          <p:val>
                                            <p:strVal val="#ppt_y-.03"/>
                                          </p:val>
                                        </p:tav>
                                      </p:tavLst>
                                    </p:anim>
                                    <p:anim calcmode="lin" valueType="num">
                                      <p:cBhvr>
                                        <p:cTn id="60" dur="40" accel="100000" fill="hold">
                                          <p:stCondLst>
                                            <p:cond delay="360"/>
                                          </p:stCondLst>
                                        </p:cTn>
                                        <p:tgtEl>
                                          <p:spTgt spid="26">
                                            <p:txEl>
                                              <p:pRg st="1" end="1"/>
                                            </p:txEl>
                                          </p:spTgt>
                                        </p:tgtEl>
                                        <p:attrNameLst>
                                          <p:attrName>ppt_y</p:attrName>
                                        </p:attrNameLst>
                                      </p:cBhvr>
                                      <p:tavLst>
                                        <p:tav tm="0">
                                          <p:val>
                                            <p:strVal val="#ppt_y-.03"/>
                                          </p:val>
                                        </p:tav>
                                        <p:tav tm="100000">
                                          <p:val>
                                            <p:strVal val="#ppt_y"/>
                                          </p:val>
                                        </p:tav>
                                      </p:tavLst>
                                    </p:anim>
                                  </p:childTnLst>
                                </p:cTn>
                              </p:par>
                            </p:childTnLst>
                          </p:cTn>
                        </p:par>
                        <p:par>
                          <p:cTn id="61" fill="hold">
                            <p:stCondLst>
                              <p:cond delay="4550"/>
                            </p:stCondLst>
                            <p:childTnLst>
                              <p:par>
                                <p:cTn id="62" presetID="2" presetClass="entr" presetSubtype="2" fill="hold" nodeType="afterEffect">
                                  <p:stCondLst>
                                    <p:cond delay="0"/>
                                  </p:stCondLst>
                                  <p:childTnLst>
                                    <p:set>
                                      <p:cBhvr>
                                        <p:cTn id="63" dur="1" fill="hold">
                                          <p:stCondLst>
                                            <p:cond delay="0"/>
                                          </p:stCondLst>
                                        </p:cTn>
                                        <p:tgtEl>
                                          <p:spTgt spid="29"/>
                                        </p:tgtEl>
                                        <p:attrNameLst>
                                          <p:attrName>style.visibility</p:attrName>
                                        </p:attrNameLst>
                                      </p:cBhvr>
                                      <p:to>
                                        <p:strVal val="visible"/>
                                      </p:to>
                                    </p:set>
                                    <p:anim calcmode="lin" valueType="num">
                                      <p:cBhvr additive="base">
                                        <p:cTn id="64" dur="500" fill="hold"/>
                                        <p:tgtEl>
                                          <p:spTgt spid="29"/>
                                        </p:tgtEl>
                                        <p:attrNameLst>
                                          <p:attrName>ppt_x</p:attrName>
                                        </p:attrNameLst>
                                      </p:cBhvr>
                                      <p:tavLst>
                                        <p:tav tm="0">
                                          <p:val>
                                            <p:strVal val="1+#ppt_w/2"/>
                                          </p:val>
                                        </p:tav>
                                        <p:tav tm="100000">
                                          <p:val>
                                            <p:strVal val="#ppt_x"/>
                                          </p:val>
                                        </p:tav>
                                      </p:tavLst>
                                    </p:anim>
                                    <p:anim calcmode="lin" valueType="num">
                                      <p:cBhvr additive="base">
                                        <p:cTn id="65" dur="500" fill="hold"/>
                                        <p:tgtEl>
                                          <p:spTgt spid="29"/>
                                        </p:tgtEl>
                                        <p:attrNameLst>
                                          <p:attrName>ppt_y</p:attrName>
                                        </p:attrNameLst>
                                      </p:cBhvr>
                                      <p:tavLst>
                                        <p:tav tm="0">
                                          <p:val>
                                            <p:strVal val="#ppt_y"/>
                                          </p:val>
                                        </p:tav>
                                        <p:tav tm="100000">
                                          <p:val>
                                            <p:strVal val="#ppt_y"/>
                                          </p:val>
                                        </p:tav>
                                      </p:tavLst>
                                    </p:anim>
                                  </p:childTnLst>
                                </p:cTn>
                              </p:par>
                            </p:childTnLst>
                          </p:cTn>
                        </p:par>
                        <p:par>
                          <p:cTn id="66" fill="hold">
                            <p:stCondLst>
                              <p:cond delay="5050"/>
                            </p:stCondLst>
                            <p:childTnLst>
                              <p:par>
                                <p:cTn id="67" presetID="53" presetClass="entr" presetSubtype="16" fill="hold" grpId="0" nodeType="afterEffect">
                                  <p:stCondLst>
                                    <p:cond delay="0"/>
                                  </p:stCondLst>
                                  <p:childTnLst>
                                    <p:set>
                                      <p:cBhvr>
                                        <p:cTn id="68" dur="1" fill="hold">
                                          <p:stCondLst>
                                            <p:cond delay="0"/>
                                          </p:stCondLst>
                                        </p:cTn>
                                        <p:tgtEl>
                                          <p:spTgt spid="30"/>
                                        </p:tgtEl>
                                        <p:attrNameLst>
                                          <p:attrName>style.visibility</p:attrName>
                                        </p:attrNameLst>
                                      </p:cBhvr>
                                      <p:to>
                                        <p:strVal val="visible"/>
                                      </p:to>
                                    </p:set>
                                    <p:anim calcmode="lin" valueType="num">
                                      <p:cBhvr>
                                        <p:cTn id="69" dur="250" fill="hold"/>
                                        <p:tgtEl>
                                          <p:spTgt spid="30"/>
                                        </p:tgtEl>
                                        <p:attrNameLst>
                                          <p:attrName>ppt_w</p:attrName>
                                        </p:attrNameLst>
                                      </p:cBhvr>
                                      <p:tavLst>
                                        <p:tav tm="0">
                                          <p:val>
                                            <p:fltVal val="0"/>
                                          </p:val>
                                        </p:tav>
                                        <p:tav tm="100000">
                                          <p:val>
                                            <p:strVal val="#ppt_w"/>
                                          </p:val>
                                        </p:tav>
                                      </p:tavLst>
                                    </p:anim>
                                    <p:anim calcmode="lin" valueType="num">
                                      <p:cBhvr>
                                        <p:cTn id="70" dur="250" fill="hold"/>
                                        <p:tgtEl>
                                          <p:spTgt spid="30"/>
                                        </p:tgtEl>
                                        <p:attrNameLst>
                                          <p:attrName>ppt_h</p:attrName>
                                        </p:attrNameLst>
                                      </p:cBhvr>
                                      <p:tavLst>
                                        <p:tav tm="0">
                                          <p:val>
                                            <p:fltVal val="0"/>
                                          </p:val>
                                        </p:tav>
                                        <p:tav tm="100000">
                                          <p:val>
                                            <p:strVal val="#ppt_h"/>
                                          </p:val>
                                        </p:tav>
                                      </p:tavLst>
                                    </p:anim>
                                    <p:animEffect transition="in" filter="fade">
                                      <p:cBhvr>
                                        <p:cTn id="71" dur="250"/>
                                        <p:tgtEl>
                                          <p:spTgt spid="30"/>
                                        </p:tgtEl>
                                      </p:cBhvr>
                                    </p:animEffect>
                                  </p:childTnLst>
                                </p:cTn>
                              </p:par>
                              <p:par>
                                <p:cTn id="72" presetID="37" presetClass="entr" presetSubtype="0" fill="hold" grpId="0" nodeType="withEffect">
                                  <p:stCondLst>
                                    <p:cond delay="0"/>
                                  </p:stCondLst>
                                  <p:childTnLst>
                                    <p:set>
                                      <p:cBhvr>
                                        <p:cTn id="73" dur="1" fill="hold">
                                          <p:stCondLst>
                                            <p:cond delay="0"/>
                                          </p:stCondLst>
                                        </p:cTn>
                                        <p:tgtEl>
                                          <p:spTgt spid="31">
                                            <p:txEl>
                                              <p:pRg st="0" end="0"/>
                                            </p:txEl>
                                          </p:spTgt>
                                        </p:tgtEl>
                                        <p:attrNameLst>
                                          <p:attrName>style.visibility</p:attrName>
                                        </p:attrNameLst>
                                      </p:cBhvr>
                                      <p:to>
                                        <p:strVal val="visible"/>
                                      </p:to>
                                    </p:set>
                                    <p:animEffect transition="in" filter="fade">
                                      <p:cBhvr>
                                        <p:cTn id="74" dur="400"/>
                                        <p:tgtEl>
                                          <p:spTgt spid="31">
                                            <p:txEl>
                                              <p:pRg st="0" end="0"/>
                                            </p:txEl>
                                          </p:spTgt>
                                        </p:tgtEl>
                                      </p:cBhvr>
                                    </p:animEffect>
                                    <p:anim calcmode="lin" valueType="num">
                                      <p:cBhvr>
                                        <p:cTn id="75" dur="400" fill="hold"/>
                                        <p:tgtEl>
                                          <p:spTgt spid="31">
                                            <p:txEl>
                                              <p:pRg st="0" end="0"/>
                                            </p:txEl>
                                          </p:spTgt>
                                        </p:tgtEl>
                                        <p:attrNameLst>
                                          <p:attrName>ppt_x</p:attrName>
                                        </p:attrNameLst>
                                      </p:cBhvr>
                                      <p:tavLst>
                                        <p:tav tm="0">
                                          <p:val>
                                            <p:strVal val="#ppt_x"/>
                                          </p:val>
                                        </p:tav>
                                        <p:tav tm="100000">
                                          <p:val>
                                            <p:strVal val="#ppt_x"/>
                                          </p:val>
                                        </p:tav>
                                      </p:tavLst>
                                    </p:anim>
                                    <p:anim calcmode="lin" valueType="num">
                                      <p:cBhvr>
                                        <p:cTn id="76" dur="360" decel="100000" fill="hold"/>
                                        <p:tgtEl>
                                          <p:spTgt spid="31">
                                            <p:txEl>
                                              <p:pRg st="0" end="0"/>
                                            </p:txEl>
                                          </p:spTgt>
                                        </p:tgtEl>
                                        <p:attrNameLst>
                                          <p:attrName>ppt_y</p:attrName>
                                        </p:attrNameLst>
                                      </p:cBhvr>
                                      <p:tavLst>
                                        <p:tav tm="0">
                                          <p:val>
                                            <p:strVal val="#ppt_y+1"/>
                                          </p:val>
                                        </p:tav>
                                        <p:tav tm="100000">
                                          <p:val>
                                            <p:strVal val="#ppt_y-.03"/>
                                          </p:val>
                                        </p:tav>
                                      </p:tavLst>
                                    </p:anim>
                                    <p:anim calcmode="lin" valueType="num">
                                      <p:cBhvr>
                                        <p:cTn id="77" dur="40" accel="100000" fill="hold">
                                          <p:stCondLst>
                                            <p:cond delay="360"/>
                                          </p:stCondLst>
                                        </p:cTn>
                                        <p:tgtEl>
                                          <p:spTgt spid="31">
                                            <p:txEl>
                                              <p:pRg st="0" end="0"/>
                                            </p:txEl>
                                          </p:spTgt>
                                        </p:tgtEl>
                                        <p:attrNameLst>
                                          <p:attrName>ppt_y</p:attrName>
                                        </p:attrNameLst>
                                      </p:cBhvr>
                                      <p:tavLst>
                                        <p:tav tm="0">
                                          <p:val>
                                            <p:strVal val="#ppt_y-.03"/>
                                          </p:val>
                                        </p:tav>
                                        <p:tav tm="100000">
                                          <p:val>
                                            <p:strVal val="#ppt_y"/>
                                          </p:val>
                                        </p:tav>
                                      </p:tavLst>
                                    </p:anim>
                                  </p:childTnLst>
                                </p:cTn>
                              </p:par>
                            </p:childTnLst>
                          </p:cTn>
                        </p:par>
                        <p:par>
                          <p:cTn id="78" fill="hold">
                            <p:stCondLst>
                              <p:cond delay="5450"/>
                            </p:stCondLst>
                            <p:childTnLst>
                              <p:par>
                                <p:cTn id="79" presetID="37" presetClass="entr" presetSubtype="0" fill="hold" grpId="0" nodeType="afterEffect">
                                  <p:stCondLst>
                                    <p:cond delay="0"/>
                                  </p:stCondLst>
                                  <p:childTnLst>
                                    <p:set>
                                      <p:cBhvr>
                                        <p:cTn id="80" dur="1" fill="hold">
                                          <p:stCondLst>
                                            <p:cond delay="0"/>
                                          </p:stCondLst>
                                        </p:cTn>
                                        <p:tgtEl>
                                          <p:spTgt spid="31">
                                            <p:txEl>
                                              <p:pRg st="1" end="1"/>
                                            </p:txEl>
                                          </p:spTgt>
                                        </p:tgtEl>
                                        <p:attrNameLst>
                                          <p:attrName>style.visibility</p:attrName>
                                        </p:attrNameLst>
                                      </p:cBhvr>
                                      <p:to>
                                        <p:strVal val="visible"/>
                                      </p:to>
                                    </p:set>
                                    <p:animEffect transition="in" filter="fade">
                                      <p:cBhvr>
                                        <p:cTn id="81" dur="400"/>
                                        <p:tgtEl>
                                          <p:spTgt spid="31">
                                            <p:txEl>
                                              <p:pRg st="1" end="1"/>
                                            </p:txEl>
                                          </p:spTgt>
                                        </p:tgtEl>
                                      </p:cBhvr>
                                    </p:animEffect>
                                    <p:anim calcmode="lin" valueType="num">
                                      <p:cBhvr>
                                        <p:cTn id="82" dur="400" fill="hold"/>
                                        <p:tgtEl>
                                          <p:spTgt spid="31">
                                            <p:txEl>
                                              <p:pRg st="1" end="1"/>
                                            </p:txEl>
                                          </p:spTgt>
                                        </p:tgtEl>
                                        <p:attrNameLst>
                                          <p:attrName>ppt_x</p:attrName>
                                        </p:attrNameLst>
                                      </p:cBhvr>
                                      <p:tavLst>
                                        <p:tav tm="0">
                                          <p:val>
                                            <p:strVal val="#ppt_x"/>
                                          </p:val>
                                        </p:tav>
                                        <p:tav tm="100000">
                                          <p:val>
                                            <p:strVal val="#ppt_x"/>
                                          </p:val>
                                        </p:tav>
                                      </p:tavLst>
                                    </p:anim>
                                    <p:anim calcmode="lin" valueType="num">
                                      <p:cBhvr>
                                        <p:cTn id="83" dur="360" decel="100000" fill="hold"/>
                                        <p:tgtEl>
                                          <p:spTgt spid="31">
                                            <p:txEl>
                                              <p:pRg st="1" end="1"/>
                                            </p:txEl>
                                          </p:spTgt>
                                        </p:tgtEl>
                                        <p:attrNameLst>
                                          <p:attrName>ppt_y</p:attrName>
                                        </p:attrNameLst>
                                      </p:cBhvr>
                                      <p:tavLst>
                                        <p:tav tm="0">
                                          <p:val>
                                            <p:strVal val="#ppt_y+1"/>
                                          </p:val>
                                        </p:tav>
                                        <p:tav tm="100000">
                                          <p:val>
                                            <p:strVal val="#ppt_y-.03"/>
                                          </p:val>
                                        </p:tav>
                                      </p:tavLst>
                                    </p:anim>
                                    <p:anim calcmode="lin" valueType="num">
                                      <p:cBhvr>
                                        <p:cTn id="84" dur="40" accel="100000" fill="hold">
                                          <p:stCondLst>
                                            <p:cond delay="360"/>
                                          </p:stCondLst>
                                        </p:cTn>
                                        <p:tgtEl>
                                          <p:spTgt spid="31">
                                            <p:txEl>
                                              <p:pRg st="1" end="1"/>
                                            </p:txEl>
                                          </p:spTgt>
                                        </p:tgtEl>
                                        <p:attrNameLst>
                                          <p:attrName>ppt_y</p:attrName>
                                        </p:attrNameLst>
                                      </p:cBhvr>
                                      <p:tavLst>
                                        <p:tav tm="0">
                                          <p:val>
                                            <p:strVal val="#ppt_y-.03"/>
                                          </p:val>
                                        </p:tav>
                                        <p:tav tm="100000">
                                          <p:val>
                                            <p:strVal val="#ppt_y"/>
                                          </p:val>
                                        </p:tav>
                                      </p:tavLst>
                                    </p:anim>
                                  </p:childTnLst>
                                </p:cTn>
                              </p:par>
                            </p:childTnLst>
                          </p:cTn>
                        </p:par>
                        <p:par>
                          <p:cTn id="85" fill="hold">
                            <p:stCondLst>
                              <p:cond delay="5850"/>
                            </p:stCondLst>
                            <p:childTnLst>
                              <p:par>
                                <p:cTn id="86" presetID="2" presetClass="entr" presetSubtype="2" fill="hold" nodeType="afterEffect">
                                  <p:stCondLst>
                                    <p:cond delay="0"/>
                                  </p:stCondLst>
                                  <p:childTnLst>
                                    <p:set>
                                      <p:cBhvr>
                                        <p:cTn id="87" dur="1" fill="hold">
                                          <p:stCondLst>
                                            <p:cond delay="0"/>
                                          </p:stCondLst>
                                        </p:cTn>
                                        <p:tgtEl>
                                          <p:spTgt spid="34"/>
                                        </p:tgtEl>
                                        <p:attrNameLst>
                                          <p:attrName>style.visibility</p:attrName>
                                        </p:attrNameLst>
                                      </p:cBhvr>
                                      <p:to>
                                        <p:strVal val="visible"/>
                                      </p:to>
                                    </p:set>
                                    <p:anim calcmode="lin" valueType="num">
                                      <p:cBhvr additive="base">
                                        <p:cTn id="88" dur="500" fill="hold"/>
                                        <p:tgtEl>
                                          <p:spTgt spid="34"/>
                                        </p:tgtEl>
                                        <p:attrNameLst>
                                          <p:attrName>ppt_x</p:attrName>
                                        </p:attrNameLst>
                                      </p:cBhvr>
                                      <p:tavLst>
                                        <p:tav tm="0">
                                          <p:val>
                                            <p:strVal val="1+#ppt_w/2"/>
                                          </p:val>
                                        </p:tav>
                                        <p:tav tm="100000">
                                          <p:val>
                                            <p:strVal val="#ppt_x"/>
                                          </p:val>
                                        </p:tav>
                                      </p:tavLst>
                                    </p:anim>
                                    <p:anim calcmode="lin" valueType="num">
                                      <p:cBhvr additive="base">
                                        <p:cTn id="89" dur="500" fill="hold"/>
                                        <p:tgtEl>
                                          <p:spTgt spid="34"/>
                                        </p:tgtEl>
                                        <p:attrNameLst>
                                          <p:attrName>ppt_y</p:attrName>
                                        </p:attrNameLst>
                                      </p:cBhvr>
                                      <p:tavLst>
                                        <p:tav tm="0">
                                          <p:val>
                                            <p:strVal val="#ppt_y"/>
                                          </p:val>
                                        </p:tav>
                                        <p:tav tm="100000">
                                          <p:val>
                                            <p:strVal val="#ppt_y"/>
                                          </p:val>
                                        </p:tav>
                                      </p:tavLst>
                                    </p:anim>
                                  </p:childTnLst>
                                </p:cTn>
                              </p:par>
                            </p:childTnLst>
                          </p:cTn>
                        </p:par>
                        <p:par>
                          <p:cTn id="90" fill="hold">
                            <p:stCondLst>
                              <p:cond delay="6350"/>
                            </p:stCondLst>
                            <p:childTnLst>
                              <p:par>
                                <p:cTn id="91" presetID="53" presetClass="entr" presetSubtype="16" fill="hold" grpId="0" nodeType="afterEffect">
                                  <p:stCondLst>
                                    <p:cond delay="0"/>
                                  </p:stCondLst>
                                  <p:childTnLst>
                                    <p:set>
                                      <p:cBhvr>
                                        <p:cTn id="92" dur="1" fill="hold">
                                          <p:stCondLst>
                                            <p:cond delay="0"/>
                                          </p:stCondLst>
                                        </p:cTn>
                                        <p:tgtEl>
                                          <p:spTgt spid="35"/>
                                        </p:tgtEl>
                                        <p:attrNameLst>
                                          <p:attrName>style.visibility</p:attrName>
                                        </p:attrNameLst>
                                      </p:cBhvr>
                                      <p:to>
                                        <p:strVal val="visible"/>
                                      </p:to>
                                    </p:set>
                                    <p:anim calcmode="lin" valueType="num">
                                      <p:cBhvr>
                                        <p:cTn id="93" dur="250" fill="hold"/>
                                        <p:tgtEl>
                                          <p:spTgt spid="35"/>
                                        </p:tgtEl>
                                        <p:attrNameLst>
                                          <p:attrName>ppt_w</p:attrName>
                                        </p:attrNameLst>
                                      </p:cBhvr>
                                      <p:tavLst>
                                        <p:tav tm="0">
                                          <p:val>
                                            <p:fltVal val="0"/>
                                          </p:val>
                                        </p:tav>
                                        <p:tav tm="100000">
                                          <p:val>
                                            <p:strVal val="#ppt_w"/>
                                          </p:val>
                                        </p:tav>
                                      </p:tavLst>
                                    </p:anim>
                                    <p:anim calcmode="lin" valueType="num">
                                      <p:cBhvr>
                                        <p:cTn id="94" dur="250" fill="hold"/>
                                        <p:tgtEl>
                                          <p:spTgt spid="35"/>
                                        </p:tgtEl>
                                        <p:attrNameLst>
                                          <p:attrName>ppt_h</p:attrName>
                                        </p:attrNameLst>
                                      </p:cBhvr>
                                      <p:tavLst>
                                        <p:tav tm="0">
                                          <p:val>
                                            <p:fltVal val="0"/>
                                          </p:val>
                                        </p:tav>
                                        <p:tav tm="100000">
                                          <p:val>
                                            <p:strVal val="#ppt_h"/>
                                          </p:val>
                                        </p:tav>
                                      </p:tavLst>
                                    </p:anim>
                                    <p:animEffect transition="in" filter="fade">
                                      <p:cBhvr>
                                        <p:cTn id="95" dur="250"/>
                                        <p:tgtEl>
                                          <p:spTgt spid="35"/>
                                        </p:tgtEl>
                                      </p:cBhvr>
                                    </p:animEffect>
                                  </p:childTnLst>
                                </p:cTn>
                              </p:par>
                              <p:par>
                                <p:cTn id="96" presetID="37" presetClass="entr" presetSubtype="0" fill="hold" grpId="0" nodeType="withEffect">
                                  <p:stCondLst>
                                    <p:cond delay="0"/>
                                  </p:stCondLst>
                                  <p:childTnLst>
                                    <p:set>
                                      <p:cBhvr>
                                        <p:cTn id="97" dur="1" fill="hold">
                                          <p:stCondLst>
                                            <p:cond delay="0"/>
                                          </p:stCondLst>
                                        </p:cTn>
                                        <p:tgtEl>
                                          <p:spTgt spid="36">
                                            <p:txEl>
                                              <p:pRg st="0" end="0"/>
                                            </p:txEl>
                                          </p:spTgt>
                                        </p:tgtEl>
                                        <p:attrNameLst>
                                          <p:attrName>style.visibility</p:attrName>
                                        </p:attrNameLst>
                                      </p:cBhvr>
                                      <p:to>
                                        <p:strVal val="visible"/>
                                      </p:to>
                                    </p:set>
                                    <p:animEffect transition="in" filter="fade">
                                      <p:cBhvr>
                                        <p:cTn id="98" dur="400"/>
                                        <p:tgtEl>
                                          <p:spTgt spid="36">
                                            <p:txEl>
                                              <p:pRg st="0" end="0"/>
                                            </p:txEl>
                                          </p:spTgt>
                                        </p:tgtEl>
                                      </p:cBhvr>
                                    </p:animEffect>
                                    <p:anim calcmode="lin" valueType="num">
                                      <p:cBhvr>
                                        <p:cTn id="99" dur="400" fill="hold"/>
                                        <p:tgtEl>
                                          <p:spTgt spid="36">
                                            <p:txEl>
                                              <p:pRg st="0" end="0"/>
                                            </p:txEl>
                                          </p:spTgt>
                                        </p:tgtEl>
                                        <p:attrNameLst>
                                          <p:attrName>ppt_x</p:attrName>
                                        </p:attrNameLst>
                                      </p:cBhvr>
                                      <p:tavLst>
                                        <p:tav tm="0">
                                          <p:val>
                                            <p:strVal val="#ppt_x"/>
                                          </p:val>
                                        </p:tav>
                                        <p:tav tm="100000">
                                          <p:val>
                                            <p:strVal val="#ppt_x"/>
                                          </p:val>
                                        </p:tav>
                                      </p:tavLst>
                                    </p:anim>
                                    <p:anim calcmode="lin" valueType="num">
                                      <p:cBhvr>
                                        <p:cTn id="100" dur="360" decel="100000" fill="hold"/>
                                        <p:tgtEl>
                                          <p:spTgt spid="36">
                                            <p:txEl>
                                              <p:pRg st="0" end="0"/>
                                            </p:txEl>
                                          </p:spTgt>
                                        </p:tgtEl>
                                        <p:attrNameLst>
                                          <p:attrName>ppt_y</p:attrName>
                                        </p:attrNameLst>
                                      </p:cBhvr>
                                      <p:tavLst>
                                        <p:tav tm="0">
                                          <p:val>
                                            <p:strVal val="#ppt_y+1"/>
                                          </p:val>
                                        </p:tav>
                                        <p:tav tm="100000">
                                          <p:val>
                                            <p:strVal val="#ppt_y-.03"/>
                                          </p:val>
                                        </p:tav>
                                      </p:tavLst>
                                    </p:anim>
                                    <p:anim calcmode="lin" valueType="num">
                                      <p:cBhvr>
                                        <p:cTn id="101" dur="40" accel="100000" fill="hold">
                                          <p:stCondLst>
                                            <p:cond delay="360"/>
                                          </p:stCondLst>
                                        </p:cTn>
                                        <p:tgtEl>
                                          <p:spTgt spid="36">
                                            <p:txEl>
                                              <p:pRg st="0" end="0"/>
                                            </p:txEl>
                                          </p:spTgt>
                                        </p:tgtEl>
                                        <p:attrNameLst>
                                          <p:attrName>ppt_y</p:attrName>
                                        </p:attrNameLst>
                                      </p:cBhvr>
                                      <p:tavLst>
                                        <p:tav tm="0">
                                          <p:val>
                                            <p:strVal val="#ppt_y-.03"/>
                                          </p:val>
                                        </p:tav>
                                        <p:tav tm="100000">
                                          <p:val>
                                            <p:strVal val="#ppt_y"/>
                                          </p:val>
                                        </p:tav>
                                      </p:tavLst>
                                    </p:anim>
                                  </p:childTnLst>
                                </p:cTn>
                              </p:par>
                            </p:childTnLst>
                          </p:cTn>
                        </p:par>
                        <p:par>
                          <p:cTn id="102" fill="hold">
                            <p:stCondLst>
                              <p:cond delay="6750"/>
                            </p:stCondLst>
                            <p:childTnLst>
                              <p:par>
                                <p:cTn id="103" presetID="37" presetClass="entr" presetSubtype="0" fill="hold" grpId="0" nodeType="afterEffect">
                                  <p:stCondLst>
                                    <p:cond delay="0"/>
                                  </p:stCondLst>
                                  <p:childTnLst>
                                    <p:set>
                                      <p:cBhvr>
                                        <p:cTn id="104" dur="1" fill="hold">
                                          <p:stCondLst>
                                            <p:cond delay="0"/>
                                          </p:stCondLst>
                                        </p:cTn>
                                        <p:tgtEl>
                                          <p:spTgt spid="36">
                                            <p:txEl>
                                              <p:pRg st="1" end="1"/>
                                            </p:txEl>
                                          </p:spTgt>
                                        </p:tgtEl>
                                        <p:attrNameLst>
                                          <p:attrName>style.visibility</p:attrName>
                                        </p:attrNameLst>
                                      </p:cBhvr>
                                      <p:to>
                                        <p:strVal val="visible"/>
                                      </p:to>
                                    </p:set>
                                    <p:animEffect transition="in" filter="fade">
                                      <p:cBhvr>
                                        <p:cTn id="105" dur="400"/>
                                        <p:tgtEl>
                                          <p:spTgt spid="36">
                                            <p:txEl>
                                              <p:pRg st="1" end="1"/>
                                            </p:txEl>
                                          </p:spTgt>
                                        </p:tgtEl>
                                      </p:cBhvr>
                                    </p:animEffect>
                                    <p:anim calcmode="lin" valueType="num">
                                      <p:cBhvr>
                                        <p:cTn id="106" dur="400" fill="hold"/>
                                        <p:tgtEl>
                                          <p:spTgt spid="36">
                                            <p:txEl>
                                              <p:pRg st="1" end="1"/>
                                            </p:txEl>
                                          </p:spTgt>
                                        </p:tgtEl>
                                        <p:attrNameLst>
                                          <p:attrName>ppt_x</p:attrName>
                                        </p:attrNameLst>
                                      </p:cBhvr>
                                      <p:tavLst>
                                        <p:tav tm="0">
                                          <p:val>
                                            <p:strVal val="#ppt_x"/>
                                          </p:val>
                                        </p:tav>
                                        <p:tav tm="100000">
                                          <p:val>
                                            <p:strVal val="#ppt_x"/>
                                          </p:val>
                                        </p:tav>
                                      </p:tavLst>
                                    </p:anim>
                                    <p:anim calcmode="lin" valueType="num">
                                      <p:cBhvr>
                                        <p:cTn id="107" dur="360" decel="100000" fill="hold"/>
                                        <p:tgtEl>
                                          <p:spTgt spid="36">
                                            <p:txEl>
                                              <p:pRg st="1" end="1"/>
                                            </p:txEl>
                                          </p:spTgt>
                                        </p:tgtEl>
                                        <p:attrNameLst>
                                          <p:attrName>ppt_y</p:attrName>
                                        </p:attrNameLst>
                                      </p:cBhvr>
                                      <p:tavLst>
                                        <p:tav tm="0">
                                          <p:val>
                                            <p:strVal val="#ppt_y+1"/>
                                          </p:val>
                                        </p:tav>
                                        <p:tav tm="100000">
                                          <p:val>
                                            <p:strVal val="#ppt_y-.03"/>
                                          </p:val>
                                        </p:tav>
                                      </p:tavLst>
                                    </p:anim>
                                    <p:anim calcmode="lin" valueType="num">
                                      <p:cBhvr>
                                        <p:cTn id="108" dur="40" accel="100000" fill="hold">
                                          <p:stCondLst>
                                            <p:cond delay="360"/>
                                          </p:stCondLst>
                                        </p:cTn>
                                        <p:tgtEl>
                                          <p:spTgt spid="36">
                                            <p:txEl>
                                              <p:pRg st="1" end="1"/>
                                            </p:txEl>
                                          </p:spTgt>
                                        </p:tgtEl>
                                        <p:attrNameLst>
                                          <p:attrName>ppt_y</p:attrName>
                                        </p:attrNameLst>
                                      </p:cBhvr>
                                      <p:tavLst>
                                        <p:tav tm="0">
                                          <p:val>
                                            <p:strVal val="#ppt_y-.03"/>
                                          </p:val>
                                        </p:tav>
                                        <p:tav tm="100000">
                                          <p:val>
                                            <p:strVal val="#ppt_y"/>
                                          </p:val>
                                        </p:tav>
                                      </p:tavLst>
                                    </p:anim>
                                  </p:childTnLst>
                                </p:cTn>
                              </p:par>
                            </p:childTnLst>
                          </p:cTn>
                        </p:par>
                        <p:par>
                          <p:cTn id="109" fill="hold">
                            <p:stCondLst>
                              <p:cond delay="7150"/>
                            </p:stCondLst>
                            <p:childTnLst>
                              <p:par>
                                <p:cTn id="110" presetID="2" presetClass="entr" presetSubtype="2" fill="hold" nodeType="afterEffect">
                                  <p:stCondLst>
                                    <p:cond delay="0"/>
                                  </p:stCondLst>
                                  <p:childTnLst>
                                    <p:set>
                                      <p:cBhvr>
                                        <p:cTn id="111" dur="1" fill="hold">
                                          <p:stCondLst>
                                            <p:cond delay="0"/>
                                          </p:stCondLst>
                                        </p:cTn>
                                        <p:tgtEl>
                                          <p:spTgt spid="39"/>
                                        </p:tgtEl>
                                        <p:attrNameLst>
                                          <p:attrName>style.visibility</p:attrName>
                                        </p:attrNameLst>
                                      </p:cBhvr>
                                      <p:to>
                                        <p:strVal val="visible"/>
                                      </p:to>
                                    </p:set>
                                    <p:anim calcmode="lin" valueType="num">
                                      <p:cBhvr additive="base">
                                        <p:cTn id="112" dur="500" fill="hold"/>
                                        <p:tgtEl>
                                          <p:spTgt spid="39"/>
                                        </p:tgtEl>
                                        <p:attrNameLst>
                                          <p:attrName>ppt_x</p:attrName>
                                        </p:attrNameLst>
                                      </p:cBhvr>
                                      <p:tavLst>
                                        <p:tav tm="0">
                                          <p:val>
                                            <p:strVal val="1+#ppt_w/2"/>
                                          </p:val>
                                        </p:tav>
                                        <p:tav tm="100000">
                                          <p:val>
                                            <p:strVal val="#ppt_x"/>
                                          </p:val>
                                        </p:tav>
                                      </p:tavLst>
                                    </p:anim>
                                    <p:anim calcmode="lin" valueType="num">
                                      <p:cBhvr additive="base">
                                        <p:cTn id="113" dur="500" fill="hold"/>
                                        <p:tgtEl>
                                          <p:spTgt spid="39"/>
                                        </p:tgtEl>
                                        <p:attrNameLst>
                                          <p:attrName>ppt_y</p:attrName>
                                        </p:attrNameLst>
                                      </p:cBhvr>
                                      <p:tavLst>
                                        <p:tav tm="0">
                                          <p:val>
                                            <p:strVal val="#ppt_y"/>
                                          </p:val>
                                        </p:tav>
                                        <p:tav tm="100000">
                                          <p:val>
                                            <p:strVal val="#ppt_y"/>
                                          </p:val>
                                        </p:tav>
                                      </p:tavLst>
                                    </p:anim>
                                  </p:childTnLst>
                                </p:cTn>
                              </p:par>
                            </p:childTnLst>
                          </p:cTn>
                        </p:par>
                        <p:par>
                          <p:cTn id="114" fill="hold">
                            <p:stCondLst>
                              <p:cond delay="7650"/>
                            </p:stCondLst>
                            <p:childTnLst>
                              <p:par>
                                <p:cTn id="115" presetID="53" presetClass="entr" presetSubtype="16" fill="hold" grpId="0" nodeType="afterEffect">
                                  <p:stCondLst>
                                    <p:cond delay="0"/>
                                  </p:stCondLst>
                                  <p:childTnLst>
                                    <p:set>
                                      <p:cBhvr>
                                        <p:cTn id="116" dur="1" fill="hold">
                                          <p:stCondLst>
                                            <p:cond delay="0"/>
                                          </p:stCondLst>
                                        </p:cTn>
                                        <p:tgtEl>
                                          <p:spTgt spid="40"/>
                                        </p:tgtEl>
                                        <p:attrNameLst>
                                          <p:attrName>style.visibility</p:attrName>
                                        </p:attrNameLst>
                                      </p:cBhvr>
                                      <p:to>
                                        <p:strVal val="visible"/>
                                      </p:to>
                                    </p:set>
                                    <p:anim calcmode="lin" valueType="num">
                                      <p:cBhvr>
                                        <p:cTn id="117" dur="250" fill="hold"/>
                                        <p:tgtEl>
                                          <p:spTgt spid="40"/>
                                        </p:tgtEl>
                                        <p:attrNameLst>
                                          <p:attrName>ppt_w</p:attrName>
                                        </p:attrNameLst>
                                      </p:cBhvr>
                                      <p:tavLst>
                                        <p:tav tm="0">
                                          <p:val>
                                            <p:fltVal val="0"/>
                                          </p:val>
                                        </p:tav>
                                        <p:tav tm="100000">
                                          <p:val>
                                            <p:strVal val="#ppt_w"/>
                                          </p:val>
                                        </p:tav>
                                      </p:tavLst>
                                    </p:anim>
                                    <p:anim calcmode="lin" valueType="num">
                                      <p:cBhvr>
                                        <p:cTn id="118" dur="250" fill="hold"/>
                                        <p:tgtEl>
                                          <p:spTgt spid="40"/>
                                        </p:tgtEl>
                                        <p:attrNameLst>
                                          <p:attrName>ppt_h</p:attrName>
                                        </p:attrNameLst>
                                      </p:cBhvr>
                                      <p:tavLst>
                                        <p:tav tm="0">
                                          <p:val>
                                            <p:fltVal val="0"/>
                                          </p:val>
                                        </p:tav>
                                        <p:tav tm="100000">
                                          <p:val>
                                            <p:strVal val="#ppt_h"/>
                                          </p:val>
                                        </p:tav>
                                      </p:tavLst>
                                    </p:anim>
                                    <p:animEffect transition="in" filter="fade">
                                      <p:cBhvr>
                                        <p:cTn id="119" dur="250"/>
                                        <p:tgtEl>
                                          <p:spTgt spid="40"/>
                                        </p:tgtEl>
                                      </p:cBhvr>
                                    </p:animEffect>
                                  </p:childTnLst>
                                </p:cTn>
                              </p:par>
                              <p:par>
                                <p:cTn id="120" presetID="37" presetClass="entr" presetSubtype="0" fill="hold" grpId="0" nodeType="withEffect">
                                  <p:stCondLst>
                                    <p:cond delay="0"/>
                                  </p:stCondLst>
                                  <p:childTnLst>
                                    <p:set>
                                      <p:cBhvr>
                                        <p:cTn id="121" dur="1" fill="hold">
                                          <p:stCondLst>
                                            <p:cond delay="0"/>
                                          </p:stCondLst>
                                        </p:cTn>
                                        <p:tgtEl>
                                          <p:spTgt spid="41">
                                            <p:txEl>
                                              <p:pRg st="0" end="0"/>
                                            </p:txEl>
                                          </p:spTgt>
                                        </p:tgtEl>
                                        <p:attrNameLst>
                                          <p:attrName>style.visibility</p:attrName>
                                        </p:attrNameLst>
                                      </p:cBhvr>
                                      <p:to>
                                        <p:strVal val="visible"/>
                                      </p:to>
                                    </p:set>
                                    <p:animEffect transition="in" filter="fade">
                                      <p:cBhvr>
                                        <p:cTn id="122" dur="400"/>
                                        <p:tgtEl>
                                          <p:spTgt spid="41">
                                            <p:txEl>
                                              <p:pRg st="0" end="0"/>
                                            </p:txEl>
                                          </p:spTgt>
                                        </p:tgtEl>
                                      </p:cBhvr>
                                    </p:animEffect>
                                    <p:anim calcmode="lin" valueType="num">
                                      <p:cBhvr>
                                        <p:cTn id="123" dur="400" fill="hold"/>
                                        <p:tgtEl>
                                          <p:spTgt spid="41">
                                            <p:txEl>
                                              <p:pRg st="0" end="0"/>
                                            </p:txEl>
                                          </p:spTgt>
                                        </p:tgtEl>
                                        <p:attrNameLst>
                                          <p:attrName>ppt_x</p:attrName>
                                        </p:attrNameLst>
                                      </p:cBhvr>
                                      <p:tavLst>
                                        <p:tav tm="0">
                                          <p:val>
                                            <p:strVal val="#ppt_x"/>
                                          </p:val>
                                        </p:tav>
                                        <p:tav tm="100000">
                                          <p:val>
                                            <p:strVal val="#ppt_x"/>
                                          </p:val>
                                        </p:tav>
                                      </p:tavLst>
                                    </p:anim>
                                    <p:anim calcmode="lin" valueType="num">
                                      <p:cBhvr>
                                        <p:cTn id="124" dur="360" decel="100000" fill="hold"/>
                                        <p:tgtEl>
                                          <p:spTgt spid="41">
                                            <p:txEl>
                                              <p:pRg st="0" end="0"/>
                                            </p:txEl>
                                          </p:spTgt>
                                        </p:tgtEl>
                                        <p:attrNameLst>
                                          <p:attrName>ppt_y</p:attrName>
                                        </p:attrNameLst>
                                      </p:cBhvr>
                                      <p:tavLst>
                                        <p:tav tm="0">
                                          <p:val>
                                            <p:strVal val="#ppt_y+1"/>
                                          </p:val>
                                        </p:tav>
                                        <p:tav tm="100000">
                                          <p:val>
                                            <p:strVal val="#ppt_y-.03"/>
                                          </p:val>
                                        </p:tav>
                                      </p:tavLst>
                                    </p:anim>
                                    <p:anim calcmode="lin" valueType="num">
                                      <p:cBhvr>
                                        <p:cTn id="125" dur="40" accel="100000" fill="hold">
                                          <p:stCondLst>
                                            <p:cond delay="360"/>
                                          </p:stCondLst>
                                        </p:cTn>
                                        <p:tgtEl>
                                          <p:spTgt spid="41">
                                            <p:txEl>
                                              <p:pRg st="0" end="0"/>
                                            </p:txEl>
                                          </p:spTgt>
                                        </p:tgtEl>
                                        <p:attrNameLst>
                                          <p:attrName>ppt_y</p:attrName>
                                        </p:attrNameLst>
                                      </p:cBhvr>
                                      <p:tavLst>
                                        <p:tav tm="0">
                                          <p:val>
                                            <p:strVal val="#ppt_y-.03"/>
                                          </p:val>
                                        </p:tav>
                                        <p:tav tm="100000">
                                          <p:val>
                                            <p:strVal val="#ppt_y"/>
                                          </p:val>
                                        </p:tav>
                                      </p:tavLst>
                                    </p:anim>
                                  </p:childTnLst>
                                </p:cTn>
                              </p:par>
                            </p:childTnLst>
                          </p:cTn>
                        </p:par>
                        <p:par>
                          <p:cTn id="126" fill="hold">
                            <p:stCondLst>
                              <p:cond delay="8050"/>
                            </p:stCondLst>
                            <p:childTnLst>
                              <p:par>
                                <p:cTn id="127" presetID="37" presetClass="entr" presetSubtype="0" fill="hold" grpId="0" nodeType="afterEffect">
                                  <p:stCondLst>
                                    <p:cond delay="0"/>
                                  </p:stCondLst>
                                  <p:childTnLst>
                                    <p:set>
                                      <p:cBhvr>
                                        <p:cTn id="128" dur="1" fill="hold">
                                          <p:stCondLst>
                                            <p:cond delay="0"/>
                                          </p:stCondLst>
                                        </p:cTn>
                                        <p:tgtEl>
                                          <p:spTgt spid="41">
                                            <p:txEl>
                                              <p:pRg st="1" end="1"/>
                                            </p:txEl>
                                          </p:spTgt>
                                        </p:tgtEl>
                                        <p:attrNameLst>
                                          <p:attrName>style.visibility</p:attrName>
                                        </p:attrNameLst>
                                      </p:cBhvr>
                                      <p:to>
                                        <p:strVal val="visible"/>
                                      </p:to>
                                    </p:set>
                                    <p:animEffect transition="in" filter="fade">
                                      <p:cBhvr>
                                        <p:cTn id="129" dur="400"/>
                                        <p:tgtEl>
                                          <p:spTgt spid="41">
                                            <p:txEl>
                                              <p:pRg st="1" end="1"/>
                                            </p:txEl>
                                          </p:spTgt>
                                        </p:tgtEl>
                                      </p:cBhvr>
                                    </p:animEffect>
                                    <p:anim calcmode="lin" valueType="num">
                                      <p:cBhvr>
                                        <p:cTn id="130" dur="400" fill="hold"/>
                                        <p:tgtEl>
                                          <p:spTgt spid="41">
                                            <p:txEl>
                                              <p:pRg st="1" end="1"/>
                                            </p:txEl>
                                          </p:spTgt>
                                        </p:tgtEl>
                                        <p:attrNameLst>
                                          <p:attrName>ppt_x</p:attrName>
                                        </p:attrNameLst>
                                      </p:cBhvr>
                                      <p:tavLst>
                                        <p:tav tm="0">
                                          <p:val>
                                            <p:strVal val="#ppt_x"/>
                                          </p:val>
                                        </p:tav>
                                        <p:tav tm="100000">
                                          <p:val>
                                            <p:strVal val="#ppt_x"/>
                                          </p:val>
                                        </p:tav>
                                      </p:tavLst>
                                    </p:anim>
                                    <p:anim calcmode="lin" valueType="num">
                                      <p:cBhvr>
                                        <p:cTn id="131" dur="360" decel="100000" fill="hold"/>
                                        <p:tgtEl>
                                          <p:spTgt spid="41">
                                            <p:txEl>
                                              <p:pRg st="1" end="1"/>
                                            </p:txEl>
                                          </p:spTgt>
                                        </p:tgtEl>
                                        <p:attrNameLst>
                                          <p:attrName>ppt_y</p:attrName>
                                        </p:attrNameLst>
                                      </p:cBhvr>
                                      <p:tavLst>
                                        <p:tav tm="0">
                                          <p:val>
                                            <p:strVal val="#ppt_y+1"/>
                                          </p:val>
                                        </p:tav>
                                        <p:tav tm="100000">
                                          <p:val>
                                            <p:strVal val="#ppt_y-.03"/>
                                          </p:val>
                                        </p:tav>
                                      </p:tavLst>
                                    </p:anim>
                                    <p:anim calcmode="lin" valueType="num">
                                      <p:cBhvr>
                                        <p:cTn id="132" dur="40" accel="100000" fill="hold">
                                          <p:stCondLst>
                                            <p:cond delay="360"/>
                                          </p:stCondLst>
                                        </p:cTn>
                                        <p:tgtEl>
                                          <p:spTgt spid="41">
                                            <p:txEl>
                                              <p:pRg st="1" end="1"/>
                                            </p:txEl>
                                          </p:spTgt>
                                        </p:tgtEl>
                                        <p:attrNameLst>
                                          <p:attrName>ppt_y</p:attrName>
                                        </p:attrNameLst>
                                      </p:cBhvr>
                                      <p:tavLst>
                                        <p:tav tm="0">
                                          <p:val>
                                            <p:strVal val="#ppt_y-.03"/>
                                          </p:val>
                                        </p:tav>
                                        <p:tav tm="100000">
                                          <p:val>
                                            <p:strVal val="#ppt_y"/>
                                          </p:val>
                                        </p:tav>
                                      </p:tavLst>
                                    </p:anim>
                                  </p:childTnLst>
                                </p:cTn>
                              </p:par>
                            </p:childTnLst>
                          </p:cTn>
                        </p:par>
                        <p:par>
                          <p:cTn id="133" fill="hold">
                            <p:stCondLst>
                              <p:cond delay="8450"/>
                            </p:stCondLst>
                            <p:childTnLst>
                              <p:par>
                                <p:cTn id="134" presetID="2" presetClass="entr" presetSubtype="2" fill="hold" nodeType="afterEffect">
                                  <p:stCondLst>
                                    <p:cond delay="0"/>
                                  </p:stCondLst>
                                  <p:childTnLst>
                                    <p:set>
                                      <p:cBhvr>
                                        <p:cTn id="135" dur="1" fill="hold">
                                          <p:stCondLst>
                                            <p:cond delay="0"/>
                                          </p:stCondLst>
                                        </p:cTn>
                                        <p:tgtEl>
                                          <p:spTgt spid="44"/>
                                        </p:tgtEl>
                                        <p:attrNameLst>
                                          <p:attrName>style.visibility</p:attrName>
                                        </p:attrNameLst>
                                      </p:cBhvr>
                                      <p:to>
                                        <p:strVal val="visible"/>
                                      </p:to>
                                    </p:set>
                                    <p:anim calcmode="lin" valueType="num">
                                      <p:cBhvr additive="base">
                                        <p:cTn id="136" dur="500" fill="hold"/>
                                        <p:tgtEl>
                                          <p:spTgt spid="44"/>
                                        </p:tgtEl>
                                        <p:attrNameLst>
                                          <p:attrName>ppt_x</p:attrName>
                                        </p:attrNameLst>
                                      </p:cBhvr>
                                      <p:tavLst>
                                        <p:tav tm="0">
                                          <p:val>
                                            <p:strVal val="1+#ppt_w/2"/>
                                          </p:val>
                                        </p:tav>
                                        <p:tav tm="100000">
                                          <p:val>
                                            <p:strVal val="#ppt_x"/>
                                          </p:val>
                                        </p:tav>
                                      </p:tavLst>
                                    </p:anim>
                                    <p:anim calcmode="lin" valueType="num">
                                      <p:cBhvr additive="base">
                                        <p:cTn id="137" dur="5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20" grpId="0"/>
      <p:bldP spid="21" grpId="0" build="p"/>
      <p:bldP spid="25" grpId="0"/>
      <p:bldP spid="26" grpId="0" build="p"/>
      <p:bldP spid="30" grpId="0"/>
      <p:bldP spid="31" grpId="0" build="p"/>
      <p:bldP spid="35" grpId="0"/>
      <p:bldP spid="36" grpId="0" build="p"/>
      <p:bldP spid="40" grpId="0"/>
      <p:bldP spid="4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875520" y="-1371600"/>
            <a:ext cx="3017520" cy="301752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418673" y="-828446"/>
            <a:ext cx="1931212" cy="1931212"/>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3383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06</a:t>
            </a:r>
          </a:p>
        </p:txBody>
      </p:sp>
      <p:sp>
        <p:nvSpPr>
          <p:cNvPr id="12" name="!!rail7"/>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465429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112"/>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06  ·  METHODS AND MATERIALS USED  ·  1 OF 6</a:t>
            </a:r>
          </a:p>
        </p:txBody>
      </p:sp>
      <p:sp>
        <p:nvSpPr>
          <p:cNvPr id="15" name="Title 113"/>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Methods and materials used</a:t>
            </a:r>
          </a:p>
        </p:txBody>
      </p:sp>
      <p:sp>
        <p:nvSpPr>
          <p:cNvPr id="16" name="Subtitle 114"/>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System architecture: four layers with a clear data flow</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§3.2 System Architecture, Figure 3.1</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08 / 20</a:t>
            </a:r>
          </a:p>
        </p:txBody>
      </p:sp>
      <p:grpSp>
        <p:nvGrpSpPr>
          <p:cNvPr id="24" name="Layer 115"/>
          <p:cNvGrpSpPr/>
          <p:nvPr/>
        </p:nvGrpSpPr>
        <p:grpSpPr>
          <a:xfrm>
            <a:off x="1417320" y="1874519"/>
            <a:ext cx="6720840" cy="960120"/>
            <a:chOff x="1417320" y="1874519"/>
            <a:chExt cx="6720840" cy="960120"/>
          </a:xfrm>
        </p:grpSpPr>
        <p:sp>
          <p:nvSpPr>
            <p:cNvPr id="20" name="Layer bg"/>
            <p:cNvSpPr/>
            <p:nvPr/>
          </p:nvSpPr>
          <p:spPr>
            <a:xfrm>
              <a:off x="1417320" y="1874519"/>
              <a:ext cx="6720840" cy="96012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Layer key bg"/>
            <p:cNvSpPr/>
            <p:nvPr/>
          </p:nvSpPr>
          <p:spPr>
            <a:xfrm>
              <a:off x="1417320" y="1874519"/>
              <a:ext cx="2240280" cy="960120"/>
            </a:xfrm>
            <a:prstGeom prst="roundRect">
              <a:avLst>
                <a:gd name="adj" fmla="val 8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Layer key"/>
            <p:cNvSpPr txBox="1"/>
            <p:nvPr/>
          </p:nvSpPr>
          <p:spPr>
            <a:xfrm>
              <a:off x="1554480" y="1874519"/>
              <a:ext cx="1965960" cy="960120"/>
            </a:xfrm>
            <a:prstGeom prst="rect">
              <a:avLst/>
            </a:prstGeom>
            <a:noFill/>
          </p:spPr>
          <p:txBody>
            <a:bodyPr wrap="square" lIns="36576" tIns="36576" rIns="36576" bIns="36576" anchor="ctr">
              <a:spAutoFit/>
            </a:bodyPr>
            <a:lstStyle/>
            <a:p>
              <a:pPr algn="ctr">
                <a:lnSpc>
                  <a:spcPct val="108000"/>
                </a:lnSpc>
              </a:pPr>
              <a:r>
                <a:rPr sz="1250" b="1" i="0">
                  <a:solidFill>
                    <a:srgbClr val="1F1A1B"/>
                  </a:solidFill>
                  <a:latin typeface="Consolas"/>
                </a:rPr>
                <a:t>CLIENT</a:t>
              </a:r>
            </a:p>
          </p:txBody>
        </p:sp>
        <p:sp>
          <p:nvSpPr>
            <p:cNvPr id="23" name="Layer text"/>
            <p:cNvSpPr txBox="1"/>
            <p:nvPr/>
          </p:nvSpPr>
          <p:spPr>
            <a:xfrm>
              <a:off x="3794760" y="1892807"/>
              <a:ext cx="4251960" cy="923544"/>
            </a:xfrm>
            <a:prstGeom prst="rect">
              <a:avLst/>
            </a:prstGeom>
            <a:noFill/>
          </p:spPr>
          <p:txBody>
            <a:bodyPr wrap="square" lIns="36576" tIns="36576" rIns="36576" bIns="36576" anchor="ctr">
              <a:spAutoFit/>
            </a:bodyPr>
            <a:lstStyle/>
            <a:p>
              <a:pPr algn="l">
                <a:lnSpc>
                  <a:spcPct val="100000"/>
                </a:lnSpc>
              </a:pPr>
              <a:r>
                <a:rPr sz="1300" b="0" i="0">
                  <a:solidFill>
                    <a:srgbClr val="4A4244"/>
                  </a:solidFill>
                  <a:latin typeface="Calibri"/>
                </a:rPr>
                <a:t>Tauri 2 desktop · React Native/Expo companion · scoped Rust CLI · grant-controlled MCP stdio tools</a:t>
              </a:r>
            </a:p>
          </p:txBody>
        </p:sp>
      </p:grpSp>
      <p:cxnSp>
        <p:nvCxnSpPr>
          <p:cNvPr id="25" name="Layer arrow 116"/>
          <p:cNvCxnSpPr/>
          <p:nvPr/>
        </p:nvCxnSpPr>
        <p:spPr>
          <a:xfrm>
            <a:off x="2532888" y="2843784"/>
            <a:ext cx="0" cy="128016"/>
          </a:xfrm>
          <a:prstGeom prst="line">
            <a:avLst/>
          </a:prstGeom>
          <a:ln w="19050">
            <a:solidFill>
              <a:srgbClr val="1F1A1B"/>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0" name="Layer 117"/>
          <p:cNvGrpSpPr/>
          <p:nvPr/>
        </p:nvGrpSpPr>
        <p:grpSpPr>
          <a:xfrm>
            <a:off x="1417320" y="2971800"/>
            <a:ext cx="6720840" cy="960120"/>
            <a:chOff x="1417320" y="2971800"/>
            <a:chExt cx="6720840" cy="960120"/>
          </a:xfrm>
        </p:grpSpPr>
        <p:sp>
          <p:nvSpPr>
            <p:cNvPr id="26" name="Layer bg"/>
            <p:cNvSpPr/>
            <p:nvPr/>
          </p:nvSpPr>
          <p:spPr>
            <a:xfrm>
              <a:off x="1417320" y="2971800"/>
              <a:ext cx="6720840" cy="96012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Layer key bg"/>
            <p:cNvSpPr/>
            <p:nvPr/>
          </p:nvSpPr>
          <p:spPr>
            <a:xfrm>
              <a:off x="1417320" y="2971800"/>
              <a:ext cx="2240280" cy="960120"/>
            </a:xfrm>
            <a:prstGeom prst="roundRect">
              <a:avLst>
                <a:gd name="adj" fmla="val 8000"/>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Layer key"/>
            <p:cNvSpPr txBox="1"/>
            <p:nvPr/>
          </p:nvSpPr>
          <p:spPr>
            <a:xfrm>
              <a:off x="1554480" y="2971800"/>
              <a:ext cx="1965960" cy="960120"/>
            </a:xfrm>
            <a:prstGeom prst="rect">
              <a:avLst/>
            </a:prstGeom>
            <a:noFill/>
          </p:spPr>
          <p:txBody>
            <a:bodyPr wrap="square" lIns="36576" tIns="36576" rIns="36576" bIns="36576" anchor="ctr">
              <a:spAutoFit/>
            </a:bodyPr>
            <a:lstStyle/>
            <a:p>
              <a:pPr algn="ctr">
                <a:lnSpc>
                  <a:spcPct val="108000"/>
                </a:lnSpc>
              </a:pPr>
              <a:r>
                <a:rPr sz="1250" b="1" i="0">
                  <a:solidFill>
                    <a:srgbClr val="1F1A1B"/>
                  </a:solidFill>
                  <a:latin typeface="Consolas"/>
                </a:rPr>
                <a:t>NATIVE &amp; BACKEND CONTROL</a:t>
              </a:r>
            </a:p>
          </p:txBody>
        </p:sp>
        <p:sp>
          <p:nvSpPr>
            <p:cNvPr id="29" name="Layer text"/>
            <p:cNvSpPr txBox="1"/>
            <p:nvPr/>
          </p:nvSpPr>
          <p:spPr>
            <a:xfrm>
              <a:off x="3794760" y="2990088"/>
              <a:ext cx="4251960" cy="923544"/>
            </a:xfrm>
            <a:prstGeom prst="rect">
              <a:avLst/>
            </a:prstGeom>
            <a:noFill/>
          </p:spPr>
          <p:txBody>
            <a:bodyPr wrap="square" lIns="36576" tIns="36576" rIns="36576" bIns="36576" anchor="ctr">
              <a:spAutoFit/>
            </a:bodyPr>
            <a:lstStyle/>
            <a:p>
              <a:pPr algn="l">
                <a:lnSpc>
                  <a:spcPct val="100000"/>
                </a:lnSpc>
              </a:pPr>
              <a:r>
                <a:rPr sz="1300" b="0" i="0">
                  <a:solidFill>
                    <a:srgbClr val="4A4244"/>
                  </a:solidFill>
                  <a:latin typeface="Calibri"/>
                </a:rPr>
                <a:t>Shared Rust services, OS keyring, local ownership · Node.js 24/Express: authentication, workspace membership, device and agent workflows</a:t>
              </a:r>
            </a:p>
          </p:txBody>
        </p:sp>
      </p:grpSp>
      <p:cxnSp>
        <p:nvCxnSpPr>
          <p:cNvPr id="31" name="Layer arrow 118"/>
          <p:cNvCxnSpPr/>
          <p:nvPr/>
        </p:nvCxnSpPr>
        <p:spPr>
          <a:xfrm>
            <a:off x="2532888" y="3941064"/>
            <a:ext cx="0" cy="128016"/>
          </a:xfrm>
          <a:prstGeom prst="line">
            <a:avLst/>
          </a:prstGeom>
          <a:ln w="19050">
            <a:solidFill>
              <a:srgbClr val="1F1A1B"/>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6" name="Layer 119"/>
          <p:cNvGrpSpPr/>
          <p:nvPr/>
        </p:nvGrpSpPr>
        <p:grpSpPr>
          <a:xfrm>
            <a:off x="1417320" y="4069080"/>
            <a:ext cx="6720840" cy="960120"/>
            <a:chOff x="1417320" y="4069080"/>
            <a:chExt cx="6720840" cy="960120"/>
          </a:xfrm>
        </p:grpSpPr>
        <p:sp>
          <p:nvSpPr>
            <p:cNvPr id="32" name="Layer bg"/>
            <p:cNvSpPr/>
            <p:nvPr/>
          </p:nvSpPr>
          <p:spPr>
            <a:xfrm>
              <a:off x="1417320" y="4069080"/>
              <a:ext cx="6720840" cy="96012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Layer key bg"/>
            <p:cNvSpPr/>
            <p:nvPr/>
          </p:nvSpPr>
          <p:spPr>
            <a:xfrm>
              <a:off x="1417320" y="4069080"/>
              <a:ext cx="2240280" cy="960120"/>
            </a:xfrm>
            <a:prstGeom prst="roundRect">
              <a:avLst>
                <a:gd name="adj" fmla="val 8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Layer key"/>
            <p:cNvSpPr txBox="1"/>
            <p:nvPr/>
          </p:nvSpPr>
          <p:spPr>
            <a:xfrm>
              <a:off x="1554480" y="4069080"/>
              <a:ext cx="1965960" cy="960120"/>
            </a:xfrm>
            <a:prstGeom prst="rect">
              <a:avLst/>
            </a:prstGeom>
            <a:noFill/>
          </p:spPr>
          <p:txBody>
            <a:bodyPr wrap="square" lIns="36576" tIns="36576" rIns="36576" bIns="36576" anchor="ctr">
              <a:spAutoFit/>
            </a:bodyPr>
            <a:lstStyle/>
            <a:p>
              <a:pPr algn="ctr">
                <a:lnSpc>
                  <a:spcPct val="108000"/>
                </a:lnSpc>
              </a:pPr>
              <a:r>
                <a:rPr sz="1250" b="1" i="0">
                  <a:solidFill>
                    <a:srgbClr val="1F1A1B"/>
                  </a:solidFill>
                  <a:latin typeface="Consolas"/>
                </a:rPr>
                <a:t>INFERENCE</a:t>
              </a:r>
            </a:p>
          </p:txBody>
        </p:sp>
        <p:sp>
          <p:nvSpPr>
            <p:cNvPr id="35" name="Layer text"/>
            <p:cNvSpPr txBox="1"/>
            <p:nvPr/>
          </p:nvSpPr>
          <p:spPr>
            <a:xfrm>
              <a:off x="3794760" y="4087368"/>
              <a:ext cx="4251960" cy="923544"/>
            </a:xfrm>
            <a:prstGeom prst="rect">
              <a:avLst/>
            </a:prstGeom>
            <a:noFill/>
          </p:spPr>
          <p:txBody>
            <a:bodyPr wrap="square" lIns="36576" tIns="36576" rIns="36576" bIns="36576" anchor="ctr">
              <a:spAutoFit/>
            </a:bodyPr>
            <a:lstStyle/>
            <a:p>
              <a:pPr algn="l">
                <a:lnSpc>
                  <a:spcPct val="100000"/>
                </a:lnSpc>
              </a:pPr>
              <a:r>
                <a:rPr sz="1300" b="0" i="0">
                  <a:solidFill>
                    <a:srgbClr val="4A4244"/>
                  </a:solidFill>
                  <a:latin typeface="Calibri"/>
                </a:rPr>
                <a:t>FastAPI service on Hugging Face Spaces: trained URL models, BERT, DGA rules, Qwen explanations, versioned capability and analysis contracts</a:t>
              </a:r>
            </a:p>
          </p:txBody>
        </p:sp>
      </p:grpSp>
      <p:cxnSp>
        <p:nvCxnSpPr>
          <p:cNvPr id="37" name="Layer arrow 120"/>
          <p:cNvCxnSpPr/>
          <p:nvPr/>
        </p:nvCxnSpPr>
        <p:spPr>
          <a:xfrm>
            <a:off x="2532888" y="5038344"/>
            <a:ext cx="0" cy="128016"/>
          </a:xfrm>
          <a:prstGeom prst="line">
            <a:avLst/>
          </a:prstGeom>
          <a:ln w="19050">
            <a:solidFill>
              <a:srgbClr val="1F1A1B"/>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2" name="Layer 121"/>
          <p:cNvGrpSpPr/>
          <p:nvPr/>
        </p:nvGrpSpPr>
        <p:grpSpPr>
          <a:xfrm>
            <a:off x="1417320" y="5166360"/>
            <a:ext cx="6720840" cy="960120"/>
            <a:chOff x="1417320" y="5166360"/>
            <a:chExt cx="6720840" cy="960120"/>
          </a:xfrm>
        </p:grpSpPr>
        <p:sp>
          <p:nvSpPr>
            <p:cNvPr id="38" name="Layer bg"/>
            <p:cNvSpPr/>
            <p:nvPr/>
          </p:nvSpPr>
          <p:spPr>
            <a:xfrm>
              <a:off x="1417320" y="5166360"/>
              <a:ext cx="6720840" cy="96012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Layer key bg"/>
            <p:cNvSpPr/>
            <p:nvPr/>
          </p:nvSpPr>
          <p:spPr>
            <a:xfrm>
              <a:off x="1417320" y="5166360"/>
              <a:ext cx="2240280" cy="960120"/>
            </a:xfrm>
            <a:prstGeom prst="roundRect">
              <a:avLst>
                <a:gd name="adj" fmla="val 8000"/>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0" name="Layer key"/>
            <p:cNvSpPr txBox="1"/>
            <p:nvPr/>
          </p:nvSpPr>
          <p:spPr>
            <a:xfrm>
              <a:off x="1554480" y="5166360"/>
              <a:ext cx="1965960" cy="960120"/>
            </a:xfrm>
            <a:prstGeom prst="rect">
              <a:avLst/>
            </a:prstGeom>
            <a:noFill/>
          </p:spPr>
          <p:txBody>
            <a:bodyPr wrap="square" lIns="36576" tIns="36576" rIns="36576" bIns="36576" anchor="ctr">
              <a:spAutoFit/>
            </a:bodyPr>
            <a:lstStyle/>
            <a:p>
              <a:pPr algn="ctr">
                <a:lnSpc>
                  <a:spcPct val="108000"/>
                </a:lnSpc>
              </a:pPr>
              <a:r>
                <a:rPr sz="1250" b="1" i="0">
                  <a:solidFill>
                    <a:srgbClr val="1F1A1B"/>
                  </a:solidFill>
                  <a:latin typeface="Consolas"/>
                </a:rPr>
                <a:t>PERSISTENCE &amp; INTELLIGENCE</a:t>
              </a:r>
            </a:p>
          </p:txBody>
        </p:sp>
        <p:sp>
          <p:nvSpPr>
            <p:cNvPr id="41" name="Layer text"/>
            <p:cNvSpPr txBox="1"/>
            <p:nvPr/>
          </p:nvSpPr>
          <p:spPr>
            <a:xfrm>
              <a:off x="3794760" y="5184648"/>
              <a:ext cx="4251960" cy="923544"/>
            </a:xfrm>
            <a:prstGeom prst="rect">
              <a:avLst/>
            </a:prstGeom>
            <a:noFill/>
          </p:spPr>
          <p:txBody>
            <a:bodyPr wrap="square" lIns="36576" tIns="36576" rIns="36576" bIns="36576" anchor="ctr">
              <a:spAutoFit/>
            </a:bodyPr>
            <a:lstStyle/>
            <a:p>
              <a:pPr algn="l">
                <a:lnSpc>
                  <a:spcPct val="100000"/>
                </a:lnSpc>
              </a:pPr>
              <a:r>
                <a:rPr sz="1300" b="0" i="0">
                  <a:solidFill>
                    <a:srgbClr val="4A4244"/>
                  </a:solidFill>
                  <a:latin typeface="Calibri"/>
                </a:rPr>
                <a:t>MongoDB control-plane records, selected Appwrite integrations, local stores, caches and vector adapters · AlienVault OTX and page fetching</a:t>
              </a:r>
            </a:p>
          </p:txBody>
        </p:sp>
      </p:grpSp>
      <p:sp>
        <p:nvSpPr>
          <p:cNvPr id="43" name="Flow label 122"/>
          <p:cNvSpPr txBox="1"/>
          <p:nvPr/>
        </p:nvSpPr>
        <p:spPr>
          <a:xfrm>
            <a:off x="8503920" y="1874519"/>
            <a:ext cx="3108960" cy="320040"/>
          </a:xfrm>
          <a:prstGeom prst="rect">
            <a:avLst/>
          </a:prstGeom>
          <a:noFill/>
        </p:spPr>
        <p:txBody>
          <a:bodyPr wrap="square" lIns="36576" tIns="36576" rIns="36576" bIns="36576" anchor="t">
            <a:spAutoFit/>
          </a:bodyPr>
          <a:lstStyle/>
          <a:p>
            <a:pPr algn="l">
              <a:lnSpc>
                <a:spcPct val="108000"/>
              </a:lnSpc>
            </a:pPr>
            <a:r>
              <a:rPr sz="1100" b="1" i="0">
                <a:solidFill>
                  <a:srgbClr val="C77A1E"/>
                </a:solidFill>
                <a:latin typeface="Consolas"/>
              </a:rPr>
              <a:t>ONE REQUEST</a:t>
            </a:r>
          </a:p>
        </p:txBody>
      </p:sp>
      <p:grpSp>
        <p:nvGrpSpPr>
          <p:cNvPr id="46" name="Flow step 123"/>
          <p:cNvGrpSpPr/>
          <p:nvPr/>
        </p:nvGrpSpPr>
        <p:grpSpPr>
          <a:xfrm>
            <a:off x="8503920" y="2258568"/>
            <a:ext cx="3136392" cy="786384"/>
            <a:chOff x="8503920" y="2258568"/>
            <a:chExt cx="3136392" cy="786384"/>
          </a:xfrm>
        </p:grpSpPr>
        <p:sp>
          <p:nvSpPr>
            <p:cNvPr id="44" name="Flow bg"/>
            <p:cNvSpPr/>
            <p:nvPr/>
          </p:nvSpPr>
          <p:spPr>
            <a:xfrm>
              <a:off x="8503920" y="2258568"/>
              <a:ext cx="3136392" cy="786384"/>
            </a:xfrm>
            <a:prstGeom prst="roundRect">
              <a:avLst>
                <a:gd name="adj" fmla="val 10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5" name="Flow text"/>
            <p:cNvSpPr txBox="1"/>
            <p:nvPr/>
          </p:nvSpPr>
          <p:spPr>
            <a:xfrm>
              <a:off x="8668512" y="2313432"/>
              <a:ext cx="2834640" cy="713232"/>
            </a:xfrm>
            <a:prstGeom prst="rect">
              <a:avLst/>
            </a:prstGeom>
            <a:noFill/>
          </p:spPr>
          <p:txBody>
            <a:bodyPr wrap="square" lIns="36576" tIns="36576" rIns="36576" bIns="36576" anchor="t">
              <a:spAutoFit/>
            </a:bodyPr>
            <a:lstStyle/>
            <a:p>
              <a:pPr algn="l">
                <a:lnSpc>
                  <a:spcPct val="108000"/>
                </a:lnSpc>
                <a:spcAft>
                  <a:spcPts val="100"/>
                </a:spcAft>
              </a:pPr>
              <a:r>
                <a:rPr sz="1500" b="1" i="0">
                  <a:solidFill>
                    <a:srgbClr val="F69D39"/>
                  </a:solidFill>
                  <a:latin typeface="Bahnschrift"/>
                </a:rPr>
                <a:t>Address</a:t>
              </a:r>
            </a:p>
            <a:p>
              <a:pPr algn="l">
                <a:lnSpc>
                  <a:spcPct val="100000"/>
                </a:lnSpc>
              </a:pPr>
              <a:r>
                <a:rPr sz="1150" b="0" i="0">
                  <a:solidFill>
                    <a:srgbClr val="CFC6B8"/>
                  </a:solidFill>
                  <a:latin typeface="Calibri"/>
                </a:rPr>
                <a:t>submitted manually or from a consented observation</a:t>
              </a:r>
            </a:p>
          </p:txBody>
        </p:sp>
      </p:grpSp>
      <p:cxnSp>
        <p:nvCxnSpPr>
          <p:cNvPr id="47" name="Flow arrow 124"/>
          <p:cNvCxnSpPr/>
          <p:nvPr/>
        </p:nvCxnSpPr>
        <p:spPr>
          <a:xfrm>
            <a:off x="10058400" y="3054096"/>
            <a:ext cx="0" cy="118872"/>
          </a:xfrm>
          <a:prstGeom prst="line">
            <a:avLst/>
          </a:prstGeom>
          <a:ln w="19050">
            <a:solidFill>
              <a:srgbClr val="F69D39"/>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50" name="Flow step 125"/>
          <p:cNvGrpSpPr/>
          <p:nvPr/>
        </p:nvGrpSpPr>
        <p:grpSpPr>
          <a:xfrm>
            <a:off x="8503920" y="3191256"/>
            <a:ext cx="3136392" cy="786384"/>
            <a:chOff x="8503920" y="3191256"/>
            <a:chExt cx="3136392" cy="786384"/>
          </a:xfrm>
        </p:grpSpPr>
        <p:sp>
          <p:nvSpPr>
            <p:cNvPr id="48" name="Flow bg"/>
            <p:cNvSpPr/>
            <p:nvPr/>
          </p:nvSpPr>
          <p:spPr>
            <a:xfrm>
              <a:off x="8503920" y="3191256"/>
              <a:ext cx="3136392" cy="786384"/>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9" name="Flow text"/>
            <p:cNvSpPr txBox="1"/>
            <p:nvPr/>
          </p:nvSpPr>
          <p:spPr>
            <a:xfrm>
              <a:off x="8668512" y="3246120"/>
              <a:ext cx="2834640" cy="713232"/>
            </a:xfrm>
            <a:prstGeom prst="rect">
              <a:avLst/>
            </a:prstGeom>
            <a:noFill/>
          </p:spPr>
          <p:txBody>
            <a:bodyPr wrap="square" lIns="36576" tIns="36576" rIns="36576" bIns="36576" anchor="t">
              <a:spAutoFit/>
            </a:bodyPr>
            <a:lstStyle/>
            <a:p>
              <a:pPr algn="l">
                <a:lnSpc>
                  <a:spcPct val="108000"/>
                </a:lnSpc>
                <a:spcAft>
                  <a:spcPts val="100"/>
                </a:spcAft>
              </a:pPr>
              <a:r>
                <a:rPr sz="1500" b="1" i="0">
                  <a:solidFill>
                    <a:srgbClr val="1F1A1B"/>
                  </a:solidFill>
                  <a:latin typeface="Bahnschrift"/>
                </a:rPr>
                <a:t>Privacy &amp; session checks</a:t>
              </a:r>
            </a:p>
            <a:p>
              <a:pPr algn="l">
                <a:lnSpc>
                  <a:spcPct val="100000"/>
                </a:lnSpc>
              </a:pPr>
              <a:r>
                <a:rPr sz="1150" b="0" i="0">
                  <a:solidFill>
                    <a:srgbClr val="857A72"/>
                  </a:solidFill>
                  <a:latin typeface="Calibri"/>
                </a:rPr>
                <a:t>native layer, before the backend</a:t>
              </a:r>
            </a:p>
          </p:txBody>
        </p:sp>
      </p:grpSp>
      <p:cxnSp>
        <p:nvCxnSpPr>
          <p:cNvPr id="51" name="Flow arrow 126"/>
          <p:cNvCxnSpPr/>
          <p:nvPr/>
        </p:nvCxnSpPr>
        <p:spPr>
          <a:xfrm>
            <a:off x="10058400" y="3986783"/>
            <a:ext cx="0" cy="118873"/>
          </a:xfrm>
          <a:prstGeom prst="line">
            <a:avLst/>
          </a:prstGeom>
          <a:ln w="19050">
            <a:solidFill>
              <a:srgbClr val="F69D39"/>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54" name="Flow step 127"/>
          <p:cNvGrpSpPr/>
          <p:nvPr/>
        </p:nvGrpSpPr>
        <p:grpSpPr>
          <a:xfrm>
            <a:off x="8503920" y="4123944"/>
            <a:ext cx="3136392" cy="786384"/>
            <a:chOff x="8503920" y="4123944"/>
            <a:chExt cx="3136392" cy="786384"/>
          </a:xfrm>
        </p:grpSpPr>
        <p:sp>
          <p:nvSpPr>
            <p:cNvPr id="52" name="Flow bg"/>
            <p:cNvSpPr/>
            <p:nvPr/>
          </p:nvSpPr>
          <p:spPr>
            <a:xfrm>
              <a:off x="8503920" y="4123944"/>
              <a:ext cx="3136392" cy="786384"/>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3" name="Flow text"/>
            <p:cNvSpPr txBox="1"/>
            <p:nvPr/>
          </p:nvSpPr>
          <p:spPr>
            <a:xfrm>
              <a:off x="8668512" y="4178807"/>
              <a:ext cx="2834640" cy="713232"/>
            </a:xfrm>
            <a:prstGeom prst="rect">
              <a:avLst/>
            </a:prstGeom>
            <a:noFill/>
          </p:spPr>
          <p:txBody>
            <a:bodyPr wrap="square" lIns="36576" tIns="36576" rIns="36576" bIns="36576" anchor="t">
              <a:spAutoFit/>
            </a:bodyPr>
            <a:lstStyle/>
            <a:p>
              <a:pPr algn="l">
                <a:lnSpc>
                  <a:spcPct val="108000"/>
                </a:lnSpc>
                <a:spcAft>
                  <a:spcPts val="100"/>
                </a:spcAft>
              </a:pPr>
              <a:r>
                <a:rPr sz="1500" b="1" i="0">
                  <a:solidFill>
                    <a:srgbClr val="1F1A1B"/>
                  </a:solidFill>
                  <a:latin typeface="Bahnschrift"/>
                </a:rPr>
                <a:t>Backend routes</a:t>
              </a:r>
            </a:p>
            <a:p>
              <a:pPr algn="l">
                <a:lnSpc>
                  <a:spcPct val="100000"/>
                </a:lnSpc>
              </a:pPr>
              <a:r>
                <a:rPr sz="1150" b="0" i="0">
                  <a:solidFill>
                    <a:srgbClr val="857A72"/>
                  </a:solidFill>
                  <a:latin typeface="Calibri"/>
                </a:rPr>
                <a:t>select the analysis or durable-run service</a:t>
              </a:r>
            </a:p>
          </p:txBody>
        </p:sp>
      </p:grpSp>
      <p:cxnSp>
        <p:nvCxnSpPr>
          <p:cNvPr id="55" name="Flow arrow 128"/>
          <p:cNvCxnSpPr/>
          <p:nvPr/>
        </p:nvCxnSpPr>
        <p:spPr>
          <a:xfrm>
            <a:off x="10058400" y="4919472"/>
            <a:ext cx="0" cy="118872"/>
          </a:xfrm>
          <a:prstGeom prst="line">
            <a:avLst/>
          </a:prstGeom>
          <a:ln w="19050">
            <a:solidFill>
              <a:srgbClr val="F69D39"/>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58" name="Flow step 129"/>
          <p:cNvGrpSpPr/>
          <p:nvPr/>
        </p:nvGrpSpPr>
        <p:grpSpPr>
          <a:xfrm>
            <a:off x="8503920" y="5056631"/>
            <a:ext cx="3136392" cy="786384"/>
            <a:chOff x="8503920" y="5056631"/>
            <a:chExt cx="3136392" cy="786384"/>
          </a:xfrm>
        </p:grpSpPr>
        <p:sp>
          <p:nvSpPr>
            <p:cNvPr id="56" name="Flow bg"/>
            <p:cNvSpPr/>
            <p:nvPr/>
          </p:nvSpPr>
          <p:spPr>
            <a:xfrm>
              <a:off x="8503920" y="5056631"/>
              <a:ext cx="3136392" cy="786384"/>
            </a:xfrm>
            <a:prstGeom prst="roundRect">
              <a:avLst>
                <a:gd name="adj" fmla="val 10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7" name="Flow text"/>
            <p:cNvSpPr txBox="1"/>
            <p:nvPr/>
          </p:nvSpPr>
          <p:spPr>
            <a:xfrm>
              <a:off x="8668512" y="5111495"/>
              <a:ext cx="2834640" cy="713232"/>
            </a:xfrm>
            <a:prstGeom prst="rect">
              <a:avLst/>
            </a:prstGeom>
            <a:noFill/>
          </p:spPr>
          <p:txBody>
            <a:bodyPr wrap="square" lIns="36576" tIns="36576" rIns="36576" bIns="36576" anchor="t">
              <a:spAutoFit/>
            </a:bodyPr>
            <a:lstStyle/>
            <a:p>
              <a:pPr algn="l">
                <a:lnSpc>
                  <a:spcPct val="108000"/>
                </a:lnSpc>
                <a:spcAft>
                  <a:spcPts val="100"/>
                </a:spcAft>
              </a:pPr>
              <a:r>
                <a:rPr sz="1500" b="1" i="0">
                  <a:solidFill>
                    <a:srgbClr val="F69D39"/>
                  </a:solidFill>
                  <a:latin typeface="Bahnschrift"/>
                </a:rPr>
                <a:t>Source-labelled result</a:t>
              </a:r>
            </a:p>
            <a:p>
              <a:pPr algn="l">
                <a:lnSpc>
                  <a:spcPct val="100000"/>
                </a:lnSpc>
              </a:pPr>
              <a:r>
                <a:rPr sz="1150" b="0" i="0">
                  <a:solidFill>
                    <a:srgbClr val="CFC6B8"/>
                  </a:solidFill>
                  <a:latin typeface="Calibri"/>
                </a:rPr>
                <a:t>with coverage and failure information</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7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2650"/>
                            </p:stCondLst>
                            <p:childTnLst>
                              <p:par>
                                <p:cTn id="19" presetID="2" presetClass="entr" presetSubtype="8" fill="hold" nodeType="after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0-#ppt_w/2"/>
                                          </p:val>
                                        </p:tav>
                                        <p:tav tm="100000">
                                          <p:val>
                                            <p:strVal val="#ppt_x"/>
                                          </p:val>
                                        </p:tav>
                                      </p:tavLst>
                                    </p:anim>
                                    <p:anim calcmode="lin" valueType="num">
                                      <p:cBhvr additive="base">
                                        <p:cTn id="22" dur="500" fill="hold"/>
                                        <p:tgtEl>
                                          <p:spTgt spid="24"/>
                                        </p:tgtEl>
                                        <p:attrNameLst>
                                          <p:attrName>ppt_y</p:attrName>
                                        </p:attrNameLst>
                                      </p:cBhvr>
                                      <p:tavLst>
                                        <p:tav tm="0">
                                          <p:val>
                                            <p:strVal val="#ppt_y"/>
                                          </p:val>
                                        </p:tav>
                                        <p:tav tm="100000">
                                          <p:val>
                                            <p:strVal val="#ppt_y"/>
                                          </p:val>
                                        </p:tav>
                                      </p:tavLst>
                                    </p:anim>
                                  </p:childTnLst>
                                </p:cTn>
                              </p:par>
                            </p:childTnLst>
                          </p:cTn>
                        </p:par>
                        <p:par>
                          <p:cTn id="23" fill="hold">
                            <p:stCondLst>
                              <p:cond delay="3150"/>
                            </p:stCondLst>
                            <p:childTnLst>
                              <p:par>
                                <p:cTn id="24" presetID="22" presetClass="entr" presetSubtype="1"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up)">
                                      <p:cBhvr>
                                        <p:cTn id="26" dur="500"/>
                                        <p:tgtEl>
                                          <p:spTgt spid="25"/>
                                        </p:tgtEl>
                                      </p:cBhvr>
                                    </p:animEffect>
                                  </p:childTnLst>
                                </p:cTn>
                              </p:par>
                            </p:childTnLst>
                          </p:cTn>
                        </p:par>
                        <p:par>
                          <p:cTn id="27" fill="hold">
                            <p:stCondLst>
                              <p:cond delay="3650"/>
                            </p:stCondLst>
                            <p:childTnLst>
                              <p:par>
                                <p:cTn id="28" presetID="2" presetClass="entr" presetSubtype="8"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 calcmode="lin" valueType="num">
                                      <p:cBhvr additive="base">
                                        <p:cTn id="30" dur="500" fill="hold"/>
                                        <p:tgtEl>
                                          <p:spTgt spid="30"/>
                                        </p:tgtEl>
                                        <p:attrNameLst>
                                          <p:attrName>ppt_x</p:attrName>
                                        </p:attrNameLst>
                                      </p:cBhvr>
                                      <p:tavLst>
                                        <p:tav tm="0">
                                          <p:val>
                                            <p:strVal val="0-#ppt_w/2"/>
                                          </p:val>
                                        </p:tav>
                                        <p:tav tm="100000">
                                          <p:val>
                                            <p:strVal val="#ppt_x"/>
                                          </p:val>
                                        </p:tav>
                                      </p:tavLst>
                                    </p:anim>
                                    <p:anim calcmode="lin" valueType="num">
                                      <p:cBhvr additive="base">
                                        <p:cTn id="31" dur="500" fill="hold"/>
                                        <p:tgtEl>
                                          <p:spTgt spid="30"/>
                                        </p:tgtEl>
                                        <p:attrNameLst>
                                          <p:attrName>ppt_y</p:attrName>
                                        </p:attrNameLst>
                                      </p:cBhvr>
                                      <p:tavLst>
                                        <p:tav tm="0">
                                          <p:val>
                                            <p:strVal val="#ppt_y"/>
                                          </p:val>
                                        </p:tav>
                                        <p:tav tm="100000">
                                          <p:val>
                                            <p:strVal val="#ppt_y"/>
                                          </p:val>
                                        </p:tav>
                                      </p:tavLst>
                                    </p:anim>
                                  </p:childTnLst>
                                </p:cTn>
                              </p:par>
                            </p:childTnLst>
                          </p:cTn>
                        </p:par>
                        <p:par>
                          <p:cTn id="32" fill="hold">
                            <p:stCondLst>
                              <p:cond delay="4150"/>
                            </p:stCondLst>
                            <p:childTnLst>
                              <p:par>
                                <p:cTn id="33" presetID="22" presetClass="entr" presetSubtype="1" fill="hold"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wipe(up)">
                                      <p:cBhvr>
                                        <p:cTn id="35" dur="500"/>
                                        <p:tgtEl>
                                          <p:spTgt spid="31"/>
                                        </p:tgtEl>
                                      </p:cBhvr>
                                    </p:animEffect>
                                  </p:childTnLst>
                                </p:cTn>
                              </p:par>
                            </p:childTnLst>
                          </p:cTn>
                        </p:par>
                        <p:par>
                          <p:cTn id="36" fill="hold">
                            <p:stCondLst>
                              <p:cond delay="4650"/>
                            </p:stCondLst>
                            <p:childTnLst>
                              <p:par>
                                <p:cTn id="37" presetID="2" presetClass="entr" presetSubtype="8" fill="hold" nodeType="afterEffect">
                                  <p:stCondLst>
                                    <p:cond delay="0"/>
                                  </p:stCondLst>
                                  <p:childTnLst>
                                    <p:set>
                                      <p:cBhvr>
                                        <p:cTn id="38" dur="1" fill="hold">
                                          <p:stCondLst>
                                            <p:cond delay="0"/>
                                          </p:stCondLst>
                                        </p:cTn>
                                        <p:tgtEl>
                                          <p:spTgt spid="36"/>
                                        </p:tgtEl>
                                        <p:attrNameLst>
                                          <p:attrName>style.visibility</p:attrName>
                                        </p:attrNameLst>
                                      </p:cBhvr>
                                      <p:to>
                                        <p:strVal val="visible"/>
                                      </p:to>
                                    </p:set>
                                    <p:anim calcmode="lin" valueType="num">
                                      <p:cBhvr additive="base">
                                        <p:cTn id="39" dur="500" fill="hold"/>
                                        <p:tgtEl>
                                          <p:spTgt spid="36"/>
                                        </p:tgtEl>
                                        <p:attrNameLst>
                                          <p:attrName>ppt_x</p:attrName>
                                        </p:attrNameLst>
                                      </p:cBhvr>
                                      <p:tavLst>
                                        <p:tav tm="0">
                                          <p:val>
                                            <p:strVal val="0-#ppt_w/2"/>
                                          </p:val>
                                        </p:tav>
                                        <p:tav tm="100000">
                                          <p:val>
                                            <p:strVal val="#ppt_x"/>
                                          </p:val>
                                        </p:tav>
                                      </p:tavLst>
                                    </p:anim>
                                    <p:anim calcmode="lin" valueType="num">
                                      <p:cBhvr additive="base">
                                        <p:cTn id="40" dur="500" fill="hold"/>
                                        <p:tgtEl>
                                          <p:spTgt spid="36"/>
                                        </p:tgtEl>
                                        <p:attrNameLst>
                                          <p:attrName>ppt_y</p:attrName>
                                        </p:attrNameLst>
                                      </p:cBhvr>
                                      <p:tavLst>
                                        <p:tav tm="0">
                                          <p:val>
                                            <p:strVal val="#ppt_y"/>
                                          </p:val>
                                        </p:tav>
                                        <p:tav tm="100000">
                                          <p:val>
                                            <p:strVal val="#ppt_y"/>
                                          </p:val>
                                        </p:tav>
                                      </p:tavLst>
                                    </p:anim>
                                  </p:childTnLst>
                                </p:cTn>
                              </p:par>
                            </p:childTnLst>
                          </p:cTn>
                        </p:par>
                        <p:par>
                          <p:cTn id="41" fill="hold">
                            <p:stCondLst>
                              <p:cond delay="5150"/>
                            </p:stCondLst>
                            <p:childTnLst>
                              <p:par>
                                <p:cTn id="42" presetID="22" presetClass="entr" presetSubtype="1" fill="hold" nodeType="after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wipe(up)">
                                      <p:cBhvr>
                                        <p:cTn id="44" dur="500"/>
                                        <p:tgtEl>
                                          <p:spTgt spid="37"/>
                                        </p:tgtEl>
                                      </p:cBhvr>
                                    </p:animEffect>
                                  </p:childTnLst>
                                </p:cTn>
                              </p:par>
                            </p:childTnLst>
                          </p:cTn>
                        </p:par>
                        <p:par>
                          <p:cTn id="45" fill="hold">
                            <p:stCondLst>
                              <p:cond delay="5650"/>
                            </p:stCondLst>
                            <p:childTnLst>
                              <p:par>
                                <p:cTn id="46" presetID="2" presetClass="entr" presetSubtype="8" fill="hold" nodeType="afterEffect">
                                  <p:stCondLst>
                                    <p:cond delay="0"/>
                                  </p:stCondLst>
                                  <p:childTnLst>
                                    <p:set>
                                      <p:cBhvr>
                                        <p:cTn id="47" dur="1" fill="hold">
                                          <p:stCondLst>
                                            <p:cond delay="0"/>
                                          </p:stCondLst>
                                        </p:cTn>
                                        <p:tgtEl>
                                          <p:spTgt spid="42"/>
                                        </p:tgtEl>
                                        <p:attrNameLst>
                                          <p:attrName>style.visibility</p:attrName>
                                        </p:attrNameLst>
                                      </p:cBhvr>
                                      <p:to>
                                        <p:strVal val="visible"/>
                                      </p:to>
                                    </p:set>
                                    <p:anim calcmode="lin" valueType="num">
                                      <p:cBhvr additive="base">
                                        <p:cTn id="48" dur="500" fill="hold"/>
                                        <p:tgtEl>
                                          <p:spTgt spid="42"/>
                                        </p:tgtEl>
                                        <p:attrNameLst>
                                          <p:attrName>ppt_x</p:attrName>
                                        </p:attrNameLst>
                                      </p:cBhvr>
                                      <p:tavLst>
                                        <p:tav tm="0">
                                          <p:val>
                                            <p:strVal val="0-#ppt_w/2"/>
                                          </p:val>
                                        </p:tav>
                                        <p:tav tm="100000">
                                          <p:val>
                                            <p:strVal val="#ppt_x"/>
                                          </p:val>
                                        </p:tav>
                                      </p:tavLst>
                                    </p:anim>
                                    <p:anim calcmode="lin" valueType="num">
                                      <p:cBhvr additive="base">
                                        <p:cTn id="49" dur="500" fill="hold"/>
                                        <p:tgtEl>
                                          <p:spTgt spid="42"/>
                                        </p:tgtEl>
                                        <p:attrNameLst>
                                          <p:attrName>ppt_y</p:attrName>
                                        </p:attrNameLst>
                                      </p:cBhvr>
                                      <p:tavLst>
                                        <p:tav tm="0">
                                          <p:val>
                                            <p:strVal val="#ppt_y"/>
                                          </p:val>
                                        </p:tav>
                                        <p:tav tm="100000">
                                          <p:val>
                                            <p:strVal val="#ppt_y"/>
                                          </p:val>
                                        </p:tav>
                                      </p:tavLst>
                                    </p:anim>
                                  </p:childTnLst>
                                </p:cTn>
                              </p:par>
                            </p:childTnLst>
                          </p:cTn>
                        </p:par>
                        <p:par>
                          <p:cTn id="50" fill="hold">
                            <p:stCondLst>
                              <p:cond delay="6150"/>
                            </p:stCondLst>
                            <p:childTnLst>
                              <p:par>
                                <p:cTn id="51" presetID="10" presetClass="entr" presetSubtype="0" fill="hold" grpId="0" nodeType="after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fade">
                                      <p:cBhvr>
                                        <p:cTn id="53" dur="300"/>
                                        <p:tgtEl>
                                          <p:spTgt spid="43"/>
                                        </p:tgtEl>
                                      </p:cBhvr>
                                    </p:animEffect>
                                  </p:childTnLst>
                                </p:cTn>
                              </p:par>
                            </p:childTnLst>
                          </p:cTn>
                        </p:par>
                        <p:par>
                          <p:cTn id="54" fill="hold">
                            <p:stCondLst>
                              <p:cond delay="6450"/>
                            </p:stCondLst>
                            <p:childTnLst>
                              <p:par>
                                <p:cTn id="55" presetID="37" presetClass="entr" presetSubtype="0" fill="hold" nodeType="after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fade">
                                      <p:cBhvr>
                                        <p:cTn id="57" dur="350"/>
                                        <p:tgtEl>
                                          <p:spTgt spid="46"/>
                                        </p:tgtEl>
                                      </p:cBhvr>
                                    </p:animEffect>
                                    <p:anim calcmode="lin" valueType="num">
                                      <p:cBhvr>
                                        <p:cTn id="58" dur="350" fill="hold"/>
                                        <p:tgtEl>
                                          <p:spTgt spid="46"/>
                                        </p:tgtEl>
                                        <p:attrNameLst>
                                          <p:attrName>ppt_x</p:attrName>
                                        </p:attrNameLst>
                                      </p:cBhvr>
                                      <p:tavLst>
                                        <p:tav tm="0">
                                          <p:val>
                                            <p:strVal val="#ppt_x"/>
                                          </p:val>
                                        </p:tav>
                                        <p:tav tm="100000">
                                          <p:val>
                                            <p:strVal val="#ppt_x"/>
                                          </p:val>
                                        </p:tav>
                                      </p:tavLst>
                                    </p:anim>
                                    <p:anim calcmode="lin" valueType="num">
                                      <p:cBhvr>
                                        <p:cTn id="59" dur="315" decel="100000" fill="hold"/>
                                        <p:tgtEl>
                                          <p:spTgt spid="46"/>
                                        </p:tgtEl>
                                        <p:attrNameLst>
                                          <p:attrName>ppt_y</p:attrName>
                                        </p:attrNameLst>
                                      </p:cBhvr>
                                      <p:tavLst>
                                        <p:tav tm="0">
                                          <p:val>
                                            <p:strVal val="#ppt_y+1"/>
                                          </p:val>
                                        </p:tav>
                                        <p:tav tm="100000">
                                          <p:val>
                                            <p:strVal val="#ppt_y-.03"/>
                                          </p:val>
                                        </p:tav>
                                      </p:tavLst>
                                    </p:anim>
                                    <p:anim calcmode="lin" valueType="num">
                                      <p:cBhvr>
                                        <p:cTn id="60" dur="35" accel="100000" fill="hold">
                                          <p:stCondLst>
                                            <p:cond delay="315"/>
                                          </p:stCondLst>
                                        </p:cTn>
                                        <p:tgtEl>
                                          <p:spTgt spid="46"/>
                                        </p:tgtEl>
                                        <p:attrNameLst>
                                          <p:attrName>ppt_y</p:attrName>
                                        </p:attrNameLst>
                                      </p:cBhvr>
                                      <p:tavLst>
                                        <p:tav tm="0">
                                          <p:val>
                                            <p:strVal val="#ppt_y-.03"/>
                                          </p:val>
                                        </p:tav>
                                        <p:tav tm="100000">
                                          <p:val>
                                            <p:strVal val="#ppt_y"/>
                                          </p:val>
                                        </p:tav>
                                      </p:tavLst>
                                    </p:anim>
                                  </p:childTnLst>
                                </p:cTn>
                              </p:par>
                            </p:childTnLst>
                          </p:cTn>
                        </p:par>
                        <p:par>
                          <p:cTn id="61" fill="hold">
                            <p:stCondLst>
                              <p:cond delay="6800"/>
                            </p:stCondLst>
                            <p:childTnLst>
                              <p:par>
                                <p:cTn id="62" presetID="22" presetClass="entr" presetSubtype="1" fill="hold" nodeType="after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wipe(up)">
                                      <p:cBhvr>
                                        <p:cTn id="64" dur="500"/>
                                        <p:tgtEl>
                                          <p:spTgt spid="47"/>
                                        </p:tgtEl>
                                      </p:cBhvr>
                                    </p:animEffect>
                                  </p:childTnLst>
                                </p:cTn>
                              </p:par>
                            </p:childTnLst>
                          </p:cTn>
                        </p:par>
                        <p:par>
                          <p:cTn id="65" fill="hold">
                            <p:stCondLst>
                              <p:cond delay="7300"/>
                            </p:stCondLst>
                            <p:childTnLst>
                              <p:par>
                                <p:cTn id="66" presetID="37" presetClass="entr" presetSubtype="0" fill="hold" nodeType="after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fade">
                                      <p:cBhvr>
                                        <p:cTn id="68" dur="350"/>
                                        <p:tgtEl>
                                          <p:spTgt spid="50"/>
                                        </p:tgtEl>
                                      </p:cBhvr>
                                    </p:animEffect>
                                    <p:anim calcmode="lin" valueType="num">
                                      <p:cBhvr>
                                        <p:cTn id="69" dur="350" fill="hold"/>
                                        <p:tgtEl>
                                          <p:spTgt spid="50"/>
                                        </p:tgtEl>
                                        <p:attrNameLst>
                                          <p:attrName>ppt_x</p:attrName>
                                        </p:attrNameLst>
                                      </p:cBhvr>
                                      <p:tavLst>
                                        <p:tav tm="0">
                                          <p:val>
                                            <p:strVal val="#ppt_x"/>
                                          </p:val>
                                        </p:tav>
                                        <p:tav tm="100000">
                                          <p:val>
                                            <p:strVal val="#ppt_x"/>
                                          </p:val>
                                        </p:tav>
                                      </p:tavLst>
                                    </p:anim>
                                    <p:anim calcmode="lin" valueType="num">
                                      <p:cBhvr>
                                        <p:cTn id="70" dur="315" decel="100000" fill="hold"/>
                                        <p:tgtEl>
                                          <p:spTgt spid="50"/>
                                        </p:tgtEl>
                                        <p:attrNameLst>
                                          <p:attrName>ppt_y</p:attrName>
                                        </p:attrNameLst>
                                      </p:cBhvr>
                                      <p:tavLst>
                                        <p:tav tm="0">
                                          <p:val>
                                            <p:strVal val="#ppt_y+1"/>
                                          </p:val>
                                        </p:tav>
                                        <p:tav tm="100000">
                                          <p:val>
                                            <p:strVal val="#ppt_y-.03"/>
                                          </p:val>
                                        </p:tav>
                                      </p:tavLst>
                                    </p:anim>
                                    <p:anim calcmode="lin" valueType="num">
                                      <p:cBhvr>
                                        <p:cTn id="71" dur="35" accel="100000" fill="hold">
                                          <p:stCondLst>
                                            <p:cond delay="315"/>
                                          </p:stCondLst>
                                        </p:cTn>
                                        <p:tgtEl>
                                          <p:spTgt spid="50"/>
                                        </p:tgtEl>
                                        <p:attrNameLst>
                                          <p:attrName>ppt_y</p:attrName>
                                        </p:attrNameLst>
                                      </p:cBhvr>
                                      <p:tavLst>
                                        <p:tav tm="0">
                                          <p:val>
                                            <p:strVal val="#ppt_y-.03"/>
                                          </p:val>
                                        </p:tav>
                                        <p:tav tm="100000">
                                          <p:val>
                                            <p:strVal val="#ppt_y"/>
                                          </p:val>
                                        </p:tav>
                                      </p:tavLst>
                                    </p:anim>
                                  </p:childTnLst>
                                </p:cTn>
                              </p:par>
                            </p:childTnLst>
                          </p:cTn>
                        </p:par>
                        <p:par>
                          <p:cTn id="72" fill="hold">
                            <p:stCondLst>
                              <p:cond delay="7650"/>
                            </p:stCondLst>
                            <p:childTnLst>
                              <p:par>
                                <p:cTn id="73" presetID="22" presetClass="entr" presetSubtype="1" fill="hold" nodeType="afterEffect">
                                  <p:stCondLst>
                                    <p:cond delay="0"/>
                                  </p:stCondLst>
                                  <p:childTnLst>
                                    <p:set>
                                      <p:cBhvr>
                                        <p:cTn id="74" dur="1" fill="hold">
                                          <p:stCondLst>
                                            <p:cond delay="0"/>
                                          </p:stCondLst>
                                        </p:cTn>
                                        <p:tgtEl>
                                          <p:spTgt spid="51"/>
                                        </p:tgtEl>
                                        <p:attrNameLst>
                                          <p:attrName>style.visibility</p:attrName>
                                        </p:attrNameLst>
                                      </p:cBhvr>
                                      <p:to>
                                        <p:strVal val="visible"/>
                                      </p:to>
                                    </p:set>
                                    <p:animEffect transition="in" filter="wipe(up)">
                                      <p:cBhvr>
                                        <p:cTn id="75" dur="500"/>
                                        <p:tgtEl>
                                          <p:spTgt spid="51"/>
                                        </p:tgtEl>
                                      </p:cBhvr>
                                    </p:animEffect>
                                  </p:childTnLst>
                                </p:cTn>
                              </p:par>
                            </p:childTnLst>
                          </p:cTn>
                        </p:par>
                        <p:par>
                          <p:cTn id="76" fill="hold">
                            <p:stCondLst>
                              <p:cond delay="8150"/>
                            </p:stCondLst>
                            <p:childTnLst>
                              <p:par>
                                <p:cTn id="77" presetID="37" presetClass="entr" presetSubtype="0" fill="hold" nodeType="afterEffect">
                                  <p:stCondLst>
                                    <p:cond delay="0"/>
                                  </p:stCondLst>
                                  <p:childTnLst>
                                    <p:set>
                                      <p:cBhvr>
                                        <p:cTn id="78" dur="1" fill="hold">
                                          <p:stCondLst>
                                            <p:cond delay="0"/>
                                          </p:stCondLst>
                                        </p:cTn>
                                        <p:tgtEl>
                                          <p:spTgt spid="54"/>
                                        </p:tgtEl>
                                        <p:attrNameLst>
                                          <p:attrName>style.visibility</p:attrName>
                                        </p:attrNameLst>
                                      </p:cBhvr>
                                      <p:to>
                                        <p:strVal val="visible"/>
                                      </p:to>
                                    </p:set>
                                    <p:animEffect transition="in" filter="fade">
                                      <p:cBhvr>
                                        <p:cTn id="79" dur="350"/>
                                        <p:tgtEl>
                                          <p:spTgt spid="54"/>
                                        </p:tgtEl>
                                      </p:cBhvr>
                                    </p:animEffect>
                                    <p:anim calcmode="lin" valueType="num">
                                      <p:cBhvr>
                                        <p:cTn id="80" dur="350" fill="hold"/>
                                        <p:tgtEl>
                                          <p:spTgt spid="54"/>
                                        </p:tgtEl>
                                        <p:attrNameLst>
                                          <p:attrName>ppt_x</p:attrName>
                                        </p:attrNameLst>
                                      </p:cBhvr>
                                      <p:tavLst>
                                        <p:tav tm="0">
                                          <p:val>
                                            <p:strVal val="#ppt_x"/>
                                          </p:val>
                                        </p:tav>
                                        <p:tav tm="100000">
                                          <p:val>
                                            <p:strVal val="#ppt_x"/>
                                          </p:val>
                                        </p:tav>
                                      </p:tavLst>
                                    </p:anim>
                                    <p:anim calcmode="lin" valueType="num">
                                      <p:cBhvr>
                                        <p:cTn id="81" dur="315" decel="100000" fill="hold"/>
                                        <p:tgtEl>
                                          <p:spTgt spid="54"/>
                                        </p:tgtEl>
                                        <p:attrNameLst>
                                          <p:attrName>ppt_y</p:attrName>
                                        </p:attrNameLst>
                                      </p:cBhvr>
                                      <p:tavLst>
                                        <p:tav tm="0">
                                          <p:val>
                                            <p:strVal val="#ppt_y+1"/>
                                          </p:val>
                                        </p:tav>
                                        <p:tav tm="100000">
                                          <p:val>
                                            <p:strVal val="#ppt_y-.03"/>
                                          </p:val>
                                        </p:tav>
                                      </p:tavLst>
                                    </p:anim>
                                    <p:anim calcmode="lin" valueType="num">
                                      <p:cBhvr>
                                        <p:cTn id="82" dur="35" accel="100000" fill="hold">
                                          <p:stCondLst>
                                            <p:cond delay="315"/>
                                          </p:stCondLst>
                                        </p:cTn>
                                        <p:tgtEl>
                                          <p:spTgt spid="54"/>
                                        </p:tgtEl>
                                        <p:attrNameLst>
                                          <p:attrName>ppt_y</p:attrName>
                                        </p:attrNameLst>
                                      </p:cBhvr>
                                      <p:tavLst>
                                        <p:tav tm="0">
                                          <p:val>
                                            <p:strVal val="#ppt_y-.03"/>
                                          </p:val>
                                        </p:tav>
                                        <p:tav tm="100000">
                                          <p:val>
                                            <p:strVal val="#ppt_y"/>
                                          </p:val>
                                        </p:tav>
                                      </p:tavLst>
                                    </p:anim>
                                  </p:childTnLst>
                                </p:cTn>
                              </p:par>
                            </p:childTnLst>
                          </p:cTn>
                        </p:par>
                        <p:par>
                          <p:cTn id="83" fill="hold">
                            <p:stCondLst>
                              <p:cond delay="8500"/>
                            </p:stCondLst>
                            <p:childTnLst>
                              <p:par>
                                <p:cTn id="84" presetID="22" presetClass="entr" presetSubtype="1" fill="hold" nodeType="afterEffect">
                                  <p:stCondLst>
                                    <p:cond delay="0"/>
                                  </p:stCondLst>
                                  <p:childTnLst>
                                    <p:set>
                                      <p:cBhvr>
                                        <p:cTn id="85" dur="1" fill="hold">
                                          <p:stCondLst>
                                            <p:cond delay="0"/>
                                          </p:stCondLst>
                                        </p:cTn>
                                        <p:tgtEl>
                                          <p:spTgt spid="55"/>
                                        </p:tgtEl>
                                        <p:attrNameLst>
                                          <p:attrName>style.visibility</p:attrName>
                                        </p:attrNameLst>
                                      </p:cBhvr>
                                      <p:to>
                                        <p:strVal val="visible"/>
                                      </p:to>
                                    </p:set>
                                    <p:animEffect transition="in" filter="wipe(up)">
                                      <p:cBhvr>
                                        <p:cTn id="86" dur="500"/>
                                        <p:tgtEl>
                                          <p:spTgt spid="55"/>
                                        </p:tgtEl>
                                      </p:cBhvr>
                                    </p:animEffect>
                                  </p:childTnLst>
                                </p:cTn>
                              </p:par>
                            </p:childTnLst>
                          </p:cTn>
                        </p:par>
                        <p:par>
                          <p:cTn id="87" fill="hold">
                            <p:stCondLst>
                              <p:cond delay="9000"/>
                            </p:stCondLst>
                            <p:childTnLst>
                              <p:par>
                                <p:cTn id="88" presetID="37" presetClass="entr" presetSubtype="0" fill="hold" nodeType="afterEffect">
                                  <p:stCondLst>
                                    <p:cond delay="0"/>
                                  </p:stCondLst>
                                  <p:childTnLst>
                                    <p:set>
                                      <p:cBhvr>
                                        <p:cTn id="89" dur="1" fill="hold">
                                          <p:stCondLst>
                                            <p:cond delay="0"/>
                                          </p:stCondLst>
                                        </p:cTn>
                                        <p:tgtEl>
                                          <p:spTgt spid="58"/>
                                        </p:tgtEl>
                                        <p:attrNameLst>
                                          <p:attrName>style.visibility</p:attrName>
                                        </p:attrNameLst>
                                      </p:cBhvr>
                                      <p:to>
                                        <p:strVal val="visible"/>
                                      </p:to>
                                    </p:set>
                                    <p:animEffect transition="in" filter="fade">
                                      <p:cBhvr>
                                        <p:cTn id="90" dur="350"/>
                                        <p:tgtEl>
                                          <p:spTgt spid="58"/>
                                        </p:tgtEl>
                                      </p:cBhvr>
                                    </p:animEffect>
                                    <p:anim calcmode="lin" valueType="num">
                                      <p:cBhvr>
                                        <p:cTn id="91" dur="350" fill="hold"/>
                                        <p:tgtEl>
                                          <p:spTgt spid="58"/>
                                        </p:tgtEl>
                                        <p:attrNameLst>
                                          <p:attrName>ppt_x</p:attrName>
                                        </p:attrNameLst>
                                      </p:cBhvr>
                                      <p:tavLst>
                                        <p:tav tm="0">
                                          <p:val>
                                            <p:strVal val="#ppt_x"/>
                                          </p:val>
                                        </p:tav>
                                        <p:tav tm="100000">
                                          <p:val>
                                            <p:strVal val="#ppt_x"/>
                                          </p:val>
                                        </p:tav>
                                      </p:tavLst>
                                    </p:anim>
                                    <p:anim calcmode="lin" valueType="num">
                                      <p:cBhvr>
                                        <p:cTn id="92" dur="315" decel="100000" fill="hold"/>
                                        <p:tgtEl>
                                          <p:spTgt spid="58"/>
                                        </p:tgtEl>
                                        <p:attrNameLst>
                                          <p:attrName>ppt_y</p:attrName>
                                        </p:attrNameLst>
                                      </p:cBhvr>
                                      <p:tavLst>
                                        <p:tav tm="0">
                                          <p:val>
                                            <p:strVal val="#ppt_y+1"/>
                                          </p:val>
                                        </p:tav>
                                        <p:tav tm="100000">
                                          <p:val>
                                            <p:strVal val="#ppt_y-.03"/>
                                          </p:val>
                                        </p:tav>
                                      </p:tavLst>
                                    </p:anim>
                                    <p:anim calcmode="lin" valueType="num">
                                      <p:cBhvr>
                                        <p:cTn id="93" dur="35" accel="100000" fill="hold">
                                          <p:stCondLst>
                                            <p:cond delay="315"/>
                                          </p:stCondLst>
                                        </p:cTn>
                                        <p:tgtEl>
                                          <p:spTgt spid="5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4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509760" y="4480560"/>
            <a:ext cx="3200400" cy="320040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085832" y="5056632"/>
            <a:ext cx="2048256" cy="2048256"/>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3383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06</a:t>
            </a:r>
          </a:p>
        </p:txBody>
      </p:sp>
      <p:sp>
        <p:nvSpPr>
          <p:cNvPr id="12" name="!!rail7"/>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465429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130"/>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06  ·  METHODS AND MATERIALS USED  ·  2 OF 6</a:t>
            </a:r>
          </a:p>
        </p:txBody>
      </p:sp>
      <p:sp>
        <p:nvSpPr>
          <p:cNvPr id="15" name="Title 131"/>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Methods and materials used</a:t>
            </a:r>
          </a:p>
        </p:txBody>
      </p:sp>
      <p:sp>
        <p:nvSpPr>
          <p:cNvPr id="16" name="Subtitle 132"/>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The eight-agent analysis pipeline: a three-stage directed acyclic graph</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§3.8, Table 3.1; historical blend Eq. 3.1</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09 / 20</a:t>
            </a:r>
          </a:p>
        </p:txBody>
      </p:sp>
      <p:grpSp>
        <p:nvGrpSpPr>
          <p:cNvPr id="22" name="Stage head 133"/>
          <p:cNvGrpSpPr/>
          <p:nvPr/>
        </p:nvGrpSpPr>
        <p:grpSpPr>
          <a:xfrm>
            <a:off x="1417320" y="1874519"/>
            <a:ext cx="2788920" cy="658368"/>
            <a:chOff x="1417320" y="1874519"/>
            <a:chExt cx="2788920" cy="658368"/>
          </a:xfrm>
        </p:grpSpPr>
        <p:sp>
          <p:nvSpPr>
            <p:cNvPr id="20" name="Stage head bg"/>
            <p:cNvSpPr/>
            <p:nvPr/>
          </p:nvSpPr>
          <p:spPr>
            <a:xfrm>
              <a:off x="1417320" y="1874519"/>
              <a:ext cx="2788920" cy="658368"/>
            </a:xfrm>
            <a:prstGeom prst="roundRect">
              <a:avLst>
                <a:gd name="adj" fmla="val 10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Stage head"/>
            <p:cNvSpPr txBox="1"/>
            <p:nvPr/>
          </p:nvSpPr>
          <p:spPr>
            <a:xfrm>
              <a:off x="1554480" y="1892807"/>
              <a:ext cx="2514600" cy="640080"/>
            </a:xfrm>
            <a:prstGeom prst="rect">
              <a:avLst/>
            </a:prstGeom>
            <a:noFill/>
          </p:spPr>
          <p:txBody>
            <a:bodyPr wrap="square" lIns="36576" tIns="36576" rIns="36576" bIns="36576" anchor="ctr">
              <a:spAutoFit/>
            </a:bodyPr>
            <a:lstStyle/>
            <a:p>
              <a:pPr algn="l">
                <a:lnSpc>
                  <a:spcPct val="108000"/>
                </a:lnSpc>
                <a:spcAft>
                  <a:spcPts val="100"/>
                </a:spcAft>
              </a:pPr>
              <a:r>
                <a:rPr sz="1150" b="1" i="0">
                  <a:solidFill>
                    <a:srgbClr val="F69D39"/>
                  </a:solidFill>
                  <a:latin typeface="Consolas"/>
                </a:rPr>
                <a:t>STAGE 1 · URL &amp; CONTEXT</a:t>
              </a:r>
            </a:p>
            <a:p>
              <a:pPr algn="l">
                <a:lnSpc>
                  <a:spcPct val="108000"/>
                </a:lnSpc>
              </a:pPr>
              <a:r>
                <a:rPr sz="1100" b="0" i="0">
                  <a:solidFill>
                    <a:srgbClr val="CFC6B8"/>
                  </a:solidFill>
                  <a:latin typeface="Calibri"/>
                </a:rPr>
                <a:t>Run in parallel on the URL</a:t>
              </a:r>
            </a:p>
          </p:txBody>
        </p:sp>
      </p:grpSp>
      <p:grpSp>
        <p:nvGrpSpPr>
          <p:cNvPr id="26" name="Agent 134"/>
          <p:cNvGrpSpPr/>
          <p:nvPr/>
        </p:nvGrpSpPr>
        <p:grpSpPr>
          <a:xfrm>
            <a:off x="1417320" y="2697480"/>
            <a:ext cx="2788920" cy="676656"/>
            <a:chOff x="1417320" y="2697480"/>
            <a:chExt cx="2788920" cy="676656"/>
          </a:xfrm>
        </p:grpSpPr>
        <p:sp>
          <p:nvSpPr>
            <p:cNvPr id="23" name="Agent bg"/>
            <p:cNvSpPr/>
            <p:nvPr/>
          </p:nvSpPr>
          <p:spPr>
            <a:xfrm>
              <a:off x="1417320" y="2697480"/>
              <a:ext cx="2788920" cy="676656"/>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Agent accent"/>
            <p:cNvSpPr/>
            <p:nvPr/>
          </p:nvSpPr>
          <p:spPr>
            <a:xfrm>
              <a:off x="1417320" y="2697480"/>
              <a:ext cx="64008" cy="676656"/>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Agent text"/>
            <p:cNvSpPr txBox="1"/>
            <p:nvPr/>
          </p:nvSpPr>
          <p:spPr>
            <a:xfrm>
              <a:off x="1600200" y="2724912"/>
              <a:ext cx="2514600" cy="640080"/>
            </a:xfrm>
            <a:prstGeom prst="rect">
              <a:avLst/>
            </a:prstGeom>
            <a:noFill/>
          </p:spPr>
          <p:txBody>
            <a:bodyPr wrap="square" lIns="36576" tIns="36576" rIns="36576" bIns="36576" anchor="t">
              <a:spAutoFit/>
            </a:bodyPr>
            <a:lstStyle/>
            <a:p>
              <a:pPr algn="l">
                <a:lnSpc>
                  <a:spcPct val="108000"/>
                </a:lnSpc>
                <a:spcAft>
                  <a:spcPts val="100"/>
                </a:spcAft>
              </a:pPr>
              <a:r>
                <a:rPr sz="1500" b="1" i="0">
                  <a:solidFill>
                    <a:srgbClr val="1F1A1B"/>
                  </a:solidFill>
                  <a:latin typeface="Bahnschrift"/>
                </a:rPr>
                <a:t>URL Classifier</a:t>
              </a:r>
            </a:p>
            <a:p>
              <a:pPr algn="l">
                <a:lnSpc>
                  <a:spcPct val="100000"/>
                </a:lnSpc>
              </a:pPr>
              <a:r>
                <a:rPr sz="1150" b="0" i="0">
                  <a:solidFill>
                    <a:srgbClr val="857A72"/>
                  </a:solidFill>
                  <a:latin typeface="Calibri"/>
                </a:rPr>
                <a:t>BERT label and confidence</a:t>
              </a:r>
            </a:p>
          </p:txBody>
        </p:sp>
      </p:grpSp>
      <p:grpSp>
        <p:nvGrpSpPr>
          <p:cNvPr id="30" name="Agent 135"/>
          <p:cNvGrpSpPr/>
          <p:nvPr/>
        </p:nvGrpSpPr>
        <p:grpSpPr>
          <a:xfrm>
            <a:off x="1417320" y="3429000"/>
            <a:ext cx="2788920" cy="676656"/>
            <a:chOff x="1417320" y="3429000"/>
            <a:chExt cx="2788920" cy="676656"/>
          </a:xfrm>
        </p:grpSpPr>
        <p:sp>
          <p:nvSpPr>
            <p:cNvPr id="27" name="Agent bg"/>
            <p:cNvSpPr/>
            <p:nvPr/>
          </p:nvSpPr>
          <p:spPr>
            <a:xfrm>
              <a:off x="1417320" y="3429000"/>
              <a:ext cx="2788920" cy="676656"/>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Agent accent"/>
            <p:cNvSpPr/>
            <p:nvPr/>
          </p:nvSpPr>
          <p:spPr>
            <a:xfrm>
              <a:off x="1417320" y="3429000"/>
              <a:ext cx="64008" cy="676656"/>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Agent text"/>
            <p:cNvSpPr txBox="1"/>
            <p:nvPr/>
          </p:nvSpPr>
          <p:spPr>
            <a:xfrm>
              <a:off x="1600200" y="3456432"/>
              <a:ext cx="2514600" cy="640080"/>
            </a:xfrm>
            <a:prstGeom prst="rect">
              <a:avLst/>
            </a:prstGeom>
            <a:noFill/>
          </p:spPr>
          <p:txBody>
            <a:bodyPr wrap="square" lIns="36576" tIns="36576" rIns="36576" bIns="36576" anchor="t">
              <a:spAutoFit/>
            </a:bodyPr>
            <a:lstStyle/>
            <a:p>
              <a:pPr algn="l">
                <a:lnSpc>
                  <a:spcPct val="108000"/>
                </a:lnSpc>
                <a:spcAft>
                  <a:spcPts val="100"/>
                </a:spcAft>
              </a:pPr>
              <a:r>
                <a:rPr sz="1500" b="1" i="0">
                  <a:solidFill>
                    <a:srgbClr val="1F1A1B"/>
                  </a:solidFill>
                  <a:latin typeface="Bahnschrift"/>
                </a:rPr>
                <a:t>DGA Detector</a:t>
              </a:r>
            </a:p>
            <a:p>
              <a:pPr algn="l">
                <a:lnSpc>
                  <a:spcPct val="100000"/>
                </a:lnSpc>
              </a:pPr>
              <a:r>
                <a:rPr sz="1150" b="0" i="0">
                  <a:solidFill>
                    <a:srgbClr val="857A72"/>
                  </a:solidFill>
                  <a:latin typeface="Calibri"/>
                </a:rPr>
                <a:t>entropy and character patterns</a:t>
              </a:r>
            </a:p>
          </p:txBody>
        </p:sp>
      </p:grpSp>
      <p:grpSp>
        <p:nvGrpSpPr>
          <p:cNvPr id="34" name="Agent 136"/>
          <p:cNvGrpSpPr/>
          <p:nvPr/>
        </p:nvGrpSpPr>
        <p:grpSpPr>
          <a:xfrm>
            <a:off x="1417320" y="4160520"/>
            <a:ext cx="2788920" cy="676656"/>
            <a:chOff x="1417320" y="4160520"/>
            <a:chExt cx="2788920" cy="676656"/>
          </a:xfrm>
        </p:grpSpPr>
        <p:sp>
          <p:nvSpPr>
            <p:cNvPr id="31" name="Agent bg"/>
            <p:cNvSpPr/>
            <p:nvPr/>
          </p:nvSpPr>
          <p:spPr>
            <a:xfrm>
              <a:off x="1417320" y="4160520"/>
              <a:ext cx="2788920" cy="676656"/>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2" name="Agent accent"/>
            <p:cNvSpPr/>
            <p:nvPr/>
          </p:nvSpPr>
          <p:spPr>
            <a:xfrm>
              <a:off x="1417320" y="4160520"/>
              <a:ext cx="64008" cy="676656"/>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Agent text"/>
            <p:cNvSpPr txBox="1"/>
            <p:nvPr/>
          </p:nvSpPr>
          <p:spPr>
            <a:xfrm>
              <a:off x="1600200" y="4187952"/>
              <a:ext cx="2514600" cy="640080"/>
            </a:xfrm>
            <a:prstGeom prst="rect">
              <a:avLst/>
            </a:prstGeom>
            <a:noFill/>
          </p:spPr>
          <p:txBody>
            <a:bodyPr wrap="square" lIns="36576" tIns="36576" rIns="36576" bIns="36576" anchor="t">
              <a:spAutoFit/>
            </a:bodyPr>
            <a:lstStyle/>
            <a:p>
              <a:pPr algn="l">
                <a:lnSpc>
                  <a:spcPct val="108000"/>
                </a:lnSpc>
                <a:spcAft>
                  <a:spcPts val="100"/>
                </a:spcAft>
              </a:pPr>
              <a:r>
                <a:rPr sz="1500" b="1" i="0">
                  <a:solidFill>
                    <a:srgbClr val="1F1A1B"/>
                  </a:solidFill>
                  <a:latin typeface="Bahnschrift"/>
                </a:rPr>
                <a:t>Web Scraper</a:t>
              </a:r>
            </a:p>
            <a:p>
              <a:pPr algn="l">
                <a:lnSpc>
                  <a:spcPct val="100000"/>
                </a:lnSpc>
              </a:pPr>
              <a:r>
                <a:rPr sz="1150" b="0" i="0">
                  <a:solidFill>
                    <a:srgbClr val="857A72"/>
                  </a:solidFill>
                  <a:latin typeface="Calibri"/>
                </a:rPr>
                <a:t>content, scripts, headers</a:t>
              </a:r>
            </a:p>
          </p:txBody>
        </p:sp>
      </p:grpSp>
      <p:grpSp>
        <p:nvGrpSpPr>
          <p:cNvPr id="38" name="Agent 137"/>
          <p:cNvGrpSpPr/>
          <p:nvPr/>
        </p:nvGrpSpPr>
        <p:grpSpPr>
          <a:xfrm>
            <a:off x="1417320" y="4892040"/>
            <a:ext cx="2788920" cy="676656"/>
            <a:chOff x="1417320" y="4892040"/>
            <a:chExt cx="2788920" cy="676656"/>
          </a:xfrm>
        </p:grpSpPr>
        <p:sp>
          <p:nvSpPr>
            <p:cNvPr id="35" name="Agent bg"/>
            <p:cNvSpPr/>
            <p:nvPr/>
          </p:nvSpPr>
          <p:spPr>
            <a:xfrm>
              <a:off x="1417320" y="4892040"/>
              <a:ext cx="2788920" cy="676656"/>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Agent accent"/>
            <p:cNvSpPr/>
            <p:nvPr/>
          </p:nvSpPr>
          <p:spPr>
            <a:xfrm>
              <a:off x="1417320" y="4892040"/>
              <a:ext cx="64008" cy="676656"/>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Agent text"/>
            <p:cNvSpPr txBox="1"/>
            <p:nvPr/>
          </p:nvSpPr>
          <p:spPr>
            <a:xfrm>
              <a:off x="1600200" y="4919472"/>
              <a:ext cx="2514600" cy="640080"/>
            </a:xfrm>
            <a:prstGeom prst="rect">
              <a:avLst/>
            </a:prstGeom>
            <a:noFill/>
          </p:spPr>
          <p:txBody>
            <a:bodyPr wrap="square" lIns="36576" tIns="36576" rIns="36576" bIns="36576" anchor="t">
              <a:spAutoFit/>
            </a:bodyPr>
            <a:lstStyle/>
            <a:p>
              <a:pPr algn="l">
                <a:lnSpc>
                  <a:spcPct val="108000"/>
                </a:lnSpc>
                <a:spcAft>
                  <a:spcPts val="100"/>
                </a:spcAft>
              </a:pPr>
              <a:r>
                <a:rPr sz="1500" b="1" i="0">
                  <a:solidFill>
                    <a:srgbClr val="1F1A1B"/>
                  </a:solidFill>
                  <a:latin typeface="Bahnschrift"/>
                </a:rPr>
                <a:t>Memory Reader</a:t>
              </a:r>
            </a:p>
            <a:p>
              <a:pPr algn="l">
                <a:lnSpc>
                  <a:spcPct val="100000"/>
                </a:lnSpc>
              </a:pPr>
              <a:r>
                <a:rPr sz="1150" b="0" i="0">
                  <a:solidFill>
                    <a:srgbClr val="857A72"/>
                  </a:solidFill>
                  <a:latin typeface="Calibri"/>
                </a:rPr>
                <a:t>past visits and verdicts</a:t>
              </a:r>
            </a:p>
          </p:txBody>
        </p:sp>
      </p:grpSp>
      <p:cxnSp>
        <p:nvCxnSpPr>
          <p:cNvPr id="39" name="DAG arrow 138"/>
          <p:cNvCxnSpPr/>
          <p:nvPr/>
        </p:nvCxnSpPr>
        <p:spPr>
          <a:xfrm>
            <a:off x="4233672" y="3090672"/>
            <a:ext cx="155448" cy="0"/>
          </a:xfrm>
          <a:prstGeom prst="line">
            <a:avLst/>
          </a:prstGeom>
          <a:ln w="25400">
            <a:solidFill>
              <a:srgbClr val="F69D39"/>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2" name="Stage head 139"/>
          <p:cNvGrpSpPr/>
          <p:nvPr/>
        </p:nvGrpSpPr>
        <p:grpSpPr>
          <a:xfrm>
            <a:off x="4425696" y="1874519"/>
            <a:ext cx="2788920" cy="658368"/>
            <a:chOff x="4425696" y="1874519"/>
            <a:chExt cx="2788920" cy="658368"/>
          </a:xfrm>
        </p:grpSpPr>
        <p:sp>
          <p:nvSpPr>
            <p:cNvPr id="40" name="Stage head bg"/>
            <p:cNvSpPr/>
            <p:nvPr/>
          </p:nvSpPr>
          <p:spPr>
            <a:xfrm>
              <a:off x="4425696" y="1874519"/>
              <a:ext cx="2788920" cy="658368"/>
            </a:xfrm>
            <a:prstGeom prst="roundRect">
              <a:avLst>
                <a:gd name="adj" fmla="val 10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1" name="Stage head"/>
            <p:cNvSpPr txBox="1"/>
            <p:nvPr/>
          </p:nvSpPr>
          <p:spPr>
            <a:xfrm>
              <a:off x="4562856" y="1892807"/>
              <a:ext cx="2514600" cy="640080"/>
            </a:xfrm>
            <a:prstGeom prst="rect">
              <a:avLst/>
            </a:prstGeom>
            <a:noFill/>
          </p:spPr>
          <p:txBody>
            <a:bodyPr wrap="square" lIns="36576" tIns="36576" rIns="36576" bIns="36576" anchor="ctr">
              <a:spAutoFit/>
            </a:bodyPr>
            <a:lstStyle/>
            <a:p>
              <a:pPr algn="l">
                <a:lnSpc>
                  <a:spcPct val="108000"/>
                </a:lnSpc>
                <a:spcAft>
                  <a:spcPts val="100"/>
                </a:spcAft>
              </a:pPr>
              <a:r>
                <a:rPr sz="1150" b="1" i="0">
                  <a:solidFill>
                    <a:srgbClr val="F69D39"/>
                  </a:solidFill>
                  <a:latin typeface="Consolas"/>
                </a:rPr>
                <a:t>STAGE 2 · CONTENT</a:t>
              </a:r>
            </a:p>
            <a:p>
              <a:pPr algn="l">
                <a:lnSpc>
                  <a:spcPct val="108000"/>
                </a:lnSpc>
              </a:pPr>
              <a:r>
                <a:rPr sz="1100" b="0" i="0">
                  <a:solidFill>
                    <a:srgbClr val="CFC6B8"/>
                  </a:solidFill>
                  <a:latin typeface="Calibri"/>
                </a:rPr>
                <a:t>Start once the page is scraped</a:t>
              </a:r>
            </a:p>
          </p:txBody>
        </p:sp>
      </p:grpSp>
      <p:grpSp>
        <p:nvGrpSpPr>
          <p:cNvPr id="46" name="Agent 140"/>
          <p:cNvGrpSpPr/>
          <p:nvPr/>
        </p:nvGrpSpPr>
        <p:grpSpPr>
          <a:xfrm>
            <a:off x="4425696" y="2697480"/>
            <a:ext cx="2788920" cy="676656"/>
            <a:chOff x="4425696" y="2697480"/>
            <a:chExt cx="2788920" cy="676656"/>
          </a:xfrm>
        </p:grpSpPr>
        <p:sp>
          <p:nvSpPr>
            <p:cNvPr id="43" name="Agent bg"/>
            <p:cNvSpPr/>
            <p:nvPr/>
          </p:nvSpPr>
          <p:spPr>
            <a:xfrm>
              <a:off x="4425696" y="2697480"/>
              <a:ext cx="2788920" cy="676656"/>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4" name="Agent accent"/>
            <p:cNvSpPr/>
            <p:nvPr/>
          </p:nvSpPr>
          <p:spPr>
            <a:xfrm>
              <a:off x="4425696" y="2697480"/>
              <a:ext cx="64008" cy="676656"/>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5" name="Agent text"/>
            <p:cNvSpPr txBox="1"/>
            <p:nvPr/>
          </p:nvSpPr>
          <p:spPr>
            <a:xfrm>
              <a:off x="4608576" y="2724912"/>
              <a:ext cx="2514600" cy="640080"/>
            </a:xfrm>
            <a:prstGeom prst="rect">
              <a:avLst/>
            </a:prstGeom>
            <a:noFill/>
          </p:spPr>
          <p:txBody>
            <a:bodyPr wrap="square" lIns="36576" tIns="36576" rIns="36576" bIns="36576" anchor="t">
              <a:spAutoFit/>
            </a:bodyPr>
            <a:lstStyle/>
            <a:p>
              <a:pPr algn="l">
                <a:lnSpc>
                  <a:spcPct val="108000"/>
                </a:lnSpc>
                <a:spcAft>
                  <a:spcPts val="100"/>
                </a:spcAft>
              </a:pPr>
              <a:r>
                <a:rPr sz="1500" b="1" i="0">
                  <a:solidFill>
                    <a:srgbClr val="1F1A1B"/>
                  </a:solidFill>
                  <a:latin typeface="Bahnschrift"/>
                </a:rPr>
                <a:t>IOC Extractor</a:t>
              </a:r>
            </a:p>
            <a:p>
              <a:pPr algn="l">
                <a:lnSpc>
                  <a:spcPct val="100000"/>
                </a:lnSpc>
              </a:pPr>
              <a:r>
                <a:rPr sz="1150" b="0" i="0">
                  <a:solidFill>
                    <a:srgbClr val="857A72"/>
                  </a:solidFill>
                  <a:latin typeface="Calibri"/>
                </a:rPr>
                <a:t>10 patterns: IPs, URLs, hashes, CVEs…</a:t>
              </a:r>
            </a:p>
          </p:txBody>
        </p:sp>
      </p:grpSp>
      <p:grpSp>
        <p:nvGrpSpPr>
          <p:cNvPr id="50" name="Agent 141"/>
          <p:cNvGrpSpPr/>
          <p:nvPr/>
        </p:nvGrpSpPr>
        <p:grpSpPr>
          <a:xfrm>
            <a:off x="4425696" y="3429000"/>
            <a:ext cx="2788920" cy="676656"/>
            <a:chOff x="4425696" y="3429000"/>
            <a:chExt cx="2788920" cy="676656"/>
          </a:xfrm>
        </p:grpSpPr>
        <p:sp>
          <p:nvSpPr>
            <p:cNvPr id="47" name="Agent bg"/>
            <p:cNvSpPr/>
            <p:nvPr/>
          </p:nvSpPr>
          <p:spPr>
            <a:xfrm>
              <a:off x="4425696" y="3429000"/>
              <a:ext cx="2788920" cy="676656"/>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8" name="Agent accent"/>
            <p:cNvSpPr/>
            <p:nvPr/>
          </p:nvSpPr>
          <p:spPr>
            <a:xfrm>
              <a:off x="4425696" y="3429000"/>
              <a:ext cx="64008" cy="676656"/>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9" name="Agent text"/>
            <p:cNvSpPr txBox="1"/>
            <p:nvPr/>
          </p:nvSpPr>
          <p:spPr>
            <a:xfrm>
              <a:off x="4608576" y="3456432"/>
              <a:ext cx="2514600" cy="640080"/>
            </a:xfrm>
            <a:prstGeom prst="rect">
              <a:avLst/>
            </a:prstGeom>
            <a:noFill/>
          </p:spPr>
          <p:txBody>
            <a:bodyPr wrap="square" lIns="36576" tIns="36576" rIns="36576" bIns="36576" anchor="t">
              <a:spAutoFit/>
            </a:bodyPr>
            <a:lstStyle/>
            <a:p>
              <a:pPr algn="l">
                <a:lnSpc>
                  <a:spcPct val="108000"/>
                </a:lnSpc>
                <a:spcAft>
                  <a:spcPts val="100"/>
                </a:spcAft>
              </a:pPr>
              <a:r>
                <a:rPr sz="1500" b="1" i="0">
                  <a:solidFill>
                    <a:srgbClr val="1F1A1B"/>
                  </a:solidFill>
                  <a:latin typeface="Bahnschrift"/>
                </a:rPr>
                <a:t>Behavioural Analyser</a:t>
              </a:r>
            </a:p>
            <a:p>
              <a:pPr algn="l">
                <a:lnSpc>
                  <a:spcPct val="100000"/>
                </a:lnSpc>
              </a:pPr>
              <a:r>
                <a:rPr sz="1150" b="0" i="0">
                  <a:solidFill>
                    <a:srgbClr val="857A72"/>
                  </a:solidFill>
                  <a:latin typeface="Calibri"/>
                </a:rPr>
                <a:t>eval/atob, hidden forms, trackers</a:t>
              </a:r>
            </a:p>
          </p:txBody>
        </p:sp>
      </p:grpSp>
      <p:grpSp>
        <p:nvGrpSpPr>
          <p:cNvPr id="54" name="Agent 142"/>
          <p:cNvGrpSpPr/>
          <p:nvPr/>
        </p:nvGrpSpPr>
        <p:grpSpPr>
          <a:xfrm>
            <a:off x="4425696" y="4160520"/>
            <a:ext cx="2788920" cy="676656"/>
            <a:chOff x="4425696" y="4160520"/>
            <a:chExt cx="2788920" cy="676656"/>
          </a:xfrm>
        </p:grpSpPr>
        <p:sp>
          <p:nvSpPr>
            <p:cNvPr id="51" name="Agent bg"/>
            <p:cNvSpPr/>
            <p:nvPr/>
          </p:nvSpPr>
          <p:spPr>
            <a:xfrm>
              <a:off x="4425696" y="4160520"/>
              <a:ext cx="2788920" cy="676656"/>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2" name="Agent accent"/>
            <p:cNvSpPr/>
            <p:nvPr/>
          </p:nvSpPr>
          <p:spPr>
            <a:xfrm>
              <a:off x="4425696" y="4160520"/>
              <a:ext cx="64008" cy="676656"/>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3" name="Agent text"/>
            <p:cNvSpPr txBox="1"/>
            <p:nvPr/>
          </p:nvSpPr>
          <p:spPr>
            <a:xfrm>
              <a:off x="4608576" y="4187952"/>
              <a:ext cx="2514600" cy="640080"/>
            </a:xfrm>
            <a:prstGeom prst="rect">
              <a:avLst/>
            </a:prstGeom>
            <a:noFill/>
          </p:spPr>
          <p:txBody>
            <a:bodyPr wrap="square" lIns="36576" tIns="36576" rIns="36576" bIns="36576" anchor="t">
              <a:spAutoFit/>
            </a:bodyPr>
            <a:lstStyle/>
            <a:p>
              <a:pPr algn="l">
                <a:lnSpc>
                  <a:spcPct val="108000"/>
                </a:lnSpc>
                <a:spcAft>
                  <a:spcPts val="100"/>
                </a:spcAft>
              </a:pPr>
              <a:r>
                <a:rPr sz="1500" b="1" i="0">
                  <a:solidFill>
                    <a:srgbClr val="1F1A1B"/>
                  </a:solidFill>
                  <a:latin typeface="Bahnschrift"/>
                </a:rPr>
                <a:t>MITRE Mapper</a:t>
              </a:r>
            </a:p>
            <a:p>
              <a:pPr algn="l">
                <a:lnSpc>
                  <a:spcPct val="100000"/>
                </a:lnSpc>
              </a:pPr>
              <a:r>
                <a:rPr sz="1150" b="0" i="0">
                  <a:solidFill>
                    <a:srgbClr val="857A72"/>
                  </a:solidFill>
                  <a:latin typeface="Calibri"/>
                </a:rPr>
                <a:t>20 signals → ATT&amp;CK techniques</a:t>
              </a:r>
            </a:p>
          </p:txBody>
        </p:sp>
      </p:grpSp>
      <p:cxnSp>
        <p:nvCxnSpPr>
          <p:cNvPr id="55" name="DAG arrow 143"/>
          <p:cNvCxnSpPr/>
          <p:nvPr/>
        </p:nvCxnSpPr>
        <p:spPr>
          <a:xfrm>
            <a:off x="7242048" y="3090672"/>
            <a:ext cx="155448" cy="0"/>
          </a:xfrm>
          <a:prstGeom prst="line">
            <a:avLst/>
          </a:prstGeom>
          <a:ln w="25400">
            <a:solidFill>
              <a:srgbClr val="F69D39"/>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58" name="Stage head 144"/>
          <p:cNvGrpSpPr/>
          <p:nvPr/>
        </p:nvGrpSpPr>
        <p:grpSpPr>
          <a:xfrm>
            <a:off x="7434071" y="1874519"/>
            <a:ext cx="2194560" cy="658368"/>
            <a:chOff x="7434071" y="1874519"/>
            <a:chExt cx="2194560" cy="658368"/>
          </a:xfrm>
        </p:grpSpPr>
        <p:sp>
          <p:nvSpPr>
            <p:cNvPr id="56" name="Stage head bg"/>
            <p:cNvSpPr/>
            <p:nvPr/>
          </p:nvSpPr>
          <p:spPr>
            <a:xfrm>
              <a:off x="7434071" y="1874519"/>
              <a:ext cx="2194560" cy="658368"/>
            </a:xfrm>
            <a:prstGeom prst="roundRect">
              <a:avLst>
                <a:gd name="adj" fmla="val 10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7" name="Stage head"/>
            <p:cNvSpPr txBox="1"/>
            <p:nvPr/>
          </p:nvSpPr>
          <p:spPr>
            <a:xfrm>
              <a:off x="7571231" y="1892807"/>
              <a:ext cx="1920240" cy="640080"/>
            </a:xfrm>
            <a:prstGeom prst="rect">
              <a:avLst/>
            </a:prstGeom>
            <a:noFill/>
          </p:spPr>
          <p:txBody>
            <a:bodyPr wrap="square" lIns="36576" tIns="36576" rIns="36576" bIns="36576" anchor="ctr">
              <a:spAutoFit/>
            </a:bodyPr>
            <a:lstStyle/>
            <a:p>
              <a:pPr algn="l">
                <a:lnSpc>
                  <a:spcPct val="108000"/>
                </a:lnSpc>
                <a:spcAft>
                  <a:spcPts val="100"/>
                </a:spcAft>
              </a:pPr>
              <a:r>
                <a:rPr sz="1150" b="1" i="0">
                  <a:solidFill>
                    <a:srgbClr val="F69D39"/>
                  </a:solidFill>
                  <a:latin typeface="Consolas"/>
                </a:rPr>
                <a:t>STAGE 3 · ENRICHMENT</a:t>
              </a:r>
            </a:p>
            <a:p>
              <a:pPr algn="l">
                <a:lnSpc>
                  <a:spcPct val="108000"/>
                </a:lnSpc>
              </a:pPr>
              <a:r>
                <a:rPr sz="1100" b="0" i="0">
                  <a:solidFill>
                    <a:srgbClr val="CFC6B8"/>
                  </a:solidFill>
                  <a:latin typeface="Calibri"/>
                </a:rPr>
                <a:t>Needs the extracted IOCs</a:t>
              </a:r>
            </a:p>
          </p:txBody>
        </p:sp>
      </p:grpSp>
      <p:grpSp>
        <p:nvGrpSpPr>
          <p:cNvPr id="62" name="Agent 145"/>
          <p:cNvGrpSpPr/>
          <p:nvPr/>
        </p:nvGrpSpPr>
        <p:grpSpPr>
          <a:xfrm>
            <a:off x="7434071" y="2697480"/>
            <a:ext cx="2194560" cy="676656"/>
            <a:chOff x="7434071" y="2697480"/>
            <a:chExt cx="2194560" cy="676656"/>
          </a:xfrm>
        </p:grpSpPr>
        <p:sp>
          <p:nvSpPr>
            <p:cNvPr id="59" name="Agent bg"/>
            <p:cNvSpPr/>
            <p:nvPr/>
          </p:nvSpPr>
          <p:spPr>
            <a:xfrm>
              <a:off x="7434071" y="2697480"/>
              <a:ext cx="2194560" cy="676656"/>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0" name="Agent accent"/>
            <p:cNvSpPr/>
            <p:nvPr/>
          </p:nvSpPr>
          <p:spPr>
            <a:xfrm>
              <a:off x="7434071" y="2697480"/>
              <a:ext cx="64008" cy="676656"/>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1" name="Agent text"/>
            <p:cNvSpPr txBox="1"/>
            <p:nvPr/>
          </p:nvSpPr>
          <p:spPr>
            <a:xfrm>
              <a:off x="7616951" y="2724912"/>
              <a:ext cx="1920240" cy="640080"/>
            </a:xfrm>
            <a:prstGeom prst="rect">
              <a:avLst/>
            </a:prstGeom>
            <a:noFill/>
          </p:spPr>
          <p:txBody>
            <a:bodyPr wrap="square" lIns="36576" tIns="36576" rIns="36576" bIns="36576" anchor="t">
              <a:spAutoFit/>
            </a:bodyPr>
            <a:lstStyle/>
            <a:p>
              <a:pPr algn="l">
                <a:lnSpc>
                  <a:spcPct val="108000"/>
                </a:lnSpc>
                <a:spcAft>
                  <a:spcPts val="100"/>
                </a:spcAft>
              </a:pPr>
              <a:r>
                <a:rPr sz="1500" b="1" i="0">
                  <a:solidFill>
                    <a:srgbClr val="1F1A1B"/>
                  </a:solidFill>
                  <a:latin typeface="Bahnschrift"/>
                </a:rPr>
                <a:t>Threat Intelligence</a:t>
              </a:r>
            </a:p>
            <a:p>
              <a:pPr algn="l">
                <a:lnSpc>
                  <a:spcPct val="100000"/>
                </a:lnSpc>
              </a:pPr>
              <a:r>
                <a:rPr sz="1150" b="0" i="0">
                  <a:solidFill>
                    <a:srgbClr val="857A72"/>
                  </a:solidFill>
                  <a:latin typeface="Calibri"/>
                </a:rPr>
                <a:t>AlienVault OTX reputation</a:t>
              </a:r>
            </a:p>
          </p:txBody>
        </p:sp>
      </p:grpSp>
      <p:cxnSp>
        <p:nvCxnSpPr>
          <p:cNvPr id="63" name="DAG arrow 146"/>
          <p:cNvCxnSpPr/>
          <p:nvPr/>
        </p:nvCxnSpPr>
        <p:spPr>
          <a:xfrm>
            <a:off x="9656063" y="3090672"/>
            <a:ext cx="155448" cy="0"/>
          </a:xfrm>
          <a:prstGeom prst="line">
            <a:avLst/>
          </a:prstGeom>
          <a:ln w="25400">
            <a:solidFill>
              <a:srgbClr val="F69D39"/>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66" name="Stage head 147"/>
          <p:cNvGrpSpPr/>
          <p:nvPr/>
        </p:nvGrpSpPr>
        <p:grpSpPr>
          <a:xfrm>
            <a:off x="9848088" y="1874519"/>
            <a:ext cx="2011680" cy="658368"/>
            <a:chOff x="9848088" y="1874519"/>
            <a:chExt cx="2011680" cy="658368"/>
          </a:xfrm>
        </p:grpSpPr>
        <p:sp>
          <p:nvSpPr>
            <p:cNvPr id="64" name="Stage head bg"/>
            <p:cNvSpPr/>
            <p:nvPr/>
          </p:nvSpPr>
          <p:spPr>
            <a:xfrm>
              <a:off x="9848088" y="1874519"/>
              <a:ext cx="2011680" cy="658368"/>
            </a:xfrm>
            <a:prstGeom prst="roundRect">
              <a:avLst>
                <a:gd name="adj" fmla="val 10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5" name="Stage head"/>
            <p:cNvSpPr txBox="1"/>
            <p:nvPr/>
          </p:nvSpPr>
          <p:spPr>
            <a:xfrm>
              <a:off x="9985248" y="1892807"/>
              <a:ext cx="1737360" cy="640080"/>
            </a:xfrm>
            <a:prstGeom prst="rect">
              <a:avLst/>
            </a:prstGeom>
            <a:noFill/>
          </p:spPr>
          <p:txBody>
            <a:bodyPr wrap="square" lIns="36576" tIns="36576" rIns="36576" bIns="36576" anchor="ctr">
              <a:spAutoFit/>
            </a:bodyPr>
            <a:lstStyle/>
            <a:p>
              <a:pPr algn="l">
                <a:lnSpc>
                  <a:spcPct val="108000"/>
                </a:lnSpc>
                <a:spcAft>
                  <a:spcPts val="100"/>
                </a:spcAft>
              </a:pPr>
              <a:r>
                <a:rPr sz="1150" b="1" i="0">
                  <a:solidFill>
                    <a:srgbClr val="F69D39"/>
                  </a:solidFill>
                  <a:latin typeface="Consolas"/>
                </a:rPr>
                <a:t>REPORTER</a:t>
              </a:r>
            </a:p>
            <a:p>
              <a:pPr algn="l">
                <a:lnSpc>
                  <a:spcPct val="108000"/>
                </a:lnSpc>
              </a:pPr>
              <a:r>
                <a:rPr sz="1100" b="0" i="0">
                  <a:solidFill>
                    <a:srgbClr val="CFC6B8"/>
                  </a:solidFill>
                  <a:latin typeface="Calibri"/>
                </a:rPr>
                <a:t>Combines every result</a:t>
              </a:r>
            </a:p>
          </p:txBody>
        </p:sp>
      </p:grpSp>
      <p:grpSp>
        <p:nvGrpSpPr>
          <p:cNvPr id="70" name="Agent 148"/>
          <p:cNvGrpSpPr/>
          <p:nvPr/>
        </p:nvGrpSpPr>
        <p:grpSpPr>
          <a:xfrm>
            <a:off x="9848088" y="2697480"/>
            <a:ext cx="2011680" cy="676656"/>
            <a:chOff x="9848088" y="2697480"/>
            <a:chExt cx="2011680" cy="676656"/>
          </a:xfrm>
        </p:grpSpPr>
        <p:sp>
          <p:nvSpPr>
            <p:cNvPr id="67" name="Agent bg"/>
            <p:cNvSpPr/>
            <p:nvPr/>
          </p:nvSpPr>
          <p:spPr>
            <a:xfrm>
              <a:off x="9848088" y="2697480"/>
              <a:ext cx="2011680" cy="676656"/>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8" name="Agent accent"/>
            <p:cNvSpPr/>
            <p:nvPr/>
          </p:nvSpPr>
          <p:spPr>
            <a:xfrm>
              <a:off x="9848088" y="2697480"/>
              <a:ext cx="64008" cy="676656"/>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9" name="Agent text"/>
            <p:cNvSpPr txBox="1"/>
            <p:nvPr/>
          </p:nvSpPr>
          <p:spPr>
            <a:xfrm>
              <a:off x="10030967" y="2724912"/>
              <a:ext cx="1737360" cy="640080"/>
            </a:xfrm>
            <a:prstGeom prst="rect">
              <a:avLst/>
            </a:prstGeom>
            <a:noFill/>
          </p:spPr>
          <p:txBody>
            <a:bodyPr wrap="square" lIns="36576" tIns="36576" rIns="36576" bIns="36576" anchor="t">
              <a:spAutoFit/>
            </a:bodyPr>
            <a:lstStyle/>
            <a:p>
              <a:pPr algn="l">
                <a:lnSpc>
                  <a:spcPct val="108000"/>
                </a:lnSpc>
                <a:spcAft>
                  <a:spcPts val="100"/>
                </a:spcAft>
              </a:pPr>
              <a:r>
                <a:rPr sz="1500" b="1" i="0">
                  <a:solidFill>
                    <a:srgbClr val="1F1A1B"/>
                  </a:solidFill>
                  <a:latin typeface="Bahnschrift"/>
                </a:rPr>
                <a:t>Reporter Agent</a:t>
              </a:r>
            </a:p>
            <a:p>
              <a:pPr algn="l">
                <a:lnSpc>
                  <a:spcPct val="100000"/>
                </a:lnSpc>
              </a:pPr>
              <a:r>
                <a:rPr sz="1150" b="0" i="0">
                  <a:solidFill>
                    <a:srgbClr val="857A72"/>
                  </a:solidFill>
                  <a:latin typeface="Calibri"/>
                </a:rPr>
                <a:t>risk score, verdict, explanation, stored report</a:t>
              </a:r>
            </a:p>
          </p:txBody>
        </p:sp>
      </p:grpSp>
      <p:sp>
        <p:nvSpPr>
          <p:cNvPr id="71" name="Formula band 149"/>
          <p:cNvSpPr/>
          <p:nvPr/>
        </p:nvSpPr>
        <p:spPr>
          <a:xfrm>
            <a:off x="1417320" y="5623560"/>
            <a:ext cx="10225735" cy="621792"/>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2" name="Formula 150"/>
          <p:cNvSpPr txBox="1"/>
          <p:nvPr/>
        </p:nvSpPr>
        <p:spPr>
          <a:xfrm>
            <a:off x="1645920" y="5623560"/>
            <a:ext cx="9768535" cy="621792"/>
          </a:xfrm>
          <a:prstGeom prst="rect">
            <a:avLst/>
          </a:prstGeom>
          <a:noFill/>
        </p:spPr>
        <p:txBody>
          <a:bodyPr wrap="square" lIns="36576" tIns="36576" rIns="36576" bIns="36576" anchor="ctr">
            <a:spAutoFit/>
          </a:bodyPr>
          <a:lstStyle/>
          <a:p>
            <a:pPr algn="l">
              <a:lnSpc>
                <a:spcPct val="108000"/>
              </a:lnSpc>
            </a:pPr>
            <a:r>
              <a:rPr sz="1400" b="1" i="0">
                <a:solidFill>
                  <a:srgbClr val="1F1A1B"/>
                </a:solidFill>
                <a:latin typeface="Calibri"/>
              </a:rPr>
              <a:t>Historical blend (Eq. 3.1):  </a:t>
            </a:r>
            <a:r>
              <a:rPr sz="1350" b="0" i="0">
                <a:solidFill>
                  <a:srgbClr val="C77A1E"/>
                </a:solidFill>
                <a:latin typeface="Consolas"/>
              </a:rPr>
              <a:t>risk = 0.6 × mean agent score + 0.4 × maximum agent score</a:t>
            </a:r>
            <a:r>
              <a:rPr sz="1400" b="0" i="0">
                <a:solidFill>
                  <a:srgbClr val="4A4244"/>
                </a:solidFill>
                <a:latin typeface="Calibri"/>
              </a:rPr>
              <a:t>   — averages the evidence, yet one strong signal still raises the verdict.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7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2650"/>
                            </p:stCondLst>
                            <p:childTnLst>
                              <p:par>
                                <p:cTn id="19" presetID="2" presetClass="entr" presetSubtype="1" fill="hold" nodeType="after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ppt_x"/>
                                          </p:val>
                                        </p:tav>
                                        <p:tav tm="100000">
                                          <p:val>
                                            <p:strVal val="#ppt_x"/>
                                          </p:val>
                                        </p:tav>
                                      </p:tavLst>
                                    </p:anim>
                                    <p:anim calcmode="lin" valueType="num">
                                      <p:cBhvr additive="base">
                                        <p:cTn id="22" dur="500" fill="hold"/>
                                        <p:tgtEl>
                                          <p:spTgt spid="22"/>
                                        </p:tgtEl>
                                        <p:attrNameLst>
                                          <p:attrName>ppt_y</p:attrName>
                                        </p:attrNameLst>
                                      </p:cBhvr>
                                      <p:tavLst>
                                        <p:tav tm="0">
                                          <p:val>
                                            <p:strVal val="0-#ppt_h/2"/>
                                          </p:val>
                                        </p:tav>
                                        <p:tav tm="100000">
                                          <p:val>
                                            <p:strVal val="#ppt_y"/>
                                          </p:val>
                                        </p:tav>
                                      </p:tavLst>
                                    </p:anim>
                                  </p:childTnLst>
                                </p:cTn>
                              </p:par>
                            </p:childTnLst>
                          </p:cTn>
                        </p:par>
                        <p:par>
                          <p:cTn id="23" fill="hold">
                            <p:stCondLst>
                              <p:cond delay="3150"/>
                            </p:stCondLst>
                            <p:childTnLst>
                              <p:par>
                                <p:cTn id="24" presetID="23" presetClass="entr" presetSubtype="16" fill="hold" nodeType="after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p:cTn id="26" dur="500" fill="hold"/>
                                        <p:tgtEl>
                                          <p:spTgt spid="26"/>
                                        </p:tgtEl>
                                        <p:attrNameLst>
                                          <p:attrName>ppt_w</p:attrName>
                                        </p:attrNameLst>
                                      </p:cBhvr>
                                      <p:tavLst>
                                        <p:tav tm="0">
                                          <p:val>
                                            <p:fltVal val="0"/>
                                          </p:val>
                                        </p:tav>
                                        <p:tav tm="100000">
                                          <p:val>
                                            <p:strVal val="#ppt_w"/>
                                          </p:val>
                                        </p:tav>
                                      </p:tavLst>
                                    </p:anim>
                                    <p:anim calcmode="lin" valueType="num">
                                      <p:cBhvr>
                                        <p:cTn id="27" dur="500" fill="hold"/>
                                        <p:tgtEl>
                                          <p:spTgt spid="26"/>
                                        </p:tgtEl>
                                        <p:attrNameLst>
                                          <p:attrName>ppt_h</p:attrName>
                                        </p:attrNameLst>
                                      </p:cBhvr>
                                      <p:tavLst>
                                        <p:tav tm="0">
                                          <p:val>
                                            <p:fltVal val="0"/>
                                          </p:val>
                                        </p:tav>
                                        <p:tav tm="100000">
                                          <p:val>
                                            <p:strVal val="#ppt_h"/>
                                          </p:val>
                                        </p:tav>
                                      </p:tavLst>
                                    </p:anim>
                                  </p:childTnLst>
                                </p:cTn>
                              </p:par>
                              <p:par>
                                <p:cTn id="28" presetID="23" presetClass="entr" presetSubtype="16" fill="hold" nodeType="withEffect">
                                  <p:stCondLst>
                                    <p:cond delay="80"/>
                                  </p:stCondLst>
                                  <p:childTnLst>
                                    <p:set>
                                      <p:cBhvr>
                                        <p:cTn id="29" dur="1" fill="hold">
                                          <p:stCondLst>
                                            <p:cond delay="0"/>
                                          </p:stCondLst>
                                        </p:cTn>
                                        <p:tgtEl>
                                          <p:spTgt spid="30"/>
                                        </p:tgtEl>
                                        <p:attrNameLst>
                                          <p:attrName>style.visibility</p:attrName>
                                        </p:attrNameLst>
                                      </p:cBhvr>
                                      <p:to>
                                        <p:strVal val="visible"/>
                                      </p:to>
                                    </p:set>
                                    <p:anim calcmode="lin" valueType="num">
                                      <p:cBhvr>
                                        <p:cTn id="30" dur="500" fill="hold"/>
                                        <p:tgtEl>
                                          <p:spTgt spid="30"/>
                                        </p:tgtEl>
                                        <p:attrNameLst>
                                          <p:attrName>ppt_w</p:attrName>
                                        </p:attrNameLst>
                                      </p:cBhvr>
                                      <p:tavLst>
                                        <p:tav tm="0">
                                          <p:val>
                                            <p:fltVal val="0"/>
                                          </p:val>
                                        </p:tav>
                                        <p:tav tm="100000">
                                          <p:val>
                                            <p:strVal val="#ppt_w"/>
                                          </p:val>
                                        </p:tav>
                                      </p:tavLst>
                                    </p:anim>
                                    <p:anim calcmode="lin" valueType="num">
                                      <p:cBhvr>
                                        <p:cTn id="31" dur="500" fill="hold"/>
                                        <p:tgtEl>
                                          <p:spTgt spid="30"/>
                                        </p:tgtEl>
                                        <p:attrNameLst>
                                          <p:attrName>ppt_h</p:attrName>
                                        </p:attrNameLst>
                                      </p:cBhvr>
                                      <p:tavLst>
                                        <p:tav tm="0">
                                          <p:val>
                                            <p:fltVal val="0"/>
                                          </p:val>
                                        </p:tav>
                                        <p:tav tm="100000">
                                          <p:val>
                                            <p:strVal val="#ppt_h"/>
                                          </p:val>
                                        </p:tav>
                                      </p:tavLst>
                                    </p:anim>
                                  </p:childTnLst>
                                </p:cTn>
                              </p:par>
                              <p:par>
                                <p:cTn id="32" presetID="23" presetClass="entr" presetSubtype="16" fill="hold" nodeType="withEffect">
                                  <p:stCondLst>
                                    <p:cond delay="160"/>
                                  </p:stCondLst>
                                  <p:childTnLst>
                                    <p:set>
                                      <p:cBhvr>
                                        <p:cTn id="33" dur="1" fill="hold">
                                          <p:stCondLst>
                                            <p:cond delay="0"/>
                                          </p:stCondLst>
                                        </p:cTn>
                                        <p:tgtEl>
                                          <p:spTgt spid="34"/>
                                        </p:tgtEl>
                                        <p:attrNameLst>
                                          <p:attrName>style.visibility</p:attrName>
                                        </p:attrNameLst>
                                      </p:cBhvr>
                                      <p:to>
                                        <p:strVal val="visible"/>
                                      </p:to>
                                    </p:set>
                                    <p:anim calcmode="lin" valueType="num">
                                      <p:cBhvr>
                                        <p:cTn id="34" dur="500" fill="hold"/>
                                        <p:tgtEl>
                                          <p:spTgt spid="34"/>
                                        </p:tgtEl>
                                        <p:attrNameLst>
                                          <p:attrName>ppt_w</p:attrName>
                                        </p:attrNameLst>
                                      </p:cBhvr>
                                      <p:tavLst>
                                        <p:tav tm="0">
                                          <p:val>
                                            <p:fltVal val="0"/>
                                          </p:val>
                                        </p:tav>
                                        <p:tav tm="100000">
                                          <p:val>
                                            <p:strVal val="#ppt_w"/>
                                          </p:val>
                                        </p:tav>
                                      </p:tavLst>
                                    </p:anim>
                                    <p:anim calcmode="lin" valueType="num">
                                      <p:cBhvr>
                                        <p:cTn id="35" dur="500" fill="hold"/>
                                        <p:tgtEl>
                                          <p:spTgt spid="34"/>
                                        </p:tgtEl>
                                        <p:attrNameLst>
                                          <p:attrName>ppt_h</p:attrName>
                                        </p:attrNameLst>
                                      </p:cBhvr>
                                      <p:tavLst>
                                        <p:tav tm="0">
                                          <p:val>
                                            <p:fltVal val="0"/>
                                          </p:val>
                                        </p:tav>
                                        <p:tav tm="100000">
                                          <p:val>
                                            <p:strVal val="#ppt_h"/>
                                          </p:val>
                                        </p:tav>
                                      </p:tavLst>
                                    </p:anim>
                                  </p:childTnLst>
                                </p:cTn>
                              </p:par>
                              <p:par>
                                <p:cTn id="36" presetID="23" presetClass="entr" presetSubtype="16" fill="hold" nodeType="withEffect">
                                  <p:stCondLst>
                                    <p:cond delay="240"/>
                                  </p:stCondLst>
                                  <p:childTnLst>
                                    <p:set>
                                      <p:cBhvr>
                                        <p:cTn id="37" dur="1" fill="hold">
                                          <p:stCondLst>
                                            <p:cond delay="0"/>
                                          </p:stCondLst>
                                        </p:cTn>
                                        <p:tgtEl>
                                          <p:spTgt spid="38"/>
                                        </p:tgtEl>
                                        <p:attrNameLst>
                                          <p:attrName>style.visibility</p:attrName>
                                        </p:attrNameLst>
                                      </p:cBhvr>
                                      <p:to>
                                        <p:strVal val="visible"/>
                                      </p:to>
                                    </p:set>
                                    <p:anim calcmode="lin" valueType="num">
                                      <p:cBhvr>
                                        <p:cTn id="38" dur="500" fill="hold"/>
                                        <p:tgtEl>
                                          <p:spTgt spid="38"/>
                                        </p:tgtEl>
                                        <p:attrNameLst>
                                          <p:attrName>ppt_w</p:attrName>
                                        </p:attrNameLst>
                                      </p:cBhvr>
                                      <p:tavLst>
                                        <p:tav tm="0">
                                          <p:val>
                                            <p:fltVal val="0"/>
                                          </p:val>
                                        </p:tav>
                                        <p:tav tm="100000">
                                          <p:val>
                                            <p:strVal val="#ppt_w"/>
                                          </p:val>
                                        </p:tav>
                                      </p:tavLst>
                                    </p:anim>
                                    <p:anim calcmode="lin" valueType="num">
                                      <p:cBhvr>
                                        <p:cTn id="39" dur="500" fill="hold"/>
                                        <p:tgtEl>
                                          <p:spTgt spid="38"/>
                                        </p:tgtEl>
                                        <p:attrNameLst>
                                          <p:attrName>ppt_h</p:attrName>
                                        </p:attrNameLst>
                                      </p:cBhvr>
                                      <p:tavLst>
                                        <p:tav tm="0">
                                          <p:val>
                                            <p:fltVal val="0"/>
                                          </p:val>
                                        </p:tav>
                                        <p:tav tm="100000">
                                          <p:val>
                                            <p:strVal val="#ppt_h"/>
                                          </p:val>
                                        </p:tav>
                                      </p:tavLst>
                                    </p:anim>
                                  </p:childTnLst>
                                </p:cTn>
                              </p:par>
                            </p:childTnLst>
                          </p:cTn>
                        </p:par>
                        <p:par>
                          <p:cTn id="40" fill="hold">
                            <p:stCondLst>
                              <p:cond delay="3890"/>
                            </p:stCondLst>
                            <p:childTnLst>
                              <p:par>
                                <p:cTn id="41" presetID="22" presetClass="entr" presetSubtype="8" fill="hold" nodeType="after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wipe(left)">
                                      <p:cBhvr>
                                        <p:cTn id="43" dur="500"/>
                                        <p:tgtEl>
                                          <p:spTgt spid="39"/>
                                        </p:tgtEl>
                                      </p:cBhvr>
                                    </p:animEffect>
                                  </p:childTnLst>
                                </p:cTn>
                              </p:par>
                            </p:childTnLst>
                          </p:cTn>
                        </p:par>
                        <p:par>
                          <p:cTn id="44" fill="hold">
                            <p:stCondLst>
                              <p:cond delay="4390"/>
                            </p:stCondLst>
                            <p:childTnLst>
                              <p:par>
                                <p:cTn id="45" presetID="2" presetClass="entr" presetSubtype="1" fill="hold" nodeType="afterEffect">
                                  <p:stCondLst>
                                    <p:cond delay="0"/>
                                  </p:stCondLst>
                                  <p:childTnLst>
                                    <p:set>
                                      <p:cBhvr>
                                        <p:cTn id="46" dur="1" fill="hold">
                                          <p:stCondLst>
                                            <p:cond delay="0"/>
                                          </p:stCondLst>
                                        </p:cTn>
                                        <p:tgtEl>
                                          <p:spTgt spid="42"/>
                                        </p:tgtEl>
                                        <p:attrNameLst>
                                          <p:attrName>style.visibility</p:attrName>
                                        </p:attrNameLst>
                                      </p:cBhvr>
                                      <p:to>
                                        <p:strVal val="visible"/>
                                      </p:to>
                                    </p:set>
                                    <p:anim calcmode="lin" valueType="num">
                                      <p:cBhvr additive="base">
                                        <p:cTn id="47" dur="500" fill="hold"/>
                                        <p:tgtEl>
                                          <p:spTgt spid="42"/>
                                        </p:tgtEl>
                                        <p:attrNameLst>
                                          <p:attrName>ppt_x</p:attrName>
                                        </p:attrNameLst>
                                      </p:cBhvr>
                                      <p:tavLst>
                                        <p:tav tm="0">
                                          <p:val>
                                            <p:strVal val="#ppt_x"/>
                                          </p:val>
                                        </p:tav>
                                        <p:tav tm="100000">
                                          <p:val>
                                            <p:strVal val="#ppt_x"/>
                                          </p:val>
                                        </p:tav>
                                      </p:tavLst>
                                    </p:anim>
                                    <p:anim calcmode="lin" valueType="num">
                                      <p:cBhvr additive="base">
                                        <p:cTn id="48" dur="500" fill="hold"/>
                                        <p:tgtEl>
                                          <p:spTgt spid="42"/>
                                        </p:tgtEl>
                                        <p:attrNameLst>
                                          <p:attrName>ppt_y</p:attrName>
                                        </p:attrNameLst>
                                      </p:cBhvr>
                                      <p:tavLst>
                                        <p:tav tm="0">
                                          <p:val>
                                            <p:strVal val="0-#ppt_h/2"/>
                                          </p:val>
                                        </p:tav>
                                        <p:tav tm="100000">
                                          <p:val>
                                            <p:strVal val="#ppt_y"/>
                                          </p:val>
                                        </p:tav>
                                      </p:tavLst>
                                    </p:anim>
                                  </p:childTnLst>
                                </p:cTn>
                              </p:par>
                            </p:childTnLst>
                          </p:cTn>
                        </p:par>
                        <p:par>
                          <p:cTn id="49" fill="hold">
                            <p:stCondLst>
                              <p:cond delay="4890"/>
                            </p:stCondLst>
                            <p:childTnLst>
                              <p:par>
                                <p:cTn id="50" presetID="2" presetClass="entr" presetSubtype="4" fill="hold" nodeType="afterEffect">
                                  <p:stCondLst>
                                    <p:cond delay="0"/>
                                  </p:stCondLst>
                                  <p:childTnLst>
                                    <p:set>
                                      <p:cBhvr>
                                        <p:cTn id="51" dur="1" fill="hold">
                                          <p:stCondLst>
                                            <p:cond delay="0"/>
                                          </p:stCondLst>
                                        </p:cTn>
                                        <p:tgtEl>
                                          <p:spTgt spid="46"/>
                                        </p:tgtEl>
                                        <p:attrNameLst>
                                          <p:attrName>style.visibility</p:attrName>
                                        </p:attrNameLst>
                                      </p:cBhvr>
                                      <p:to>
                                        <p:strVal val="visible"/>
                                      </p:to>
                                    </p:set>
                                    <p:anim calcmode="lin" valueType="num">
                                      <p:cBhvr additive="base">
                                        <p:cTn id="52" dur="500" fill="hold"/>
                                        <p:tgtEl>
                                          <p:spTgt spid="46"/>
                                        </p:tgtEl>
                                        <p:attrNameLst>
                                          <p:attrName>ppt_x</p:attrName>
                                        </p:attrNameLst>
                                      </p:cBhvr>
                                      <p:tavLst>
                                        <p:tav tm="0">
                                          <p:val>
                                            <p:strVal val="#ppt_x"/>
                                          </p:val>
                                        </p:tav>
                                        <p:tav tm="100000">
                                          <p:val>
                                            <p:strVal val="#ppt_x"/>
                                          </p:val>
                                        </p:tav>
                                      </p:tavLst>
                                    </p:anim>
                                    <p:anim calcmode="lin" valueType="num">
                                      <p:cBhvr additive="base">
                                        <p:cTn id="53" dur="500" fill="hold"/>
                                        <p:tgtEl>
                                          <p:spTgt spid="46"/>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80"/>
                                  </p:stCondLst>
                                  <p:childTnLst>
                                    <p:set>
                                      <p:cBhvr>
                                        <p:cTn id="55" dur="1" fill="hold">
                                          <p:stCondLst>
                                            <p:cond delay="0"/>
                                          </p:stCondLst>
                                        </p:cTn>
                                        <p:tgtEl>
                                          <p:spTgt spid="50"/>
                                        </p:tgtEl>
                                        <p:attrNameLst>
                                          <p:attrName>style.visibility</p:attrName>
                                        </p:attrNameLst>
                                      </p:cBhvr>
                                      <p:to>
                                        <p:strVal val="visible"/>
                                      </p:to>
                                    </p:set>
                                    <p:anim calcmode="lin" valueType="num">
                                      <p:cBhvr additive="base">
                                        <p:cTn id="56" dur="500" fill="hold"/>
                                        <p:tgtEl>
                                          <p:spTgt spid="50"/>
                                        </p:tgtEl>
                                        <p:attrNameLst>
                                          <p:attrName>ppt_x</p:attrName>
                                        </p:attrNameLst>
                                      </p:cBhvr>
                                      <p:tavLst>
                                        <p:tav tm="0">
                                          <p:val>
                                            <p:strVal val="#ppt_x"/>
                                          </p:val>
                                        </p:tav>
                                        <p:tav tm="100000">
                                          <p:val>
                                            <p:strVal val="#ppt_x"/>
                                          </p:val>
                                        </p:tav>
                                      </p:tavLst>
                                    </p:anim>
                                    <p:anim calcmode="lin" valueType="num">
                                      <p:cBhvr additive="base">
                                        <p:cTn id="57" dur="500" fill="hold"/>
                                        <p:tgtEl>
                                          <p:spTgt spid="50"/>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160"/>
                                  </p:stCondLst>
                                  <p:childTnLst>
                                    <p:set>
                                      <p:cBhvr>
                                        <p:cTn id="59" dur="1" fill="hold">
                                          <p:stCondLst>
                                            <p:cond delay="0"/>
                                          </p:stCondLst>
                                        </p:cTn>
                                        <p:tgtEl>
                                          <p:spTgt spid="54"/>
                                        </p:tgtEl>
                                        <p:attrNameLst>
                                          <p:attrName>style.visibility</p:attrName>
                                        </p:attrNameLst>
                                      </p:cBhvr>
                                      <p:to>
                                        <p:strVal val="visible"/>
                                      </p:to>
                                    </p:set>
                                    <p:anim calcmode="lin" valueType="num">
                                      <p:cBhvr additive="base">
                                        <p:cTn id="60" dur="500" fill="hold"/>
                                        <p:tgtEl>
                                          <p:spTgt spid="54"/>
                                        </p:tgtEl>
                                        <p:attrNameLst>
                                          <p:attrName>ppt_x</p:attrName>
                                        </p:attrNameLst>
                                      </p:cBhvr>
                                      <p:tavLst>
                                        <p:tav tm="0">
                                          <p:val>
                                            <p:strVal val="#ppt_x"/>
                                          </p:val>
                                        </p:tav>
                                        <p:tav tm="100000">
                                          <p:val>
                                            <p:strVal val="#ppt_x"/>
                                          </p:val>
                                        </p:tav>
                                      </p:tavLst>
                                    </p:anim>
                                    <p:anim calcmode="lin" valueType="num">
                                      <p:cBhvr additive="base">
                                        <p:cTn id="61" dur="500" fill="hold"/>
                                        <p:tgtEl>
                                          <p:spTgt spid="54"/>
                                        </p:tgtEl>
                                        <p:attrNameLst>
                                          <p:attrName>ppt_y</p:attrName>
                                        </p:attrNameLst>
                                      </p:cBhvr>
                                      <p:tavLst>
                                        <p:tav tm="0">
                                          <p:val>
                                            <p:strVal val="1+#ppt_h/2"/>
                                          </p:val>
                                        </p:tav>
                                        <p:tav tm="100000">
                                          <p:val>
                                            <p:strVal val="#ppt_y"/>
                                          </p:val>
                                        </p:tav>
                                      </p:tavLst>
                                    </p:anim>
                                  </p:childTnLst>
                                </p:cTn>
                              </p:par>
                            </p:childTnLst>
                          </p:cTn>
                        </p:par>
                        <p:par>
                          <p:cTn id="62" fill="hold">
                            <p:stCondLst>
                              <p:cond delay="5550"/>
                            </p:stCondLst>
                            <p:childTnLst>
                              <p:par>
                                <p:cTn id="63" presetID="22" presetClass="entr" presetSubtype="8" fill="hold" nodeType="afterEffect">
                                  <p:stCondLst>
                                    <p:cond delay="0"/>
                                  </p:stCondLst>
                                  <p:childTnLst>
                                    <p:set>
                                      <p:cBhvr>
                                        <p:cTn id="64" dur="1" fill="hold">
                                          <p:stCondLst>
                                            <p:cond delay="0"/>
                                          </p:stCondLst>
                                        </p:cTn>
                                        <p:tgtEl>
                                          <p:spTgt spid="55"/>
                                        </p:tgtEl>
                                        <p:attrNameLst>
                                          <p:attrName>style.visibility</p:attrName>
                                        </p:attrNameLst>
                                      </p:cBhvr>
                                      <p:to>
                                        <p:strVal val="visible"/>
                                      </p:to>
                                    </p:set>
                                    <p:animEffect transition="in" filter="wipe(left)">
                                      <p:cBhvr>
                                        <p:cTn id="65" dur="500"/>
                                        <p:tgtEl>
                                          <p:spTgt spid="55"/>
                                        </p:tgtEl>
                                      </p:cBhvr>
                                    </p:animEffect>
                                  </p:childTnLst>
                                </p:cTn>
                              </p:par>
                            </p:childTnLst>
                          </p:cTn>
                        </p:par>
                        <p:par>
                          <p:cTn id="66" fill="hold">
                            <p:stCondLst>
                              <p:cond delay="6050"/>
                            </p:stCondLst>
                            <p:childTnLst>
                              <p:par>
                                <p:cTn id="67" presetID="2" presetClass="entr" presetSubtype="1" fill="hold" nodeType="afterEffect">
                                  <p:stCondLst>
                                    <p:cond delay="0"/>
                                  </p:stCondLst>
                                  <p:childTnLst>
                                    <p:set>
                                      <p:cBhvr>
                                        <p:cTn id="68" dur="1" fill="hold">
                                          <p:stCondLst>
                                            <p:cond delay="0"/>
                                          </p:stCondLst>
                                        </p:cTn>
                                        <p:tgtEl>
                                          <p:spTgt spid="58"/>
                                        </p:tgtEl>
                                        <p:attrNameLst>
                                          <p:attrName>style.visibility</p:attrName>
                                        </p:attrNameLst>
                                      </p:cBhvr>
                                      <p:to>
                                        <p:strVal val="visible"/>
                                      </p:to>
                                    </p:set>
                                    <p:anim calcmode="lin" valueType="num">
                                      <p:cBhvr additive="base">
                                        <p:cTn id="69" dur="500" fill="hold"/>
                                        <p:tgtEl>
                                          <p:spTgt spid="58"/>
                                        </p:tgtEl>
                                        <p:attrNameLst>
                                          <p:attrName>ppt_x</p:attrName>
                                        </p:attrNameLst>
                                      </p:cBhvr>
                                      <p:tavLst>
                                        <p:tav tm="0">
                                          <p:val>
                                            <p:strVal val="#ppt_x"/>
                                          </p:val>
                                        </p:tav>
                                        <p:tav tm="100000">
                                          <p:val>
                                            <p:strVal val="#ppt_x"/>
                                          </p:val>
                                        </p:tav>
                                      </p:tavLst>
                                    </p:anim>
                                    <p:anim calcmode="lin" valueType="num">
                                      <p:cBhvr additive="base">
                                        <p:cTn id="70" dur="500" fill="hold"/>
                                        <p:tgtEl>
                                          <p:spTgt spid="58"/>
                                        </p:tgtEl>
                                        <p:attrNameLst>
                                          <p:attrName>ppt_y</p:attrName>
                                        </p:attrNameLst>
                                      </p:cBhvr>
                                      <p:tavLst>
                                        <p:tav tm="0">
                                          <p:val>
                                            <p:strVal val="0-#ppt_h/2"/>
                                          </p:val>
                                        </p:tav>
                                        <p:tav tm="100000">
                                          <p:val>
                                            <p:strVal val="#ppt_y"/>
                                          </p:val>
                                        </p:tav>
                                      </p:tavLst>
                                    </p:anim>
                                  </p:childTnLst>
                                </p:cTn>
                              </p:par>
                            </p:childTnLst>
                          </p:cTn>
                        </p:par>
                        <p:par>
                          <p:cTn id="71" fill="hold">
                            <p:stCondLst>
                              <p:cond delay="6550"/>
                            </p:stCondLst>
                            <p:childTnLst>
                              <p:par>
                                <p:cTn id="72" presetID="2" presetClass="entr" presetSubtype="4" fill="hold" nodeType="afterEffect">
                                  <p:stCondLst>
                                    <p:cond delay="0"/>
                                  </p:stCondLst>
                                  <p:childTnLst>
                                    <p:set>
                                      <p:cBhvr>
                                        <p:cTn id="73" dur="1" fill="hold">
                                          <p:stCondLst>
                                            <p:cond delay="0"/>
                                          </p:stCondLst>
                                        </p:cTn>
                                        <p:tgtEl>
                                          <p:spTgt spid="62"/>
                                        </p:tgtEl>
                                        <p:attrNameLst>
                                          <p:attrName>style.visibility</p:attrName>
                                        </p:attrNameLst>
                                      </p:cBhvr>
                                      <p:to>
                                        <p:strVal val="visible"/>
                                      </p:to>
                                    </p:set>
                                    <p:anim calcmode="lin" valueType="num">
                                      <p:cBhvr additive="base">
                                        <p:cTn id="74" dur="500" fill="hold"/>
                                        <p:tgtEl>
                                          <p:spTgt spid="62"/>
                                        </p:tgtEl>
                                        <p:attrNameLst>
                                          <p:attrName>ppt_x</p:attrName>
                                        </p:attrNameLst>
                                      </p:cBhvr>
                                      <p:tavLst>
                                        <p:tav tm="0">
                                          <p:val>
                                            <p:strVal val="#ppt_x"/>
                                          </p:val>
                                        </p:tav>
                                        <p:tav tm="100000">
                                          <p:val>
                                            <p:strVal val="#ppt_x"/>
                                          </p:val>
                                        </p:tav>
                                      </p:tavLst>
                                    </p:anim>
                                    <p:anim calcmode="lin" valueType="num">
                                      <p:cBhvr additive="base">
                                        <p:cTn id="75" dur="500" fill="hold"/>
                                        <p:tgtEl>
                                          <p:spTgt spid="62"/>
                                        </p:tgtEl>
                                        <p:attrNameLst>
                                          <p:attrName>ppt_y</p:attrName>
                                        </p:attrNameLst>
                                      </p:cBhvr>
                                      <p:tavLst>
                                        <p:tav tm="0">
                                          <p:val>
                                            <p:strVal val="1+#ppt_h/2"/>
                                          </p:val>
                                        </p:tav>
                                        <p:tav tm="100000">
                                          <p:val>
                                            <p:strVal val="#ppt_y"/>
                                          </p:val>
                                        </p:tav>
                                      </p:tavLst>
                                    </p:anim>
                                  </p:childTnLst>
                                </p:cTn>
                              </p:par>
                            </p:childTnLst>
                          </p:cTn>
                        </p:par>
                        <p:par>
                          <p:cTn id="76" fill="hold">
                            <p:stCondLst>
                              <p:cond delay="7050"/>
                            </p:stCondLst>
                            <p:childTnLst>
                              <p:par>
                                <p:cTn id="77" presetID="22" presetClass="entr" presetSubtype="8" fill="hold" nodeType="afterEffect">
                                  <p:stCondLst>
                                    <p:cond delay="0"/>
                                  </p:stCondLst>
                                  <p:childTnLst>
                                    <p:set>
                                      <p:cBhvr>
                                        <p:cTn id="78" dur="1" fill="hold">
                                          <p:stCondLst>
                                            <p:cond delay="0"/>
                                          </p:stCondLst>
                                        </p:cTn>
                                        <p:tgtEl>
                                          <p:spTgt spid="63"/>
                                        </p:tgtEl>
                                        <p:attrNameLst>
                                          <p:attrName>style.visibility</p:attrName>
                                        </p:attrNameLst>
                                      </p:cBhvr>
                                      <p:to>
                                        <p:strVal val="visible"/>
                                      </p:to>
                                    </p:set>
                                    <p:animEffect transition="in" filter="wipe(left)">
                                      <p:cBhvr>
                                        <p:cTn id="79" dur="500"/>
                                        <p:tgtEl>
                                          <p:spTgt spid="63"/>
                                        </p:tgtEl>
                                      </p:cBhvr>
                                    </p:animEffect>
                                  </p:childTnLst>
                                </p:cTn>
                              </p:par>
                            </p:childTnLst>
                          </p:cTn>
                        </p:par>
                        <p:par>
                          <p:cTn id="80" fill="hold">
                            <p:stCondLst>
                              <p:cond delay="7550"/>
                            </p:stCondLst>
                            <p:childTnLst>
                              <p:par>
                                <p:cTn id="81" presetID="2" presetClass="entr" presetSubtype="1" fill="hold" nodeType="afterEffect">
                                  <p:stCondLst>
                                    <p:cond delay="0"/>
                                  </p:stCondLst>
                                  <p:childTnLst>
                                    <p:set>
                                      <p:cBhvr>
                                        <p:cTn id="82" dur="1" fill="hold">
                                          <p:stCondLst>
                                            <p:cond delay="0"/>
                                          </p:stCondLst>
                                        </p:cTn>
                                        <p:tgtEl>
                                          <p:spTgt spid="66"/>
                                        </p:tgtEl>
                                        <p:attrNameLst>
                                          <p:attrName>style.visibility</p:attrName>
                                        </p:attrNameLst>
                                      </p:cBhvr>
                                      <p:to>
                                        <p:strVal val="visible"/>
                                      </p:to>
                                    </p:set>
                                    <p:anim calcmode="lin" valueType="num">
                                      <p:cBhvr additive="base">
                                        <p:cTn id="83" dur="500" fill="hold"/>
                                        <p:tgtEl>
                                          <p:spTgt spid="66"/>
                                        </p:tgtEl>
                                        <p:attrNameLst>
                                          <p:attrName>ppt_x</p:attrName>
                                        </p:attrNameLst>
                                      </p:cBhvr>
                                      <p:tavLst>
                                        <p:tav tm="0">
                                          <p:val>
                                            <p:strVal val="#ppt_x"/>
                                          </p:val>
                                        </p:tav>
                                        <p:tav tm="100000">
                                          <p:val>
                                            <p:strVal val="#ppt_x"/>
                                          </p:val>
                                        </p:tav>
                                      </p:tavLst>
                                    </p:anim>
                                    <p:anim calcmode="lin" valueType="num">
                                      <p:cBhvr additive="base">
                                        <p:cTn id="84" dur="500" fill="hold"/>
                                        <p:tgtEl>
                                          <p:spTgt spid="66"/>
                                        </p:tgtEl>
                                        <p:attrNameLst>
                                          <p:attrName>ppt_y</p:attrName>
                                        </p:attrNameLst>
                                      </p:cBhvr>
                                      <p:tavLst>
                                        <p:tav tm="0">
                                          <p:val>
                                            <p:strVal val="0-#ppt_h/2"/>
                                          </p:val>
                                        </p:tav>
                                        <p:tav tm="100000">
                                          <p:val>
                                            <p:strVal val="#ppt_y"/>
                                          </p:val>
                                        </p:tav>
                                      </p:tavLst>
                                    </p:anim>
                                  </p:childTnLst>
                                </p:cTn>
                              </p:par>
                            </p:childTnLst>
                          </p:cTn>
                        </p:par>
                        <p:par>
                          <p:cTn id="85" fill="hold">
                            <p:stCondLst>
                              <p:cond delay="8050"/>
                            </p:stCondLst>
                            <p:childTnLst>
                              <p:par>
                                <p:cTn id="86" presetID="2" presetClass="entr" presetSubtype="4" fill="hold" nodeType="afterEffect">
                                  <p:stCondLst>
                                    <p:cond delay="0"/>
                                  </p:stCondLst>
                                  <p:childTnLst>
                                    <p:set>
                                      <p:cBhvr>
                                        <p:cTn id="87" dur="1" fill="hold">
                                          <p:stCondLst>
                                            <p:cond delay="0"/>
                                          </p:stCondLst>
                                        </p:cTn>
                                        <p:tgtEl>
                                          <p:spTgt spid="70"/>
                                        </p:tgtEl>
                                        <p:attrNameLst>
                                          <p:attrName>style.visibility</p:attrName>
                                        </p:attrNameLst>
                                      </p:cBhvr>
                                      <p:to>
                                        <p:strVal val="visible"/>
                                      </p:to>
                                    </p:set>
                                    <p:anim calcmode="lin" valueType="num">
                                      <p:cBhvr additive="base">
                                        <p:cTn id="88" dur="500" fill="hold"/>
                                        <p:tgtEl>
                                          <p:spTgt spid="70"/>
                                        </p:tgtEl>
                                        <p:attrNameLst>
                                          <p:attrName>ppt_x</p:attrName>
                                        </p:attrNameLst>
                                      </p:cBhvr>
                                      <p:tavLst>
                                        <p:tav tm="0">
                                          <p:val>
                                            <p:strVal val="#ppt_x"/>
                                          </p:val>
                                        </p:tav>
                                        <p:tav tm="100000">
                                          <p:val>
                                            <p:strVal val="#ppt_x"/>
                                          </p:val>
                                        </p:tav>
                                      </p:tavLst>
                                    </p:anim>
                                    <p:anim calcmode="lin" valueType="num">
                                      <p:cBhvr additive="base">
                                        <p:cTn id="89" dur="500" fill="hold"/>
                                        <p:tgtEl>
                                          <p:spTgt spid="70"/>
                                        </p:tgtEl>
                                        <p:attrNameLst>
                                          <p:attrName>ppt_y</p:attrName>
                                        </p:attrNameLst>
                                      </p:cBhvr>
                                      <p:tavLst>
                                        <p:tav tm="0">
                                          <p:val>
                                            <p:strVal val="1+#ppt_h/2"/>
                                          </p:val>
                                        </p:tav>
                                        <p:tav tm="100000">
                                          <p:val>
                                            <p:strVal val="#ppt_y"/>
                                          </p:val>
                                        </p:tav>
                                      </p:tavLst>
                                    </p:anim>
                                  </p:childTnLst>
                                </p:cTn>
                              </p:par>
                            </p:childTnLst>
                          </p:cTn>
                        </p:par>
                        <p:par>
                          <p:cTn id="90" fill="hold">
                            <p:stCondLst>
                              <p:cond delay="8550"/>
                            </p:stCondLst>
                            <p:childTnLst>
                              <p:par>
                                <p:cTn id="91" presetID="22" presetClass="entr" presetSubtype="8" fill="hold" grpId="0" nodeType="afterEffect">
                                  <p:stCondLst>
                                    <p:cond delay="0"/>
                                  </p:stCondLst>
                                  <p:childTnLst>
                                    <p:set>
                                      <p:cBhvr>
                                        <p:cTn id="92" dur="1" fill="hold">
                                          <p:stCondLst>
                                            <p:cond delay="0"/>
                                          </p:stCondLst>
                                        </p:cTn>
                                        <p:tgtEl>
                                          <p:spTgt spid="71"/>
                                        </p:tgtEl>
                                        <p:attrNameLst>
                                          <p:attrName>style.visibility</p:attrName>
                                        </p:attrNameLst>
                                      </p:cBhvr>
                                      <p:to>
                                        <p:strVal val="visible"/>
                                      </p:to>
                                    </p:set>
                                    <p:animEffect transition="in" filter="wipe(left)">
                                      <p:cBhvr>
                                        <p:cTn id="93" dur="500"/>
                                        <p:tgtEl>
                                          <p:spTgt spid="71"/>
                                        </p:tgtEl>
                                      </p:cBhvr>
                                    </p:animEffect>
                                  </p:childTnLst>
                                </p:cTn>
                              </p:par>
                            </p:childTnLst>
                          </p:cTn>
                        </p:par>
                        <p:par>
                          <p:cTn id="94" fill="hold">
                            <p:stCondLst>
                              <p:cond delay="9050"/>
                            </p:stCondLst>
                            <p:childTnLst>
                              <p:par>
                                <p:cTn id="95" presetID="10" presetClass="entr" presetSubtype="0" fill="hold" grpId="0" nodeType="afterEffect">
                                  <p:stCondLst>
                                    <p:cond delay="0"/>
                                  </p:stCondLst>
                                  <p:iterate type="wd">
                                    <p:tmPct val="10000"/>
                                  </p:iterate>
                                  <p:childTnLst>
                                    <p:set>
                                      <p:cBhvr>
                                        <p:cTn id="96" dur="1" fill="hold">
                                          <p:stCondLst>
                                            <p:cond delay="0"/>
                                          </p:stCondLst>
                                        </p:cTn>
                                        <p:tgtEl>
                                          <p:spTgt spid="72"/>
                                        </p:tgtEl>
                                        <p:attrNameLst>
                                          <p:attrName>style.visibility</p:attrName>
                                        </p:attrNameLst>
                                      </p:cBhvr>
                                      <p:to>
                                        <p:strVal val="visible"/>
                                      </p:to>
                                    </p:set>
                                    <p:animEffect transition="in" filter="fade">
                                      <p:cBhvr>
                                        <p:cTn id="97" dur="6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71" grpId="0" animBg="1"/>
      <p:bldP spid="7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966960" y="-1463040"/>
            <a:ext cx="3017520" cy="301752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510113" y="-919886"/>
            <a:ext cx="1931212" cy="1931212"/>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3383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06</a:t>
            </a:r>
          </a:p>
        </p:txBody>
      </p:sp>
      <p:sp>
        <p:nvSpPr>
          <p:cNvPr id="12" name="!!rail7"/>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465429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151"/>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06  ·  METHODS AND MATERIALS USED  ·  3 OF 6</a:t>
            </a:r>
          </a:p>
        </p:txBody>
      </p:sp>
      <p:sp>
        <p:nvSpPr>
          <p:cNvPr id="15" name="Title 152"/>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Methods and materials used</a:t>
            </a:r>
          </a:p>
        </p:txBody>
      </p:sp>
      <p:sp>
        <p:nvSpPr>
          <p:cNvPr id="16" name="Subtitle 153"/>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Materials: hardware, software, libraries, services and data</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§3.6 Materials; Appendix C.3</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10 / 20</a:t>
            </a:r>
          </a:p>
        </p:txBody>
      </p:sp>
      <p:grpSp>
        <p:nvGrpSpPr>
          <p:cNvPr id="25" name="Card 154"/>
          <p:cNvGrpSpPr/>
          <p:nvPr/>
        </p:nvGrpSpPr>
        <p:grpSpPr>
          <a:xfrm>
            <a:off x="1417320" y="1828800"/>
            <a:ext cx="4975707" cy="1847088"/>
            <a:chOff x="1417320" y="1828800"/>
            <a:chExt cx="4975707" cy="1847088"/>
          </a:xfrm>
        </p:grpSpPr>
        <p:sp>
          <p:nvSpPr>
            <p:cNvPr id="20" name="Card bg"/>
            <p:cNvSpPr/>
            <p:nvPr/>
          </p:nvSpPr>
          <p:spPr>
            <a:xfrm>
              <a:off x="1417320" y="1828800"/>
              <a:ext cx="4975707" cy="1847088"/>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Card accent"/>
            <p:cNvSpPr/>
            <p:nvPr/>
          </p:nvSpPr>
          <p:spPr>
            <a:xfrm>
              <a:off x="1417320" y="1828800"/>
              <a:ext cx="4975707"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Card label"/>
            <p:cNvSpPr txBox="1"/>
            <p:nvPr/>
          </p:nvSpPr>
          <p:spPr>
            <a:xfrm>
              <a:off x="1618488" y="2011680"/>
              <a:ext cx="4573371" cy="274320"/>
            </a:xfrm>
            <a:prstGeom prst="rect">
              <a:avLst/>
            </a:prstGeom>
            <a:noFill/>
          </p:spPr>
          <p:txBody>
            <a:bodyPr wrap="square" lIns="36576" tIns="36576" rIns="36576" bIns="36576" anchor="t">
              <a:spAutoFit/>
            </a:bodyPr>
            <a:lstStyle/>
            <a:p>
              <a:pPr algn="l">
                <a:lnSpc>
                  <a:spcPct val="108000"/>
                </a:lnSpc>
              </a:pPr>
              <a:r>
                <a:rPr sz="1050" b="1" i="0">
                  <a:solidFill>
                    <a:srgbClr val="C77A1E"/>
                  </a:solidFill>
                  <a:latin typeface="Consolas"/>
                </a:rPr>
                <a:t>SOFTWARE</a:t>
              </a:r>
            </a:p>
          </p:txBody>
        </p:sp>
        <p:sp>
          <p:nvSpPr>
            <p:cNvPr id="23" name="Card title"/>
            <p:cNvSpPr txBox="1"/>
            <p:nvPr/>
          </p:nvSpPr>
          <p:spPr>
            <a:xfrm>
              <a:off x="1618488" y="2304288"/>
              <a:ext cx="4573371" cy="335089"/>
            </a:xfrm>
            <a:prstGeom prst="rect">
              <a:avLst/>
            </a:prstGeom>
            <a:noFill/>
          </p:spPr>
          <p:txBody>
            <a:bodyPr wrap="square" lIns="36576" tIns="36576" rIns="36576" bIns="36576" anchor="t">
              <a:spAutoFit/>
            </a:bodyPr>
            <a:lstStyle/>
            <a:p>
              <a:pPr algn="l">
                <a:lnSpc>
                  <a:spcPct val="108000"/>
                </a:lnSpc>
              </a:pPr>
              <a:r>
                <a:rPr sz="1650" b="1" i="0">
                  <a:solidFill>
                    <a:srgbClr val="1F1A1B"/>
                  </a:solidFill>
                  <a:latin typeface="Bahnschrift"/>
                </a:rPr>
                <a:t>Tauri 2 / Rust desktop</a:t>
              </a:r>
            </a:p>
          </p:txBody>
        </p:sp>
        <p:sp>
          <p:nvSpPr>
            <p:cNvPr id="24" name="Card body"/>
            <p:cNvSpPr txBox="1"/>
            <p:nvPr/>
          </p:nvSpPr>
          <p:spPr>
            <a:xfrm>
              <a:off x="1618488" y="2639377"/>
              <a:ext cx="4573371" cy="926782"/>
            </a:xfrm>
            <a:prstGeom prst="rect">
              <a:avLst/>
            </a:prstGeom>
            <a:noFill/>
          </p:spPr>
          <p:txBody>
            <a:bodyPr wrap="square" lIns="36576" tIns="36576" rIns="36576" bIns="36576" anchor="t">
              <a:spAutoFit/>
            </a:bodyPr>
            <a:lstStyle/>
            <a:p>
              <a:pPr algn="l">
                <a:lnSpc>
                  <a:spcPct val="105000"/>
                </a:lnSpc>
              </a:pPr>
              <a:r>
                <a:rPr sz="1350" b="0" i="0">
                  <a:solidFill>
                    <a:srgbClr val="4A4244"/>
                  </a:solidFill>
                  <a:latin typeface="Calibri"/>
                </a:rPr>
                <a:t>Node.js 24 + Express 4 backend · Python FastAPI on Hugging Face Spaces · React Native 0.81.5 / Expo 54 companion · Rust core, CLI and MCP adapter</a:t>
              </a:r>
            </a:p>
          </p:txBody>
        </p:sp>
      </p:grpSp>
      <p:grpSp>
        <p:nvGrpSpPr>
          <p:cNvPr id="31" name="Card 155"/>
          <p:cNvGrpSpPr/>
          <p:nvPr/>
        </p:nvGrpSpPr>
        <p:grpSpPr>
          <a:xfrm>
            <a:off x="6667347" y="1828800"/>
            <a:ext cx="4975707" cy="1847088"/>
            <a:chOff x="6667347" y="1828800"/>
            <a:chExt cx="4975707" cy="1847088"/>
          </a:xfrm>
        </p:grpSpPr>
        <p:sp>
          <p:nvSpPr>
            <p:cNvPr id="26" name="Card bg"/>
            <p:cNvSpPr/>
            <p:nvPr/>
          </p:nvSpPr>
          <p:spPr>
            <a:xfrm>
              <a:off x="6667347" y="1828800"/>
              <a:ext cx="4975707" cy="1847088"/>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Card accent"/>
            <p:cNvSpPr/>
            <p:nvPr/>
          </p:nvSpPr>
          <p:spPr>
            <a:xfrm>
              <a:off x="6667347" y="1828800"/>
              <a:ext cx="4975707"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Card label"/>
            <p:cNvSpPr txBox="1"/>
            <p:nvPr/>
          </p:nvSpPr>
          <p:spPr>
            <a:xfrm>
              <a:off x="6868515" y="2011680"/>
              <a:ext cx="4573371" cy="274320"/>
            </a:xfrm>
            <a:prstGeom prst="rect">
              <a:avLst/>
            </a:prstGeom>
            <a:noFill/>
          </p:spPr>
          <p:txBody>
            <a:bodyPr wrap="square" lIns="36576" tIns="36576" rIns="36576" bIns="36576" anchor="t">
              <a:spAutoFit/>
            </a:bodyPr>
            <a:lstStyle/>
            <a:p>
              <a:pPr algn="l">
                <a:lnSpc>
                  <a:spcPct val="108000"/>
                </a:lnSpc>
              </a:pPr>
              <a:r>
                <a:rPr sz="1050" b="1" i="0">
                  <a:solidFill>
                    <a:srgbClr val="5E7257"/>
                  </a:solidFill>
                  <a:latin typeface="Consolas"/>
                </a:rPr>
                <a:t>KEY LIBRARIES</a:t>
              </a:r>
            </a:p>
          </p:txBody>
        </p:sp>
        <p:sp>
          <p:nvSpPr>
            <p:cNvPr id="29" name="Card title"/>
            <p:cNvSpPr txBox="1"/>
            <p:nvPr/>
          </p:nvSpPr>
          <p:spPr>
            <a:xfrm>
              <a:off x="6868515" y="2304288"/>
              <a:ext cx="4573371" cy="335089"/>
            </a:xfrm>
            <a:prstGeom prst="rect">
              <a:avLst/>
            </a:prstGeom>
            <a:noFill/>
          </p:spPr>
          <p:txBody>
            <a:bodyPr wrap="square" lIns="36576" tIns="36576" rIns="36576" bIns="36576" anchor="t">
              <a:spAutoFit/>
            </a:bodyPr>
            <a:lstStyle/>
            <a:p>
              <a:pPr algn="l">
                <a:lnSpc>
                  <a:spcPct val="108000"/>
                </a:lnSpc>
              </a:pPr>
              <a:r>
                <a:rPr sz="1650" b="1" i="0">
                  <a:solidFill>
                    <a:srgbClr val="1F1A1B"/>
                  </a:solidFill>
                  <a:latin typeface="Bahnschrift"/>
                </a:rPr>
                <a:t>transformers 4.40+</a:t>
              </a:r>
            </a:p>
          </p:txBody>
        </p:sp>
        <p:sp>
          <p:nvSpPr>
            <p:cNvPr id="30" name="Card body"/>
            <p:cNvSpPr txBox="1"/>
            <p:nvPr/>
          </p:nvSpPr>
          <p:spPr>
            <a:xfrm>
              <a:off x="6868515" y="2639377"/>
              <a:ext cx="4573371" cy="926782"/>
            </a:xfrm>
            <a:prstGeom prst="rect">
              <a:avLst/>
            </a:prstGeom>
            <a:noFill/>
          </p:spPr>
          <p:txBody>
            <a:bodyPr wrap="square" lIns="36576" tIns="36576" rIns="36576" bIns="36576" anchor="t">
              <a:spAutoFit/>
            </a:bodyPr>
            <a:lstStyle/>
            <a:p>
              <a:pPr algn="l">
                <a:lnSpc>
                  <a:spcPct val="105000"/>
                </a:lnSpc>
              </a:pPr>
              <a:r>
                <a:rPr sz="1350" b="0" i="0">
                  <a:solidFill>
                    <a:srgbClr val="4A4244"/>
                  </a:solidFill>
                  <a:latin typeface="Calibri"/>
                </a:rPr>
                <a:t>scikit-learn 1.8.0 · torch 2.2+ · llama-cpp-python 0.3.36 · huggingface_hub · pandas, NumPy, joblib · axios · node-appwrite · redis</a:t>
              </a:r>
            </a:p>
          </p:txBody>
        </p:sp>
      </p:grpSp>
      <p:grpSp>
        <p:nvGrpSpPr>
          <p:cNvPr id="37" name="Card 156"/>
          <p:cNvGrpSpPr/>
          <p:nvPr/>
        </p:nvGrpSpPr>
        <p:grpSpPr>
          <a:xfrm>
            <a:off x="1417320" y="3767328"/>
            <a:ext cx="4975707" cy="1847088"/>
            <a:chOff x="1417320" y="3767328"/>
            <a:chExt cx="4975707" cy="1847088"/>
          </a:xfrm>
        </p:grpSpPr>
        <p:sp>
          <p:nvSpPr>
            <p:cNvPr id="32" name="Card bg"/>
            <p:cNvSpPr/>
            <p:nvPr/>
          </p:nvSpPr>
          <p:spPr>
            <a:xfrm>
              <a:off x="1417320" y="3767328"/>
              <a:ext cx="4975707" cy="1847088"/>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Card accent"/>
            <p:cNvSpPr/>
            <p:nvPr/>
          </p:nvSpPr>
          <p:spPr>
            <a:xfrm>
              <a:off x="1417320" y="3767328"/>
              <a:ext cx="4975707"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Card label"/>
            <p:cNvSpPr txBox="1"/>
            <p:nvPr/>
          </p:nvSpPr>
          <p:spPr>
            <a:xfrm>
              <a:off x="1618488" y="3950208"/>
              <a:ext cx="4573371" cy="274320"/>
            </a:xfrm>
            <a:prstGeom prst="rect">
              <a:avLst/>
            </a:prstGeom>
            <a:noFill/>
          </p:spPr>
          <p:txBody>
            <a:bodyPr wrap="square" lIns="36576" tIns="36576" rIns="36576" bIns="36576" anchor="t">
              <a:spAutoFit/>
            </a:bodyPr>
            <a:lstStyle/>
            <a:p>
              <a:pPr algn="l">
                <a:lnSpc>
                  <a:spcPct val="108000"/>
                </a:lnSpc>
              </a:pPr>
              <a:r>
                <a:rPr sz="1050" b="1" i="0">
                  <a:solidFill>
                    <a:srgbClr val="5E7257"/>
                  </a:solidFill>
                  <a:latin typeface="Consolas"/>
                </a:rPr>
                <a:t>SERVICES</a:t>
              </a:r>
            </a:p>
          </p:txBody>
        </p:sp>
        <p:sp>
          <p:nvSpPr>
            <p:cNvPr id="35" name="Card title"/>
            <p:cNvSpPr txBox="1"/>
            <p:nvPr/>
          </p:nvSpPr>
          <p:spPr>
            <a:xfrm>
              <a:off x="1618488" y="4242816"/>
              <a:ext cx="4573371" cy="597026"/>
            </a:xfrm>
            <a:prstGeom prst="rect">
              <a:avLst/>
            </a:prstGeom>
            <a:noFill/>
          </p:spPr>
          <p:txBody>
            <a:bodyPr wrap="square" lIns="36576" tIns="36576" rIns="36576" bIns="36576" anchor="t">
              <a:spAutoFit/>
            </a:bodyPr>
            <a:lstStyle/>
            <a:p>
              <a:pPr algn="l">
                <a:lnSpc>
                  <a:spcPct val="108000"/>
                </a:lnSpc>
              </a:pPr>
              <a:r>
                <a:rPr sz="1650" b="1" i="0">
                  <a:solidFill>
                    <a:srgbClr val="1F1A1B"/>
                  </a:solidFill>
                  <a:latin typeface="Bahnschrift"/>
                </a:rPr>
                <a:t>Hugging Face Spaces (inference, owner-run training)</a:t>
              </a:r>
            </a:p>
          </p:txBody>
        </p:sp>
        <p:sp>
          <p:nvSpPr>
            <p:cNvPr id="36" name="Card body"/>
            <p:cNvSpPr txBox="1"/>
            <p:nvPr/>
          </p:nvSpPr>
          <p:spPr>
            <a:xfrm>
              <a:off x="1618488" y="4839843"/>
              <a:ext cx="4573371" cy="664844"/>
            </a:xfrm>
            <a:prstGeom prst="rect">
              <a:avLst/>
            </a:prstGeom>
            <a:noFill/>
          </p:spPr>
          <p:txBody>
            <a:bodyPr wrap="square" lIns="36576" tIns="36576" rIns="36576" bIns="36576" anchor="t">
              <a:spAutoFit/>
            </a:bodyPr>
            <a:lstStyle/>
            <a:p>
              <a:pPr algn="l">
                <a:lnSpc>
                  <a:spcPct val="105000"/>
                </a:lnSpc>
              </a:pPr>
              <a:r>
                <a:rPr sz="1350" b="0" i="0">
                  <a:solidFill>
                    <a:srgbClr val="4A4244"/>
                  </a:solidFill>
                  <a:latin typeface="Calibri"/>
                </a:rPr>
                <a:t>MongoDB/Mongoose · Appwrite · AlienVault OTX · WebScrapper.live · Qwen3.5-2B GGUF via llama.cpp</a:t>
              </a:r>
            </a:p>
          </p:txBody>
        </p:sp>
      </p:grpSp>
      <p:grpSp>
        <p:nvGrpSpPr>
          <p:cNvPr id="43" name="Card 157"/>
          <p:cNvGrpSpPr/>
          <p:nvPr/>
        </p:nvGrpSpPr>
        <p:grpSpPr>
          <a:xfrm>
            <a:off x="6667347" y="3767328"/>
            <a:ext cx="4975707" cy="1847088"/>
            <a:chOff x="6667347" y="3767328"/>
            <a:chExt cx="4975707" cy="1847088"/>
          </a:xfrm>
        </p:grpSpPr>
        <p:sp>
          <p:nvSpPr>
            <p:cNvPr id="38" name="Card bg"/>
            <p:cNvSpPr/>
            <p:nvPr/>
          </p:nvSpPr>
          <p:spPr>
            <a:xfrm>
              <a:off x="6667347" y="3767328"/>
              <a:ext cx="4975707" cy="1847088"/>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Card accent"/>
            <p:cNvSpPr/>
            <p:nvPr/>
          </p:nvSpPr>
          <p:spPr>
            <a:xfrm>
              <a:off x="6667347" y="3767328"/>
              <a:ext cx="4975707"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0" name="Card label"/>
            <p:cNvSpPr txBox="1"/>
            <p:nvPr/>
          </p:nvSpPr>
          <p:spPr>
            <a:xfrm>
              <a:off x="6868515" y="3950208"/>
              <a:ext cx="4573371" cy="274320"/>
            </a:xfrm>
            <a:prstGeom prst="rect">
              <a:avLst/>
            </a:prstGeom>
            <a:noFill/>
          </p:spPr>
          <p:txBody>
            <a:bodyPr wrap="square" lIns="36576" tIns="36576" rIns="36576" bIns="36576" anchor="t">
              <a:spAutoFit/>
            </a:bodyPr>
            <a:lstStyle/>
            <a:p>
              <a:pPr algn="l">
                <a:lnSpc>
                  <a:spcPct val="108000"/>
                </a:lnSpc>
              </a:pPr>
              <a:r>
                <a:rPr sz="1050" b="1" i="0">
                  <a:solidFill>
                    <a:srgbClr val="C77A1E"/>
                  </a:solidFill>
                  <a:latin typeface="Consolas"/>
                </a:rPr>
                <a:t>DATA &amp; PRETRAINED ARTEFACTS</a:t>
              </a:r>
            </a:p>
          </p:txBody>
        </p:sp>
        <p:sp>
          <p:nvSpPr>
            <p:cNvPr id="41" name="Card title"/>
            <p:cNvSpPr txBox="1"/>
            <p:nvPr/>
          </p:nvSpPr>
          <p:spPr>
            <a:xfrm>
              <a:off x="6868515" y="4242816"/>
              <a:ext cx="4573371" cy="335089"/>
            </a:xfrm>
            <a:prstGeom prst="rect">
              <a:avLst/>
            </a:prstGeom>
            <a:noFill/>
          </p:spPr>
          <p:txBody>
            <a:bodyPr wrap="square" lIns="36576" tIns="36576" rIns="36576" bIns="36576" anchor="t">
              <a:spAutoFit/>
            </a:bodyPr>
            <a:lstStyle/>
            <a:p>
              <a:pPr algn="l">
                <a:lnSpc>
                  <a:spcPct val="108000"/>
                </a:lnSpc>
              </a:pPr>
              <a:r>
                <a:rPr sz="1650" b="1" i="0">
                  <a:solidFill>
                    <a:srgbClr val="1F1A1B"/>
                  </a:solidFill>
                  <a:latin typeface="Bahnschrift"/>
                </a:rPr>
                <a:t>BERT elftsdmr/malware-url-detect</a:t>
              </a:r>
            </a:p>
          </p:txBody>
        </p:sp>
        <p:sp>
          <p:nvSpPr>
            <p:cNvPr id="42" name="Card body"/>
            <p:cNvSpPr txBox="1"/>
            <p:nvPr/>
          </p:nvSpPr>
          <p:spPr>
            <a:xfrm>
              <a:off x="6868515" y="4577905"/>
              <a:ext cx="4573371" cy="926782"/>
            </a:xfrm>
            <a:prstGeom prst="rect">
              <a:avLst/>
            </a:prstGeom>
            <a:noFill/>
          </p:spPr>
          <p:txBody>
            <a:bodyPr wrap="square" lIns="36576" tIns="36576" rIns="36576" bIns="36576" anchor="t">
              <a:spAutoFit/>
            </a:bodyPr>
            <a:lstStyle/>
            <a:p>
              <a:pPr algn="l">
                <a:lnSpc>
                  <a:spcPct val="105000"/>
                </a:lnSpc>
              </a:pPr>
              <a:r>
                <a:rPr sz="1350" b="0" i="0">
                  <a:solidFill>
                    <a:srgbClr val="4A4244"/>
                  </a:solidFill>
                  <a:latin typeface="Calibri"/>
                </a:rPr>
                <a:t>unsloth/Qwen3.5-2B-GGUF · MITRE ATT&amp;CK v15 · OTX pulse feed · Mitake, bgspaditya, pirocheto, Tranco top-1M, shengqin web-attacks</a:t>
              </a:r>
            </a:p>
          </p:txBody>
        </p:sp>
      </p:grpSp>
      <p:grpSp>
        <p:nvGrpSpPr>
          <p:cNvPr id="46" name="Hardware 158"/>
          <p:cNvGrpSpPr/>
          <p:nvPr/>
        </p:nvGrpSpPr>
        <p:grpSpPr>
          <a:xfrm>
            <a:off x="1417320" y="5760720"/>
            <a:ext cx="10225735" cy="475488"/>
            <a:chOff x="1417320" y="5760720"/>
            <a:chExt cx="10225735" cy="475488"/>
          </a:xfrm>
        </p:grpSpPr>
        <p:sp>
          <p:nvSpPr>
            <p:cNvPr id="44" name="HW bg"/>
            <p:cNvSpPr/>
            <p:nvPr/>
          </p:nvSpPr>
          <p:spPr>
            <a:xfrm>
              <a:off x="1417320" y="5760720"/>
              <a:ext cx="10225735" cy="475488"/>
            </a:xfrm>
            <a:prstGeom prst="roundRect">
              <a:avLst>
                <a:gd name="adj" fmla="val 30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5" name="HW text"/>
            <p:cNvSpPr txBox="1"/>
            <p:nvPr/>
          </p:nvSpPr>
          <p:spPr>
            <a:xfrm>
              <a:off x="1645920" y="5760720"/>
              <a:ext cx="9768535" cy="475488"/>
            </a:xfrm>
            <a:prstGeom prst="rect">
              <a:avLst/>
            </a:prstGeom>
            <a:noFill/>
          </p:spPr>
          <p:txBody>
            <a:bodyPr wrap="square" lIns="36576" tIns="36576" rIns="36576" bIns="36576" anchor="ctr">
              <a:spAutoFit/>
            </a:bodyPr>
            <a:lstStyle/>
            <a:p>
              <a:pPr algn="l">
                <a:lnSpc>
                  <a:spcPct val="108000"/>
                </a:lnSpc>
              </a:pPr>
              <a:r>
                <a:rPr sz="1100" b="1" i="0">
                  <a:solidFill>
                    <a:srgbClr val="F69D39"/>
                  </a:solidFill>
                  <a:latin typeface="Consolas"/>
                </a:rPr>
                <a:t>HARDWARE  </a:t>
              </a:r>
              <a:r>
                <a:rPr sz="1400" b="0" i="0">
                  <a:solidFill>
                    <a:srgbClr val="EFE9DD"/>
                  </a:solidFill>
                  <a:latin typeface="Calibri"/>
                </a:rPr>
                <a:t>Original development on an Apple-silicon MacBook, 16 GB RAM, macOS Sonoma 14.6</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7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2700"/>
                            </p:stCondLst>
                            <p:childTnLst>
                              <p:par>
                                <p:cTn id="19" presetID="2" presetClass="entr" presetSubtype="4" fill="hold" nodeType="after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ppt_x"/>
                                          </p:val>
                                        </p:tav>
                                        <p:tav tm="100000">
                                          <p:val>
                                            <p:strVal val="#ppt_x"/>
                                          </p:val>
                                        </p:tav>
                                      </p:tavLst>
                                    </p:anim>
                                    <p:anim calcmode="lin" valueType="num">
                                      <p:cBhvr additive="base">
                                        <p:cTn id="22" dur="500" fill="hold"/>
                                        <p:tgtEl>
                                          <p:spTgt spid="25"/>
                                        </p:tgtEl>
                                        <p:attrNameLst>
                                          <p:attrName>ppt_y</p:attrName>
                                        </p:attrNameLst>
                                      </p:cBhvr>
                                      <p:tavLst>
                                        <p:tav tm="0">
                                          <p:val>
                                            <p:strVal val="1+#ppt_h/2"/>
                                          </p:val>
                                        </p:tav>
                                        <p:tav tm="100000">
                                          <p:val>
                                            <p:strVal val="#ppt_y"/>
                                          </p:val>
                                        </p:tav>
                                      </p:tavLst>
                                    </p:anim>
                                  </p:childTnLst>
                                </p:cTn>
                              </p:par>
                            </p:childTnLst>
                          </p:cTn>
                        </p:par>
                        <p:par>
                          <p:cTn id="23" fill="hold">
                            <p:stCondLst>
                              <p:cond delay="3200"/>
                            </p:stCondLst>
                            <p:childTnLst>
                              <p:par>
                                <p:cTn id="24" presetID="2" presetClass="entr" presetSubtype="4" fill="hold" nodeType="afterEffect">
                                  <p:stCondLst>
                                    <p:cond delay="0"/>
                                  </p:stCondLst>
                                  <p:childTnLst>
                                    <p:set>
                                      <p:cBhvr>
                                        <p:cTn id="25" dur="1" fill="hold">
                                          <p:stCondLst>
                                            <p:cond delay="0"/>
                                          </p:stCondLst>
                                        </p:cTn>
                                        <p:tgtEl>
                                          <p:spTgt spid="31"/>
                                        </p:tgtEl>
                                        <p:attrNameLst>
                                          <p:attrName>style.visibility</p:attrName>
                                        </p:attrNameLst>
                                      </p:cBhvr>
                                      <p:to>
                                        <p:strVal val="visible"/>
                                      </p:to>
                                    </p:set>
                                    <p:anim calcmode="lin" valueType="num">
                                      <p:cBhvr additive="base">
                                        <p:cTn id="26" dur="500" fill="hold"/>
                                        <p:tgtEl>
                                          <p:spTgt spid="31"/>
                                        </p:tgtEl>
                                        <p:attrNameLst>
                                          <p:attrName>ppt_x</p:attrName>
                                        </p:attrNameLst>
                                      </p:cBhvr>
                                      <p:tavLst>
                                        <p:tav tm="0">
                                          <p:val>
                                            <p:strVal val="#ppt_x"/>
                                          </p:val>
                                        </p:tav>
                                        <p:tav tm="100000">
                                          <p:val>
                                            <p:strVal val="#ppt_x"/>
                                          </p:val>
                                        </p:tav>
                                      </p:tavLst>
                                    </p:anim>
                                    <p:anim calcmode="lin" valueType="num">
                                      <p:cBhvr additive="base">
                                        <p:cTn id="27" dur="500" fill="hold"/>
                                        <p:tgtEl>
                                          <p:spTgt spid="31"/>
                                        </p:tgtEl>
                                        <p:attrNameLst>
                                          <p:attrName>ppt_y</p:attrName>
                                        </p:attrNameLst>
                                      </p:cBhvr>
                                      <p:tavLst>
                                        <p:tav tm="0">
                                          <p:val>
                                            <p:strVal val="1+#ppt_h/2"/>
                                          </p:val>
                                        </p:tav>
                                        <p:tav tm="100000">
                                          <p:val>
                                            <p:strVal val="#ppt_y"/>
                                          </p:val>
                                        </p:tav>
                                      </p:tavLst>
                                    </p:anim>
                                  </p:childTnLst>
                                </p:cTn>
                              </p:par>
                            </p:childTnLst>
                          </p:cTn>
                        </p:par>
                        <p:par>
                          <p:cTn id="28" fill="hold">
                            <p:stCondLst>
                              <p:cond delay="3700"/>
                            </p:stCondLst>
                            <p:childTnLst>
                              <p:par>
                                <p:cTn id="29" presetID="2" presetClass="entr" presetSubtype="4" fill="hold" nodeType="after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500" fill="hold"/>
                                        <p:tgtEl>
                                          <p:spTgt spid="37"/>
                                        </p:tgtEl>
                                        <p:attrNameLst>
                                          <p:attrName>ppt_x</p:attrName>
                                        </p:attrNameLst>
                                      </p:cBhvr>
                                      <p:tavLst>
                                        <p:tav tm="0">
                                          <p:val>
                                            <p:strVal val="#ppt_x"/>
                                          </p:val>
                                        </p:tav>
                                        <p:tav tm="100000">
                                          <p:val>
                                            <p:strVal val="#ppt_x"/>
                                          </p:val>
                                        </p:tav>
                                      </p:tavLst>
                                    </p:anim>
                                    <p:anim calcmode="lin" valueType="num">
                                      <p:cBhvr additive="base">
                                        <p:cTn id="32" dur="500" fill="hold"/>
                                        <p:tgtEl>
                                          <p:spTgt spid="37"/>
                                        </p:tgtEl>
                                        <p:attrNameLst>
                                          <p:attrName>ppt_y</p:attrName>
                                        </p:attrNameLst>
                                      </p:cBhvr>
                                      <p:tavLst>
                                        <p:tav tm="0">
                                          <p:val>
                                            <p:strVal val="1+#ppt_h/2"/>
                                          </p:val>
                                        </p:tav>
                                        <p:tav tm="100000">
                                          <p:val>
                                            <p:strVal val="#ppt_y"/>
                                          </p:val>
                                        </p:tav>
                                      </p:tavLst>
                                    </p:anim>
                                  </p:childTnLst>
                                </p:cTn>
                              </p:par>
                            </p:childTnLst>
                          </p:cTn>
                        </p:par>
                        <p:par>
                          <p:cTn id="33" fill="hold">
                            <p:stCondLst>
                              <p:cond delay="4200"/>
                            </p:stCondLst>
                            <p:childTnLst>
                              <p:par>
                                <p:cTn id="34" presetID="2" presetClass="entr" presetSubtype="4" fill="hold" nodeType="afterEffect">
                                  <p:stCondLst>
                                    <p:cond delay="0"/>
                                  </p:stCondLst>
                                  <p:childTnLst>
                                    <p:set>
                                      <p:cBhvr>
                                        <p:cTn id="35" dur="1" fill="hold">
                                          <p:stCondLst>
                                            <p:cond delay="0"/>
                                          </p:stCondLst>
                                        </p:cTn>
                                        <p:tgtEl>
                                          <p:spTgt spid="43"/>
                                        </p:tgtEl>
                                        <p:attrNameLst>
                                          <p:attrName>style.visibility</p:attrName>
                                        </p:attrNameLst>
                                      </p:cBhvr>
                                      <p:to>
                                        <p:strVal val="visible"/>
                                      </p:to>
                                    </p:set>
                                    <p:anim calcmode="lin" valueType="num">
                                      <p:cBhvr additive="base">
                                        <p:cTn id="36" dur="500" fill="hold"/>
                                        <p:tgtEl>
                                          <p:spTgt spid="43"/>
                                        </p:tgtEl>
                                        <p:attrNameLst>
                                          <p:attrName>ppt_x</p:attrName>
                                        </p:attrNameLst>
                                      </p:cBhvr>
                                      <p:tavLst>
                                        <p:tav tm="0">
                                          <p:val>
                                            <p:strVal val="#ppt_x"/>
                                          </p:val>
                                        </p:tav>
                                        <p:tav tm="100000">
                                          <p:val>
                                            <p:strVal val="#ppt_x"/>
                                          </p:val>
                                        </p:tav>
                                      </p:tavLst>
                                    </p:anim>
                                    <p:anim calcmode="lin" valueType="num">
                                      <p:cBhvr additive="base">
                                        <p:cTn id="37" dur="500" fill="hold"/>
                                        <p:tgtEl>
                                          <p:spTgt spid="43"/>
                                        </p:tgtEl>
                                        <p:attrNameLst>
                                          <p:attrName>ppt_y</p:attrName>
                                        </p:attrNameLst>
                                      </p:cBhvr>
                                      <p:tavLst>
                                        <p:tav tm="0">
                                          <p:val>
                                            <p:strVal val="1+#ppt_h/2"/>
                                          </p:val>
                                        </p:tav>
                                        <p:tav tm="100000">
                                          <p:val>
                                            <p:strVal val="#ppt_y"/>
                                          </p:val>
                                        </p:tav>
                                      </p:tavLst>
                                    </p:anim>
                                  </p:childTnLst>
                                </p:cTn>
                              </p:par>
                            </p:childTnLst>
                          </p:cTn>
                        </p:par>
                        <p:par>
                          <p:cTn id="38" fill="hold">
                            <p:stCondLst>
                              <p:cond delay="4700"/>
                            </p:stCondLst>
                            <p:childTnLst>
                              <p:par>
                                <p:cTn id="39" presetID="22" presetClass="entr" presetSubtype="8" fill="hold" nodeType="after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wipe(left)">
                                      <p:cBhvr>
                                        <p:cTn id="4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418320" y="4389120"/>
            <a:ext cx="3291840" cy="329184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010851" y="4981651"/>
            <a:ext cx="2106777" cy="2106777"/>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3383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06</a:t>
            </a:r>
          </a:p>
        </p:txBody>
      </p:sp>
      <p:sp>
        <p:nvSpPr>
          <p:cNvPr id="12" name="!!rail7"/>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465429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159"/>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06  ·  METHODS AND MATERIALS USED  ·  4 OF 6</a:t>
            </a:r>
          </a:p>
        </p:txBody>
      </p:sp>
      <p:sp>
        <p:nvSpPr>
          <p:cNvPr id="15" name="Title 160"/>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Methods and materials used</a:t>
            </a:r>
          </a:p>
        </p:txBody>
      </p:sp>
      <p:sp>
        <p:nvSpPr>
          <p:cNvPr id="16" name="Subtitle 161"/>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Iterative development in seven deployable iterations, then calibration</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§3.7 Methodology; Appendix A</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11 / 20</a:t>
            </a:r>
          </a:p>
        </p:txBody>
      </p:sp>
      <p:cxnSp>
        <p:nvCxnSpPr>
          <p:cNvPr id="20" name="Iteration track 162"/>
          <p:cNvCxnSpPr/>
          <p:nvPr/>
        </p:nvCxnSpPr>
        <p:spPr>
          <a:xfrm>
            <a:off x="1645920" y="2258568"/>
            <a:ext cx="9768535" cy="0"/>
          </a:xfrm>
          <a:prstGeom prst="line">
            <a:avLst/>
          </a:prstGeom>
          <a:ln w="25400">
            <a:solidFill>
              <a:srgbClr val="F69D39"/>
            </a:solidFill>
          </a:ln>
        </p:spPr>
        <p:style>
          <a:lnRef idx="2">
            <a:schemeClr val="accent1"/>
          </a:lnRef>
          <a:fillRef idx="0">
            <a:schemeClr val="accent1"/>
          </a:fillRef>
          <a:effectRef idx="1">
            <a:schemeClr val="accent1"/>
          </a:effectRef>
          <a:fontRef idx="minor">
            <a:schemeClr val="tx1"/>
          </a:fontRef>
        </p:style>
      </p:cxnSp>
      <p:grpSp>
        <p:nvGrpSpPr>
          <p:cNvPr id="25" name="Iteration 163"/>
          <p:cNvGrpSpPr/>
          <p:nvPr/>
        </p:nvGrpSpPr>
        <p:grpSpPr>
          <a:xfrm>
            <a:off x="1417320" y="2002536"/>
            <a:ext cx="1366766" cy="2130552"/>
            <a:chOff x="1417320" y="2002536"/>
            <a:chExt cx="1366766" cy="2130552"/>
          </a:xfrm>
        </p:grpSpPr>
        <p:sp>
          <p:nvSpPr>
            <p:cNvPr id="21" name="It dot"/>
            <p:cNvSpPr/>
            <p:nvPr/>
          </p:nvSpPr>
          <p:spPr>
            <a:xfrm>
              <a:off x="1844671" y="2002536"/>
              <a:ext cx="512064" cy="512064"/>
            </a:xfrm>
            <a:prstGeom prst="ellipse">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It n"/>
            <p:cNvSpPr txBox="1"/>
            <p:nvPr/>
          </p:nvSpPr>
          <p:spPr>
            <a:xfrm>
              <a:off x="1844671" y="2002536"/>
              <a:ext cx="512064" cy="512064"/>
            </a:xfrm>
            <a:prstGeom prst="rect">
              <a:avLst/>
            </a:prstGeom>
            <a:noFill/>
          </p:spPr>
          <p:txBody>
            <a:bodyPr wrap="square" lIns="0" tIns="0" rIns="0" bIns="0" anchor="ctr">
              <a:spAutoFit/>
            </a:bodyPr>
            <a:lstStyle/>
            <a:p>
              <a:pPr algn="ctr">
                <a:lnSpc>
                  <a:spcPct val="108000"/>
                </a:lnSpc>
              </a:pPr>
              <a:r>
                <a:rPr sz="1700" b="1" i="0">
                  <a:solidFill>
                    <a:srgbClr val="F69D39"/>
                  </a:solidFill>
                  <a:latin typeface="Bahnschrift"/>
                </a:rPr>
                <a:t>1</a:t>
              </a:r>
            </a:p>
          </p:txBody>
        </p:sp>
        <p:sp>
          <p:nvSpPr>
            <p:cNvPr id="23" name="It title"/>
            <p:cNvSpPr txBox="1"/>
            <p:nvPr/>
          </p:nvSpPr>
          <p:spPr>
            <a:xfrm>
              <a:off x="1417320" y="2651760"/>
              <a:ext cx="1366766" cy="566928"/>
            </a:xfrm>
            <a:prstGeom prst="rect">
              <a:avLst/>
            </a:prstGeom>
            <a:noFill/>
          </p:spPr>
          <p:txBody>
            <a:bodyPr wrap="square" lIns="36576" tIns="36576" rIns="36576" bIns="36576" anchor="t">
              <a:spAutoFit/>
            </a:bodyPr>
            <a:lstStyle/>
            <a:p>
              <a:pPr algn="ctr">
                <a:lnSpc>
                  <a:spcPct val="98000"/>
                </a:lnSpc>
              </a:pPr>
              <a:r>
                <a:rPr sz="1350" b="1" i="0">
                  <a:solidFill>
                    <a:srgbClr val="1F1A1B"/>
                  </a:solidFill>
                  <a:latin typeface="Bahnschrift"/>
                </a:rPr>
                <a:t>Foundation</a:t>
              </a:r>
            </a:p>
          </p:txBody>
        </p:sp>
        <p:sp>
          <p:nvSpPr>
            <p:cNvPr id="24" name="It text"/>
            <p:cNvSpPr txBox="1"/>
            <p:nvPr/>
          </p:nvSpPr>
          <p:spPr>
            <a:xfrm>
              <a:off x="1417320" y="3218688"/>
              <a:ext cx="1366766" cy="914400"/>
            </a:xfrm>
            <a:prstGeom prst="rect">
              <a:avLst/>
            </a:prstGeom>
            <a:noFill/>
          </p:spPr>
          <p:txBody>
            <a:bodyPr wrap="square" lIns="36576" tIns="36576" rIns="36576" bIns="36576" anchor="t">
              <a:spAutoFit/>
            </a:bodyPr>
            <a:lstStyle/>
            <a:p>
              <a:pPr algn="ctr">
                <a:lnSpc>
                  <a:spcPct val="100000"/>
                </a:lnSpc>
              </a:pPr>
              <a:r>
                <a:rPr sz="1150" b="0" i="0">
                  <a:solidFill>
                    <a:srgbClr val="857A72"/>
                  </a:solidFill>
                  <a:latin typeface="Calibri"/>
                </a:rPr>
                <a:t>repository, Heroku and Space deployments, Appwrite, ML stub</a:t>
              </a:r>
            </a:p>
          </p:txBody>
        </p:sp>
      </p:grpSp>
      <p:grpSp>
        <p:nvGrpSpPr>
          <p:cNvPr id="30" name="Iteration 164"/>
          <p:cNvGrpSpPr/>
          <p:nvPr/>
        </p:nvGrpSpPr>
        <p:grpSpPr>
          <a:xfrm>
            <a:off x="2893814" y="2002536"/>
            <a:ext cx="1366766" cy="2130552"/>
            <a:chOff x="2893814" y="2002536"/>
            <a:chExt cx="1366766" cy="2130552"/>
          </a:xfrm>
        </p:grpSpPr>
        <p:sp>
          <p:nvSpPr>
            <p:cNvPr id="26" name="It dot"/>
            <p:cNvSpPr/>
            <p:nvPr/>
          </p:nvSpPr>
          <p:spPr>
            <a:xfrm>
              <a:off x="3321166" y="2002536"/>
              <a:ext cx="512064" cy="512064"/>
            </a:xfrm>
            <a:prstGeom prst="ellipse">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It n"/>
            <p:cNvSpPr txBox="1"/>
            <p:nvPr/>
          </p:nvSpPr>
          <p:spPr>
            <a:xfrm>
              <a:off x="3321166" y="2002536"/>
              <a:ext cx="512064" cy="512064"/>
            </a:xfrm>
            <a:prstGeom prst="rect">
              <a:avLst/>
            </a:prstGeom>
            <a:noFill/>
          </p:spPr>
          <p:txBody>
            <a:bodyPr wrap="square" lIns="0" tIns="0" rIns="0" bIns="0" anchor="ctr">
              <a:spAutoFit/>
            </a:bodyPr>
            <a:lstStyle/>
            <a:p>
              <a:pPr algn="ctr">
                <a:lnSpc>
                  <a:spcPct val="108000"/>
                </a:lnSpc>
              </a:pPr>
              <a:r>
                <a:rPr sz="1700" b="1" i="0">
                  <a:solidFill>
                    <a:srgbClr val="F69D39"/>
                  </a:solidFill>
                  <a:latin typeface="Bahnschrift"/>
                </a:rPr>
                <a:t>2</a:t>
              </a:r>
            </a:p>
          </p:txBody>
        </p:sp>
        <p:sp>
          <p:nvSpPr>
            <p:cNvPr id="28" name="It title"/>
            <p:cNvSpPr txBox="1"/>
            <p:nvPr/>
          </p:nvSpPr>
          <p:spPr>
            <a:xfrm>
              <a:off x="2893814" y="2651760"/>
              <a:ext cx="1366766" cy="566928"/>
            </a:xfrm>
            <a:prstGeom prst="rect">
              <a:avLst/>
            </a:prstGeom>
            <a:noFill/>
          </p:spPr>
          <p:txBody>
            <a:bodyPr wrap="square" lIns="36576" tIns="36576" rIns="36576" bIns="36576" anchor="t">
              <a:spAutoFit/>
            </a:bodyPr>
            <a:lstStyle/>
            <a:p>
              <a:pPr algn="ctr">
                <a:lnSpc>
                  <a:spcPct val="98000"/>
                </a:lnSpc>
              </a:pPr>
              <a:r>
                <a:rPr sz="1350" b="1" i="0">
                  <a:solidFill>
                    <a:srgbClr val="1F1A1B"/>
                  </a:solidFill>
                  <a:latin typeface="Bahnschrift"/>
                </a:rPr>
                <a:t>Single-classifier pipeline</a:t>
              </a:r>
            </a:p>
          </p:txBody>
        </p:sp>
        <p:sp>
          <p:nvSpPr>
            <p:cNvPr id="29" name="It text"/>
            <p:cNvSpPr txBox="1"/>
            <p:nvPr/>
          </p:nvSpPr>
          <p:spPr>
            <a:xfrm>
              <a:off x="2893814" y="3218688"/>
              <a:ext cx="1366766" cy="914400"/>
            </a:xfrm>
            <a:prstGeom prst="rect">
              <a:avLst/>
            </a:prstGeom>
            <a:noFill/>
          </p:spPr>
          <p:txBody>
            <a:bodyPr wrap="square" lIns="36576" tIns="36576" rIns="36576" bIns="36576" anchor="t">
              <a:spAutoFit/>
            </a:bodyPr>
            <a:lstStyle/>
            <a:p>
              <a:pPr algn="ctr">
                <a:lnSpc>
                  <a:spcPct val="100000"/>
                </a:lnSpc>
              </a:pPr>
              <a:r>
                <a:rPr sz="1150" b="0" i="0">
                  <a:solidFill>
                    <a:srgbClr val="857A72"/>
                  </a:solidFill>
                  <a:latin typeface="Calibri"/>
                </a:rPr>
                <a:t>scraper → ML classifier → Gemini → alert</a:t>
              </a:r>
            </a:p>
          </p:txBody>
        </p:sp>
      </p:grpSp>
      <p:grpSp>
        <p:nvGrpSpPr>
          <p:cNvPr id="35" name="Iteration 165"/>
          <p:cNvGrpSpPr/>
          <p:nvPr/>
        </p:nvGrpSpPr>
        <p:grpSpPr>
          <a:xfrm>
            <a:off x="4370309" y="2002536"/>
            <a:ext cx="1366766" cy="2130552"/>
            <a:chOff x="4370309" y="2002536"/>
            <a:chExt cx="1366766" cy="2130552"/>
          </a:xfrm>
        </p:grpSpPr>
        <p:sp>
          <p:nvSpPr>
            <p:cNvPr id="31" name="It dot"/>
            <p:cNvSpPr/>
            <p:nvPr/>
          </p:nvSpPr>
          <p:spPr>
            <a:xfrm>
              <a:off x="4797660" y="2002536"/>
              <a:ext cx="512064" cy="512064"/>
            </a:xfrm>
            <a:prstGeom prst="ellipse">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2" name="It n"/>
            <p:cNvSpPr txBox="1"/>
            <p:nvPr/>
          </p:nvSpPr>
          <p:spPr>
            <a:xfrm>
              <a:off x="4797660" y="2002536"/>
              <a:ext cx="512064" cy="512064"/>
            </a:xfrm>
            <a:prstGeom prst="rect">
              <a:avLst/>
            </a:prstGeom>
            <a:noFill/>
          </p:spPr>
          <p:txBody>
            <a:bodyPr wrap="square" lIns="0" tIns="0" rIns="0" bIns="0" anchor="ctr">
              <a:spAutoFit/>
            </a:bodyPr>
            <a:lstStyle/>
            <a:p>
              <a:pPr algn="ctr">
                <a:lnSpc>
                  <a:spcPct val="108000"/>
                </a:lnSpc>
              </a:pPr>
              <a:r>
                <a:rPr sz="1700" b="1" i="0">
                  <a:solidFill>
                    <a:srgbClr val="1F1A1B"/>
                  </a:solidFill>
                  <a:latin typeface="Bahnschrift"/>
                </a:rPr>
                <a:t>3</a:t>
              </a:r>
            </a:p>
          </p:txBody>
        </p:sp>
        <p:sp>
          <p:nvSpPr>
            <p:cNvPr id="33" name="It title"/>
            <p:cNvSpPr txBox="1"/>
            <p:nvPr/>
          </p:nvSpPr>
          <p:spPr>
            <a:xfrm>
              <a:off x="4370309" y="2651760"/>
              <a:ext cx="1366766" cy="566928"/>
            </a:xfrm>
            <a:prstGeom prst="rect">
              <a:avLst/>
            </a:prstGeom>
            <a:noFill/>
          </p:spPr>
          <p:txBody>
            <a:bodyPr wrap="square" lIns="36576" tIns="36576" rIns="36576" bIns="36576" anchor="t">
              <a:spAutoFit/>
            </a:bodyPr>
            <a:lstStyle/>
            <a:p>
              <a:pPr algn="ctr">
                <a:lnSpc>
                  <a:spcPct val="98000"/>
                </a:lnSpc>
              </a:pPr>
              <a:r>
                <a:rPr sz="1350" b="1" i="0">
                  <a:solidFill>
                    <a:srgbClr val="1F1A1B"/>
                  </a:solidFill>
                  <a:latin typeface="Bahnschrift"/>
                </a:rPr>
                <a:t>False-positive correction</a:t>
              </a:r>
            </a:p>
          </p:txBody>
        </p:sp>
        <p:sp>
          <p:nvSpPr>
            <p:cNvPr id="34" name="It text"/>
            <p:cNvSpPr txBox="1"/>
            <p:nvPr/>
          </p:nvSpPr>
          <p:spPr>
            <a:xfrm>
              <a:off x="4370309" y="3218688"/>
              <a:ext cx="1366766" cy="914400"/>
            </a:xfrm>
            <a:prstGeom prst="rect">
              <a:avLst/>
            </a:prstGeom>
            <a:noFill/>
          </p:spPr>
          <p:txBody>
            <a:bodyPr wrap="square" lIns="36576" tIns="36576" rIns="36576" bIns="36576" anchor="t">
              <a:spAutoFit/>
            </a:bodyPr>
            <a:lstStyle/>
            <a:p>
              <a:pPr algn="ctr">
                <a:lnSpc>
                  <a:spcPct val="100000"/>
                </a:lnSpc>
              </a:pPr>
              <a:r>
                <a:rPr sz="1150" b="0" i="0">
                  <a:solidFill>
                    <a:srgbClr val="857A72"/>
                  </a:solidFill>
                  <a:latin typeface="Calibri"/>
                </a:rPr>
                <a:t>+0.5 offset found and removed; model consensus</a:t>
              </a:r>
            </a:p>
          </p:txBody>
        </p:sp>
      </p:grpSp>
      <p:grpSp>
        <p:nvGrpSpPr>
          <p:cNvPr id="40" name="Iteration 166"/>
          <p:cNvGrpSpPr/>
          <p:nvPr/>
        </p:nvGrpSpPr>
        <p:grpSpPr>
          <a:xfrm>
            <a:off x="5846804" y="2002536"/>
            <a:ext cx="1366766" cy="2130552"/>
            <a:chOff x="5846804" y="2002536"/>
            <a:chExt cx="1366766" cy="2130552"/>
          </a:xfrm>
        </p:grpSpPr>
        <p:sp>
          <p:nvSpPr>
            <p:cNvPr id="36" name="It dot"/>
            <p:cNvSpPr/>
            <p:nvPr/>
          </p:nvSpPr>
          <p:spPr>
            <a:xfrm>
              <a:off x="6274155" y="2002536"/>
              <a:ext cx="512064" cy="512064"/>
            </a:xfrm>
            <a:prstGeom prst="ellipse">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It n"/>
            <p:cNvSpPr txBox="1"/>
            <p:nvPr/>
          </p:nvSpPr>
          <p:spPr>
            <a:xfrm>
              <a:off x="6274155" y="2002536"/>
              <a:ext cx="512064" cy="512064"/>
            </a:xfrm>
            <a:prstGeom prst="rect">
              <a:avLst/>
            </a:prstGeom>
            <a:noFill/>
          </p:spPr>
          <p:txBody>
            <a:bodyPr wrap="square" lIns="0" tIns="0" rIns="0" bIns="0" anchor="ctr">
              <a:spAutoFit/>
            </a:bodyPr>
            <a:lstStyle/>
            <a:p>
              <a:pPr algn="ctr">
                <a:lnSpc>
                  <a:spcPct val="108000"/>
                </a:lnSpc>
              </a:pPr>
              <a:r>
                <a:rPr sz="1700" b="1" i="0">
                  <a:solidFill>
                    <a:srgbClr val="F69D39"/>
                  </a:solidFill>
                  <a:latin typeface="Bahnschrift"/>
                </a:rPr>
                <a:t>4</a:t>
              </a:r>
            </a:p>
          </p:txBody>
        </p:sp>
        <p:sp>
          <p:nvSpPr>
            <p:cNvPr id="38" name="It title"/>
            <p:cNvSpPr txBox="1"/>
            <p:nvPr/>
          </p:nvSpPr>
          <p:spPr>
            <a:xfrm>
              <a:off x="5846804" y="2651760"/>
              <a:ext cx="1366766" cy="566928"/>
            </a:xfrm>
            <a:prstGeom prst="rect">
              <a:avLst/>
            </a:prstGeom>
            <a:noFill/>
          </p:spPr>
          <p:txBody>
            <a:bodyPr wrap="square" lIns="36576" tIns="36576" rIns="36576" bIns="36576" anchor="t">
              <a:spAutoFit/>
            </a:bodyPr>
            <a:lstStyle/>
            <a:p>
              <a:pPr algn="ctr">
                <a:lnSpc>
                  <a:spcPct val="98000"/>
                </a:lnSpc>
              </a:pPr>
              <a:r>
                <a:rPr sz="1350" b="1" i="0">
                  <a:solidFill>
                    <a:srgbClr val="1F1A1B"/>
                  </a:solidFill>
                  <a:latin typeface="Bahnschrift"/>
                </a:rPr>
                <a:t>Sandbox subsystem</a:t>
              </a:r>
            </a:p>
          </p:txBody>
        </p:sp>
        <p:sp>
          <p:nvSpPr>
            <p:cNvPr id="39" name="It text"/>
            <p:cNvSpPr txBox="1"/>
            <p:nvPr/>
          </p:nvSpPr>
          <p:spPr>
            <a:xfrm>
              <a:off x="5846804" y="3218688"/>
              <a:ext cx="1366766" cy="914400"/>
            </a:xfrm>
            <a:prstGeom prst="rect">
              <a:avLst/>
            </a:prstGeom>
            <a:noFill/>
          </p:spPr>
          <p:txBody>
            <a:bodyPr wrap="square" lIns="36576" tIns="36576" rIns="36576" bIns="36576" anchor="t">
              <a:spAutoFit/>
            </a:bodyPr>
            <a:lstStyle/>
            <a:p>
              <a:pPr algn="ctr">
                <a:lnSpc>
                  <a:spcPct val="100000"/>
                </a:lnSpc>
              </a:pPr>
              <a:r>
                <a:rPr sz="1150" b="0" i="0">
                  <a:solidFill>
                    <a:srgbClr val="857A72"/>
                  </a:solidFill>
                  <a:latin typeface="Calibri"/>
                </a:rPr>
                <a:t>IOC extractor, MITRE mapper, evidence locker</a:t>
              </a:r>
            </a:p>
          </p:txBody>
        </p:sp>
      </p:grpSp>
      <p:grpSp>
        <p:nvGrpSpPr>
          <p:cNvPr id="45" name="Iteration 167"/>
          <p:cNvGrpSpPr/>
          <p:nvPr/>
        </p:nvGrpSpPr>
        <p:grpSpPr>
          <a:xfrm>
            <a:off x="7323298" y="2002536"/>
            <a:ext cx="1366766" cy="2130552"/>
            <a:chOff x="7323298" y="2002536"/>
            <a:chExt cx="1366766" cy="2130552"/>
          </a:xfrm>
        </p:grpSpPr>
        <p:sp>
          <p:nvSpPr>
            <p:cNvPr id="41" name="It dot"/>
            <p:cNvSpPr/>
            <p:nvPr/>
          </p:nvSpPr>
          <p:spPr>
            <a:xfrm>
              <a:off x="7750650" y="2002536"/>
              <a:ext cx="512064" cy="512064"/>
            </a:xfrm>
            <a:prstGeom prst="ellipse">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It n"/>
            <p:cNvSpPr txBox="1"/>
            <p:nvPr/>
          </p:nvSpPr>
          <p:spPr>
            <a:xfrm>
              <a:off x="7750650" y="2002536"/>
              <a:ext cx="512064" cy="512064"/>
            </a:xfrm>
            <a:prstGeom prst="rect">
              <a:avLst/>
            </a:prstGeom>
            <a:noFill/>
          </p:spPr>
          <p:txBody>
            <a:bodyPr wrap="square" lIns="0" tIns="0" rIns="0" bIns="0" anchor="ctr">
              <a:spAutoFit/>
            </a:bodyPr>
            <a:lstStyle/>
            <a:p>
              <a:pPr algn="ctr">
                <a:lnSpc>
                  <a:spcPct val="108000"/>
                </a:lnSpc>
              </a:pPr>
              <a:r>
                <a:rPr sz="1700" b="1" i="0">
                  <a:solidFill>
                    <a:srgbClr val="F69D39"/>
                  </a:solidFill>
                  <a:latin typeface="Bahnschrift"/>
                </a:rPr>
                <a:t>5</a:t>
              </a:r>
            </a:p>
          </p:txBody>
        </p:sp>
        <p:sp>
          <p:nvSpPr>
            <p:cNvPr id="43" name="It title"/>
            <p:cNvSpPr txBox="1"/>
            <p:nvPr/>
          </p:nvSpPr>
          <p:spPr>
            <a:xfrm>
              <a:off x="7323298" y="2651760"/>
              <a:ext cx="1366766" cy="566928"/>
            </a:xfrm>
            <a:prstGeom prst="rect">
              <a:avLst/>
            </a:prstGeom>
            <a:noFill/>
          </p:spPr>
          <p:txBody>
            <a:bodyPr wrap="square" lIns="36576" tIns="36576" rIns="36576" bIns="36576" anchor="t">
              <a:spAutoFit/>
            </a:bodyPr>
            <a:lstStyle/>
            <a:p>
              <a:pPr algn="ctr">
                <a:lnSpc>
                  <a:spcPct val="98000"/>
                </a:lnSpc>
              </a:pPr>
              <a:r>
                <a:rPr sz="1350" b="1" i="0">
                  <a:solidFill>
                    <a:srgbClr val="1F1A1B"/>
                  </a:solidFill>
                  <a:latin typeface="Bahnschrift"/>
                </a:rPr>
                <a:t>Transformer integration</a:t>
              </a:r>
            </a:p>
          </p:txBody>
        </p:sp>
        <p:sp>
          <p:nvSpPr>
            <p:cNvPr id="44" name="It text"/>
            <p:cNvSpPr txBox="1"/>
            <p:nvPr/>
          </p:nvSpPr>
          <p:spPr>
            <a:xfrm>
              <a:off x="7323298" y="3218688"/>
              <a:ext cx="1366766" cy="914400"/>
            </a:xfrm>
            <a:prstGeom prst="rect">
              <a:avLst/>
            </a:prstGeom>
            <a:noFill/>
          </p:spPr>
          <p:txBody>
            <a:bodyPr wrap="square" lIns="36576" tIns="36576" rIns="36576" bIns="36576" anchor="t">
              <a:spAutoFit/>
            </a:bodyPr>
            <a:lstStyle/>
            <a:p>
              <a:pPr algn="ctr">
                <a:lnSpc>
                  <a:spcPct val="100000"/>
                </a:lnSpc>
              </a:pPr>
              <a:r>
                <a:rPr sz="1150" b="0" i="0">
                  <a:solidFill>
                    <a:srgbClr val="857A72"/>
                  </a:solidFill>
                  <a:latin typeface="Calibri"/>
                </a:rPr>
                <a:t>BERT URL classifier and entropy DGA detector</a:t>
              </a:r>
            </a:p>
          </p:txBody>
        </p:sp>
      </p:grpSp>
      <p:grpSp>
        <p:nvGrpSpPr>
          <p:cNvPr id="50" name="Iteration 168"/>
          <p:cNvGrpSpPr/>
          <p:nvPr/>
        </p:nvGrpSpPr>
        <p:grpSpPr>
          <a:xfrm>
            <a:off x="8799793" y="2002536"/>
            <a:ext cx="1366766" cy="2130552"/>
            <a:chOff x="8799793" y="2002536"/>
            <a:chExt cx="1366766" cy="2130552"/>
          </a:xfrm>
        </p:grpSpPr>
        <p:sp>
          <p:nvSpPr>
            <p:cNvPr id="46" name="It dot"/>
            <p:cNvSpPr/>
            <p:nvPr/>
          </p:nvSpPr>
          <p:spPr>
            <a:xfrm>
              <a:off x="9227145" y="2002536"/>
              <a:ext cx="512064" cy="512064"/>
            </a:xfrm>
            <a:prstGeom prst="ellipse">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7" name="It n"/>
            <p:cNvSpPr txBox="1"/>
            <p:nvPr/>
          </p:nvSpPr>
          <p:spPr>
            <a:xfrm>
              <a:off x="9227145" y="2002536"/>
              <a:ext cx="512064" cy="512064"/>
            </a:xfrm>
            <a:prstGeom prst="rect">
              <a:avLst/>
            </a:prstGeom>
            <a:noFill/>
          </p:spPr>
          <p:txBody>
            <a:bodyPr wrap="square" lIns="0" tIns="0" rIns="0" bIns="0" anchor="ctr">
              <a:spAutoFit/>
            </a:bodyPr>
            <a:lstStyle/>
            <a:p>
              <a:pPr algn="ctr">
                <a:lnSpc>
                  <a:spcPct val="108000"/>
                </a:lnSpc>
              </a:pPr>
              <a:r>
                <a:rPr sz="1700" b="1" i="0">
                  <a:solidFill>
                    <a:srgbClr val="F69D39"/>
                  </a:solidFill>
                  <a:latin typeface="Bahnschrift"/>
                </a:rPr>
                <a:t>6</a:t>
              </a:r>
            </a:p>
          </p:txBody>
        </p:sp>
        <p:sp>
          <p:nvSpPr>
            <p:cNvPr id="48" name="It title"/>
            <p:cNvSpPr txBox="1"/>
            <p:nvPr/>
          </p:nvSpPr>
          <p:spPr>
            <a:xfrm>
              <a:off x="8799793" y="2651760"/>
              <a:ext cx="1366766" cy="566928"/>
            </a:xfrm>
            <a:prstGeom prst="rect">
              <a:avLst/>
            </a:prstGeom>
            <a:noFill/>
          </p:spPr>
          <p:txBody>
            <a:bodyPr wrap="square" lIns="36576" tIns="36576" rIns="36576" bIns="36576" anchor="t">
              <a:spAutoFit/>
            </a:bodyPr>
            <a:lstStyle/>
            <a:p>
              <a:pPr algn="ctr">
                <a:lnSpc>
                  <a:spcPct val="98000"/>
                </a:lnSpc>
              </a:pPr>
              <a:r>
                <a:rPr sz="1350" b="1" i="0">
                  <a:solidFill>
                    <a:srgbClr val="1F1A1B"/>
                  </a:solidFill>
                  <a:latin typeface="Bahnschrift"/>
                </a:rPr>
                <a:t>Agentic orchestration</a:t>
              </a:r>
            </a:p>
          </p:txBody>
        </p:sp>
        <p:sp>
          <p:nvSpPr>
            <p:cNvPr id="49" name="It text"/>
            <p:cNvSpPr txBox="1"/>
            <p:nvPr/>
          </p:nvSpPr>
          <p:spPr>
            <a:xfrm>
              <a:off x="8799793" y="3218688"/>
              <a:ext cx="1366766" cy="914400"/>
            </a:xfrm>
            <a:prstGeom prst="rect">
              <a:avLst/>
            </a:prstGeom>
            <a:noFill/>
          </p:spPr>
          <p:txBody>
            <a:bodyPr wrap="square" lIns="36576" tIns="36576" rIns="36576" bIns="36576" anchor="t">
              <a:spAutoFit/>
            </a:bodyPr>
            <a:lstStyle/>
            <a:p>
              <a:pPr algn="ctr">
                <a:lnSpc>
                  <a:spcPct val="100000"/>
                </a:lnSpc>
              </a:pPr>
              <a:r>
                <a:rPr sz="1150" b="0" i="0">
                  <a:solidFill>
                    <a:srgbClr val="857A72"/>
                  </a:solidFill>
                  <a:latin typeface="Calibri"/>
                </a:rPr>
                <a:t>eight-agent DAG, memory layer, LLM fallback</a:t>
              </a:r>
            </a:p>
          </p:txBody>
        </p:sp>
      </p:grpSp>
      <p:grpSp>
        <p:nvGrpSpPr>
          <p:cNvPr id="55" name="Iteration 169"/>
          <p:cNvGrpSpPr/>
          <p:nvPr/>
        </p:nvGrpSpPr>
        <p:grpSpPr>
          <a:xfrm>
            <a:off x="10276288" y="2002536"/>
            <a:ext cx="1366766" cy="2130552"/>
            <a:chOff x="10276288" y="2002536"/>
            <a:chExt cx="1366766" cy="2130552"/>
          </a:xfrm>
        </p:grpSpPr>
        <p:sp>
          <p:nvSpPr>
            <p:cNvPr id="51" name="It dot"/>
            <p:cNvSpPr/>
            <p:nvPr/>
          </p:nvSpPr>
          <p:spPr>
            <a:xfrm>
              <a:off x="10703639" y="2002536"/>
              <a:ext cx="512064" cy="512064"/>
            </a:xfrm>
            <a:prstGeom prst="ellipse">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2" name="It n"/>
            <p:cNvSpPr txBox="1"/>
            <p:nvPr/>
          </p:nvSpPr>
          <p:spPr>
            <a:xfrm>
              <a:off x="10703639" y="2002536"/>
              <a:ext cx="512064" cy="512064"/>
            </a:xfrm>
            <a:prstGeom prst="rect">
              <a:avLst/>
            </a:prstGeom>
            <a:noFill/>
          </p:spPr>
          <p:txBody>
            <a:bodyPr wrap="square" lIns="0" tIns="0" rIns="0" bIns="0" anchor="ctr">
              <a:spAutoFit/>
            </a:bodyPr>
            <a:lstStyle/>
            <a:p>
              <a:pPr algn="ctr">
                <a:lnSpc>
                  <a:spcPct val="108000"/>
                </a:lnSpc>
              </a:pPr>
              <a:r>
                <a:rPr sz="1700" b="1" i="0">
                  <a:solidFill>
                    <a:srgbClr val="F69D39"/>
                  </a:solidFill>
                  <a:latin typeface="Bahnschrift"/>
                </a:rPr>
                <a:t>7</a:t>
              </a:r>
            </a:p>
          </p:txBody>
        </p:sp>
        <p:sp>
          <p:nvSpPr>
            <p:cNvPr id="53" name="It title"/>
            <p:cNvSpPr txBox="1"/>
            <p:nvPr/>
          </p:nvSpPr>
          <p:spPr>
            <a:xfrm>
              <a:off x="10276288" y="2651760"/>
              <a:ext cx="1366766" cy="566928"/>
            </a:xfrm>
            <a:prstGeom prst="rect">
              <a:avLst/>
            </a:prstGeom>
            <a:noFill/>
          </p:spPr>
          <p:txBody>
            <a:bodyPr wrap="square" lIns="36576" tIns="36576" rIns="36576" bIns="36576" anchor="t">
              <a:spAutoFit/>
            </a:bodyPr>
            <a:lstStyle/>
            <a:p>
              <a:pPr algn="ctr">
                <a:lnSpc>
                  <a:spcPct val="98000"/>
                </a:lnSpc>
              </a:pPr>
              <a:r>
                <a:rPr sz="1350" b="1" i="0">
                  <a:solidFill>
                    <a:srgbClr val="1F1A1B"/>
                  </a:solidFill>
                  <a:latin typeface="Bahnschrift"/>
                </a:rPr>
                <a:t>UI integration</a:t>
              </a:r>
            </a:p>
          </p:txBody>
        </p:sp>
        <p:sp>
          <p:nvSpPr>
            <p:cNvPr id="54" name="It text"/>
            <p:cNvSpPr txBox="1"/>
            <p:nvPr/>
          </p:nvSpPr>
          <p:spPr>
            <a:xfrm>
              <a:off x="10276288" y="3218688"/>
              <a:ext cx="1366766" cy="914400"/>
            </a:xfrm>
            <a:prstGeom prst="rect">
              <a:avLst/>
            </a:prstGeom>
            <a:noFill/>
          </p:spPr>
          <p:txBody>
            <a:bodyPr wrap="square" lIns="36576" tIns="36576" rIns="36576" bIns="36576" anchor="t">
              <a:spAutoFit/>
            </a:bodyPr>
            <a:lstStyle/>
            <a:p>
              <a:pPr algn="ctr">
                <a:lnSpc>
                  <a:spcPct val="100000"/>
                </a:lnSpc>
              </a:pPr>
              <a:r>
                <a:rPr sz="1150" b="0" i="0">
                  <a:solidFill>
                    <a:srgbClr val="857A72"/>
                  </a:solidFill>
                  <a:latin typeface="Calibri"/>
                </a:rPr>
                <a:t>desktop polling, agent grid, orchestrator dashboard</a:t>
              </a:r>
            </a:p>
          </p:txBody>
        </p:sp>
      </p:grpSp>
      <p:grpSp>
        <p:nvGrpSpPr>
          <p:cNvPr id="60" name="Card 170"/>
          <p:cNvGrpSpPr/>
          <p:nvPr/>
        </p:nvGrpSpPr>
        <p:grpSpPr>
          <a:xfrm>
            <a:off x="1417320" y="4297680"/>
            <a:ext cx="3256178" cy="1938528"/>
            <a:chOff x="1417320" y="4297680"/>
            <a:chExt cx="3256178" cy="1938528"/>
          </a:xfrm>
        </p:grpSpPr>
        <p:sp>
          <p:nvSpPr>
            <p:cNvPr id="56" name="Card bg"/>
            <p:cNvSpPr/>
            <p:nvPr/>
          </p:nvSpPr>
          <p:spPr>
            <a:xfrm>
              <a:off x="1417320" y="4297680"/>
              <a:ext cx="3256178" cy="1938528"/>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7" name="Card accent"/>
            <p:cNvSpPr/>
            <p:nvPr/>
          </p:nvSpPr>
          <p:spPr>
            <a:xfrm>
              <a:off x="1417320" y="4297680"/>
              <a:ext cx="3256178"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8" name="Card title"/>
            <p:cNvSpPr txBox="1"/>
            <p:nvPr/>
          </p:nvSpPr>
          <p:spPr>
            <a:xfrm>
              <a:off x="1618488" y="4480560"/>
              <a:ext cx="2853842" cy="327152"/>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Risk-score calibration</a:t>
              </a:r>
            </a:p>
          </p:txBody>
        </p:sp>
        <p:sp>
          <p:nvSpPr>
            <p:cNvPr id="59" name="Card body"/>
            <p:cNvSpPr txBox="1"/>
            <p:nvPr/>
          </p:nvSpPr>
          <p:spPr>
            <a:xfrm>
              <a:off x="1618488" y="4807712"/>
              <a:ext cx="2853842" cy="1318767"/>
            </a:xfrm>
            <a:prstGeom prst="rect">
              <a:avLst/>
            </a:prstGeom>
            <a:noFill/>
          </p:spPr>
          <p:txBody>
            <a:bodyPr wrap="square" lIns="36576" tIns="36576" rIns="36576" bIns="36576" anchor="t">
              <a:spAutoFit/>
            </a:bodyPr>
            <a:lstStyle/>
            <a:p>
              <a:pPr algn="l">
                <a:lnSpc>
                  <a:spcPct val="105000"/>
                </a:lnSpc>
              </a:pPr>
              <a:r>
                <a:rPr sz="1350" b="0" i="0">
                  <a:solidFill>
                    <a:srgbClr val="4A4244"/>
                  </a:solidFill>
                  <a:latin typeface="Calibri"/>
                </a:rPr>
                <a:t>7 researcher-labelled URLs (google.com … paypa1-secure-login.tk); the +0.5 offset removed and thresholds adjusted. A development check, not held-out evidence.</a:t>
              </a:r>
            </a:p>
          </p:txBody>
        </p:sp>
      </p:grpSp>
      <p:grpSp>
        <p:nvGrpSpPr>
          <p:cNvPr id="65" name="Card 171"/>
          <p:cNvGrpSpPr/>
          <p:nvPr/>
        </p:nvGrpSpPr>
        <p:grpSpPr>
          <a:xfrm>
            <a:off x="4902098" y="4297680"/>
            <a:ext cx="3256178" cy="1938528"/>
            <a:chOff x="4902098" y="4297680"/>
            <a:chExt cx="3256178" cy="1938528"/>
          </a:xfrm>
        </p:grpSpPr>
        <p:sp>
          <p:nvSpPr>
            <p:cNvPr id="61" name="Card bg"/>
            <p:cNvSpPr/>
            <p:nvPr/>
          </p:nvSpPr>
          <p:spPr>
            <a:xfrm>
              <a:off x="4902098" y="4297680"/>
              <a:ext cx="3256178" cy="1938528"/>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2" name="Card accent"/>
            <p:cNvSpPr/>
            <p:nvPr/>
          </p:nvSpPr>
          <p:spPr>
            <a:xfrm>
              <a:off x="4902098" y="4297680"/>
              <a:ext cx="3256178"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3" name="Card title"/>
            <p:cNvSpPr txBox="1"/>
            <p:nvPr/>
          </p:nvSpPr>
          <p:spPr>
            <a:xfrm>
              <a:off x="5103266" y="4480560"/>
              <a:ext cx="2853842" cy="327152"/>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DGA heuristic calibration</a:t>
              </a:r>
            </a:p>
          </p:txBody>
        </p:sp>
        <p:sp>
          <p:nvSpPr>
            <p:cNvPr id="64" name="Card body"/>
            <p:cNvSpPr txBox="1"/>
            <p:nvPr/>
          </p:nvSpPr>
          <p:spPr>
            <a:xfrm>
              <a:off x="5103266" y="4807712"/>
              <a:ext cx="2853842" cy="1318767"/>
            </a:xfrm>
            <a:prstGeom prst="rect">
              <a:avLst/>
            </a:prstGeom>
            <a:noFill/>
          </p:spPr>
          <p:txBody>
            <a:bodyPr wrap="square" lIns="36576" tIns="36576" rIns="36576" bIns="36576" anchor="t">
              <a:spAutoFit/>
            </a:bodyPr>
            <a:lstStyle/>
            <a:p>
              <a:pPr algn="l">
                <a:lnSpc>
                  <a:spcPct val="105000"/>
                </a:lnSpc>
              </a:pPr>
              <a:r>
                <a:rPr sz="1350" b="0" i="0">
                  <a:solidFill>
                    <a:srgbClr val="4A4244"/>
                  </a:solidFill>
                  <a:latin typeface="Calibri"/>
                </a:rPr>
                <a:t>30 legitimate and generated-looking domains; empirical threshold 0.45 on entropy and character patterns.</a:t>
              </a:r>
            </a:p>
          </p:txBody>
        </p:sp>
      </p:grpSp>
      <p:grpSp>
        <p:nvGrpSpPr>
          <p:cNvPr id="70" name="Card 172"/>
          <p:cNvGrpSpPr/>
          <p:nvPr/>
        </p:nvGrpSpPr>
        <p:grpSpPr>
          <a:xfrm>
            <a:off x="8386876" y="4297680"/>
            <a:ext cx="3256178" cy="1938528"/>
            <a:chOff x="8386876" y="4297680"/>
            <a:chExt cx="3256178" cy="1938528"/>
          </a:xfrm>
        </p:grpSpPr>
        <p:sp>
          <p:nvSpPr>
            <p:cNvPr id="66" name="Card bg"/>
            <p:cNvSpPr/>
            <p:nvPr/>
          </p:nvSpPr>
          <p:spPr>
            <a:xfrm>
              <a:off x="8386876" y="4297680"/>
              <a:ext cx="3256178" cy="1938528"/>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7" name="Card accent"/>
            <p:cNvSpPr/>
            <p:nvPr/>
          </p:nvSpPr>
          <p:spPr>
            <a:xfrm>
              <a:off x="8386876" y="4297680"/>
              <a:ext cx="3256178"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8" name="Card title"/>
            <p:cNvSpPr txBox="1"/>
            <p:nvPr/>
          </p:nvSpPr>
          <p:spPr>
            <a:xfrm>
              <a:off x="8588044" y="4480560"/>
              <a:ext cx="2853842" cy="327152"/>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LLM fallback verification</a:t>
              </a:r>
            </a:p>
          </p:txBody>
        </p:sp>
        <p:sp>
          <p:nvSpPr>
            <p:cNvPr id="69" name="Card body"/>
            <p:cNvSpPr txBox="1"/>
            <p:nvPr/>
          </p:nvSpPr>
          <p:spPr>
            <a:xfrm>
              <a:off x="8588044" y="4807712"/>
              <a:ext cx="2853842" cy="1318767"/>
            </a:xfrm>
            <a:prstGeom prst="rect">
              <a:avLst/>
            </a:prstGeom>
            <a:noFill/>
          </p:spPr>
          <p:txBody>
            <a:bodyPr wrap="square" lIns="36576" tIns="36576" rIns="36576" bIns="36576" anchor="t">
              <a:spAutoFit/>
            </a:bodyPr>
            <a:lstStyle/>
            <a:p>
              <a:pPr algn="l">
                <a:lnSpc>
                  <a:spcPct val="105000"/>
                </a:lnSpc>
              </a:pPr>
              <a:r>
                <a:rPr sz="1350" b="0" i="0">
                  <a:solidFill>
                    <a:srgbClr val="4A4244"/>
                  </a:solidFill>
                  <a:latin typeface="Calibri"/>
                </a:rPr>
                <a:t>Gemini exhaustion → Mistral fallback → rule-based response, each exercised in the prototype.</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7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2600"/>
                            </p:stCondLst>
                            <p:childTnLst>
                              <p:par>
                                <p:cTn id="19" presetID="22" presetClass="entr" presetSubtype="8" fill="hold"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left)">
                                      <p:cBhvr>
                                        <p:cTn id="21" dur="500"/>
                                        <p:tgtEl>
                                          <p:spTgt spid="20"/>
                                        </p:tgtEl>
                                      </p:cBhvr>
                                    </p:animEffect>
                                  </p:childTnLst>
                                </p:cTn>
                              </p:par>
                            </p:childTnLst>
                          </p:cTn>
                        </p:par>
                        <p:par>
                          <p:cTn id="22" fill="hold">
                            <p:stCondLst>
                              <p:cond delay="3100"/>
                            </p:stCondLst>
                            <p:childTnLst>
                              <p:par>
                                <p:cTn id="23" presetID="37" presetClass="entr" presetSubtype="0" fill="hold"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300"/>
                                        <p:tgtEl>
                                          <p:spTgt spid="25"/>
                                        </p:tgtEl>
                                      </p:cBhvr>
                                    </p:animEffect>
                                    <p:anim calcmode="lin" valueType="num">
                                      <p:cBhvr>
                                        <p:cTn id="26" dur="300" fill="hold"/>
                                        <p:tgtEl>
                                          <p:spTgt spid="25"/>
                                        </p:tgtEl>
                                        <p:attrNameLst>
                                          <p:attrName>ppt_x</p:attrName>
                                        </p:attrNameLst>
                                      </p:cBhvr>
                                      <p:tavLst>
                                        <p:tav tm="0">
                                          <p:val>
                                            <p:strVal val="#ppt_x"/>
                                          </p:val>
                                        </p:tav>
                                        <p:tav tm="100000">
                                          <p:val>
                                            <p:strVal val="#ppt_x"/>
                                          </p:val>
                                        </p:tav>
                                      </p:tavLst>
                                    </p:anim>
                                    <p:anim calcmode="lin" valueType="num">
                                      <p:cBhvr>
                                        <p:cTn id="27" dur="270" decel="100000" fill="hold"/>
                                        <p:tgtEl>
                                          <p:spTgt spid="25"/>
                                        </p:tgtEl>
                                        <p:attrNameLst>
                                          <p:attrName>ppt_y</p:attrName>
                                        </p:attrNameLst>
                                      </p:cBhvr>
                                      <p:tavLst>
                                        <p:tav tm="0">
                                          <p:val>
                                            <p:strVal val="#ppt_y+1"/>
                                          </p:val>
                                        </p:tav>
                                        <p:tav tm="100000">
                                          <p:val>
                                            <p:strVal val="#ppt_y-.03"/>
                                          </p:val>
                                        </p:tav>
                                      </p:tavLst>
                                    </p:anim>
                                    <p:anim calcmode="lin" valueType="num">
                                      <p:cBhvr>
                                        <p:cTn id="28" dur="30" accel="100000" fill="hold">
                                          <p:stCondLst>
                                            <p:cond delay="270"/>
                                          </p:stCondLst>
                                        </p:cTn>
                                        <p:tgtEl>
                                          <p:spTgt spid="25"/>
                                        </p:tgtEl>
                                        <p:attrNameLst>
                                          <p:attrName>ppt_y</p:attrName>
                                        </p:attrNameLst>
                                      </p:cBhvr>
                                      <p:tavLst>
                                        <p:tav tm="0">
                                          <p:val>
                                            <p:strVal val="#ppt_y-.03"/>
                                          </p:val>
                                        </p:tav>
                                        <p:tav tm="100000">
                                          <p:val>
                                            <p:strVal val="#ppt_y"/>
                                          </p:val>
                                        </p:tav>
                                      </p:tavLst>
                                    </p:anim>
                                  </p:childTnLst>
                                </p:cTn>
                              </p:par>
                            </p:childTnLst>
                          </p:cTn>
                        </p:par>
                        <p:par>
                          <p:cTn id="29" fill="hold">
                            <p:stCondLst>
                              <p:cond delay="3400"/>
                            </p:stCondLst>
                            <p:childTnLst>
                              <p:par>
                                <p:cTn id="30" presetID="37" presetClass="entr" presetSubtype="0" fill="hold" nodeType="after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300"/>
                                        <p:tgtEl>
                                          <p:spTgt spid="30"/>
                                        </p:tgtEl>
                                      </p:cBhvr>
                                    </p:animEffect>
                                    <p:anim calcmode="lin" valueType="num">
                                      <p:cBhvr>
                                        <p:cTn id="33" dur="300" fill="hold"/>
                                        <p:tgtEl>
                                          <p:spTgt spid="30"/>
                                        </p:tgtEl>
                                        <p:attrNameLst>
                                          <p:attrName>ppt_x</p:attrName>
                                        </p:attrNameLst>
                                      </p:cBhvr>
                                      <p:tavLst>
                                        <p:tav tm="0">
                                          <p:val>
                                            <p:strVal val="#ppt_x"/>
                                          </p:val>
                                        </p:tav>
                                        <p:tav tm="100000">
                                          <p:val>
                                            <p:strVal val="#ppt_x"/>
                                          </p:val>
                                        </p:tav>
                                      </p:tavLst>
                                    </p:anim>
                                    <p:anim calcmode="lin" valueType="num">
                                      <p:cBhvr>
                                        <p:cTn id="34" dur="270" decel="100000" fill="hold"/>
                                        <p:tgtEl>
                                          <p:spTgt spid="30"/>
                                        </p:tgtEl>
                                        <p:attrNameLst>
                                          <p:attrName>ppt_y</p:attrName>
                                        </p:attrNameLst>
                                      </p:cBhvr>
                                      <p:tavLst>
                                        <p:tav tm="0">
                                          <p:val>
                                            <p:strVal val="#ppt_y+1"/>
                                          </p:val>
                                        </p:tav>
                                        <p:tav tm="100000">
                                          <p:val>
                                            <p:strVal val="#ppt_y-.03"/>
                                          </p:val>
                                        </p:tav>
                                      </p:tavLst>
                                    </p:anim>
                                    <p:anim calcmode="lin" valueType="num">
                                      <p:cBhvr>
                                        <p:cTn id="35" dur="30" accel="100000" fill="hold">
                                          <p:stCondLst>
                                            <p:cond delay="270"/>
                                          </p:stCondLst>
                                        </p:cTn>
                                        <p:tgtEl>
                                          <p:spTgt spid="30"/>
                                        </p:tgtEl>
                                        <p:attrNameLst>
                                          <p:attrName>ppt_y</p:attrName>
                                        </p:attrNameLst>
                                      </p:cBhvr>
                                      <p:tavLst>
                                        <p:tav tm="0">
                                          <p:val>
                                            <p:strVal val="#ppt_y-.03"/>
                                          </p:val>
                                        </p:tav>
                                        <p:tav tm="100000">
                                          <p:val>
                                            <p:strVal val="#ppt_y"/>
                                          </p:val>
                                        </p:tav>
                                      </p:tavLst>
                                    </p:anim>
                                  </p:childTnLst>
                                </p:cTn>
                              </p:par>
                            </p:childTnLst>
                          </p:cTn>
                        </p:par>
                        <p:par>
                          <p:cTn id="36" fill="hold">
                            <p:stCondLst>
                              <p:cond delay="3700"/>
                            </p:stCondLst>
                            <p:childTnLst>
                              <p:par>
                                <p:cTn id="37" presetID="37" presetClass="entr" presetSubtype="0" fill="hold" nodeType="after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300"/>
                                        <p:tgtEl>
                                          <p:spTgt spid="35"/>
                                        </p:tgtEl>
                                      </p:cBhvr>
                                    </p:animEffect>
                                    <p:anim calcmode="lin" valueType="num">
                                      <p:cBhvr>
                                        <p:cTn id="40" dur="300" fill="hold"/>
                                        <p:tgtEl>
                                          <p:spTgt spid="35"/>
                                        </p:tgtEl>
                                        <p:attrNameLst>
                                          <p:attrName>ppt_x</p:attrName>
                                        </p:attrNameLst>
                                      </p:cBhvr>
                                      <p:tavLst>
                                        <p:tav tm="0">
                                          <p:val>
                                            <p:strVal val="#ppt_x"/>
                                          </p:val>
                                        </p:tav>
                                        <p:tav tm="100000">
                                          <p:val>
                                            <p:strVal val="#ppt_x"/>
                                          </p:val>
                                        </p:tav>
                                      </p:tavLst>
                                    </p:anim>
                                    <p:anim calcmode="lin" valueType="num">
                                      <p:cBhvr>
                                        <p:cTn id="41" dur="270" decel="100000" fill="hold"/>
                                        <p:tgtEl>
                                          <p:spTgt spid="35"/>
                                        </p:tgtEl>
                                        <p:attrNameLst>
                                          <p:attrName>ppt_y</p:attrName>
                                        </p:attrNameLst>
                                      </p:cBhvr>
                                      <p:tavLst>
                                        <p:tav tm="0">
                                          <p:val>
                                            <p:strVal val="#ppt_y+1"/>
                                          </p:val>
                                        </p:tav>
                                        <p:tav tm="100000">
                                          <p:val>
                                            <p:strVal val="#ppt_y-.03"/>
                                          </p:val>
                                        </p:tav>
                                      </p:tavLst>
                                    </p:anim>
                                    <p:anim calcmode="lin" valueType="num">
                                      <p:cBhvr>
                                        <p:cTn id="42" dur="30" accel="100000" fill="hold">
                                          <p:stCondLst>
                                            <p:cond delay="270"/>
                                          </p:stCondLst>
                                        </p:cTn>
                                        <p:tgtEl>
                                          <p:spTgt spid="35"/>
                                        </p:tgtEl>
                                        <p:attrNameLst>
                                          <p:attrName>ppt_y</p:attrName>
                                        </p:attrNameLst>
                                      </p:cBhvr>
                                      <p:tavLst>
                                        <p:tav tm="0">
                                          <p:val>
                                            <p:strVal val="#ppt_y-.03"/>
                                          </p:val>
                                        </p:tav>
                                        <p:tav tm="100000">
                                          <p:val>
                                            <p:strVal val="#ppt_y"/>
                                          </p:val>
                                        </p:tav>
                                      </p:tavLst>
                                    </p:anim>
                                  </p:childTnLst>
                                </p:cTn>
                              </p:par>
                            </p:childTnLst>
                          </p:cTn>
                        </p:par>
                        <p:par>
                          <p:cTn id="43" fill="hold">
                            <p:stCondLst>
                              <p:cond delay="4000"/>
                            </p:stCondLst>
                            <p:childTnLst>
                              <p:par>
                                <p:cTn id="44" presetID="37" presetClass="entr" presetSubtype="0" fill="hold" nodeType="after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300"/>
                                        <p:tgtEl>
                                          <p:spTgt spid="40"/>
                                        </p:tgtEl>
                                      </p:cBhvr>
                                    </p:animEffect>
                                    <p:anim calcmode="lin" valueType="num">
                                      <p:cBhvr>
                                        <p:cTn id="47" dur="300" fill="hold"/>
                                        <p:tgtEl>
                                          <p:spTgt spid="40"/>
                                        </p:tgtEl>
                                        <p:attrNameLst>
                                          <p:attrName>ppt_x</p:attrName>
                                        </p:attrNameLst>
                                      </p:cBhvr>
                                      <p:tavLst>
                                        <p:tav tm="0">
                                          <p:val>
                                            <p:strVal val="#ppt_x"/>
                                          </p:val>
                                        </p:tav>
                                        <p:tav tm="100000">
                                          <p:val>
                                            <p:strVal val="#ppt_x"/>
                                          </p:val>
                                        </p:tav>
                                      </p:tavLst>
                                    </p:anim>
                                    <p:anim calcmode="lin" valueType="num">
                                      <p:cBhvr>
                                        <p:cTn id="48" dur="270" decel="100000" fill="hold"/>
                                        <p:tgtEl>
                                          <p:spTgt spid="40"/>
                                        </p:tgtEl>
                                        <p:attrNameLst>
                                          <p:attrName>ppt_y</p:attrName>
                                        </p:attrNameLst>
                                      </p:cBhvr>
                                      <p:tavLst>
                                        <p:tav tm="0">
                                          <p:val>
                                            <p:strVal val="#ppt_y+1"/>
                                          </p:val>
                                        </p:tav>
                                        <p:tav tm="100000">
                                          <p:val>
                                            <p:strVal val="#ppt_y-.03"/>
                                          </p:val>
                                        </p:tav>
                                      </p:tavLst>
                                    </p:anim>
                                    <p:anim calcmode="lin" valueType="num">
                                      <p:cBhvr>
                                        <p:cTn id="49" dur="30" accel="100000" fill="hold">
                                          <p:stCondLst>
                                            <p:cond delay="270"/>
                                          </p:stCondLst>
                                        </p:cTn>
                                        <p:tgtEl>
                                          <p:spTgt spid="40"/>
                                        </p:tgtEl>
                                        <p:attrNameLst>
                                          <p:attrName>ppt_y</p:attrName>
                                        </p:attrNameLst>
                                      </p:cBhvr>
                                      <p:tavLst>
                                        <p:tav tm="0">
                                          <p:val>
                                            <p:strVal val="#ppt_y-.03"/>
                                          </p:val>
                                        </p:tav>
                                        <p:tav tm="100000">
                                          <p:val>
                                            <p:strVal val="#ppt_y"/>
                                          </p:val>
                                        </p:tav>
                                      </p:tavLst>
                                    </p:anim>
                                  </p:childTnLst>
                                </p:cTn>
                              </p:par>
                            </p:childTnLst>
                          </p:cTn>
                        </p:par>
                        <p:par>
                          <p:cTn id="50" fill="hold">
                            <p:stCondLst>
                              <p:cond delay="4300"/>
                            </p:stCondLst>
                            <p:childTnLst>
                              <p:par>
                                <p:cTn id="51" presetID="37" presetClass="entr" presetSubtype="0" fill="hold" nodeType="after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300"/>
                                        <p:tgtEl>
                                          <p:spTgt spid="45"/>
                                        </p:tgtEl>
                                      </p:cBhvr>
                                    </p:animEffect>
                                    <p:anim calcmode="lin" valueType="num">
                                      <p:cBhvr>
                                        <p:cTn id="54" dur="300" fill="hold"/>
                                        <p:tgtEl>
                                          <p:spTgt spid="45"/>
                                        </p:tgtEl>
                                        <p:attrNameLst>
                                          <p:attrName>ppt_x</p:attrName>
                                        </p:attrNameLst>
                                      </p:cBhvr>
                                      <p:tavLst>
                                        <p:tav tm="0">
                                          <p:val>
                                            <p:strVal val="#ppt_x"/>
                                          </p:val>
                                        </p:tav>
                                        <p:tav tm="100000">
                                          <p:val>
                                            <p:strVal val="#ppt_x"/>
                                          </p:val>
                                        </p:tav>
                                      </p:tavLst>
                                    </p:anim>
                                    <p:anim calcmode="lin" valueType="num">
                                      <p:cBhvr>
                                        <p:cTn id="55" dur="270" decel="100000" fill="hold"/>
                                        <p:tgtEl>
                                          <p:spTgt spid="45"/>
                                        </p:tgtEl>
                                        <p:attrNameLst>
                                          <p:attrName>ppt_y</p:attrName>
                                        </p:attrNameLst>
                                      </p:cBhvr>
                                      <p:tavLst>
                                        <p:tav tm="0">
                                          <p:val>
                                            <p:strVal val="#ppt_y+1"/>
                                          </p:val>
                                        </p:tav>
                                        <p:tav tm="100000">
                                          <p:val>
                                            <p:strVal val="#ppt_y-.03"/>
                                          </p:val>
                                        </p:tav>
                                      </p:tavLst>
                                    </p:anim>
                                    <p:anim calcmode="lin" valueType="num">
                                      <p:cBhvr>
                                        <p:cTn id="56" dur="30" accel="100000" fill="hold">
                                          <p:stCondLst>
                                            <p:cond delay="270"/>
                                          </p:stCondLst>
                                        </p:cTn>
                                        <p:tgtEl>
                                          <p:spTgt spid="45"/>
                                        </p:tgtEl>
                                        <p:attrNameLst>
                                          <p:attrName>ppt_y</p:attrName>
                                        </p:attrNameLst>
                                      </p:cBhvr>
                                      <p:tavLst>
                                        <p:tav tm="0">
                                          <p:val>
                                            <p:strVal val="#ppt_y-.03"/>
                                          </p:val>
                                        </p:tav>
                                        <p:tav tm="100000">
                                          <p:val>
                                            <p:strVal val="#ppt_y"/>
                                          </p:val>
                                        </p:tav>
                                      </p:tavLst>
                                    </p:anim>
                                  </p:childTnLst>
                                </p:cTn>
                              </p:par>
                            </p:childTnLst>
                          </p:cTn>
                        </p:par>
                        <p:par>
                          <p:cTn id="57" fill="hold">
                            <p:stCondLst>
                              <p:cond delay="4600"/>
                            </p:stCondLst>
                            <p:childTnLst>
                              <p:par>
                                <p:cTn id="58" presetID="37" presetClass="entr" presetSubtype="0" fill="hold" nodeType="afterEffect">
                                  <p:stCondLst>
                                    <p:cond delay="0"/>
                                  </p:stCondLst>
                                  <p:childTnLst>
                                    <p:set>
                                      <p:cBhvr>
                                        <p:cTn id="59" dur="1" fill="hold">
                                          <p:stCondLst>
                                            <p:cond delay="0"/>
                                          </p:stCondLst>
                                        </p:cTn>
                                        <p:tgtEl>
                                          <p:spTgt spid="50"/>
                                        </p:tgtEl>
                                        <p:attrNameLst>
                                          <p:attrName>style.visibility</p:attrName>
                                        </p:attrNameLst>
                                      </p:cBhvr>
                                      <p:to>
                                        <p:strVal val="visible"/>
                                      </p:to>
                                    </p:set>
                                    <p:animEffect transition="in" filter="fade">
                                      <p:cBhvr>
                                        <p:cTn id="60" dur="300"/>
                                        <p:tgtEl>
                                          <p:spTgt spid="50"/>
                                        </p:tgtEl>
                                      </p:cBhvr>
                                    </p:animEffect>
                                    <p:anim calcmode="lin" valueType="num">
                                      <p:cBhvr>
                                        <p:cTn id="61" dur="300" fill="hold"/>
                                        <p:tgtEl>
                                          <p:spTgt spid="50"/>
                                        </p:tgtEl>
                                        <p:attrNameLst>
                                          <p:attrName>ppt_x</p:attrName>
                                        </p:attrNameLst>
                                      </p:cBhvr>
                                      <p:tavLst>
                                        <p:tav tm="0">
                                          <p:val>
                                            <p:strVal val="#ppt_x"/>
                                          </p:val>
                                        </p:tav>
                                        <p:tav tm="100000">
                                          <p:val>
                                            <p:strVal val="#ppt_x"/>
                                          </p:val>
                                        </p:tav>
                                      </p:tavLst>
                                    </p:anim>
                                    <p:anim calcmode="lin" valueType="num">
                                      <p:cBhvr>
                                        <p:cTn id="62" dur="270" decel="100000" fill="hold"/>
                                        <p:tgtEl>
                                          <p:spTgt spid="50"/>
                                        </p:tgtEl>
                                        <p:attrNameLst>
                                          <p:attrName>ppt_y</p:attrName>
                                        </p:attrNameLst>
                                      </p:cBhvr>
                                      <p:tavLst>
                                        <p:tav tm="0">
                                          <p:val>
                                            <p:strVal val="#ppt_y+1"/>
                                          </p:val>
                                        </p:tav>
                                        <p:tav tm="100000">
                                          <p:val>
                                            <p:strVal val="#ppt_y-.03"/>
                                          </p:val>
                                        </p:tav>
                                      </p:tavLst>
                                    </p:anim>
                                    <p:anim calcmode="lin" valueType="num">
                                      <p:cBhvr>
                                        <p:cTn id="63" dur="30" accel="100000" fill="hold">
                                          <p:stCondLst>
                                            <p:cond delay="270"/>
                                          </p:stCondLst>
                                        </p:cTn>
                                        <p:tgtEl>
                                          <p:spTgt spid="50"/>
                                        </p:tgtEl>
                                        <p:attrNameLst>
                                          <p:attrName>ppt_y</p:attrName>
                                        </p:attrNameLst>
                                      </p:cBhvr>
                                      <p:tavLst>
                                        <p:tav tm="0">
                                          <p:val>
                                            <p:strVal val="#ppt_y-.03"/>
                                          </p:val>
                                        </p:tav>
                                        <p:tav tm="100000">
                                          <p:val>
                                            <p:strVal val="#ppt_y"/>
                                          </p:val>
                                        </p:tav>
                                      </p:tavLst>
                                    </p:anim>
                                  </p:childTnLst>
                                </p:cTn>
                              </p:par>
                            </p:childTnLst>
                          </p:cTn>
                        </p:par>
                        <p:par>
                          <p:cTn id="64" fill="hold">
                            <p:stCondLst>
                              <p:cond delay="4900"/>
                            </p:stCondLst>
                            <p:childTnLst>
                              <p:par>
                                <p:cTn id="65" presetID="37" presetClass="entr" presetSubtype="0" fill="hold" nodeType="after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fade">
                                      <p:cBhvr>
                                        <p:cTn id="67" dur="300"/>
                                        <p:tgtEl>
                                          <p:spTgt spid="55"/>
                                        </p:tgtEl>
                                      </p:cBhvr>
                                    </p:animEffect>
                                    <p:anim calcmode="lin" valueType="num">
                                      <p:cBhvr>
                                        <p:cTn id="68" dur="300" fill="hold"/>
                                        <p:tgtEl>
                                          <p:spTgt spid="55"/>
                                        </p:tgtEl>
                                        <p:attrNameLst>
                                          <p:attrName>ppt_x</p:attrName>
                                        </p:attrNameLst>
                                      </p:cBhvr>
                                      <p:tavLst>
                                        <p:tav tm="0">
                                          <p:val>
                                            <p:strVal val="#ppt_x"/>
                                          </p:val>
                                        </p:tav>
                                        <p:tav tm="100000">
                                          <p:val>
                                            <p:strVal val="#ppt_x"/>
                                          </p:val>
                                        </p:tav>
                                      </p:tavLst>
                                    </p:anim>
                                    <p:anim calcmode="lin" valueType="num">
                                      <p:cBhvr>
                                        <p:cTn id="69" dur="270" decel="100000" fill="hold"/>
                                        <p:tgtEl>
                                          <p:spTgt spid="55"/>
                                        </p:tgtEl>
                                        <p:attrNameLst>
                                          <p:attrName>ppt_y</p:attrName>
                                        </p:attrNameLst>
                                      </p:cBhvr>
                                      <p:tavLst>
                                        <p:tav tm="0">
                                          <p:val>
                                            <p:strVal val="#ppt_y+1"/>
                                          </p:val>
                                        </p:tav>
                                        <p:tav tm="100000">
                                          <p:val>
                                            <p:strVal val="#ppt_y-.03"/>
                                          </p:val>
                                        </p:tav>
                                      </p:tavLst>
                                    </p:anim>
                                    <p:anim calcmode="lin" valueType="num">
                                      <p:cBhvr>
                                        <p:cTn id="70" dur="30" accel="100000" fill="hold">
                                          <p:stCondLst>
                                            <p:cond delay="270"/>
                                          </p:stCondLst>
                                        </p:cTn>
                                        <p:tgtEl>
                                          <p:spTgt spid="55"/>
                                        </p:tgtEl>
                                        <p:attrNameLst>
                                          <p:attrName>ppt_y</p:attrName>
                                        </p:attrNameLst>
                                      </p:cBhvr>
                                      <p:tavLst>
                                        <p:tav tm="0">
                                          <p:val>
                                            <p:strVal val="#ppt_y-.03"/>
                                          </p:val>
                                        </p:tav>
                                        <p:tav tm="100000">
                                          <p:val>
                                            <p:strVal val="#ppt_y"/>
                                          </p:val>
                                        </p:tav>
                                      </p:tavLst>
                                    </p:anim>
                                  </p:childTnLst>
                                </p:cTn>
                              </p:par>
                            </p:childTnLst>
                          </p:cTn>
                        </p:par>
                        <p:par>
                          <p:cTn id="71" fill="hold">
                            <p:stCondLst>
                              <p:cond delay="5200"/>
                            </p:stCondLst>
                            <p:childTnLst>
                              <p:par>
                                <p:cTn id="72" presetID="2" presetClass="entr" presetSubtype="4" fill="hold" nodeType="afterEffect">
                                  <p:stCondLst>
                                    <p:cond delay="0"/>
                                  </p:stCondLst>
                                  <p:childTnLst>
                                    <p:set>
                                      <p:cBhvr>
                                        <p:cTn id="73" dur="1" fill="hold">
                                          <p:stCondLst>
                                            <p:cond delay="0"/>
                                          </p:stCondLst>
                                        </p:cTn>
                                        <p:tgtEl>
                                          <p:spTgt spid="60"/>
                                        </p:tgtEl>
                                        <p:attrNameLst>
                                          <p:attrName>style.visibility</p:attrName>
                                        </p:attrNameLst>
                                      </p:cBhvr>
                                      <p:to>
                                        <p:strVal val="visible"/>
                                      </p:to>
                                    </p:set>
                                    <p:anim calcmode="lin" valueType="num">
                                      <p:cBhvr additive="base">
                                        <p:cTn id="74" dur="500" fill="hold"/>
                                        <p:tgtEl>
                                          <p:spTgt spid="60"/>
                                        </p:tgtEl>
                                        <p:attrNameLst>
                                          <p:attrName>ppt_x</p:attrName>
                                        </p:attrNameLst>
                                      </p:cBhvr>
                                      <p:tavLst>
                                        <p:tav tm="0">
                                          <p:val>
                                            <p:strVal val="#ppt_x"/>
                                          </p:val>
                                        </p:tav>
                                        <p:tav tm="100000">
                                          <p:val>
                                            <p:strVal val="#ppt_x"/>
                                          </p:val>
                                        </p:tav>
                                      </p:tavLst>
                                    </p:anim>
                                    <p:anim calcmode="lin" valueType="num">
                                      <p:cBhvr additive="base">
                                        <p:cTn id="75" dur="500" fill="hold"/>
                                        <p:tgtEl>
                                          <p:spTgt spid="60"/>
                                        </p:tgtEl>
                                        <p:attrNameLst>
                                          <p:attrName>ppt_y</p:attrName>
                                        </p:attrNameLst>
                                      </p:cBhvr>
                                      <p:tavLst>
                                        <p:tav tm="0">
                                          <p:val>
                                            <p:strVal val="1+#ppt_h/2"/>
                                          </p:val>
                                        </p:tav>
                                        <p:tav tm="100000">
                                          <p:val>
                                            <p:strVal val="#ppt_y"/>
                                          </p:val>
                                        </p:tav>
                                      </p:tavLst>
                                    </p:anim>
                                  </p:childTnLst>
                                </p:cTn>
                              </p:par>
                            </p:childTnLst>
                          </p:cTn>
                        </p:par>
                        <p:par>
                          <p:cTn id="76" fill="hold">
                            <p:stCondLst>
                              <p:cond delay="5700"/>
                            </p:stCondLst>
                            <p:childTnLst>
                              <p:par>
                                <p:cTn id="77" presetID="2" presetClass="entr" presetSubtype="4" fill="hold" nodeType="afterEffect">
                                  <p:stCondLst>
                                    <p:cond delay="0"/>
                                  </p:stCondLst>
                                  <p:childTnLst>
                                    <p:set>
                                      <p:cBhvr>
                                        <p:cTn id="78" dur="1" fill="hold">
                                          <p:stCondLst>
                                            <p:cond delay="0"/>
                                          </p:stCondLst>
                                        </p:cTn>
                                        <p:tgtEl>
                                          <p:spTgt spid="65"/>
                                        </p:tgtEl>
                                        <p:attrNameLst>
                                          <p:attrName>style.visibility</p:attrName>
                                        </p:attrNameLst>
                                      </p:cBhvr>
                                      <p:to>
                                        <p:strVal val="visible"/>
                                      </p:to>
                                    </p:set>
                                    <p:anim calcmode="lin" valueType="num">
                                      <p:cBhvr additive="base">
                                        <p:cTn id="79" dur="500" fill="hold"/>
                                        <p:tgtEl>
                                          <p:spTgt spid="65"/>
                                        </p:tgtEl>
                                        <p:attrNameLst>
                                          <p:attrName>ppt_x</p:attrName>
                                        </p:attrNameLst>
                                      </p:cBhvr>
                                      <p:tavLst>
                                        <p:tav tm="0">
                                          <p:val>
                                            <p:strVal val="#ppt_x"/>
                                          </p:val>
                                        </p:tav>
                                        <p:tav tm="100000">
                                          <p:val>
                                            <p:strVal val="#ppt_x"/>
                                          </p:val>
                                        </p:tav>
                                      </p:tavLst>
                                    </p:anim>
                                    <p:anim calcmode="lin" valueType="num">
                                      <p:cBhvr additive="base">
                                        <p:cTn id="80" dur="500" fill="hold"/>
                                        <p:tgtEl>
                                          <p:spTgt spid="65"/>
                                        </p:tgtEl>
                                        <p:attrNameLst>
                                          <p:attrName>ppt_y</p:attrName>
                                        </p:attrNameLst>
                                      </p:cBhvr>
                                      <p:tavLst>
                                        <p:tav tm="0">
                                          <p:val>
                                            <p:strVal val="1+#ppt_h/2"/>
                                          </p:val>
                                        </p:tav>
                                        <p:tav tm="100000">
                                          <p:val>
                                            <p:strVal val="#ppt_y"/>
                                          </p:val>
                                        </p:tav>
                                      </p:tavLst>
                                    </p:anim>
                                  </p:childTnLst>
                                </p:cTn>
                              </p:par>
                            </p:childTnLst>
                          </p:cTn>
                        </p:par>
                        <p:par>
                          <p:cTn id="81" fill="hold">
                            <p:stCondLst>
                              <p:cond delay="6200"/>
                            </p:stCondLst>
                            <p:childTnLst>
                              <p:par>
                                <p:cTn id="82" presetID="2" presetClass="entr" presetSubtype="4" fill="hold" nodeType="afterEffect">
                                  <p:stCondLst>
                                    <p:cond delay="0"/>
                                  </p:stCondLst>
                                  <p:childTnLst>
                                    <p:set>
                                      <p:cBhvr>
                                        <p:cTn id="83" dur="1" fill="hold">
                                          <p:stCondLst>
                                            <p:cond delay="0"/>
                                          </p:stCondLst>
                                        </p:cTn>
                                        <p:tgtEl>
                                          <p:spTgt spid="70"/>
                                        </p:tgtEl>
                                        <p:attrNameLst>
                                          <p:attrName>style.visibility</p:attrName>
                                        </p:attrNameLst>
                                      </p:cBhvr>
                                      <p:to>
                                        <p:strVal val="visible"/>
                                      </p:to>
                                    </p:set>
                                    <p:anim calcmode="lin" valueType="num">
                                      <p:cBhvr additive="base">
                                        <p:cTn id="84" dur="500" fill="hold"/>
                                        <p:tgtEl>
                                          <p:spTgt spid="70"/>
                                        </p:tgtEl>
                                        <p:attrNameLst>
                                          <p:attrName>ppt_x</p:attrName>
                                        </p:attrNameLst>
                                      </p:cBhvr>
                                      <p:tavLst>
                                        <p:tav tm="0">
                                          <p:val>
                                            <p:strVal val="#ppt_x"/>
                                          </p:val>
                                        </p:tav>
                                        <p:tav tm="100000">
                                          <p:val>
                                            <p:strVal val="#ppt_x"/>
                                          </p:val>
                                        </p:tav>
                                      </p:tavLst>
                                    </p:anim>
                                    <p:anim calcmode="lin" valueType="num">
                                      <p:cBhvr additive="base">
                                        <p:cTn id="85"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875520" y="-1280160"/>
            <a:ext cx="3108960" cy="310896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435132" y="-720547"/>
            <a:ext cx="1989734" cy="1989734"/>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3383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06</a:t>
            </a:r>
          </a:p>
        </p:txBody>
      </p:sp>
      <p:sp>
        <p:nvSpPr>
          <p:cNvPr id="12" name="!!rail7"/>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465429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173"/>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06  ·  METHODS AND MATERIALS USED  ·  5 OF 6</a:t>
            </a:r>
          </a:p>
        </p:txBody>
      </p:sp>
      <p:sp>
        <p:nvSpPr>
          <p:cNvPr id="15" name="Title 174"/>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Methods and materials used</a:t>
            </a:r>
          </a:p>
        </p:txBody>
      </p:sp>
      <p:sp>
        <p:nvSpPr>
          <p:cNvPr id="16" name="Subtitle 175"/>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Learning techniques and the five training phases</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Appendix C.3–C.4; §2.3.3</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12 / 20</a:t>
            </a:r>
          </a:p>
        </p:txBody>
      </p:sp>
      <p:grpSp>
        <p:nvGrpSpPr>
          <p:cNvPr id="25" name="Card 176"/>
          <p:cNvGrpSpPr/>
          <p:nvPr/>
        </p:nvGrpSpPr>
        <p:grpSpPr>
          <a:xfrm>
            <a:off x="1417320" y="1828800"/>
            <a:ext cx="2419273" cy="2377440"/>
            <a:chOff x="1417320" y="1828800"/>
            <a:chExt cx="2419273" cy="2377440"/>
          </a:xfrm>
        </p:grpSpPr>
        <p:sp>
          <p:nvSpPr>
            <p:cNvPr id="20" name="Card bg"/>
            <p:cNvSpPr/>
            <p:nvPr/>
          </p:nvSpPr>
          <p:spPr>
            <a:xfrm>
              <a:off x="1417320" y="1828800"/>
              <a:ext cx="2419273" cy="23774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Card accent"/>
            <p:cNvSpPr/>
            <p:nvPr/>
          </p:nvSpPr>
          <p:spPr>
            <a:xfrm>
              <a:off x="1417320" y="1828800"/>
              <a:ext cx="2419273"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Card label"/>
            <p:cNvSpPr txBox="1"/>
            <p:nvPr/>
          </p:nvSpPr>
          <p:spPr>
            <a:xfrm>
              <a:off x="1618488" y="2011680"/>
              <a:ext cx="2016937" cy="274320"/>
            </a:xfrm>
            <a:prstGeom prst="rect">
              <a:avLst/>
            </a:prstGeom>
            <a:noFill/>
          </p:spPr>
          <p:txBody>
            <a:bodyPr wrap="square" lIns="36576" tIns="36576" rIns="36576" bIns="36576" anchor="t">
              <a:spAutoFit/>
            </a:bodyPr>
            <a:lstStyle/>
            <a:p>
              <a:pPr algn="l">
                <a:lnSpc>
                  <a:spcPct val="108000"/>
                </a:lnSpc>
              </a:pPr>
              <a:r>
                <a:rPr sz="1050" b="1" i="0">
                  <a:solidFill>
                    <a:srgbClr val="C77A1E"/>
                  </a:solidFill>
                  <a:latin typeface="Consolas"/>
                </a:rPr>
                <a:t>SUPERVISED</a:t>
              </a:r>
            </a:p>
          </p:txBody>
        </p:sp>
        <p:sp>
          <p:nvSpPr>
            <p:cNvPr id="23" name="Card title"/>
            <p:cNvSpPr txBox="1"/>
            <p:nvPr/>
          </p:nvSpPr>
          <p:spPr>
            <a:xfrm>
              <a:off x="1618488" y="2304288"/>
              <a:ext cx="2016937" cy="811339"/>
            </a:xfrm>
            <a:prstGeom prst="rect">
              <a:avLst/>
            </a:prstGeom>
            <a:noFill/>
          </p:spPr>
          <p:txBody>
            <a:bodyPr wrap="square" lIns="36576" tIns="36576" rIns="36576" bIns="36576" anchor="t">
              <a:spAutoFit/>
            </a:bodyPr>
            <a:lstStyle/>
            <a:p>
              <a:pPr algn="l">
                <a:lnSpc>
                  <a:spcPct val="108000"/>
                </a:lnSpc>
              </a:pPr>
              <a:r>
                <a:rPr sz="1550" b="1" i="0">
                  <a:solidFill>
                    <a:srgbClr val="1F1A1B"/>
                  </a:solidFill>
                  <a:latin typeface="Bahnschrift"/>
                </a:rPr>
                <a:t>Three gradient-boosted classifiers</a:t>
              </a:r>
            </a:p>
          </p:txBody>
        </p:sp>
        <p:sp>
          <p:nvSpPr>
            <p:cNvPr id="24" name="Card body"/>
            <p:cNvSpPr txBox="1"/>
            <p:nvPr/>
          </p:nvSpPr>
          <p:spPr>
            <a:xfrm>
              <a:off x="1618488" y="3115627"/>
              <a:ext cx="2016937" cy="980884"/>
            </a:xfrm>
            <a:prstGeom prst="rect">
              <a:avLst/>
            </a:prstGeom>
            <a:noFill/>
          </p:spPr>
          <p:txBody>
            <a:bodyPr wrap="square" lIns="36576" tIns="36576" rIns="36576" bIns="36576" anchor="t">
              <a:spAutoFit/>
            </a:bodyPr>
            <a:lstStyle/>
            <a:p>
              <a:pPr algn="l">
                <a:lnSpc>
                  <a:spcPct val="105000"/>
                </a:lnSpc>
              </a:pPr>
              <a:r>
                <a:rPr sz="1250" b="0" i="0">
                  <a:solidFill>
                    <a:srgbClr val="4A4244"/>
                  </a:solidFill>
                  <a:latin typeface="Calibri"/>
                </a:rPr>
                <a:t>Gradient-boosted trees (scikit-learn) for phishing, malware-serving URLs and web-attack payloads (SQLi/XSS).</a:t>
              </a:r>
            </a:p>
          </p:txBody>
        </p:sp>
      </p:grpSp>
      <p:grpSp>
        <p:nvGrpSpPr>
          <p:cNvPr id="31" name="Card 177"/>
          <p:cNvGrpSpPr/>
          <p:nvPr/>
        </p:nvGrpSpPr>
        <p:grpSpPr>
          <a:xfrm>
            <a:off x="4019473" y="1828800"/>
            <a:ext cx="2419273" cy="2377440"/>
            <a:chOff x="4019473" y="1828800"/>
            <a:chExt cx="2419273" cy="2377440"/>
          </a:xfrm>
        </p:grpSpPr>
        <p:sp>
          <p:nvSpPr>
            <p:cNvPr id="26" name="Card bg"/>
            <p:cNvSpPr/>
            <p:nvPr/>
          </p:nvSpPr>
          <p:spPr>
            <a:xfrm>
              <a:off x="4019473" y="1828800"/>
              <a:ext cx="2419273" cy="23774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Card accent"/>
            <p:cNvSpPr/>
            <p:nvPr/>
          </p:nvSpPr>
          <p:spPr>
            <a:xfrm>
              <a:off x="4019473" y="1828800"/>
              <a:ext cx="2419273"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Card label"/>
            <p:cNvSpPr txBox="1"/>
            <p:nvPr/>
          </p:nvSpPr>
          <p:spPr>
            <a:xfrm>
              <a:off x="4220641" y="2011680"/>
              <a:ext cx="2016937" cy="274320"/>
            </a:xfrm>
            <a:prstGeom prst="rect">
              <a:avLst/>
            </a:prstGeom>
            <a:noFill/>
          </p:spPr>
          <p:txBody>
            <a:bodyPr wrap="square" lIns="36576" tIns="36576" rIns="36576" bIns="36576" anchor="t">
              <a:spAutoFit/>
            </a:bodyPr>
            <a:lstStyle/>
            <a:p>
              <a:pPr algn="l">
                <a:lnSpc>
                  <a:spcPct val="108000"/>
                </a:lnSpc>
              </a:pPr>
              <a:r>
                <a:rPr sz="1050" b="1" i="0">
                  <a:solidFill>
                    <a:srgbClr val="5E7257"/>
                  </a:solidFill>
                  <a:latin typeface="Consolas"/>
                </a:rPr>
                <a:t>UNSUPERVISED</a:t>
              </a:r>
            </a:p>
          </p:txBody>
        </p:sp>
        <p:sp>
          <p:nvSpPr>
            <p:cNvPr id="29" name="Card title"/>
            <p:cNvSpPr txBox="1"/>
            <p:nvPr/>
          </p:nvSpPr>
          <p:spPr>
            <a:xfrm>
              <a:off x="4220641" y="2304288"/>
              <a:ext cx="2016937" cy="319214"/>
            </a:xfrm>
            <a:prstGeom prst="rect">
              <a:avLst/>
            </a:prstGeom>
            <a:noFill/>
          </p:spPr>
          <p:txBody>
            <a:bodyPr wrap="square" lIns="36576" tIns="36576" rIns="36576" bIns="36576" anchor="t">
              <a:spAutoFit/>
            </a:bodyPr>
            <a:lstStyle/>
            <a:p>
              <a:pPr algn="l">
                <a:lnSpc>
                  <a:spcPct val="108000"/>
                </a:lnSpc>
              </a:pPr>
              <a:r>
                <a:rPr sz="1550" b="1" i="0">
                  <a:solidFill>
                    <a:srgbClr val="1F1A1B"/>
                  </a:solidFill>
                  <a:latin typeface="Bahnschrift"/>
                </a:rPr>
                <a:t>Anomaly detection</a:t>
              </a:r>
            </a:p>
          </p:txBody>
        </p:sp>
        <p:sp>
          <p:nvSpPr>
            <p:cNvPr id="30" name="Card body"/>
            <p:cNvSpPr txBox="1"/>
            <p:nvPr/>
          </p:nvSpPr>
          <p:spPr>
            <a:xfrm>
              <a:off x="4220641" y="2623502"/>
              <a:ext cx="2016937" cy="1473009"/>
            </a:xfrm>
            <a:prstGeom prst="rect">
              <a:avLst/>
            </a:prstGeom>
            <a:noFill/>
          </p:spPr>
          <p:txBody>
            <a:bodyPr wrap="square" lIns="36576" tIns="36576" rIns="36576" bIns="36576" anchor="t">
              <a:spAutoFit/>
            </a:bodyPr>
            <a:lstStyle/>
            <a:p>
              <a:pPr algn="l">
                <a:lnSpc>
                  <a:spcPct val="105000"/>
                </a:lnSpc>
              </a:pPr>
              <a:r>
                <a:rPr sz="1250" b="0" i="0">
                  <a:solidFill>
                    <a:srgbClr val="4A4244"/>
                  </a:solidFill>
                  <a:latin typeface="Calibri"/>
                </a:rPr>
                <a:t>IsolationForest fitted to benign URL features (200 trees, contamination 0.02). Anomaly ≠ proof of harm.</a:t>
              </a:r>
            </a:p>
          </p:txBody>
        </p:sp>
      </p:grpSp>
      <p:grpSp>
        <p:nvGrpSpPr>
          <p:cNvPr id="37" name="Card 178"/>
          <p:cNvGrpSpPr/>
          <p:nvPr/>
        </p:nvGrpSpPr>
        <p:grpSpPr>
          <a:xfrm>
            <a:off x="6621627" y="1828800"/>
            <a:ext cx="2419273" cy="2377440"/>
            <a:chOff x="6621627" y="1828800"/>
            <a:chExt cx="2419273" cy="2377440"/>
          </a:xfrm>
        </p:grpSpPr>
        <p:sp>
          <p:nvSpPr>
            <p:cNvPr id="32" name="Card bg"/>
            <p:cNvSpPr/>
            <p:nvPr/>
          </p:nvSpPr>
          <p:spPr>
            <a:xfrm>
              <a:off x="6621627" y="1828800"/>
              <a:ext cx="2419273" cy="23774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Card accent"/>
            <p:cNvSpPr/>
            <p:nvPr/>
          </p:nvSpPr>
          <p:spPr>
            <a:xfrm>
              <a:off x="6621627" y="1828800"/>
              <a:ext cx="2419273"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Card label"/>
            <p:cNvSpPr txBox="1"/>
            <p:nvPr/>
          </p:nvSpPr>
          <p:spPr>
            <a:xfrm>
              <a:off x="6822795" y="2011680"/>
              <a:ext cx="2016937" cy="274320"/>
            </a:xfrm>
            <a:prstGeom prst="rect">
              <a:avLst/>
            </a:prstGeom>
            <a:noFill/>
          </p:spPr>
          <p:txBody>
            <a:bodyPr wrap="square" lIns="36576" tIns="36576" rIns="36576" bIns="36576" anchor="t">
              <a:spAutoFit/>
            </a:bodyPr>
            <a:lstStyle/>
            <a:p>
              <a:pPr algn="l">
                <a:lnSpc>
                  <a:spcPct val="108000"/>
                </a:lnSpc>
              </a:pPr>
              <a:r>
                <a:rPr sz="1050" b="1" i="0">
                  <a:solidFill>
                    <a:srgbClr val="C77A1E"/>
                  </a:solidFill>
                  <a:latin typeface="Consolas"/>
                </a:rPr>
                <a:t>PRETRAINED INFERENCE</a:t>
              </a:r>
            </a:p>
          </p:txBody>
        </p:sp>
        <p:sp>
          <p:nvSpPr>
            <p:cNvPr id="35" name="Card title"/>
            <p:cNvSpPr txBox="1"/>
            <p:nvPr/>
          </p:nvSpPr>
          <p:spPr>
            <a:xfrm>
              <a:off x="6822795" y="2304288"/>
              <a:ext cx="2016937" cy="319214"/>
            </a:xfrm>
            <a:prstGeom prst="rect">
              <a:avLst/>
            </a:prstGeom>
            <a:noFill/>
          </p:spPr>
          <p:txBody>
            <a:bodyPr wrap="square" lIns="36576" tIns="36576" rIns="36576" bIns="36576" anchor="t">
              <a:spAutoFit/>
            </a:bodyPr>
            <a:lstStyle/>
            <a:p>
              <a:pPr algn="l">
                <a:lnSpc>
                  <a:spcPct val="108000"/>
                </a:lnSpc>
              </a:pPr>
              <a:r>
                <a:rPr sz="1550" b="1" i="0">
                  <a:solidFill>
                    <a:srgbClr val="1F1A1B"/>
                  </a:solidFill>
                  <a:latin typeface="Bahnschrift"/>
                </a:rPr>
                <a:t>BERT and Qwen</a:t>
              </a:r>
            </a:p>
          </p:txBody>
        </p:sp>
        <p:sp>
          <p:nvSpPr>
            <p:cNvPr id="36" name="Card body"/>
            <p:cNvSpPr txBox="1"/>
            <p:nvPr/>
          </p:nvSpPr>
          <p:spPr>
            <a:xfrm>
              <a:off x="6822795" y="2623502"/>
              <a:ext cx="2016937" cy="1473009"/>
            </a:xfrm>
            <a:prstGeom prst="rect">
              <a:avLst/>
            </a:prstGeom>
            <a:noFill/>
          </p:spPr>
          <p:txBody>
            <a:bodyPr wrap="square" lIns="36576" tIns="36576" rIns="36576" bIns="36576" anchor="t">
              <a:spAutoFit/>
            </a:bodyPr>
            <a:lstStyle/>
            <a:p>
              <a:pPr algn="l">
                <a:lnSpc>
                  <a:spcPct val="105000"/>
                </a:lnSpc>
              </a:pPr>
              <a:r>
                <a:rPr sz="1250" b="0" i="0">
                  <a:solidFill>
                    <a:srgbClr val="4A4244"/>
                  </a:solidFill>
                  <a:latin typeface="Calibri"/>
                </a:rPr>
                <a:t>External BERT URL classifier and Qwen3.5-2B GGUF explanations through llama.cpp — used, not fine-tuned.</a:t>
              </a:r>
            </a:p>
          </p:txBody>
        </p:sp>
      </p:grpSp>
      <p:grpSp>
        <p:nvGrpSpPr>
          <p:cNvPr id="43" name="Card 179"/>
          <p:cNvGrpSpPr/>
          <p:nvPr/>
        </p:nvGrpSpPr>
        <p:grpSpPr>
          <a:xfrm>
            <a:off x="9223781" y="1828800"/>
            <a:ext cx="2419273" cy="2377440"/>
            <a:chOff x="9223781" y="1828800"/>
            <a:chExt cx="2419273" cy="2377440"/>
          </a:xfrm>
        </p:grpSpPr>
        <p:sp>
          <p:nvSpPr>
            <p:cNvPr id="38" name="Card bg"/>
            <p:cNvSpPr/>
            <p:nvPr/>
          </p:nvSpPr>
          <p:spPr>
            <a:xfrm>
              <a:off x="9223781" y="1828800"/>
              <a:ext cx="2419273" cy="237744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Card accent"/>
            <p:cNvSpPr/>
            <p:nvPr/>
          </p:nvSpPr>
          <p:spPr>
            <a:xfrm>
              <a:off x="9223781" y="1828800"/>
              <a:ext cx="2419273"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0" name="Card label"/>
            <p:cNvSpPr txBox="1"/>
            <p:nvPr/>
          </p:nvSpPr>
          <p:spPr>
            <a:xfrm>
              <a:off x="9424949" y="2011680"/>
              <a:ext cx="2016937" cy="274320"/>
            </a:xfrm>
            <a:prstGeom prst="rect">
              <a:avLst/>
            </a:prstGeom>
            <a:noFill/>
          </p:spPr>
          <p:txBody>
            <a:bodyPr wrap="square" lIns="36576" tIns="36576" rIns="36576" bIns="36576" anchor="t">
              <a:spAutoFit/>
            </a:bodyPr>
            <a:lstStyle/>
            <a:p>
              <a:pPr algn="l">
                <a:lnSpc>
                  <a:spcPct val="108000"/>
                </a:lnSpc>
              </a:pPr>
              <a:r>
                <a:rPr sz="1050" b="1" i="0">
                  <a:solidFill>
                    <a:srgbClr val="5E7257"/>
                  </a:solidFill>
                  <a:latin typeface="Consolas"/>
                </a:rPr>
                <a:t>RULES &amp; RETRIEVAL</a:t>
              </a:r>
            </a:p>
          </p:txBody>
        </p:sp>
        <p:sp>
          <p:nvSpPr>
            <p:cNvPr id="41" name="Card title"/>
            <p:cNvSpPr txBox="1"/>
            <p:nvPr/>
          </p:nvSpPr>
          <p:spPr>
            <a:xfrm>
              <a:off x="9424949" y="2304288"/>
              <a:ext cx="2016937" cy="565276"/>
            </a:xfrm>
            <a:prstGeom prst="rect">
              <a:avLst/>
            </a:prstGeom>
            <a:noFill/>
          </p:spPr>
          <p:txBody>
            <a:bodyPr wrap="square" lIns="36576" tIns="36576" rIns="36576" bIns="36576" anchor="t">
              <a:spAutoFit/>
            </a:bodyPr>
            <a:lstStyle/>
            <a:p>
              <a:pPr algn="l">
                <a:lnSpc>
                  <a:spcPct val="108000"/>
                </a:lnSpc>
              </a:pPr>
              <a:r>
                <a:rPr sz="1550" b="1" i="0">
                  <a:solidFill>
                    <a:srgbClr val="1F1A1B"/>
                  </a:solidFill>
                  <a:latin typeface="Bahnschrift"/>
                </a:rPr>
                <a:t>Heuristics and memory</a:t>
              </a:r>
            </a:p>
          </p:txBody>
        </p:sp>
        <p:sp>
          <p:nvSpPr>
            <p:cNvPr id="42" name="Card body"/>
            <p:cNvSpPr txBox="1"/>
            <p:nvPr/>
          </p:nvSpPr>
          <p:spPr>
            <a:xfrm>
              <a:off x="9424949" y="2869565"/>
              <a:ext cx="2016937" cy="1226947"/>
            </a:xfrm>
            <a:prstGeom prst="rect">
              <a:avLst/>
            </a:prstGeom>
            <a:noFill/>
          </p:spPr>
          <p:txBody>
            <a:bodyPr wrap="square" lIns="36576" tIns="36576" rIns="36576" bIns="36576" anchor="t">
              <a:spAutoFit/>
            </a:bodyPr>
            <a:lstStyle/>
            <a:p>
              <a:pPr algn="l">
                <a:lnSpc>
                  <a:spcPct val="105000"/>
                </a:lnSpc>
              </a:pPr>
              <a:r>
                <a:rPr sz="1250" b="0" i="0">
                  <a:solidFill>
                    <a:srgbClr val="4A4244"/>
                  </a:solidFill>
                  <a:latin typeface="Calibri"/>
                </a:rPr>
                <a:t>Entropy DGA rules, regex IOC extraction, memory as retrieval context. No online weight updates.</a:t>
              </a:r>
            </a:p>
          </p:txBody>
        </p:sp>
      </p:grpSp>
      <p:grpSp>
        <p:nvGrpSpPr>
          <p:cNvPr id="48" name="Phase 180"/>
          <p:cNvGrpSpPr/>
          <p:nvPr/>
        </p:nvGrpSpPr>
        <p:grpSpPr>
          <a:xfrm>
            <a:off x="1417320" y="4370832"/>
            <a:ext cx="1942734" cy="1865376"/>
            <a:chOff x="1417320" y="4370832"/>
            <a:chExt cx="1942734" cy="1865376"/>
          </a:xfrm>
        </p:grpSpPr>
        <p:sp>
          <p:nvSpPr>
            <p:cNvPr id="44" name="Phase bg"/>
            <p:cNvSpPr/>
            <p:nvPr/>
          </p:nvSpPr>
          <p:spPr>
            <a:xfrm>
              <a:off x="1417320" y="4370832"/>
              <a:ext cx="1942734" cy="1865376"/>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5" name="Phase n"/>
            <p:cNvSpPr txBox="1"/>
            <p:nvPr/>
          </p:nvSpPr>
          <p:spPr>
            <a:xfrm>
              <a:off x="1563624" y="4425696"/>
              <a:ext cx="731520" cy="502920"/>
            </a:xfrm>
            <a:prstGeom prst="rect">
              <a:avLst/>
            </a:prstGeom>
            <a:noFill/>
          </p:spPr>
          <p:txBody>
            <a:bodyPr wrap="square" lIns="36576" tIns="36576" rIns="36576" bIns="36576" anchor="t">
              <a:spAutoFit/>
            </a:bodyPr>
            <a:lstStyle/>
            <a:p>
              <a:pPr algn="l">
                <a:lnSpc>
                  <a:spcPct val="108000"/>
                </a:lnSpc>
              </a:pPr>
              <a:r>
                <a:rPr sz="2400" b="1" i="0">
                  <a:solidFill>
                    <a:srgbClr val="F69D39"/>
                  </a:solidFill>
                  <a:latin typeface="Bahnschrift"/>
                </a:rPr>
                <a:t>1</a:t>
              </a:r>
            </a:p>
          </p:txBody>
        </p:sp>
        <p:sp>
          <p:nvSpPr>
            <p:cNvPr id="46" name="Phase title"/>
            <p:cNvSpPr txBox="1"/>
            <p:nvPr/>
          </p:nvSpPr>
          <p:spPr>
            <a:xfrm>
              <a:off x="1563624" y="4864608"/>
              <a:ext cx="1668414" cy="502920"/>
            </a:xfrm>
            <a:prstGeom prst="rect">
              <a:avLst/>
            </a:prstGeom>
            <a:noFill/>
          </p:spPr>
          <p:txBody>
            <a:bodyPr wrap="square" lIns="36576" tIns="36576" rIns="36576" bIns="36576" anchor="t">
              <a:spAutoFit/>
            </a:bodyPr>
            <a:lstStyle/>
            <a:p>
              <a:pPr algn="l">
                <a:lnSpc>
                  <a:spcPct val="95000"/>
                </a:lnSpc>
              </a:pPr>
              <a:r>
                <a:rPr sz="1350" b="1" i="0">
                  <a:solidFill>
                    <a:srgbClr val="1F1A1B"/>
                  </a:solidFill>
                  <a:latin typeface="Bahnschrift"/>
                </a:rPr>
                <a:t>Collect &amp; clean</a:t>
              </a:r>
            </a:p>
          </p:txBody>
        </p:sp>
        <p:sp>
          <p:nvSpPr>
            <p:cNvPr id="47" name="Phase text"/>
            <p:cNvSpPr txBox="1"/>
            <p:nvPr/>
          </p:nvSpPr>
          <p:spPr>
            <a:xfrm>
              <a:off x="1563624" y="5358384"/>
              <a:ext cx="1668414" cy="859536"/>
            </a:xfrm>
            <a:prstGeom prst="rect">
              <a:avLst/>
            </a:prstGeom>
            <a:noFill/>
          </p:spPr>
          <p:txBody>
            <a:bodyPr wrap="square" lIns="36576" tIns="36576" rIns="36576" bIns="36576" anchor="t">
              <a:spAutoFit/>
            </a:bodyPr>
            <a:lstStyle/>
            <a:p>
              <a:pPr algn="l">
                <a:lnSpc>
                  <a:spcPct val="100000"/>
                </a:lnSpc>
              </a:pPr>
              <a:r>
                <a:rPr sz="1150" b="0" i="0">
                  <a:solidFill>
                    <a:srgbClr val="857A72"/>
                  </a:solidFill>
                  <a:latin typeface="Calibri"/>
                </a:rPr>
                <a:t>public corpora, normalise, de-duplicate, popularity reference</a:t>
              </a:r>
            </a:p>
          </p:txBody>
        </p:sp>
      </p:grpSp>
      <p:grpSp>
        <p:nvGrpSpPr>
          <p:cNvPr id="53" name="Phase 181"/>
          <p:cNvGrpSpPr/>
          <p:nvPr/>
        </p:nvGrpSpPr>
        <p:grpSpPr>
          <a:xfrm>
            <a:off x="3488070" y="4370832"/>
            <a:ext cx="1942734" cy="1865376"/>
            <a:chOff x="3488070" y="4370832"/>
            <a:chExt cx="1942734" cy="1865376"/>
          </a:xfrm>
        </p:grpSpPr>
        <p:sp>
          <p:nvSpPr>
            <p:cNvPr id="49" name="Phase bg"/>
            <p:cNvSpPr/>
            <p:nvPr/>
          </p:nvSpPr>
          <p:spPr>
            <a:xfrm>
              <a:off x="3488070" y="4370832"/>
              <a:ext cx="1942734" cy="1865376"/>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0" name="Phase n"/>
            <p:cNvSpPr txBox="1"/>
            <p:nvPr/>
          </p:nvSpPr>
          <p:spPr>
            <a:xfrm>
              <a:off x="3634374" y="4425696"/>
              <a:ext cx="731520" cy="502920"/>
            </a:xfrm>
            <a:prstGeom prst="rect">
              <a:avLst/>
            </a:prstGeom>
            <a:noFill/>
          </p:spPr>
          <p:txBody>
            <a:bodyPr wrap="square" lIns="36576" tIns="36576" rIns="36576" bIns="36576" anchor="t">
              <a:spAutoFit/>
            </a:bodyPr>
            <a:lstStyle/>
            <a:p>
              <a:pPr algn="l">
                <a:lnSpc>
                  <a:spcPct val="108000"/>
                </a:lnSpc>
              </a:pPr>
              <a:r>
                <a:rPr sz="2400" b="1" i="0">
                  <a:solidFill>
                    <a:srgbClr val="F69D39"/>
                  </a:solidFill>
                  <a:latin typeface="Bahnschrift"/>
                </a:rPr>
                <a:t>2</a:t>
              </a:r>
            </a:p>
          </p:txBody>
        </p:sp>
        <p:sp>
          <p:nvSpPr>
            <p:cNvPr id="51" name="Phase title"/>
            <p:cNvSpPr txBox="1"/>
            <p:nvPr/>
          </p:nvSpPr>
          <p:spPr>
            <a:xfrm>
              <a:off x="3634374" y="4864608"/>
              <a:ext cx="1668414" cy="502920"/>
            </a:xfrm>
            <a:prstGeom prst="rect">
              <a:avLst/>
            </a:prstGeom>
            <a:noFill/>
          </p:spPr>
          <p:txBody>
            <a:bodyPr wrap="square" lIns="36576" tIns="36576" rIns="36576" bIns="36576" anchor="t">
              <a:spAutoFit/>
            </a:bodyPr>
            <a:lstStyle/>
            <a:p>
              <a:pPr algn="l">
                <a:lnSpc>
                  <a:spcPct val="95000"/>
                </a:lnSpc>
              </a:pPr>
              <a:r>
                <a:rPr sz="1350" b="1" i="0">
                  <a:solidFill>
                    <a:srgbClr val="1F1A1B"/>
                  </a:solidFill>
                  <a:latin typeface="Bahnschrift"/>
                </a:rPr>
                <a:t>Features &amp; split</a:t>
              </a:r>
            </a:p>
          </p:txBody>
        </p:sp>
        <p:sp>
          <p:nvSpPr>
            <p:cNvPr id="52" name="Phase text"/>
            <p:cNvSpPr txBox="1"/>
            <p:nvPr/>
          </p:nvSpPr>
          <p:spPr>
            <a:xfrm>
              <a:off x="3634374" y="5358384"/>
              <a:ext cx="1668414" cy="859536"/>
            </a:xfrm>
            <a:prstGeom prst="rect">
              <a:avLst/>
            </a:prstGeom>
            <a:noFill/>
          </p:spPr>
          <p:txBody>
            <a:bodyPr wrap="square" lIns="36576" tIns="36576" rIns="36576" bIns="36576" anchor="t">
              <a:spAutoFit/>
            </a:bodyPr>
            <a:lstStyle/>
            <a:p>
              <a:pPr algn="l">
                <a:lnSpc>
                  <a:spcPct val="100000"/>
                </a:lnSpc>
              </a:pPr>
              <a:r>
                <a:rPr sz="1150" b="0" i="0">
                  <a:solidFill>
                    <a:srgbClr val="857A72"/>
                  </a:solidFill>
                  <a:latin typeface="Calibri"/>
                </a:rPr>
                <a:t>shared url_features.py; domain-grouped: 20% test, 10% thresholds</a:t>
              </a:r>
            </a:p>
          </p:txBody>
        </p:sp>
      </p:grpSp>
      <p:grpSp>
        <p:nvGrpSpPr>
          <p:cNvPr id="58" name="Phase 182"/>
          <p:cNvGrpSpPr/>
          <p:nvPr/>
        </p:nvGrpSpPr>
        <p:grpSpPr>
          <a:xfrm>
            <a:off x="5558820" y="4370832"/>
            <a:ext cx="1942734" cy="1865376"/>
            <a:chOff x="5558820" y="4370832"/>
            <a:chExt cx="1942734" cy="1865376"/>
          </a:xfrm>
        </p:grpSpPr>
        <p:sp>
          <p:nvSpPr>
            <p:cNvPr id="54" name="Phase bg"/>
            <p:cNvSpPr/>
            <p:nvPr/>
          </p:nvSpPr>
          <p:spPr>
            <a:xfrm>
              <a:off x="5558820" y="4370832"/>
              <a:ext cx="1942734" cy="1865376"/>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5" name="Phase n"/>
            <p:cNvSpPr txBox="1"/>
            <p:nvPr/>
          </p:nvSpPr>
          <p:spPr>
            <a:xfrm>
              <a:off x="5705124" y="4425696"/>
              <a:ext cx="731520" cy="502920"/>
            </a:xfrm>
            <a:prstGeom prst="rect">
              <a:avLst/>
            </a:prstGeom>
            <a:noFill/>
          </p:spPr>
          <p:txBody>
            <a:bodyPr wrap="square" lIns="36576" tIns="36576" rIns="36576" bIns="36576" anchor="t">
              <a:spAutoFit/>
            </a:bodyPr>
            <a:lstStyle/>
            <a:p>
              <a:pPr algn="l">
                <a:lnSpc>
                  <a:spcPct val="108000"/>
                </a:lnSpc>
              </a:pPr>
              <a:r>
                <a:rPr sz="2400" b="1" i="0">
                  <a:solidFill>
                    <a:srgbClr val="F69D39"/>
                  </a:solidFill>
                  <a:latin typeface="Bahnschrift"/>
                </a:rPr>
                <a:t>3</a:t>
              </a:r>
            </a:p>
          </p:txBody>
        </p:sp>
        <p:sp>
          <p:nvSpPr>
            <p:cNvPr id="56" name="Phase title"/>
            <p:cNvSpPr txBox="1"/>
            <p:nvPr/>
          </p:nvSpPr>
          <p:spPr>
            <a:xfrm>
              <a:off x="5705124" y="4864608"/>
              <a:ext cx="1668414" cy="502920"/>
            </a:xfrm>
            <a:prstGeom prst="rect">
              <a:avLst/>
            </a:prstGeom>
            <a:noFill/>
          </p:spPr>
          <p:txBody>
            <a:bodyPr wrap="square" lIns="36576" tIns="36576" rIns="36576" bIns="36576" anchor="t">
              <a:spAutoFit/>
            </a:bodyPr>
            <a:lstStyle/>
            <a:p>
              <a:pPr algn="l">
                <a:lnSpc>
                  <a:spcPct val="95000"/>
                </a:lnSpc>
              </a:pPr>
              <a:r>
                <a:rPr sz="1350" b="1" i="0">
                  <a:solidFill>
                    <a:srgbClr val="1F1A1B"/>
                  </a:solidFill>
                  <a:latin typeface="Bahnschrift"/>
                </a:rPr>
                <a:t>Fit</a:t>
              </a:r>
            </a:p>
          </p:txBody>
        </p:sp>
        <p:sp>
          <p:nvSpPr>
            <p:cNvPr id="57" name="Phase text"/>
            <p:cNvSpPr txBox="1"/>
            <p:nvPr/>
          </p:nvSpPr>
          <p:spPr>
            <a:xfrm>
              <a:off x="5705124" y="5358384"/>
              <a:ext cx="1668414" cy="859536"/>
            </a:xfrm>
            <a:prstGeom prst="rect">
              <a:avLst/>
            </a:prstGeom>
            <a:noFill/>
          </p:spPr>
          <p:txBody>
            <a:bodyPr wrap="square" lIns="36576" tIns="36576" rIns="36576" bIns="36576" anchor="t">
              <a:spAutoFit/>
            </a:bodyPr>
            <a:lstStyle/>
            <a:p>
              <a:pPr algn="l">
                <a:lnSpc>
                  <a:spcPct val="100000"/>
                </a:lnSpc>
              </a:pPr>
              <a:r>
                <a:rPr sz="1150" b="0" i="0">
                  <a:solidFill>
                    <a:srgbClr val="857A72"/>
                  </a:solidFill>
                  <a:latin typeface="Calibri"/>
                </a:rPr>
                <a:t>≤300 iterations, learning rate 0.1, 31 leaves, seed 42</a:t>
              </a:r>
            </a:p>
          </p:txBody>
        </p:sp>
      </p:grpSp>
      <p:grpSp>
        <p:nvGrpSpPr>
          <p:cNvPr id="63" name="Phase 183"/>
          <p:cNvGrpSpPr/>
          <p:nvPr/>
        </p:nvGrpSpPr>
        <p:grpSpPr>
          <a:xfrm>
            <a:off x="7629570" y="4370832"/>
            <a:ext cx="1942734" cy="1865376"/>
            <a:chOff x="7629570" y="4370832"/>
            <a:chExt cx="1942734" cy="1865376"/>
          </a:xfrm>
        </p:grpSpPr>
        <p:sp>
          <p:nvSpPr>
            <p:cNvPr id="59" name="Phase bg"/>
            <p:cNvSpPr/>
            <p:nvPr/>
          </p:nvSpPr>
          <p:spPr>
            <a:xfrm>
              <a:off x="7629570" y="4370832"/>
              <a:ext cx="1942734" cy="1865376"/>
            </a:xfrm>
            <a:prstGeom prst="roundRect">
              <a:avLst>
                <a:gd name="adj" fmla="val 8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0" name="Phase n"/>
            <p:cNvSpPr txBox="1"/>
            <p:nvPr/>
          </p:nvSpPr>
          <p:spPr>
            <a:xfrm>
              <a:off x="7775874" y="4425696"/>
              <a:ext cx="731520" cy="502920"/>
            </a:xfrm>
            <a:prstGeom prst="rect">
              <a:avLst/>
            </a:prstGeom>
            <a:noFill/>
          </p:spPr>
          <p:txBody>
            <a:bodyPr wrap="square" lIns="36576" tIns="36576" rIns="36576" bIns="36576" anchor="t">
              <a:spAutoFit/>
            </a:bodyPr>
            <a:lstStyle/>
            <a:p>
              <a:pPr algn="l">
                <a:lnSpc>
                  <a:spcPct val="108000"/>
                </a:lnSpc>
              </a:pPr>
              <a:r>
                <a:rPr sz="2400" b="1" i="0">
                  <a:solidFill>
                    <a:srgbClr val="F69D39"/>
                  </a:solidFill>
                  <a:latin typeface="Bahnschrift"/>
                </a:rPr>
                <a:t>4</a:t>
              </a:r>
            </a:p>
          </p:txBody>
        </p:sp>
        <p:sp>
          <p:nvSpPr>
            <p:cNvPr id="61" name="Phase title"/>
            <p:cNvSpPr txBox="1"/>
            <p:nvPr/>
          </p:nvSpPr>
          <p:spPr>
            <a:xfrm>
              <a:off x="7775874" y="4864608"/>
              <a:ext cx="1668414" cy="502920"/>
            </a:xfrm>
            <a:prstGeom prst="rect">
              <a:avLst/>
            </a:prstGeom>
            <a:noFill/>
          </p:spPr>
          <p:txBody>
            <a:bodyPr wrap="square" lIns="36576" tIns="36576" rIns="36576" bIns="36576" anchor="t">
              <a:spAutoFit/>
            </a:bodyPr>
            <a:lstStyle/>
            <a:p>
              <a:pPr algn="l">
                <a:lnSpc>
                  <a:spcPct val="95000"/>
                </a:lnSpc>
              </a:pPr>
              <a:r>
                <a:rPr sz="1350" b="1" i="0">
                  <a:solidFill>
                    <a:srgbClr val="EFE9DD"/>
                  </a:solidFill>
                  <a:latin typeface="Bahnschrift"/>
                </a:rPr>
                <a:t>Thresholds &amp; evaluate</a:t>
              </a:r>
            </a:p>
          </p:txBody>
        </p:sp>
        <p:sp>
          <p:nvSpPr>
            <p:cNvPr id="62" name="Phase text"/>
            <p:cNvSpPr txBox="1"/>
            <p:nvPr/>
          </p:nvSpPr>
          <p:spPr>
            <a:xfrm>
              <a:off x="7775874" y="5358384"/>
              <a:ext cx="1668414" cy="859536"/>
            </a:xfrm>
            <a:prstGeom prst="rect">
              <a:avLst/>
            </a:prstGeom>
            <a:noFill/>
          </p:spPr>
          <p:txBody>
            <a:bodyPr wrap="square" lIns="36576" tIns="36576" rIns="36576" bIns="36576" anchor="t">
              <a:spAutoFit/>
            </a:bodyPr>
            <a:lstStyle/>
            <a:p>
              <a:pPr algn="l">
                <a:lnSpc>
                  <a:spcPct val="100000"/>
                </a:lnSpc>
              </a:pPr>
              <a:r>
                <a:rPr sz="1150" b="0" i="0">
                  <a:solidFill>
                    <a:srgbClr val="CFC6B8"/>
                  </a:solidFill>
                  <a:latin typeface="Calibri"/>
                </a:rPr>
                <a:t>decision point at a 2% false-positive target; held-out check</a:t>
              </a:r>
            </a:p>
          </p:txBody>
        </p:sp>
      </p:grpSp>
      <p:grpSp>
        <p:nvGrpSpPr>
          <p:cNvPr id="68" name="Phase 184"/>
          <p:cNvGrpSpPr/>
          <p:nvPr/>
        </p:nvGrpSpPr>
        <p:grpSpPr>
          <a:xfrm>
            <a:off x="9700320" y="4370832"/>
            <a:ext cx="1942734" cy="1865376"/>
            <a:chOff x="9700320" y="4370832"/>
            <a:chExt cx="1942734" cy="1865376"/>
          </a:xfrm>
        </p:grpSpPr>
        <p:sp>
          <p:nvSpPr>
            <p:cNvPr id="64" name="Phase bg"/>
            <p:cNvSpPr/>
            <p:nvPr/>
          </p:nvSpPr>
          <p:spPr>
            <a:xfrm>
              <a:off x="9700320" y="4370832"/>
              <a:ext cx="1942734" cy="1865376"/>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5" name="Phase n"/>
            <p:cNvSpPr txBox="1"/>
            <p:nvPr/>
          </p:nvSpPr>
          <p:spPr>
            <a:xfrm>
              <a:off x="9846624" y="4425696"/>
              <a:ext cx="731520" cy="502920"/>
            </a:xfrm>
            <a:prstGeom prst="rect">
              <a:avLst/>
            </a:prstGeom>
            <a:noFill/>
          </p:spPr>
          <p:txBody>
            <a:bodyPr wrap="square" lIns="36576" tIns="36576" rIns="36576" bIns="36576" anchor="t">
              <a:spAutoFit/>
            </a:bodyPr>
            <a:lstStyle/>
            <a:p>
              <a:pPr algn="l">
                <a:lnSpc>
                  <a:spcPct val="108000"/>
                </a:lnSpc>
              </a:pPr>
              <a:r>
                <a:rPr sz="2400" b="1" i="0">
                  <a:solidFill>
                    <a:srgbClr val="F69D39"/>
                  </a:solidFill>
                  <a:latin typeface="Bahnschrift"/>
                </a:rPr>
                <a:t>5</a:t>
              </a:r>
            </a:p>
          </p:txBody>
        </p:sp>
        <p:sp>
          <p:nvSpPr>
            <p:cNvPr id="66" name="Phase title"/>
            <p:cNvSpPr txBox="1"/>
            <p:nvPr/>
          </p:nvSpPr>
          <p:spPr>
            <a:xfrm>
              <a:off x="9846624" y="4864608"/>
              <a:ext cx="1668414" cy="502920"/>
            </a:xfrm>
            <a:prstGeom prst="rect">
              <a:avLst/>
            </a:prstGeom>
            <a:noFill/>
          </p:spPr>
          <p:txBody>
            <a:bodyPr wrap="square" lIns="36576" tIns="36576" rIns="36576" bIns="36576" anchor="t">
              <a:spAutoFit/>
            </a:bodyPr>
            <a:lstStyle/>
            <a:p>
              <a:pPr algn="l">
                <a:lnSpc>
                  <a:spcPct val="95000"/>
                </a:lnSpc>
              </a:pPr>
              <a:r>
                <a:rPr sz="1350" b="1" i="0">
                  <a:solidFill>
                    <a:srgbClr val="1F1A1B"/>
                  </a:solidFill>
                  <a:latin typeface="Bahnschrift"/>
                </a:rPr>
                <a:t>Publish accepted</a:t>
              </a:r>
            </a:p>
          </p:txBody>
        </p:sp>
        <p:sp>
          <p:nvSpPr>
            <p:cNvPr id="67" name="Phase text"/>
            <p:cNvSpPr txBox="1"/>
            <p:nvPr/>
          </p:nvSpPr>
          <p:spPr>
            <a:xfrm>
              <a:off x="9846624" y="5358384"/>
              <a:ext cx="1668414" cy="859536"/>
            </a:xfrm>
            <a:prstGeom prst="rect">
              <a:avLst/>
            </a:prstGeom>
            <a:noFill/>
          </p:spPr>
          <p:txBody>
            <a:bodyPr wrap="square" lIns="36576" tIns="36576" rIns="36576" bIns="36576" anchor="t">
              <a:spAutoFit/>
            </a:bodyPr>
            <a:lstStyle/>
            <a:p>
              <a:pPr algn="l">
                <a:lnSpc>
                  <a:spcPct val="100000"/>
                </a:lnSpc>
              </a:pPr>
              <a:r>
                <a:rPr sz="1150" b="0" i="0">
                  <a:solidFill>
                    <a:srgbClr val="857A72"/>
                  </a:solidFill>
                  <a:latin typeface="Calibri"/>
                </a:rPr>
                <a:t>only accepted models, with metadata, loaded for inference</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7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2500"/>
                            </p:stCondLst>
                            <p:childTnLst>
                              <p:par>
                                <p:cTn id="19" presetID="2" presetClass="entr" presetSubtype="4" fill="hold" nodeType="after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ppt_x"/>
                                          </p:val>
                                        </p:tav>
                                        <p:tav tm="100000">
                                          <p:val>
                                            <p:strVal val="#ppt_x"/>
                                          </p:val>
                                        </p:tav>
                                      </p:tavLst>
                                    </p:anim>
                                    <p:anim calcmode="lin" valueType="num">
                                      <p:cBhvr additive="base">
                                        <p:cTn id="22" dur="500" fill="hold"/>
                                        <p:tgtEl>
                                          <p:spTgt spid="25"/>
                                        </p:tgtEl>
                                        <p:attrNameLst>
                                          <p:attrName>ppt_y</p:attrName>
                                        </p:attrNameLst>
                                      </p:cBhvr>
                                      <p:tavLst>
                                        <p:tav tm="0">
                                          <p:val>
                                            <p:strVal val="1+#ppt_h/2"/>
                                          </p:val>
                                        </p:tav>
                                        <p:tav tm="100000">
                                          <p:val>
                                            <p:strVal val="#ppt_y"/>
                                          </p:val>
                                        </p:tav>
                                      </p:tavLst>
                                    </p:anim>
                                  </p:childTnLst>
                                </p:cTn>
                              </p:par>
                            </p:childTnLst>
                          </p:cTn>
                        </p:par>
                        <p:par>
                          <p:cTn id="23" fill="hold">
                            <p:stCondLst>
                              <p:cond delay="3000"/>
                            </p:stCondLst>
                            <p:childTnLst>
                              <p:par>
                                <p:cTn id="24" presetID="2" presetClass="entr" presetSubtype="4" fill="hold" nodeType="afterEffect">
                                  <p:stCondLst>
                                    <p:cond delay="0"/>
                                  </p:stCondLst>
                                  <p:childTnLst>
                                    <p:set>
                                      <p:cBhvr>
                                        <p:cTn id="25" dur="1" fill="hold">
                                          <p:stCondLst>
                                            <p:cond delay="0"/>
                                          </p:stCondLst>
                                        </p:cTn>
                                        <p:tgtEl>
                                          <p:spTgt spid="31"/>
                                        </p:tgtEl>
                                        <p:attrNameLst>
                                          <p:attrName>style.visibility</p:attrName>
                                        </p:attrNameLst>
                                      </p:cBhvr>
                                      <p:to>
                                        <p:strVal val="visible"/>
                                      </p:to>
                                    </p:set>
                                    <p:anim calcmode="lin" valueType="num">
                                      <p:cBhvr additive="base">
                                        <p:cTn id="26" dur="500" fill="hold"/>
                                        <p:tgtEl>
                                          <p:spTgt spid="31"/>
                                        </p:tgtEl>
                                        <p:attrNameLst>
                                          <p:attrName>ppt_x</p:attrName>
                                        </p:attrNameLst>
                                      </p:cBhvr>
                                      <p:tavLst>
                                        <p:tav tm="0">
                                          <p:val>
                                            <p:strVal val="#ppt_x"/>
                                          </p:val>
                                        </p:tav>
                                        <p:tav tm="100000">
                                          <p:val>
                                            <p:strVal val="#ppt_x"/>
                                          </p:val>
                                        </p:tav>
                                      </p:tavLst>
                                    </p:anim>
                                    <p:anim calcmode="lin" valueType="num">
                                      <p:cBhvr additive="base">
                                        <p:cTn id="27" dur="500" fill="hold"/>
                                        <p:tgtEl>
                                          <p:spTgt spid="31"/>
                                        </p:tgtEl>
                                        <p:attrNameLst>
                                          <p:attrName>ppt_y</p:attrName>
                                        </p:attrNameLst>
                                      </p:cBhvr>
                                      <p:tavLst>
                                        <p:tav tm="0">
                                          <p:val>
                                            <p:strVal val="1+#ppt_h/2"/>
                                          </p:val>
                                        </p:tav>
                                        <p:tav tm="100000">
                                          <p:val>
                                            <p:strVal val="#ppt_y"/>
                                          </p:val>
                                        </p:tav>
                                      </p:tavLst>
                                    </p:anim>
                                  </p:childTnLst>
                                </p:cTn>
                              </p:par>
                            </p:childTnLst>
                          </p:cTn>
                        </p:par>
                        <p:par>
                          <p:cTn id="28" fill="hold">
                            <p:stCondLst>
                              <p:cond delay="3500"/>
                            </p:stCondLst>
                            <p:childTnLst>
                              <p:par>
                                <p:cTn id="29" presetID="2" presetClass="entr" presetSubtype="4" fill="hold" nodeType="after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500" fill="hold"/>
                                        <p:tgtEl>
                                          <p:spTgt spid="37"/>
                                        </p:tgtEl>
                                        <p:attrNameLst>
                                          <p:attrName>ppt_x</p:attrName>
                                        </p:attrNameLst>
                                      </p:cBhvr>
                                      <p:tavLst>
                                        <p:tav tm="0">
                                          <p:val>
                                            <p:strVal val="#ppt_x"/>
                                          </p:val>
                                        </p:tav>
                                        <p:tav tm="100000">
                                          <p:val>
                                            <p:strVal val="#ppt_x"/>
                                          </p:val>
                                        </p:tav>
                                      </p:tavLst>
                                    </p:anim>
                                    <p:anim calcmode="lin" valueType="num">
                                      <p:cBhvr additive="base">
                                        <p:cTn id="32" dur="500" fill="hold"/>
                                        <p:tgtEl>
                                          <p:spTgt spid="37"/>
                                        </p:tgtEl>
                                        <p:attrNameLst>
                                          <p:attrName>ppt_y</p:attrName>
                                        </p:attrNameLst>
                                      </p:cBhvr>
                                      <p:tavLst>
                                        <p:tav tm="0">
                                          <p:val>
                                            <p:strVal val="1+#ppt_h/2"/>
                                          </p:val>
                                        </p:tav>
                                        <p:tav tm="100000">
                                          <p:val>
                                            <p:strVal val="#ppt_y"/>
                                          </p:val>
                                        </p:tav>
                                      </p:tavLst>
                                    </p:anim>
                                  </p:childTnLst>
                                </p:cTn>
                              </p:par>
                            </p:childTnLst>
                          </p:cTn>
                        </p:par>
                        <p:par>
                          <p:cTn id="33" fill="hold">
                            <p:stCondLst>
                              <p:cond delay="4000"/>
                            </p:stCondLst>
                            <p:childTnLst>
                              <p:par>
                                <p:cTn id="34" presetID="2" presetClass="entr" presetSubtype="4" fill="hold" nodeType="afterEffect">
                                  <p:stCondLst>
                                    <p:cond delay="0"/>
                                  </p:stCondLst>
                                  <p:childTnLst>
                                    <p:set>
                                      <p:cBhvr>
                                        <p:cTn id="35" dur="1" fill="hold">
                                          <p:stCondLst>
                                            <p:cond delay="0"/>
                                          </p:stCondLst>
                                        </p:cTn>
                                        <p:tgtEl>
                                          <p:spTgt spid="43"/>
                                        </p:tgtEl>
                                        <p:attrNameLst>
                                          <p:attrName>style.visibility</p:attrName>
                                        </p:attrNameLst>
                                      </p:cBhvr>
                                      <p:to>
                                        <p:strVal val="visible"/>
                                      </p:to>
                                    </p:set>
                                    <p:anim calcmode="lin" valueType="num">
                                      <p:cBhvr additive="base">
                                        <p:cTn id="36" dur="500" fill="hold"/>
                                        <p:tgtEl>
                                          <p:spTgt spid="43"/>
                                        </p:tgtEl>
                                        <p:attrNameLst>
                                          <p:attrName>ppt_x</p:attrName>
                                        </p:attrNameLst>
                                      </p:cBhvr>
                                      <p:tavLst>
                                        <p:tav tm="0">
                                          <p:val>
                                            <p:strVal val="#ppt_x"/>
                                          </p:val>
                                        </p:tav>
                                        <p:tav tm="100000">
                                          <p:val>
                                            <p:strVal val="#ppt_x"/>
                                          </p:val>
                                        </p:tav>
                                      </p:tavLst>
                                    </p:anim>
                                    <p:anim calcmode="lin" valueType="num">
                                      <p:cBhvr additive="base">
                                        <p:cTn id="37" dur="500" fill="hold"/>
                                        <p:tgtEl>
                                          <p:spTgt spid="43"/>
                                        </p:tgtEl>
                                        <p:attrNameLst>
                                          <p:attrName>ppt_y</p:attrName>
                                        </p:attrNameLst>
                                      </p:cBhvr>
                                      <p:tavLst>
                                        <p:tav tm="0">
                                          <p:val>
                                            <p:strVal val="1+#ppt_h/2"/>
                                          </p:val>
                                        </p:tav>
                                        <p:tav tm="100000">
                                          <p:val>
                                            <p:strVal val="#ppt_y"/>
                                          </p:val>
                                        </p:tav>
                                      </p:tavLst>
                                    </p:anim>
                                  </p:childTnLst>
                                </p:cTn>
                              </p:par>
                            </p:childTnLst>
                          </p:cTn>
                        </p:par>
                        <p:par>
                          <p:cTn id="38" fill="hold">
                            <p:stCondLst>
                              <p:cond delay="4500"/>
                            </p:stCondLst>
                            <p:childTnLst>
                              <p:par>
                                <p:cTn id="39" presetID="2" presetClass="entr" presetSubtype="8" fill="hold" nodeType="afterEffect">
                                  <p:stCondLst>
                                    <p:cond delay="0"/>
                                  </p:stCondLst>
                                  <p:childTnLst>
                                    <p:set>
                                      <p:cBhvr>
                                        <p:cTn id="40" dur="1" fill="hold">
                                          <p:stCondLst>
                                            <p:cond delay="0"/>
                                          </p:stCondLst>
                                        </p:cTn>
                                        <p:tgtEl>
                                          <p:spTgt spid="48"/>
                                        </p:tgtEl>
                                        <p:attrNameLst>
                                          <p:attrName>style.visibility</p:attrName>
                                        </p:attrNameLst>
                                      </p:cBhvr>
                                      <p:to>
                                        <p:strVal val="visible"/>
                                      </p:to>
                                    </p:set>
                                    <p:anim calcmode="lin" valueType="num">
                                      <p:cBhvr additive="base">
                                        <p:cTn id="41" dur="500" fill="hold"/>
                                        <p:tgtEl>
                                          <p:spTgt spid="48"/>
                                        </p:tgtEl>
                                        <p:attrNameLst>
                                          <p:attrName>ppt_x</p:attrName>
                                        </p:attrNameLst>
                                      </p:cBhvr>
                                      <p:tavLst>
                                        <p:tav tm="0">
                                          <p:val>
                                            <p:strVal val="0-#ppt_w/2"/>
                                          </p:val>
                                        </p:tav>
                                        <p:tav tm="100000">
                                          <p:val>
                                            <p:strVal val="#ppt_x"/>
                                          </p:val>
                                        </p:tav>
                                      </p:tavLst>
                                    </p:anim>
                                    <p:anim calcmode="lin" valueType="num">
                                      <p:cBhvr additive="base">
                                        <p:cTn id="42" dur="500" fill="hold"/>
                                        <p:tgtEl>
                                          <p:spTgt spid="48"/>
                                        </p:tgtEl>
                                        <p:attrNameLst>
                                          <p:attrName>ppt_y</p:attrName>
                                        </p:attrNameLst>
                                      </p:cBhvr>
                                      <p:tavLst>
                                        <p:tav tm="0">
                                          <p:val>
                                            <p:strVal val="#ppt_y"/>
                                          </p:val>
                                        </p:tav>
                                        <p:tav tm="100000">
                                          <p:val>
                                            <p:strVal val="#ppt_y"/>
                                          </p:val>
                                        </p:tav>
                                      </p:tavLst>
                                    </p:anim>
                                  </p:childTnLst>
                                </p:cTn>
                              </p:par>
                            </p:childTnLst>
                          </p:cTn>
                        </p:par>
                        <p:par>
                          <p:cTn id="43" fill="hold">
                            <p:stCondLst>
                              <p:cond delay="5000"/>
                            </p:stCondLst>
                            <p:childTnLst>
                              <p:par>
                                <p:cTn id="44" presetID="2" presetClass="entr" presetSubtype="8" fill="hold" nodeType="afterEffect">
                                  <p:stCondLst>
                                    <p:cond delay="0"/>
                                  </p:stCondLst>
                                  <p:childTnLst>
                                    <p:set>
                                      <p:cBhvr>
                                        <p:cTn id="45" dur="1" fill="hold">
                                          <p:stCondLst>
                                            <p:cond delay="0"/>
                                          </p:stCondLst>
                                        </p:cTn>
                                        <p:tgtEl>
                                          <p:spTgt spid="53"/>
                                        </p:tgtEl>
                                        <p:attrNameLst>
                                          <p:attrName>style.visibility</p:attrName>
                                        </p:attrNameLst>
                                      </p:cBhvr>
                                      <p:to>
                                        <p:strVal val="visible"/>
                                      </p:to>
                                    </p:set>
                                    <p:anim calcmode="lin" valueType="num">
                                      <p:cBhvr additive="base">
                                        <p:cTn id="46" dur="500" fill="hold"/>
                                        <p:tgtEl>
                                          <p:spTgt spid="53"/>
                                        </p:tgtEl>
                                        <p:attrNameLst>
                                          <p:attrName>ppt_x</p:attrName>
                                        </p:attrNameLst>
                                      </p:cBhvr>
                                      <p:tavLst>
                                        <p:tav tm="0">
                                          <p:val>
                                            <p:strVal val="0-#ppt_w/2"/>
                                          </p:val>
                                        </p:tav>
                                        <p:tav tm="100000">
                                          <p:val>
                                            <p:strVal val="#ppt_x"/>
                                          </p:val>
                                        </p:tav>
                                      </p:tavLst>
                                    </p:anim>
                                    <p:anim calcmode="lin" valueType="num">
                                      <p:cBhvr additive="base">
                                        <p:cTn id="47" dur="500" fill="hold"/>
                                        <p:tgtEl>
                                          <p:spTgt spid="53"/>
                                        </p:tgtEl>
                                        <p:attrNameLst>
                                          <p:attrName>ppt_y</p:attrName>
                                        </p:attrNameLst>
                                      </p:cBhvr>
                                      <p:tavLst>
                                        <p:tav tm="0">
                                          <p:val>
                                            <p:strVal val="#ppt_y"/>
                                          </p:val>
                                        </p:tav>
                                        <p:tav tm="100000">
                                          <p:val>
                                            <p:strVal val="#ppt_y"/>
                                          </p:val>
                                        </p:tav>
                                      </p:tavLst>
                                    </p:anim>
                                  </p:childTnLst>
                                </p:cTn>
                              </p:par>
                            </p:childTnLst>
                          </p:cTn>
                        </p:par>
                        <p:par>
                          <p:cTn id="48" fill="hold">
                            <p:stCondLst>
                              <p:cond delay="5500"/>
                            </p:stCondLst>
                            <p:childTnLst>
                              <p:par>
                                <p:cTn id="49" presetID="2" presetClass="entr" presetSubtype="8" fill="hold" nodeType="afterEffect">
                                  <p:stCondLst>
                                    <p:cond delay="0"/>
                                  </p:stCondLst>
                                  <p:childTnLst>
                                    <p:set>
                                      <p:cBhvr>
                                        <p:cTn id="50" dur="1" fill="hold">
                                          <p:stCondLst>
                                            <p:cond delay="0"/>
                                          </p:stCondLst>
                                        </p:cTn>
                                        <p:tgtEl>
                                          <p:spTgt spid="58"/>
                                        </p:tgtEl>
                                        <p:attrNameLst>
                                          <p:attrName>style.visibility</p:attrName>
                                        </p:attrNameLst>
                                      </p:cBhvr>
                                      <p:to>
                                        <p:strVal val="visible"/>
                                      </p:to>
                                    </p:set>
                                    <p:anim calcmode="lin" valueType="num">
                                      <p:cBhvr additive="base">
                                        <p:cTn id="51" dur="500" fill="hold"/>
                                        <p:tgtEl>
                                          <p:spTgt spid="58"/>
                                        </p:tgtEl>
                                        <p:attrNameLst>
                                          <p:attrName>ppt_x</p:attrName>
                                        </p:attrNameLst>
                                      </p:cBhvr>
                                      <p:tavLst>
                                        <p:tav tm="0">
                                          <p:val>
                                            <p:strVal val="0-#ppt_w/2"/>
                                          </p:val>
                                        </p:tav>
                                        <p:tav tm="100000">
                                          <p:val>
                                            <p:strVal val="#ppt_x"/>
                                          </p:val>
                                        </p:tav>
                                      </p:tavLst>
                                    </p:anim>
                                    <p:anim calcmode="lin" valueType="num">
                                      <p:cBhvr additive="base">
                                        <p:cTn id="52" dur="500" fill="hold"/>
                                        <p:tgtEl>
                                          <p:spTgt spid="58"/>
                                        </p:tgtEl>
                                        <p:attrNameLst>
                                          <p:attrName>ppt_y</p:attrName>
                                        </p:attrNameLst>
                                      </p:cBhvr>
                                      <p:tavLst>
                                        <p:tav tm="0">
                                          <p:val>
                                            <p:strVal val="#ppt_y"/>
                                          </p:val>
                                        </p:tav>
                                        <p:tav tm="100000">
                                          <p:val>
                                            <p:strVal val="#ppt_y"/>
                                          </p:val>
                                        </p:tav>
                                      </p:tavLst>
                                    </p:anim>
                                  </p:childTnLst>
                                </p:cTn>
                              </p:par>
                            </p:childTnLst>
                          </p:cTn>
                        </p:par>
                        <p:par>
                          <p:cTn id="53" fill="hold">
                            <p:stCondLst>
                              <p:cond delay="6000"/>
                            </p:stCondLst>
                            <p:childTnLst>
                              <p:par>
                                <p:cTn id="54" presetID="2" presetClass="entr" presetSubtype="8" fill="hold" nodeType="afterEffect">
                                  <p:stCondLst>
                                    <p:cond delay="0"/>
                                  </p:stCondLst>
                                  <p:childTnLst>
                                    <p:set>
                                      <p:cBhvr>
                                        <p:cTn id="55" dur="1" fill="hold">
                                          <p:stCondLst>
                                            <p:cond delay="0"/>
                                          </p:stCondLst>
                                        </p:cTn>
                                        <p:tgtEl>
                                          <p:spTgt spid="63"/>
                                        </p:tgtEl>
                                        <p:attrNameLst>
                                          <p:attrName>style.visibility</p:attrName>
                                        </p:attrNameLst>
                                      </p:cBhvr>
                                      <p:to>
                                        <p:strVal val="visible"/>
                                      </p:to>
                                    </p:set>
                                    <p:anim calcmode="lin" valueType="num">
                                      <p:cBhvr additive="base">
                                        <p:cTn id="56" dur="500" fill="hold"/>
                                        <p:tgtEl>
                                          <p:spTgt spid="63"/>
                                        </p:tgtEl>
                                        <p:attrNameLst>
                                          <p:attrName>ppt_x</p:attrName>
                                        </p:attrNameLst>
                                      </p:cBhvr>
                                      <p:tavLst>
                                        <p:tav tm="0">
                                          <p:val>
                                            <p:strVal val="0-#ppt_w/2"/>
                                          </p:val>
                                        </p:tav>
                                        <p:tav tm="100000">
                                          <p:val>
                                            <p:strVal val="#ppt_x"/>
                                          </p:val>
                                        </p:tav>
                                      </p:tavLst>
                                    </p:anim>
                                    <p:anim calcmode="lin" valueType="num">
                                      <p:cBhvr additive="base">
                                        <p:cTn id="57" dur="500" fill="hold"/>
                                        <p:tgtEl>
                                          <p:spTgt spid="63"/>
                                        </p:tgtEl>
                                        <p:attrNameLst>
                                          <p:attrName>ppt_y</p:attrName>
                                        </p:attrNameLst>
                                      </p:cBhvr>
                                      <p:tavLst>
                                        <p:tav tm="0">
                                          <p:val>
                                            <p:strVal val="#ppt_y"/>
                                          </p:val>
                                        </p:tav>
                                        <p:tav tm="100000">
                                          <p:val>
                                            <p:strVal val="#ppt_y"/>
                                          </p:val>
                                        </p:tav>
                                      </p:tavLst>
                                    </p:anim>
                                  </p:childTnLst>
                                </p:cTn>
                              </p:par>
                            </p:childTnLst>
                          </p:cTn>
                        </p:par>
                        <p:par>
                          <p:cTn id="58" fill="hold">
                            <p:stCondLst>
                              <p:cond delay="6500"/>
                            </p:stCondLst>
                            <p:childTnLst>
                              <p:par>
                                <p:cTn id="59" presetID="2" presetClass="entr" presetSubtype="8" fill="hold" nodeType="afterEffect">
                                  <p:stCondLst>
                                    <p:cond delay="0"/>
                                  </p:stCondLst>
                                  <p:childTnLst>
                                    <p:set>
                                      <p:cBhvr>
                                        <p:cTn id="60" dur="1" fill="hold">
                                          <p:stCondLst>
                                            <p:cond delay="0"/>
                                          </p:stCondLst>
                                        </p:cTn>
                                        <p:tgtEl>
                                          <p:spTgt spid="68"/>
                                        </p:tgtEl>
                                        <p:attrNameLst>
                                          <p:attrName>style.visibility</p:attrName>
                                        </p:attrNameLst>
                                      </p:cBhvr>
                                      <p:to>
                                        <p:strVal val="visible"/>
                                      </p:to>
                                    </p:set>
                                    <p:anim calcmode="lin" valueType="num">
                                      <p:cBhvr additive="base">
                                        <p:cTn id="61" dur="500" fill="hold"/>
                                        <p:tgtEl>
                                          <p:spTgt spid="68"/>
                                        </p:tgtEl>
                                        <p:attrNameLst>
                                          <p:attrName>ppt_x</p:attrName>
                                        </p:attrNameLst>
                                      </p:cBhvr>
                                      <p:tavLst>
                                        <p:tav tm="0">
                                          <p:val>
                                            <p:strVal val="0-#ppt_w/2"/>
                                          </p:val>
                                        </p:tav>
                                        <p:tav tm="100000">
                                          <p:val>
                                            <p:strVal val="#ppt_x"/>
                                          </p:val>
                                        </p:tav>
                                      </p:tavLst>
                                    </p:anim>
                                    <p:anim calcmode="lin" valueType="num">
                                      <p:cBhvr additive="base">
                                        <p:cTn id="62" dur="500" fill="hold"/>
                                        <p:tgtEl>
                                          <p:spTgt spid="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418320" y="4389120"/>
            <a:ext cx="3291840" cy="329184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010851" y="4981651"/>
            <a:ext cx="2106777" cy="2106777"/>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3383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06</a:t>
            </a:r>
          </a:p>
        </p:txBody>
      </p:sp>
      <p:sp>
        <p:nvSpPr>
          <p:cNvPr id="12" name="!!rail7"/>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465429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185"/>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06  ·  METHODS AND MATERIALS USED  ·  6 OF 6</a:t>
            </a:r>
          </a:p>
        </p:txBody>
      </p:sp>
      <p:sp>
        <p:nvSpPr>
          <p:cNvPr id="15" name="Title 186"/>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Methods and materials used</a:t>
            </a:r>
          </a:p>
        </p:txBody>
      </p:sp>
      <p:sp>
        <p:nvSpPr>
          <p:cNvPr id="16" name="Subtitle 187"/>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Evaluation design: 300 URLs and four criteria</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§3.9 Evaluation Methodology; §4.3</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13 / 20</a:t>
            </a:r>
          </a:p>
        </p:txBody>
      </p:sp>
      <p:sp>
        <p:nvSpPr>
          <p:cNvPr id="20" name="Big 300 188"/>
          <p:cNvSpPr txBox="1"/>
          <p:nvPr/>
        </p:nvSpPr>
        <p:spPr>
          <a:xfrm>
            <a:off x="1417320" y="1874519"/>
            <a:ext cx="2743200" cy="1097280"/>
          </a:xfrm>
          <a:prstGeom prst="rect">
            <a:avLst/>
          </a:prstGeom>
          <a:noFill/>
        </p:spPr>
        <p:txBody>
          <a:bodyPr wrap="square" lIns="36576" tIns="36576" rIns="36576" bIns="36576" anchor="t">
            <a:spAutoFit/>
          </a:bodyPr>
          <a:lstStyle/>
          <a:p>
            <a:pPr algn="l">
              <a:lnSpc>
                <a:spcPct val="108000"/>
              </a:lnSpc>
            </a:pPr>
            <a:r>
              <a:rPr sz="8000" b="1" i="0">
                <a:solidFill>
                  <a:srgbClr val="F69D39"/>
                </a:solidFill>
                <a:latin typeface="Bahnschrift"/>
              </a:rPr>
              <a:t>300</a:t>
            </a:r>
          </a:p>
        </p:txBody>
      </p:sp>
      <p:sp>
        <p:nvSpPr>
          <p:cNvPr id="21" name="Big 300 label 189"/>
          <p:cNvSpPr txBox="1"/>
          <p:nvPr/>
        </p:nvSpPr>
        <p:spPr>
          <a:xfrm>
            <a:off x="1417320" y="3017520"/>
            <a:ext cx="3017520" cy="640080"/>
          </a:xfrm>
          <a:prstGeom prst="rect">
            <a:avLst/>
          </a:prstGeom>
          <a:noFill/>
        </p:spPr>
        <p:txBody>
          <a:bodyPr wrap="square" lIns="36576" tIns="36576" rIns="36576" bIns="36576" anchor="t">
            <a:spAutoFit/>
          </a:bodyPr>
          <a:lstStyle/>
          <a:p>
            <a:pPr algn="l">
              <a:lnSpc>
                <a:spcPct val="108000"/>
              </a:lnSpc>
            </a:pPr>
            <a:r>
              <a:rPr sz="1700" b="1" i="0">
                <a:solidFill>
                  <a:srgbClr val="1F1A1B"/>
                </a:solidFill>
                <a:latin typeface="Bahnschrift"/>
              </a:rPr>
              <a:t>URLs in the evaluation set</a:t>
            </a:r>
          </a:p>
        </p:txBody>
      </p:sp>
      <p:sp>
        <p:nvSpPr>
          <p:cNvPr id="22" name="Bar label 190"/>
          <p:cNvSpPr txBox="1"/>
          <p:nvPr/>
        </p:nvSpPr>
        <p:spPr>
          <a:xfrm>
            <a:off x="1417320" y="3703320"/>
            <a:ext cx="2377440" cy="320040"/>
          </a:xfrm>
          <a:prstGeom prst="rect">
            <a:avLst/>
          </a:prstGeom>
          <a:noFill/>
        </p:spPr>
        <p:txBody>
          <a:bodyPr wrap="square" lIns="36576" tIns="36576" rIns="36576" bIns="36576" anchor="t">
            <a:spAutoFit/>
          </a:bodyPr>
          <a:lstStyle/>
          <a:p>
            <a:pPr algn="l">
              <a:lnSpc>
                <a:spcPct val="108000"/>
              </a:lnSpc>
            </a:pPr>
            <a:r>
              <a:rPr sz="1350" b="0" i="0">
                <a:solidFill>
                  <a:srgbClr val="4A4244"/>
                </a:solidFill>
                <a:latin typeface="Calibri"/>
              </a:rPr>
              <a:t>Benign websites</a:t>
            </a:r>
          </a:p>
        </p:txBody>
      </p:sp>
      <p:sp>
        <p:nvSpPr>
          <p:cNvPr id="23" name="Bar 191"/>
          <p:cNvSpPr/>
          <p:nvPr/>
        </p:nvSpPr>
        <p:spPr>
          <a:xfrm>
            <a:off x="1417320" y="4050791"/>
            <a:ext cx="4206240" cy="292608"/>
          </a:xfrm>
          <a:prstGeom prst="roundRect">
            <a:avLst>
              <a:gd name="adj" fmla="val 30000"/>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Bar value 192"/>
          <p:cNvSpPr txBox="1"/>
          <p:nvPr/>
        </p:nvSpPr>
        <p:spPr>
          <a:xfrm>
            <a:off x="5714999" y="4005072"/>
            <a:ext cx="731520" cy="365760"/>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150</a:t>
            </a:r>
          </a:p>
        </p:txBody>
      </p:sp>
      <p:sp>
        <p:nvSpPr>
          <p:cNvPr id="25" name="Bar label 193"/>
          <p:cNvSpPr txBox="1"/>
          <p:nvPr/>
        </p:nvSpPr>
        <p:spPr>
          <a:xfrm>
            <a:off x="1417320" y="4416552"/>
            <a:ext cx="2377440" cy="320040"/>
          </a:xfrm>
          <a:prstGeom prst="rect">
            <a:avLst/>
          </a:prstGeom>
          <a:noFill/>
        </p:spPr>
        <p:txBody>
          <a:bodyPr wrap="square" lIns="36576" tIns="36576" rIns="36576" bIns="36576" anchor="t">
            <a:spAutoFit/>
          </a:bodyPr>
          <a:lstStyle/>
          <a:p>
            <a:pPr algn="l">
              <a:lnSpc>
                <a:spcPct val="108000"/>
              </a:lnSpc>
            </a:pPr>
            <a:r>
              <a:rPr sz="1350" b="0" i="0">
                <a:solidFill>
                  <a:srgbClr val="4A4244"/>
                </a:solidFill>
                <a:latin typeface="Calibri"/>
              </a:rPr>
              <a:t>Phishing websites</a:t>
            </a:r>
          </a:p>
        </p:txBody>
      </p:sp>
      <p:sp>
        <p:nvSpPr>
          <p:cNvPr id="26" name="Bar 194"/>
          <p:cNvSpPr/>
          <p:nvPr/>
        </p:nvSpPr>
        <p:spPr>
          <a:xfrm>
            <a:off x="1417320" y="4764024"/>
            <a:ext cx="2804160" cy="292608"/>
          </a:xfrm>
          <a:prstGeom prst="roundRect">
            <a:avLst>
              <a:gd name="adj" fmla="val 30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Bar value 195"/>
          <p:cNvSpPr txBox="1"/>
          <p:nvPr/>
        </p:nvSpPr>
        <p:spPr>
          <a:xfrm>
            <a:off x="4312919" y="4718304"/>
            <a:ext cx="731520" cy="365760"/>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100</a:t>
            </a:r>
          </a:p>
        </p:txBody>
      </p:sp>
      <p:sp>
        <p:nvSpPr>
          <p:cNvPr id="28" name="Bar label 196"/>
          <p:cNvSpPr txBox="1"/>
          <p:nvPr/>
        </p:nvSpPr>
        <p:spPr>
          <a:xfrm>
            <a:off x="1417320" y="5129784"/>
            <a:ext cx="2377440" cy="320040"/>
          </a:xfrm>
          <a:prstGeom prst="rect">
            <a:avLst/>
          </a:prstGeom>
          <a:noFill/>
        </p:spPr>
        <p:txBody>
          <a:bodyPr wrap="square" lIns="36576" tIns="36576" rIns="36576" bIns="36576" anchor="t">
            <a:spAutoFit/>
          </a:bodyPr>
          <a:lstStyle/>
          <a:p>
            <a:pPr algn="l">
              <a:lnSpc>
                <a:spcPct val="108000"/>
              </a:lnSpc>
            </a:pPr>
            <a:r>
              <a:rPr sz="1350" b="0" i="0">
                <a:solidFill>
                  <a:srgbClr val="4A4244"/>
                </a:solidFill>
                <a:latin typeface="Calibri"/>
              </a:rPr>
              <a:t>Malware / DGA domains</a:t>
            </a:r>
          </a:p>
        </p:txBody>
      </p:sp>
      <p:sp>
        <p:nvSpPr>
          <p:cNvPr id="29" name="Bar 197"/>
          <p:cNvSpPr/>
          <p:nvPr/>
        </p:nvSpPr>
        <p:spPr>
          <a:xfrm>
            <a:off x="1417320" y="5477256"/>
            <a:ext cx="1402080" cy="292608"/>
          </a:xfrm>
          <a:prstGeom prst="roundRect">
            <a:avLst>
              <a:gd name="adj" fmla="val 30000"/>
            </a:avLst>
          </a:prstGeom>
          <a:solidFill>
            <a:srgbClr val="C77A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Bar value 198"/>
          <p:cNvSpPr txBox="1"/>
          <p:nvPr/>
        </p:nvSpPr>
        <p:spPr>
          <a:xfrm>
            <a:off x="2910840" y="5431536"/>
            <a:ext cx="731520" cy="365760"/>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50</a:t>
            </a:r>
          </a:p>
        </p:txBody>
      </p:sp>
      <p:sp>
        <p:nvSpPr>
          <p:cNvPr id="31" name="Positive class 199"/>
          <p:cNvSpPr txBox="1"/>
          <p:nvPr/>
        </p:nvSpPr>
        <p:spPr>
          <a:xfrm>
            <a:off x="1417320" y="5943600"/>
            <a:ext cx="4754880" cy="320040"/>
          </a:xfrm>
          <a:prstGeom prst="rect">
            <a:avLst/>
          </a:prstGeom>
          <a:noFill/>
        </p:spPr>
        <p:txBody>
          <a:bodyPr wrap="square" lIns="36576" tIns="36576" rIns="36576" bIns="36576" anchor="t">
            <a:spAutoFit/>
          </a:bodyPr>
          <a:lstStyle/>
          <a:p>
            <a:pPr algn="l">
              <a:lnSpc>
                <a:spcPct val="108000"/>
              </a:lnSpc>
            </a:pPr>
            <a:r>
              <a:rPr sz="1250" b="0" i="0">
                <a:solidFill>
                  <a:srgbClr val="857A72"/>
                </a:solidFill>
                <a:latin typeface="Consolas"/>
              </a:rPr>
              <a:t>Positive class = the 150 harmful URLs</a:t>
            </a:r>
          </a:p>
        </p:txBody>
      </p:sp>
      <p:grpSp>
        <p:nvGrpSpPr>
          <p:cNvPr id="36" name="Card 200"/>
          <p:cNvGrpSpPr/>
          <p:nvPr/>
        </p:nvGrpSpPr>
        <p:grpSpPr>
          <a:xfrm>
            <a:off x="6172200" y="1828800"/>
            <a:ext cx="5470855" cy="1033271"/>
            <a:chOff x="6172200" y="1828800"/>
            <a:chExt cx="5470855" cy="1033271"/>
          </a:xfrm>
        </p:grpSpPr>
        <p:sp>
          <p:nvSpPr>
            <p:cNvPr id="32" name="Card bg"/>
            <p:cNvSpPr/>
            <p:nvPr/>
          </p:nvSpPr>
          <p:spPr>
            <a:xfrm>
              <a:off x="6172200" y="1828800"/>
              <a:ext cx="5470855" cy="1033271"/>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Card accent"/>
            <p:cNvSpPr/>
            <p:nvPr/>
          </p:nvSpPr>
          <p:spPr>
            <a:xfrm>
              <a:off x="6172200" y="1828800"/>
              <a:ext cx="5470855"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Card title"/>
            <p:cNvSpPr txBox="1"/>
            <p:nvPr/>
          </p:nvSpPr>
          <p:spPr>
            <a:xfrm>
              <a:off x="6373368" y="2011680"/>
              <a:ext cx="5068519" cy="311277"/>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Functional correctness</a:t>
              </a:r>
            </a:p>
          </p:txBody>
        </p:sp>
        <p:sp>
          <p:nvSpPr>
            <p:cNvPr id="35" name="Card body"/>
            <p:cNvSpPr txBox="1"/>
            <p:nvPr/>
          </p:nvSpPr>
          <p:spPr>
            <a:xfrm>
              <a:off x="6373368" y="2322957"/>
              <a:ext cx="5068519" cy="429386"/>
            </a:xfrm>
            <a:prstGeom prst="rect">
              <a:avLst/>
            </a:prstGeom>
            <a:noFill/>
          </p:spPr>
          <p:txBody>
            <a:bodyPr wrap="square" lIns="36576" tIns="36576" rIns="36576" bIns="36576" anchor="t">
              <a:spAutoFit/>
            </a:bodyPr>
            <a:lstStyle/>
            <a:p>
              <a:pPr algn="l">
                <a:lnSpc>
                  <a:spcPct val="105000"/>
                </a:lnSpc>
              </a:pPr>
              <a:r>
                <a:rPr sz="1200" b="0" i="0">
                  <a:solidFill>
                    <a:srgbClr val="4A4244"/>
                  </a:solidFill>
                  <a:latin typeface="Calibri"/>
                </a:rPr>
                <a:t>Every agent returns its documented response shape; the Reporter matches the expected verdicts on the calibration set.</a:t>
              </a:r>
            </a:p>
          </p:txBody>
        </p:sp>
      </p:grpSp>
      <p:grpSp>
        <p:nvGrpSpPr>
          <p:cNvPr id="41" name="Card 201"/>
          <p:cNvGrpSpPr/>
          <p:nvPr/>
        </p:nvGrpSpPr>
        <p:grpSpPr>
          <a:xfrm>
            <a:off x="6172200" y="2944368"/>
            <a:ext cx="5470855" cy="1033271"/>
            <a:chOff x="6172200" y="2944368"/>
            <a:chExt cx="5470855" cy="1033271"/>
          </a:xfrm>
        </p:grpSpPr>
        <p:sp>
          <p:nvSpPr>
            <p:cNvPr id="37" name="Card bg"/>
            <p:cNvSpPr/>
            <p:nvPr/>
          </p:nvSpPr>
          <p:spPr>
            <a:xfrm>
              <a:off x="6172200" y="2944368"/>
              <a:ext cx="5470855" cy="1033271"/>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Card accent"/>
            <p:cNvSpPr/>
            <p:nvPr/>
          </p:nvSpPr>
          <p:spPr>
            <a:xfrm>
              <a:off x="6172200" y="2944368"/>
              <a:ext cx="5470855"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Card title"/>
            <p:cNvSpPr txBox="1"/>
            <p:nvPr/>
          </p:nvSpPr>
          <p:spPr>
            <a:xfrm>
              <a:off x="6373368" y="3127248"/>
              <a:ext cx="5068519" cy="311277"/>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False-positive rate</a:t>
              </a:r>
            </a:p>
          </p:txBody>
        </p:sp>
        <p:sp>
          <p:nvSpPr>
            <p:cNvPr id="40" name="Card body"/>
            <p:cNvSpPr txBox="1"/>
            <p:nvPr/>
          </p:nvSpPr>
          <p:spPr>
            <a:xfrm>
              <a:off x="6373368" y="3438525"/>
              <a:ext cx="5068519" cy="429386"/>
            </a:xfrm>
            <a:prstGeom prst="rect">
              <a:avLst/>
            </a:prstGeom>
            <a:noFill/>
          </p:spPr>
          <p:txBody>
            <a:bodyPr wrap="square" lIns="36576" tIns="36576" rIns="36576" bIns="36576" anchor="t">
              <a:spAutoFit/>
            </a:bodyPr>
            <a:lstStyle/>
            <a:p>
              <a:pPr algn="l">
                <a:lnSpc>
                  <a:spcPct val="105000"/>
                </a:lnSpc>
              </a:pPr>
              <a:r>
                <a:rPr sz="1200" b="0" i="0">
                  <a:solidFill>
                    <a:srgbClr val="4A4244"/>
                  </a:solidFill>
                  <a:latin typeface="Calibri"/>
                </a:rPr>
                <a:t>Common benign sites (google.com, github.com, wikipedia.org, bbc.co.uk …) judged clean or low risk in 100% of cases.</a:t>
              </a:r>
            </a:p>
          </p:txBody>
        </p:sp>
      </p:grpSp>
      <p:grpSp>
        <p:nvGrpSpPr>
          <p:cNvPr id="46" name="Card 202"/>
          <p:cNvGrpSpPr/>
          <p:nvPr/>
        </p:nvGrpSpPr>
        <p:grpSpPr>
          <a:xfrm>
            <a:off x="6172200" y="4059935"/>
            <a:ext cx="5470855" cy="1033271"/>
            <a:chOff x="6172200" y="4059935"/>
            <a:chExt cx="5470855" cy="1033271"/>
          </a:xfrm>
        </p:grpSpPr>
        <p:sp>
          <p:nvSpPr>
            <p:cNvPr id="42" name="Card bg"/>
            <p:cNvSpPr/>
            <p:nvPr/>
          </p:nvSpPr>
          <p:spPr>
            <a:xfrm>
              <a:off x="6172200" y="4059935"/>
              <a:ext cx="5470855" cy="1033271"/>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Card accent"/>
            <p:cNvSpPr/>
            <p:nvPr/>
          </p:nvSpPr>
          <p:spPr>
            <a:xfrm>
              <a:off x="6172200" y="4059935"/>
              <a:ext cx="5470855"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4" name="Card title"/>
            <p:cNvSpPr txBox="1"/>
            <p:nvPr/>
          </p:nvSpPr>
          <p:spPr>
            <a:xfrm>
              <a:off x="6373368" y="4242816"/>
              <a:ext cx="5068519" cy="311277"/>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True-positive coverage</a:t>
              </a:r>
            </a:p>
          </p:txBody>
        </p:sp>
        <p:sp>
          <p:nvSpPr>
            <p:cNvPr id="45" name="Card body"/>
            <p:cNvSpPr txBox="1"/>
            <p:nvPr/>
          </p:nvSpPr>
          <p:spPr>
            <a:xfrm>
              <a:off x="6373368" y="4554093"/>
              <a:ext cx="5068519" cy="429386"/>
            </a:xfrm>
            <a:prstGeom prst="rect">
              <a:avLst/>
            </a:prstGeom>
            <a:noFill/>
          </p:spPr>
          <p:txBody>
            <a:bodyPr wrap="square" lIns="36576" tIns="36576" rIns="36576" bIns="36576" anchor="t">
              <a:spAutoFit/>
            </a:bodyPr>
            <a:lstStyle/>
            <a:p>
              <a:pPr algn="l">
                <a:lnSpc>
                  <a:spcPct val="105000"/>
                </a:lnSpc>
              </a:pPr>
              <a:r>
                <a:rPr sz="1200" b="0" i="0">
                  <a:solidFill>
                    <a:srgbClr val="4A4244"/>
                  </a:solidFill>
                  <a:latin typeface="Calibri"/>
                </a:rPr>
                <a:t>Curated phishing URLs (PhishTank and constructed) judged suspicious or malicious in at least 80% of cases.</a:t>
              </a:r>
            </a:p>
          </p:txBody>
        </p:sp>
      </p:grpSp>
      <p:grpSp>
        <p:nvGrpSpPr>
          <p:cNvPr id="51" name="Card 203"/>
          <p:cNvGrpSpPr/>
          <p:nvPr/>
        </p:nvGrpSpPr>
        <p:grpSpPr>
          <a:xfrm>
            <a:off x="6172200" y="5175504"/>
            <a:ext cx="5470855" cy="1033271"/>
            <a:chOff x="6172200" y="5175504"/>
            <a:chExt cx="5470855" cy="1033271"/>
          </a:xfrm>
        </p:grpSpPr>
        <p:sp>
          <p:nvSpPr>
            <p:cNvPr id="47" name="Card bg"/>
            <p:cNvSpPr/>
            <p:nvPr/>
          </p:nvSpPr>
          <p:spPr>
            <a:xfrm>
              <a:off x="6172200" y="5175504"/>
              <a:ext cx="5470855" cy="1033271"/>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8" name="Card accent"/>
            <p:cNvSpPr/>
            <p:nvPr/>
          </p:nvSpPr>
          <p:spPr>
            <a:xfrm>
              <a:off x="6172200" y="5175504"/>
              <a:ext cx="5470855"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9" name="Card title"/>
            <p:cNvSpPr txBox="1"/>
            <p:nvPr/>
          </p:nvSpPr>
          <p:spPr>
            <a:xfrm>
              <a:off x="6373368" y="5358384"/>
              <a:ext cx="5068519" cy="311277"/>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End-to-end latency</a:t>
              </a:r>
            </a:p>
          </p:txBody>
        </p:sp>
        <p:sp>
          <p:nvSpPr>
            <p:cNvPr id="50" name="Card body"/>
            <p:cNvSpPr txBox="1"/>
            <p:nvPr/>
          </p:nvSpPr>
          <p:spPr>
            <a:xfrm>
              <a:off x="6373368" y="5669661"/>
              <a:ext cx="5068519" cy="429386"/>
            </a:xfrm>
            <a:prstGeom prst="rect">
              <a:avLst/>
            </a:prstGeom>
            <a:noFill/>
          </p:spPr>
          <p:txBody>
            <a:bodyPr wrap="square" lIns="36576" tIns="36576" rIns="36576" bIns="36576" anchor="t">
              <a:spAutoFit/>
            </a:bodyPr>
            <a:lstStyle/>
            <a:p>
              <a:pPr algn="l">
                <a:lnSpc>
                  <a:spcPct val="105000"/>
                </a:lnSpc>
              </a:pPr>
              <a:r>
                <a:rPr sz="1200" b="0" i="0">
                  <a:solidFill>
                    <a:srgbClr val="4A4244"/>
                  </a:solidFill>
                  <a:latin typeface="Calibri"/>
                </a:rPr>
                <a:t>Mean over 100 consecutive requests: at most 10 s from a cold start and 4 s when warm.</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7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2550"/>
                            </p:stCondLst>
                            <p:childTnLst>
                              <p:par>
                                <p:cTn id="19" presetID="53" presetClass="entr" presetSubtype="16"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600" fill="hold"/>
                                        <p:tgtEl>
                                          <p:spTgt spid="20"/>
                                        </p:tgtEl>
                                        <p:attrNameLst>
                                          <p:attrName>ppt_w</p:attrName>
                                        </p:attrNameLst>
                                      </p:cBhvr>
                                      <p:tavLst>
                                        <p:tav tm="0">
                                          <p:val>
                                            <p:fltVal val="0"/>
                                          </p:val>
                                        </p:tav>
                                        <p:tav tm="100000">
                                          <p:val>
                                            <p:strVal val="#ppt_w"/>
                                          </p:val>
                                        </p:tav>
                                      </p:tavLst>
                                    </p:anim>
                                    <p:anim calcmode="lin" valueType="num">
                                      <p:cBhvr>
                                        <p:cTn id="22" dur="600" fill="hold"/>
                                        <p:tgtEl>
                                          <p:spTgt spid="20"/>
                                        </p:tgtEl>
                                        <p:attrNameLst>
                                          <p:attrName>ppt_h</p:attrName>
                                        </p:attrNameLst>
                                      </p:cBhvr>
                                      <p:tavLst>
                                        <p:tav tm="0">
                                          <p:val>
                                            <p:fltVal val="0"/>
                                          </p:val>
                                        </p:tav>
                                        <p:tav tm="100000">
                                          <p:val>
                                            <p:strVal val="#ppt_h"/>
                                          </p:val>
                                        </p:tav>
                                      </p:tavLst>
                                    </p:anim>
                                    <p:animEffect transition="in" filter="fade">
                                      <p:cBhvr>
                                        <p:cTn id="23" dur="600"/>
                                        <p:tgtEl>
                                          <p:spTgt spid="20"/>
                                        </p:tgtEl>
                                      </p:cBhvr>
                                    </p:animEffect>
                                  </p:childTnLst>
                                </p:cTn>
                              </p:par>
                            </p:childTnLst>
                          </p:cTn>
                        </p:par>
                        <p:par>
                          <p:cTn id="24" fill="hold">
                            <p:stCondLst>
                              <p:cond delay="315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par>
                          <p:cTn id="28" fill="hold">
                            <p:stCondLst>
                              <p:cond delay="3710"/>
                            </p:stCondLst>
                            <p:childTnLst>
                              <p:par>
                                <p:cTn id="29" presetID="10" presetClass="entr" presetSubtype="0"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200"/>
                                        <p:tgtEl>
                                          <p:spTgt spid="22"/>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childTnLst>
                          </p:cTn>
                        </p:par>
                        <p:par>
                          <p:cTn id="35" fill="hold">
                            <p:stCondLst>
                              <p:cond delay="4210"/>
                            </p:stCondLst>
                            <p:childTnLst>
                              <p:par>
                                <p:cTn id="36" presetID="10" presetClass="entr" presetSubtype="0" fill="hold" grpId="0" nodeType="after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200"/>
                                        <p:tgtEl>
                                          <p:spTgt spid="24"/>
                                        </p:tgtEl>
                                      </p:cBhvr>
                                    </p:animEffect>
                                  </p:childTnLst>
                                </p:cTn>
                              </p:par>
                            </p:childTnLst>
                          </p:cTn>
                        </p:par>
                        <p:par>
                          <p:cTn id="39" fill="hold">
                            <p:stCondLst>
                              <p:cond delay="4410"/>
                            </p:stCondLst>
                            <p:childTnLst>
                              <p:par>
                                <p:cTn id="40" presetID="10" presetClass="entr" presetSubtype="0" fill="hold" grpId="0" nodeType="after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200"/>
                                        <p:tgtEl>
                                          <p:spTgt spid="25"/>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left)">
                                      <p:cBhvr>
                                        <p:cTn id="45" dur="500"/>
                                        <p:tgtEl>
                                          <p:spTgt spid="26"/>
                                        </p:tgtEl>
                                      </p:cBhvr>
                                    </p:animEffect>
                                  </p:childTnLst>
                                </p:cTn>
                              </p:par>
                            </p:childTnLst>
                          </p:cTn>
                        </p:par>
                        <p:par>
                          <p:cTn id="46" fill="hold">
                            <p:stCondLst>
                              <p:cond delay="4910"/>
                            </p:stCondLst>
                            <p:childTnLst>
                              <p:par>
                                <p:cTn id="47" presetID="10" presetClass="entr" presetSubtype="0" fill="hold" grpId="0" nodeType="after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200"/>
                                        <p:tgtEl>
                                          <p:spTgt spid="27"/>
                                        </p:tgtEl>
                                      </p:cBhvr>
                                    </p:animEffect>
                                  </p:childTnLst>
                                </p:cTn>
                              </p:par>
                            </p:childTnLst>
                          </p:cTn>
                        </p:par>
                        <p:par>
                          <p:cTn id="50" fill="hold">
                            <p:stCondLst>
                              <p:cond delay="5110"/>
                            </p:stCondLst>
                            <p:childTnLst>
                              <p:par>
                                <p:cTn id="51" presetID="10" presetClass="entr" presetSubtype="0" fill="hold" grpId="0" nodeType="after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200"/>
                                        <p:tgtEl>
                                          <p:spTgt spid="28"/>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500"/>
                                        <p:tgtEl>
                                          <p:spTgt spid="29"/>
                                        </p:tgtEl>
                                      </p:cBhvr>
                                    </p:animEffect>
                                  </p:childTnLst>
                                </p:cTn>
                              </p:par>
                            </p:childTnLst>
                          </p:cTn>
                        </p:par>
                        <p:par>
                          <p:cTn id="57" fill="hold">
                            <p:stCondLst>
                              <p:cond delay="5610"/>
                            </p:stCondLst>
                            <p:childTnLst>
                              <p:par>
                                <p:cTn id="58" presetID="10" presetClass="entr" presetSubtype="0" fill="hold" grpId="0" nodeType="after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200"/>
                                        <p:tgtEl>
                                          <p:spTgt spid="30"/>
                                        </p:tgtEl>
                                      </p:cBhvr>
                                    </p:animEffect>
                                  </p:childTnLst>
                                </p:cTn>
                              </p:par>
                            </p:childTnLst>
                          </p:cTn>
                        </p:par>
                        <p:par>
                          <p:cTn id="61" fill="hold">
                            <p:stCondLst>
                              <p:cond delay="5810"/>
                            </p:stCondLst>
                            <p:childTnLst>
                              <p:par>
                                <p:cTn id="62" presetID="10" presetClass="entr" presetSubtype="0" fill="hold" grpId="0" nodeType="after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300"/>
                                        <p:tgtEl>
                                          <p:spTgt spid="31"/>
                                        </p:tgtEl>
                                      </p:cBhvr>
                                    </p:animEffect>
                                  </p:childTnLst>
                                </p:cTn>
                              </p:par>
                            </p:childTnLst>
                          </p:cTn>
                        </p:par>
                        <p:par>
                          <p:cTn id="65" fill="hold">
                            <p:stCondLst>
                              <p:cond delay="6110"/>
                            </p:stCondLst>
                            <p:childTnLst>
                              <p:par>
                                <p:cTn id="66" presetID="2" presetClass="entr" presetSubtype="4" fill="hold" nodeType="afterEffect">
                                  <p:stCondLst>
                                    <p:cond delay="0"/>
                                  </p:stCondLst>
                                  <p:childTnLst>
                                    <p:set>
                                      <p:cBhvr>
                                        <p:cTn id="67" dur="1" fill="hold">
                                          <p:stCondLst>
                                            <p:cond delay="0"/>
                                          </p:stCondLst>
                                        </p:cTn>
                                        <p:tgtEl>
                                          <p:spTgt spid="36"/>
                                        </p:tgtEl>
                                        <p:attrNameLst>
                                          <p:attrName>style.visibility</p:attrName>
                                        </p:attrNameLst>
                                      </p:cBhvr>
                                      <p:to>
                                        <p:strVal val="visible"/>
                                      </p:to>
                                    </p:set>
                                    <p:anim calcmode="lin" valueType="num">
                                      <p:cBhvr additive="base">
                                        <p:cTn id="68" dur="500" fill="hold"/>
                                        <p:tgtEl>
                                          <p:spTgt spid="36"/>
                                        </p:tgtEl>
                                        <p:attrNameLst>
                                          <p:attrName>ppt_x</p:attrName>
                                        </p:attrNameLst>
                                      </p:cBhvr>
                                      <p:tavLst>
                                        <p:tav tm="0">
                                          <p:val>
                                            <p:strVal val="#ppt_x"/>
                                          </p:val>
                                        </p:tav>
                                        <p:tav tm="100000">
                                          <p:val>
                                            <p:strVal val="#ppt_x"/>
                                          </p:val>
                                        </p:tav>
                                      </p:tavLst>
                                    </p:anim>
                                    <p:anim calcmode="lin" valueType="num">
                                      <p:cBhvr additive="base">
                                        <p:cTn id="69" dur="500" fill="hold"/>
                                        <p:tgtEl>
                                          <p:spTgt spid="36"/>
                                        </p:tgtEl>
                                        <p:attrNameLst>
                                          <p:attrName>ppt_y</p:attrName>
                                        </p:attrNameLst>
                                      </p:cBhvr>
                                      <p:tavLst>
                                        <p:tav tm="0">
                                          <p:val>
                                            <p:strVal val="1+#ppt_h/2"/>
                                          </p:val>
                                        </p:tav>
                                        <p:tav tm="100000">
                                          <p:val>
                                            <p:strVal val="#ppt_y"/>
                                          </p:val>
                                        </p:tav>
                                      </p:tavLst>
                                    </p:anim>
                                  </p:childTnLst>
                                </p:cTn>
                              </p:par>
                            </p:childTnLst>
                          </p:cTn>
                        </p:par>
                        <p:par>
                          <p:cTn id="70" fill="hold">
                            <p:stCondLst>
                              <p:cond delay="6610"/>
                            </p:stCondLst>
                            <p:childTnLst>
                              <p:par>
                                <p:cTn id="71" presetID="2" presetClass="entr" presetSubtype="4" fill="hold" nodeType="afterEffect">
                                  <p:stCondLst>
                                    <p:cond delay="0"/>
                                  </p:stCondLst>
                                  <p:childTnLst>
                                    <p:set>
                                      <p:cBhvr>
                                        <p:cTn id="72" dur="1" fill="hold">
                                          <p:stCondLst>
                                            <p:cond delay="0"/>
                                          </p:stCondLst>
                                        </p:cTn>
                                        <p:tgtEl>
                                          <p:spTgt spid="41"/>
                                        </p:tgtEl>
                                        <p:attrNameLst>
                                          <p:attrName>style.visibility</p:attrName>
                                        </p:attrNameLst>
                                      </p:cBhvr>
                                      <p:to>
                                        <p:strVal val="visible"/>
                                      </p:to>
                                    </p:set>
                                    <p:anim calcmode="lin" valueType="num">
                                      <p:cBhvr additive="base">
                                        <p:cTn id="73" dur="500" fill="hold"/>
                                        <p:tgtEl>
                                          <p:spTgt spid="41"/>
                                        </p:tgtEl>
                                        <p:attrNameLst>
                                          <p:attrName>ppt_x</p:attrName>
                                        </p:attrNameLst>
                                      </p:cBhvr>
                                      <p:tavLst>
                                        <p:tav tm="0">
                                          <p:val>
                                            <p:strVal val="#ppt_x"/>
                                          </p:val>
                                        </p:tav>
                                        <p:tav tm="100000">
                                          <p:val>
                                            <p:strVal val="#ppt_x"/>
                                          </p:val>
                                        </p:tav>
                                      </p:tavLst>
                                    </p:anim>
                                    <p:anim calcmode="lin" valueType="num">
                                      <p:cBhvr additive="base">
                                        <p:cTn id="74" dur="500" fill="hold"/>
                                        <p:tgtEl>
                                          <p:spTgt spid="41"/>
                                        </p:tgtEl>
                                        <p:attrNameLst>
                                          <p:attrName>ppt_y</p:attrName>
                                        </p:attrNameLst>
                                      </p:cBhvr>
                                      <p:tavLst>
                                        <p:tav tm="0">
                                          <p:val>
                                            <p:strVal val="1+#ppt_h/2"/>
                                          </p:val>
                                        </p:tav>
                                        <p:tav tm="100000">
                                          <p:val>
                                            <p:strVal val="#ppt_y"/>
                                          </p:val>
                                        </p:tav>
                                      </p:tavLst>
                                    </p:anim>
                                  </p:childTnLst>
                                </p:cTn>
                              </p:par>
                            </p:childTnLst>
                          </p:cTn>
                        </p:par>
                        <p:par>
                          <p:cTn id="75" fill="hold">
                            <p:stCondLst>
                              <p:cond delay="7110"/>
                            </p:stCondLst>
                            <p:childTnLst>
                              <p:par>
                                <p:cTn id="76" presetID="2" presetClass="entr" presetSubtype="4" fill="hold" nodeType="afterEffect">
                                  <p:stCondLst>
                                    <p:cond delay="0"/>
                                  </p:stCondLst>
                                  <p:childTnLst>
                                    <p:set>
                                      <p:cBhvr>
                                        <p:cTn id="77" dur="1" fill="hold">
                                          <p:stCondLst>
                                            <p:cond delay="0"/>
                                          </p:stCondLst>
                                        </p:cTn>
                                        <p:tgtEl>
                                          <p:spTgt spid="46"/>
                                        </p:tgtEl>
                                        <p:attrNameLst>
                                          <p:attrName>style.visibility</p:attrName>
                                        </p:attrNameLst>
                                      </p:cBhvr>
                                      <p:to>
                                        <p:strVal val="visible"/>
                                      </p:to>
                                    </p:set>
                                    <p:anim calcmode="lin" valueType="num">
                                      <p:cBhvr additive="base">
                                        <p:cTn id="78" dur="500" fill="hold"/>
                                        <p:tgtEl>
                                          <p:spTgt spid="46"/>
                                        </p:tgtEl>
                                        <p:attrNameLst>
                                          <p:attrName>ppt_x</p:attrName>
                                        </p:attrNameLst>
                                      </p:cBhvr>
                                      <p:tavLst>
                                        <p:tav tm="0">
                                          <p:val>
                                            <p:strVal val="#ppt_x"/>
                                          </p:val>
                                        </p:tav>
                                        <p:tav tm="100000">
                                          <p:val>
                                            <p:strVal val="#ppt_x"/>
                                          </p:val>
                                        </p:tav>
                                      </p:tavLst>
                                    </p:anim>
                                    <p:anim calcmode="lin" valueType="num">
                                      <p:cBhvr additive="base">
                                        <p:cTn id="79" dur="500" fill="hold"/>
                                        <p:tgtEl>
                                          <p:spTgt spid="46"/>
                                        </p:tgtEl>
                                        <p:attrNameLst>
                                          <p:attrName>ppt_y</p:attrName>
                                        </p:attrNameLst>
                                      </p:cBhvr>
                                      <p:tavLst>
                                        <p:tav tm="0">
                                          <p:val>
                                            <p:strVal val="1+#ppt_h/2"/>
                                          </p:val>
                                        </p:tav>
                                        <p:tav tm="100000">
                                          <p:val>
                                            <p:strVal val="#ppt_y"/>
                                          </p:val>
                                        </p:tav>
                                      </p:tavLst>
                                    </p:anim>
                                  </p:childTnLst>
                                </p:cTn>
                              </p:par>
                            </p:childTnLst>
                          </p:cTn>
                        </p:par>
                        <p:par>
                          <p:cTn id="80" fill="hold">
                            <p:stCondLst>
                              <p:cond delay="7610"/>
                            </p:stCondLst>
                            <p:childTnLst>
                              <p:par>
                                <p:cTn id="81" presetID="2" presetClass="entr" presetSubtype="4" fill="hold" nodeType="afterEffect">
                                  <p:stCondLst>
                                    <p:cond delay="0"/>
                                  </p:stCondLst>
                                  <p:childTnLst>
                                    <p:set>
                                      <p:cBhvr>
                                        <p:cTn id="82" dur="1" fill="hold">
                                          <p:stCondLst>
                                            <p:cond delay="0"/>
                                          </p:stCondLst>
                                        </p:cTn>
                                        <p:tgtEl>
                                          <p:spTgt spid="51"/>
                                        </p:tgtEl>
                                        <p:attrNameLst>
                                          <p:attrName>style.visibility</p:attrName>
                                        </p:attrNameLst>
                                      </p:cBhvr>
                                      <p:to>
                                        <p:strVal val="visible"/>
                                      </p:to>
                                    </p:set>
                                    <p:anim calcmode="lin" valueType="num">
                                      <p:cBhvr additive="base">
                                        <p:cTn id="83" dur="500" fill="hold"/>
                                        <p:tgtEl>
                                          <p:spTgt spid="51"/>
                                        </p:tgtEl>
                                        <p:attrNameLst>
                                          <p:attrName>ppt_x</p:attrName>
                                        </p:attrNameLst>
                                      </p:cBhvr>
                                      <p:tavLst>
                                        <p:tav tm="0">
                                          <p:val>
                                            <p:strVal val="#ppt_x"/>
                                          </p:val>
                                        </p:tav>
                                        <p:tav tm="100000">
                                          <p:val>
                                            <p:strVal val="#ppt_x"/>
                                          </p:val>
                                        </p:tav>
                                      </p:tavLst>
                                    </p:anim>
                                    <p:anim calcmode="lin" valueType="num">
                                      <p:cBhvr additive="base">
                                        <p:cTn id="84"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20" grpId="0"/>
      <p:bldP spid="21" grpId="0"/>
      <p:bldP spid="22" grpId="0"/>
      <p:bldP spid="23" grpId="0" animBg="1"/>
      <p:bldP spid="24" grpId="0"/>
      <p:bldP spid="25" grpId="0"/>
      <p:bldP spid="26" grpId="0" animBg="1"/>
      <p:bldP spid="27" grpId="0"/>
      <p:bldP spid="28" grpId="0"/>
      <p:bldP spid="29" grpId="0" animBg="1"/>
      <p:bldP spid="30" grpId="0"/>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875520" y="-1371600"/>
            <a:ext cx="3017520" cy="301752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418673" y="-828446"/>
            <a:ext cx="1931212" cy="1931212"/>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1051559"/>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3383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06</a:t>
            </a:r>
          </a:p>
        </p:txBody>
      </p:sp>
      <p:sp>
        <p:nvSpPr>
          <p:cNvPr id="12" name="!!rail7"/>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07</a:t>
            </a:r>
          </a:p>
        </p:txBody>
      </p:sp>
      <p:sp>
        <p:nvSpPr>
          <p:cNvPr id="13" name="!!rail8"/>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204"/>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07  ·  RESULTS  ·  1 OF 4</a:t>
            </a:r>
          </a:p>
        </p:txBody>
      </p:sp>
      <p:sp>
        <p:nvSpPr>
          <p:cNvPr id="15" name="Title 205"/>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Results</a:t>
            </a:r>
          </a:p>
        </p:txBody>
      </p:sp>
      <p:sp>
        <p:nvSpPr>
          <p:cNvPr id="16" name="Subtitle 206"/>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Detection performance on the 300-URL evaluation</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Tables 4.3 and 4.4 (historical prototype results)</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14 / 20</a:t>
            </a:r>
          </a:p>
        </p:txBody>
      </p:sp>
      <p:grpSp>
        <p:nvGrpSpPr>
          <p:cNvPr id="24" name="Metric 207"/>
          <p:cNvGrpSpPr/>
          <p:nvPr/>
        </p:nvGrpSpPr>
        <p:grpSpPr>
          <a:xfrm>
            <a:off x="1417320" y="1874519"/>
            <a:ext cx="1582369" cy="1508760"/>
            <a:chOff x="1417320" y="1874519"/>
            <a:chExt cx="1582369" cy="1508760"/>
          </a:xfrm>
        </p:grpSpPr>
        <p:sp>
          <p:nvSpPr>
            <p:cNvPr id="20" name="Metric bg"/>
            <p:cNvSpPr/>
            <p:nvPr/>
          </p:nvSpPr>
          <p:spPr>
            <a:xfrm>
              <a:off x="1417320" y="1874519"/>
              <a:ext cx="1582369" cy="1508760"/>
            </a:xfrm>
            <a:prstGeom prst="roundRect">
              <a:avLst>
                <a:gd name="adj" fmla="val 8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Metric value"/>
            <p:cNvSpPr txBox="1"/>
            <p:nvPr/>
          </p:nvSpPr>
          <p:spPr>
            <a:xfrm>
              <a:off x="1508760" y="1938528"/>
              <a:ext cx="1399489" cy="658368"/>
            </a:xfrm>
            <a:prstGeom prst="rect">
              <a:avLst/>
            </a:prstGeom>
            <a:noFill/>
          </p:spPr>
          <p:txBody>
            <a:bodyPr wrap="square" lIns="36576" tIns="36576" rIns="36576" bIns="36576" anchor="t">
              <a:spAutoFit/>
            </a:bodyPr>
            <a:lstStyle/>
            <a:p>
              <a:pPr algn="ctr">
                <a:lnSpc>
                  <a:spcPct val="108000"/>
                </a:lnSpc>
              </a:pPr>
              <a:r>
                <a:rPr sz="3000" b="1" i="0">
                  <a:solidFill>
                    <a:srgbClr val="F69D39"/>
                  </a:solidFill>
                  <a:latin typeface="Bahnschrift"/>
                </a:rPr>
                <a:t>94.7%</a:t>
              </a:r>
            </a:p>
          </p:txBody>
        </p:sp>
        <p:sp>
          <p:nvSpPr>
            <p:cNvPr id="22" name="Metric key"/>
            <p:cNvSpPr txBox="1"/>
            <p:nvPr/>
          </p:nvSpPr>
          <p:spPr>
            <a:xfrm>
              <a:off x="1508760" y="2615184"/>
              <a:ext cx="1399489" cy="329184"/>
            </a:xfrm>
            <a:prstGeom prst="rect">
              <a:avLst/>
            </a:prstGeom>
            <a:noFill/>
          </p:spPr>
          <p:txBody>
            <a:bodyPr wrap="square" lIns="36576" tIns="36576" rIns="36576" bIns="36576" anchor="t">
              <a:spAutoFit/>
            </a:bodyPr>
            <a:lstStyle/>
            <a:p>
              <a:pPr algn="ctr">
                <a:lnSpc>
                  <a:spcPct val="108000"/>
                </a:lnSpc>
              </a:pPr>
              <a:r>
                <a:rPr sz="1400" b="1" i="0">
                  <a:solidFill>
                    <a:srgbClr val="EFE9DD"/>
                  </a:solidFill>
                  <a:latin typeface="Bahnschrift"/>
                </a:rPr>
                <a:t>Accuracy</a:t>
              </a:r>
            </a:p>
          </p:txBody>
        </p:sp>
        <p:sp>
          <p:nvSpPr>
            <p:cNvPr id="23" name="Metric text"/>
            <p:cNvSpPr txBox="1"/>
            <p:nvPr/>
          </p:nvSpPr>
          <p:spPr>
            <a:xfrm>
              <a:off x="1508760" y="2926080"/>
              <a:ext cx="1399489" cy="365760"/>
            </a:xfrm>
            <a:prstGeom prst="rect">
              <a:avLst/>
            </a:prstGeom>
            <a:noFill/>
          </p:spPr>
          <p:txBody>
            <a:bodyPr wrap="square" lIns="36576" tIns="36576" rIns="36576" bIns="36576" anchor="t">
              <a:spAutoFit/>
            </a:bodyPr>
            <a:lstStyle/>
            <a:p>
              <a:pPr algn="ctr">
                <a:lnSpc>
                  <a:spcPct val="108000"/>
                </a:lnSpc>
              </a:pPr>
              <a:r>
                <a:rPr sz="1100" b="0" i="0">
                  <a:solidFill>
                    <a:srgbClr val="CFC6B8"/>
                  </a:solidFill>
                  <a:latin typeface="Calibri"/>
                </a:rPr>
                <a:t>284 of 300 correct</a:t>
              </a:r>
            </a:p>
          </p:txBody>
        </p:sp>
      </p:grpSp>
      <p:grpSp>
        <p:nvGrpSpPr>
          <p:cNvPr id="29" name="Metric 208"/>
          <p:cNvGrpSpPr/>
          <p:nvPr/>
        </p:nvGrpSpPr>
        <p:grpSpPr>
          <a:xfrm>
            <a:off x="3145993" y="1874519"/>
            <a:ext cx="1582369" cy="1508760"/>
            <a:chOff x="3145993" y="1874519"/>
            <a:chExt cx="1582369" cy="1508760"/>
          </a:xfrm>
        </p:grpSpPr>
        <p:sp>
          <p:nvSpPr>
            <p:cNvPr id="25" name="Metric bg"/>
            <p:cNvSpPr/>
            <p:nvPr/>
          </p:nvSpPr>
          <p:spPr>
            <a:xfrm>
              <a:off x="3145993" y="1874519"/>
              <a:ext cx="1582369" cy="1508760"/>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Metric value"/>
            <p:cNvSpPr txBox="1"/>
            <p:nvPr/>
          </p:nvSpPr>
          <p:spPr>
            <a:xfrm>
              <a:off x="3237433" y="1938528"/>
              <a:ext cx="1399489" cy="658368"/>
            </a:xfrm>
            <a:prstGeom prst="rect">
              <a:avLst/>
            </a:prstGeom>
            <a:noFill/>
          </p:spPr>
          <p:txBody>
            <a:bodyPr wrap="square" lIns="36576" tIns="36576" rIns="36576" bIns="36576" anchor="t">
              <a:spAutoFit/>
            </a:bodyPr>
            <a:lstStyle/>
            <a:p>
              <a:pPr algn="ctr">
                <a:lnSpc>
                  <a:spcPct val="108000"/>
                </a:lnSpc>
              </a:pPr>
              <a:r>
                <a:rPr sz="3000" b="1" i="0">
                  <a:solidFill>
                    <a:srgbClr val="869B7E"/>
                  </a:solidFill>
                  <a:latin typeface="Bahnschrift"/>
                </a:rPr>
                <a:t>97.9%</a:t>
              </a:r>
            </a:p>
          </p:txBody>
        </p:sp>
        <p:sp>
          <p:nvSpPr>
            <p:cNvPr id="27" name="Metric key"/>
            <p:cNvSpPr txBox="1"/>
            <p:nvPr/>
          </p:nvSpPr>
          <p:spPr>
            <a:xfrm>
              <a:off x="3237433" y="2615184"/>
              <a:ext cx="1399489" cy="329184"/>
            </a:xfrm>
            <a:prstGeom prst="rect">
              <a:avLst/>
            </a:prstGeom>
            <a:noFill/>
          </p:spPr>
          <p:txBody>
            <a:bodyPr wrap="square" lIns="36576" tIns="36576" rIns="36576" bIns="36576" anchor="t">
              <a:spAutoFit/>
            </a:bodyPr>
            <a:lstStyle/>
            <a:p>
              <a:pPr algn="ctr">
                <a:lnSpc>
                  <a:spcPct val="108000"/>
                </a:lnSpc>
              </a:pPr>
              <a:r>
                <a:rPr sz="1400" b="1" i="0">
                  <a:solidFill>
                    <a:srgbClr val="1F1A1B"/>
                  </a:solidFill>
                  <a:latin typeface="Bahnschrift"/>
                </a:rPr>
                <a:t>Precision</a:t>
              </a:r>
            </a:p>
          </p:txBody>
        </p:sp>
        <p:sp>
          <p:nvSpPr>
            <p:cNvPr id="28" name="Metric text"/>
            <p:cNvSpPr txBox="1"/>
            <p:nvPr/>
          </p:nvSpPr>
          <p:spPr>
            <a:xfrm>
              <a:off x="3237433" y="2926080"/>
              <a:ext cx="1399489" cy="365760"/>
            </a:xfrm>
            <a:prstGeom prst="rect">
              <a:avLst/>
            </a:prstGeom>
            <a:noFill/>
          </p:spPr>
          <p:txBody>
            <a:bodyPr wrap="square" lIns="36576" tIns="36576" rIns="36576" bIns="36576" anchor="t">
              <a:spAutoFit/>
            </a:bodyPr>
            <a:lstStyle/>
            <a:p>
              <a:pPr algn="ctr">
                <a:lnSpc>
                  <a:spcPct val="108000"/>
                </a:lnSpc>
              </a:pPr>
              <a:r>
                <a:rPr sz="1100" b="0" i="0">
                  <a:solidFill>
                    <a:srgbClr val="857A72"/>
                  </a:solidFill>
                  <a:latin typeface="Calibri"/>
                </a:rPr>
                <a:t>alerts that were right</a:t>
              </a:r>
            </a:p>
          </p:txBody>
        </p:sp>
      </p:grpSp>
      <p:grpSp>
        <p:nvGrpSpPr>
          <p:cNvPr id="34" name="Metric 209"/>
          <p:cNvGrpSpPr/>
          <p:nvPr/>
        </p:nvGrpSpPr>
        <p:grpSpPr>
          <a:xfrm>
            <a:off x="4874666" y="1874519"/>
            <a:ext cx="1582369" cy="1508760"/>
            <a:chOff x="4874666" y="1874519"/>
            <a:chExt cx="1582369" cy="1508760"/>
          </a:xfrm>
        </p:grpSpPr>
        <p:sp>
          <p:nvSpPr>
            <p:cNvPr id="30" name="Metric bg"/>
            <p:cNvSpPr/>
            <p:nvPr/>
          </p:nvSpPr>
          <p:spPr>
            <a:xfrm>
              <a:off x="4874666" y="1874519"/>
              <a:ext cx="1582369" cy="1508760"/>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Metric value"/>
            <p:cNvSpPr txBox="1"/>
            <p:nvPr/>
          </p:nvSpPr>
          <p:spPr>
            <a:xfrm>
              <a:off x="4966106" y="1938528"/>
              <a:ext cx="1399489" cy="658368"/>
            </a:xfrm>
            <a:prstGeom prst="rect">
              <a:avLst/>
            </a:prstGeom>
            <a:noFill/>
          </p:spPr>
          <p:txBody>
            <a:bodyPr wrap="square" lIns="36576" tIns="36576" rIns="36576" bIns="36576" anchor="t">
              <a:spAutoFit/>
            </a:bodyPr>
            <a:lstStyle/>
            <a:p>
              <a:pPr algn="ctr">
                <a:lnSpc>
                  <a:spcPct val="108000"/>
                </a:lnSpc>
              </a:pPr>
              <a:r>
                <a:rPr sz="3000" b="1" i="0">
                  <a:solidFill>
                    <a:srgbClr val="C77A1E"/>
                  </a:solidFill>
                  <a:latin typeface="Bahnschrift"/>
                </a:rPr>
                <a:t>91.3%</a:t>
              </a:r>
            </a:p>
          </p:txBody>
        </p:sp>
        <p:sp>
          <p:nvSpPr>
            <p:cNvPr id="32" name="Metric key"/>
            <p:cNvSpPr txBox="1"/>
            <p:nvPr/>
          </p:nvSpPr>
          <p:spPr>
            <a:xfrm>
              <a:off x="4966106" y="2615184"/>
              <a:ext cx="1399489" cy="329184"/>
            </a:xfrm>
            <a:prstGeom prst="rect">
              <a:avLst/>
            </a:prstGeom>
            <a:noFill/>
          </p:spPr>
          <p:txBody>
            <a:bodyPr wrap="square" lIns="36576" tIns="36576" rIns="36576" bIns="36576" anchor="t">
              <a:spAutoFit/>
            </a:bodyPr>
            <a:lstStyle/>
            <a:p>
              <a:pPr algn="ctr">
                <a:lnSpc>
                  <a:spcPct val="108000"/>
                </a:lnSpc>
              </a:pPr>
              <a:r>
                <a:rPr sz="1400" b="1" i="0">
                  <a:solidFill>
                    <a:srgbClr val="1F1A1B"/>
                  </a:solidFill>
                  <a:latin typeface="Bahnschrift"/>
                </a:rPr>
                <a:t>Recall</a:t>
              </a:r>
            </a:p>
          </p:txBody>
        </p:sp>
        <p:sp>
          <p:nvSpPr>
            <p:cNvPr id="33" name="Metric text"/>
            <p:cNvSpPr txBox="1"/>
            <p:nvPr/>
          </p:nvSpPr>
          <p:spPr>
            <a:xfrm>
              <a:off x="4966106" y="2926080"/>
              <a:ext cx="1399489" cy="365760"/>
            </a:xfrm>
            <a:prstGeom prst="rect">
              <a:avLst/>
            </a:prstGeom>
            <a:noFill/>
          </p:spPr>
          <p:txBody>
            <a:bodyPr wrap="square" lIns="36576" tIns="36576" rIns="36576" bIns="36576" anchor="t">
              <a:spAutoFit/>
            </a:bodyPr>
            <a:lstStyle/>
            <a:p>
              <a:pPr algn="ctr">
                <a:lnSpc>
                  <a:spcPct val="108000"/>
                </a:lnSpc>
              </a:pPr>
              <a:r>
                <a:rPr sz="1100" b="0" i="0">
                  <a:solidFill>
                    <a:srgbClr val="857A72"/>
                  </a:solidFill>
                  <a:latin typeface="Calibri"/>
                </a:rPr>
                <a:t>harmful sites caught</a:t>
              </a:r>
            </a:p>
          </p:txBody>
        </p:sp>
      </p:grpSp>
      <p:grpSp>
        <p:nvGrpSpPr>
          <p:cNvPr id="39" name="Metric 210"/>
          <p:cNvGrpSpPr/>
          <p:nvPr/>
        </p:nvGrpSpPr>
        <p:grpSpPr>
          <a:xfrm>
            <a:off x="6603339" y="1874519"/>
            <a:ext cx="1582369" cy="1508760"/>
            <a:chOff x="6603339" y="1874519"/>
            <a:chExt cx="1582369" cy="1508760"/>
          </a:xfrm>
        </p:grpSpPr>
        <p:sp>
          <p:nvSpPr>
            <p:cNvPr id="35" name="Metric bg"/>
            <p:cNvSpPr/>
            <p:nvPr/>
          </p:nvSpPr>
          <p:spPr>
            <a:xfrm>
              <a:off x="6603339" y="1874519"/>
              <a:ext cx="1582369" cy="1508760"/>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Metric value"/>
            <p:cNvSpPr txBox="1"/>
            <p:nvPr/>
          </p:nvSpPr>
          <p:spPr>
            <a:xfrm>
              <a:off x="6694779" y="1938528"/>
              <a:ext cx="1399489" cy="658368"/>
            </a:xfrm>
            <a:prstGeom prst="rect">
              <a:avLst/>
            </a:prstGeom>
            <a:noFill/>
          </p:spPr>
          <p:txBody>
            <a:bodyPr wrap="square" lIns="36576" tIns="36576" rIns="36576" bIns="36576" anchor="t">
              <a:spAutoFit/>
            </a:bodyPr>
            <a:lstStyle/>
            <a:p>
              <a:pPr algn="ctr">
                <a:lnSpc>
                  <a:spcPct val="108000"/>
                </a:lnSpc>
              </a:pPr>
              <a:r>
                <a:rPr sz="3000" b="1" i="0">
                  <a:solidFill>
                    <a:srgbClr val="869B7E"/>
                  </a:solidFill>
                  <a:latin typeface="Bahnschrift"/>
                </a:rPr>
                <a:t>98.0%</a:t>
              </a:r>
            </a:p>
          </p:txBody>
        </p:sp>
        <p:sp>
          <p:nvSpPr>
            <p:cNvPr id="37" name="Metric key"/>
            <p:cNvSpPr txBox="1"/>
            <p:nvPr/>
          </p:nvSpPr>
          <p:spPr>
            <a:xfrm>
              <a:off x="6694779" y="2615184"/>
              <a:ext cx="1399489" cy="329184"/>
            </a:xfrm>
            <a:prstGeom prst="rect">
              <a:avLst/>
            </a:prstGeom>
            <a:noFill/>
          </p:spPr>
          <p:txBody>
            <a:bodyPr wrap="square" lIns="36576" tIns="36576" rIns="36576" bIns="36576" anchor="t">
              <a:spAutoFit/>
            </a:bodyPr>
            <a:lstStyle/>
            <a:p>
              <a:pPr algn="ctr">
                <a:lnSpc>
                  <a:spcPct val="108000"/>
                </a:lnSpc>
              </a:pPr>
              <a:r>
                <a:rPr sz="1400" b="1" i="0">
                  <a:solidFill>
                    <a:srgbClr val="1F1A1B"/>
                  </a:solidFill>
                  <a:latin typeface="Bahnschrift"/>
                </a:rPr>
                <a:t>Specificity</a:t>
              </a:r>
            </a:p>
          </p:txBody>
        </p:sp>
        <p:sp>
          <p:nvSpPr>
            <p:cNvPr id="38" name="Metric text"/>
            <p:cNvSpPr txBox="1"/>
            <p:nvPr/>
          </p:nvSpPr>
          <p:spPr>
            <a:xfrm>
              <a:off x="6694779" y="2926080"/>
              <a:ext cx="1399489" cy="365760"/>
            </a:xfrm>
            <a:prstGeom prst="rect">
              <a:avLst/>
            </a:prstGeom>
            <a:noFill/>
          </p:spPr>
          <p:txBody>
            <a:bodyPr wrap="square" lIns="36576" tIns="36576" rIns="36576" bIns="36576" anchor="t">
              <a:spAutoFit/>
            </a:bodyPr>
            <a:lstStyle/>
            <a:p>
              <a:pPr algn="ctr">
                <a:lnSpc>
                  <a:spcPct val="108000"/>
                </a:lnSpc>
              </a:pPr>
              <a:r>
                <a:rPr sz="1100" b="0" i="0">
                  <a:solidFill>
                    <a:srgbClr val="857A72"/>
                  </a:solidFill>
                  <a:latin typeface="Calibri"/>
                </a:rPr>
                <a:t>safe sites left alone</a:t>
              </a:r>
            </a:p>
          </p:txBody>
        </p:sp>
      </p:grpSp>
      <p:grpSp>
        <p:nvGrpSpPr>
          <p:cNvPr id="44" name="Metric 211"/>
          <p:cNvGrpSpPr/>
          <p:nvPr/>
        </p:nvGrpSpPr>
        <p:grpSpPr>
          <a:xfrm>
            <a:off x="8332012" y="1874519"/>
            <a:ext cx="1582369" cy="1508760"/>
            <a:chOff x="8332012" y="1874519"/>
            <a:chExt cx="1582369" cy="1508760"/>
          </a:xfrm>
        </p:grpSpPr>
        <p:sp>
          <p:nvSpPr>
            <p:cNvPr id="40" name="Metric bg"/>
            <p:cNvSpPr/>
            <p:nvPr/>
          </p:nvSpPr>
          <p:spPr>
            <a:xfrm>
              <a:off x="8332012" y="1874519"/>
              <a:ext cx="1582369" cy="1508760"/>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1" name="Metric value"/>
            <p:cNvSpPr txBox="1"/>
            <p:nvPr/>
          </p:nvSpPr>
          <p:spPr>
            <a:xfrm>
              <a:off x="8423452" y="1938528"/>
              <a:ext cx="1399489" cy="658368"/>
            </a:xfrm>
            <a:prstGeom prst="rect">
              <a:avLst/>
            </a:prstGeom>
            <a:noFill/>
          </p:spPr>
          <p:txBody>
            <a:bodyPr wrap="square" lIns="36576" tIns="36576" rIns="36576" bIns="36576" anchor="t">
              <a:spAutoFit/>
            </a:bodyPr>
            <a:lstStyle/>
            <a:p>
              <a:pPr algn="ctr">
                <a:lnSpc>
                  <a:spcPct val="108000"/>
                </a:lnSpc>
              </a:pPr>
              <a:r>
                <a:rPr sz="3000" b="1" i="0">
                  <a:solidFill>
                    <a:srgbClr val="C77A1E"/>
                  </a:solidFill>
                  <a:latin typeface="Bahnschrift"/>
                </a:rPr>
                <a:t>94.5%</a:t>
              </a:r>
            </a:p>
          </p:txBody>
        </p:sp>
        <p:sp>
          <p:nvSpPr>
            <p:cNvPr id="42" name="Metric key"/>
            <p:cNvSpPr txBox="1"/>
            <p:nvPr/>
          </p:nvSpPr>
          <p:spPr>
            <a:xfrm>
              <a:off x="8423452" y="2615184"/>
              <a:ext cx="1399489" cy="329184"/>
            </a:xfrm>
            <a:prstGeom prst="rect">
              <a:avLst/>
            </a:prstGeom>
            <a:noFill/>
          </p:spPr>
          <p:txBody>
            <a:bodyPr wrap="square" lIns="36576" tIns="36576" rIns="36576" bIns="36576" anchor="t">
              <a:spAutoFit/>
            </a:bodyPr>
            <a:lstStyle/>
            <a:p>
              <a:pPr algn="ctr">
                <a:lnSpc>
                  <a:spcPct val="108000"/>
                </a:lnSpc>
              </a:pPr>
              <a:r>
                <a:rPr sz="1400" b="1" i="0">
                  <a:solidFill>
                    <a:srgbClr val="1F1A1B"/>
                  </a:solidFill>
                  <a:latin typeface="Bahnschrift"/>
                </a:rPr>
                <a:t>F1 score</a:t>
              </a:r>
            </a:p>
          </p:txBody>
        </p:sp>
        <p:sp>
          <p:nvSpPr>
            <p:cNvPr id="43" name="Metric text"/>
            <p:cNvSpPr txBox="1"/>
            <p:nvPr/>
          </p:nvSpPr>
          <p:spPr>
            <a:xfrm>
              <a:off x="8423452" y="2926080"/>
              <a:ext cx="1399489" cy="365760"/>
            </a:xfrm>
            <a:prstGeom prst="rect">
              <a:avLst/>
            </a:prstGeom>
            <a:noFill/>
          </p:spPr>
          <p:txBody>
            <a:bodyPr wrap="square" lIns="36576" tIns="36576" rIns="36576" bIns="36576" anchor="t">
              <a:spAutoFit/>
            </a:bodyPr>
            <a:lstStyle/>
            <a:p>
              <a:pPr algn="ctr">
                <a:lnSpc>
                  <a:spcPct val="108000"/>
                </a:lnSpc>
              </a:pPr>
              <a:r>
                <a:rPr sz="1100" b="0" i="0">
                  <a:solidFill>
                    <a:srgbClr val="857A72"/>
                  </a:solidFill>
                  <a:latin typeface="Calibri"/>
                </a:rPr>
                <a:t>precision–recall balance</a:t>
              </a:r>
            </a:p>
          </p:txBody>
        </p:sp>
      </p:grpSp>
      <p:grpSp>
        <p:nvGrpSpPr>
          <p:cNvPr id="49" name="Metric 212"/>
          <p:cNvGrpSpPr/>
          <p:nvPr/>
        </p:nvGrpSpPr>
        <p:grpSpPr>
          <a:xfrm>
            <a:off x="10060686" y="1874519"/>
            <a:ext cx="1582369" cy="1508760"/>
            <a:chOff x="10060686" y="1874519"/>
            <a:chExt cx="1582369" cy="1508760"/>
          </a:xfrm>
        </p:grpSpPr>
        <p:sp>
          <p:nvSpPr>
            <p:cNvPr id="45" name="Metric bg"/>
            <p:cNvSpPr/>
            <p:nvPr/>
          </p:nvSpPr>
          <p:spPr>
            <a:xfrm>
              <a:off x="10060686" y="1874519"/>
              <a:ext cx="1582369" cy="1508760"/>
            </a:xfrm>
            <a:prstGeom prst="roundRect">
              <a:avLst>
                <a:gd name="adj" fmla="val 8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6" name="Metric value"/>
            <p:cNvSpPr txBox="1"/>
            <p:nvPr/>
          </p:nvSpPr>
          <p:spPr>
            <a:xfrm>
              <a:off x="10152126" y="1938528"/>
              <a:ext cx="1399489" cy="658368"/>
            </a:xfrm>
            <a:prstGeom prst="rect">
              <a:avLst/>
            </a:prstGeom>
            <a:noFill/>
          </p:spPr>
          <p:txBody>
            <a:bodyPr wrap="square" lIns="36576" tIns="36576" rIns="36576" bIns="36576" anchor="t">
              <a:spAutoFit/>
            </a:bodyPr>
            <a:lstStyle/>
            <a:p>
              <a:pPr algn="ctr">
                <a:lnSpc>
                  <a:spcPct val="108000"/>
                </a:lnSpc>
              </a:pPr>
              <a:r>
                <a:rPr sz="3000" b="1" i="0">
                  <a:solidFill>
                    <a:srgbClr val="F69D39"/>
                  </a:solidFill>
                  <a:latin typeface="Bahnschrift"/>
                </a:rPr>
                <a:t>2.0%</a:t>
              </a:r>
            </a:p>
          </p:txBody>
        </p:sp>
        <p:sp>
          <p:nvSpPr>
            <p:cNvPr id="47" name="Metric key"/>
            <p:cNvSpPr txBox="1"/>
            <p:nvPr/>
          </p:nvSpPr>
          <p:spPr>
            <a:xfrm>
              <a:off x="10152126" y="2615184"/>
              <a:ext cx="1399489" cy="329184"/>
            </a:xfrm>
            <a:prstGeom prst="rect">
              <a:avLst/>
            </a:prstGeom>
            <a:noFill/>
          </p:spPr>
          <p:txBody>
            <a:bodyPr wrap="square" lIns="36576" tIns="36576" rIns="36576" bIns="36576" anchor="t">
              <a:spAutoFit/>
            </a:bodyPr>
            <a:lstStyle/>
            <a:p>
              <a:pPr algn="ctr">
                <a:lnSpc>
                  <a:spcPct val="108000"/>
                </a:lnSpc>
              </a:pPr>
              <a:r>
                <a:rPr sz="1400" b="1" i="0">
                  <a:solidFill>
                    <a:srgbClr val="EFE9DD"/>
                  </a:solidFill>
                  <a:latin typeface="Bahnschrift"/>
                </a:rPr>
                <a:t>FP rate</a:t>
              </a:r>
            </a:p>
          </p:txBody>
        </p:sp>
        <p:sp>
          <p:nvSpPr>
            <p:cNvPr id="48" name="Metric text"/>
            <p:cNvSpPr txBox="1"/>
            <p:nvPr/>
          </p:nvSpPr>
          <p:spPr>
            <a:xfrm>
              <a:off x="10152126" y="2926080"/>
              <a:ext cx="1399489" cy="365760"/>
            </a:xfrm>
            <a:prstGeom prst="rect">
              <a:avLst/>
            </a:prstGeom>
            <a:noFill/>
          </p:spPr>
          <p:txBody>
            <a:bodyPr wrap="square" lIns="36576" tIns="36576" rIns="36576" bIns="36576" anchor="t">
              <a:spAutoFit/>
            </a:bodyPr>
            <a:lstStyle/>
            <a:p>
              <a:pPr algn="ctr">
                <a:lnSpc>
                  <a:spcPct val="108000"/>
                </a:lnSpc>
              </a:pPr>
              <a:r>
                <a:rPr sz="1100" b="0" i="0">
                  <a:solidFill>
                    <a:srgbClr val="CFC6B8"/>
                  </a:solidFill>
                  <a:latin typeface="Calibri"/>
                </a:rPr>
                <a:t>3 of 150 benign flagged</a:t>
              </a:r>
            </a:p>
          </p:txBody>
        </p:sp>
      </p:grpSp>
      <p:sp>
        <p:nvSpPr>
          <p:cNvPr id="50" name="CM label 213"/>
          <p:cNvSpPr txBox="1"/>
          <p:nvPr/>
        </p:nvSpPr>
        <p:spPr>
          <a:xfrm>
            <a:off x="1417320" y="3657600"/>
            <a:ext cx="4846320" cy="320040"/>
          </a:xfrm>
          <a:prstGeom prst="rect">
            <a:avLst/>
          </a:prstGeom>
          <a:noFill/>
        </p:spPr>
        <p:txBody>
          <a:bodyPr wrap="square" lIns="36576" tIns="36576" rIns="36576" bIns="36576" anchor="t">
            <a:spAutoFit/>
          </a:bodyPr>
          <a:lstStyle/>
          <a:p>
            <a:pPr algn="l">
              <a:lnSpc>
                <a:spcPct val="108000"/>
              </a:lnSpc>
            </a:pPr>
            <a:r>
              <a:rPr sz="1100" b="1" i="0">
                <a:solidFill>
                  <a:srgbClr val="C77A1E"/>
                </a:solidFill>
                <a:latin typeface="Consolas"/>
              </a:rPr>
              <a:t>CONFUSION MATRIX</a:t>
            </a:r>
          </a:p>
        </p:txBody>
      </p:sp>
      <p:grpSp>
        <p:nvGrpSpPr>
          <p:cNvPr id="54" name="CM cell 214"/>
          <p:cNvGrpSpPr/>
          <p:nvPr/>
        </p:nvGrpSpPr>
        <p:grpSpPr>
          <a:xfrm>
            <a:off x="2423160" y="4069080"/>
            <a:ext cx="1874519" cy="1005840"/>
            <a:chOff x="2423160" y="4069080"/>
            <a:chExt cx="1874519" cy="1005840"/>
          </a:xfrm>
        </p:grpSpPr>
        <p:sp>
          <p:nvSpPr>
            <p:cNvPr id="51" name="CM bg"/>
            <p:cNvSpPr/>
            <p:nvPr/>
          </p:nvSpPr>
          <p:spPr>
            <a:xfrm>
              <a:off x="2423160" y="4069080"/>
              <a:ext cx="1874519" cy="1005840"/>
            </a:xfrm>
            <a:prstGeom prst="roundRect">
              <a:avLst>
                <a:gd name="adj" fmla="val 8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2" name="CM value"/>
            <p:cNvSpPr txBox="1"/>
            <p:nvPr/>
          </p:nvSpPr>
          <p:spPr>
            <a:xfrm>
              <a:off x="2423160" y="4123944"/>
              <a:ext cx="1874519" cy="548640"/>
            </a:xfrm>
            <a:prstGeom prst="rect">
              <a:avLst/>
            </a:prstGeom>
            <a:noFill/>
          </p:spPr>
          <p:txBody>
            <a:bodyPr wrap="square" lIns="36576" tIns="36576" rIns="36576" bIns="36576" anchor="t">
              <a:spAutoFit/>
            </a:bodyPr>
            <a:lstStyle/>
            <a:p>
              <a:pPr algn="ctr">
                <a:lnSpc>
                  <a:spcPct val="108000"/>
                </a:lnSpc>
              </a:pPr>
              <a:r>
                <a:rPr sz="2800" b="1" i="0">
                  <a:solidFill>
                    <a:srgbClr val="F69D39"/>
                  </a:solidFill>
                  <a:latin typeface="Bahnschrift"/>
                </a:rPr>
                <a:t>137</a:t>
              </a:r>
            </a:p>
          </p:txBody>
        </p:sp>
        <p:sp>
          <p:nvSpPr>
            <p:cNvPr id="53" name="CM key"/>
            <p:cNvSpPr txBox="1"/>
            <p:nvPr/>
          </p:nvSpPr>
          <p:spPr>
            <a:xfrm>
              <a:off x="2423160" y="4672584"/>
              <a:ext cx="1874519" cy="329184"/>
            </a:xfrm>
            <a:prstGeom prst="rect">
              <a:avLst/>
            </a:prstGeom>
            <a:noFill/>
          </p:spPr>
          <p:txBody>
            <a:bodyPr wrap="square" lIns="36576" tIns="36576" rIns="36576" bIns="36576" anchor="t">
              <a:spAutoFit/>
            </a:bodyPr>
            <a:lstStyle/>
            <a:p>
              <a:pPr algn="ctr">
                <a:lnSpc>
                  <a:spcPct val="108000"/>
                </a:lnSpc>
              </a:pPr>
              <a:r>
                <a:rPr sz="1200" b="0" i="0">
                  <a:solidFill>
                    <a:srgbClr val="EFE9DD"/>
                  </a:solidFill>
                  <a:latin typeface="Calibri"/>
                </a:rPr>
                <a:t>True positives</a:t>
              </a:r>
            </a:p>
          </p:txBody>
        </p:sp>
      </p:grpSp>
      <p:grpSp>
        <p:nvGrpSpPr>
          <p:cNvPr id="58" name="CM cell 215"/>
          <p:cNvGrpSpPr/>
          <p:nvPr/>
        </p:nvGrpSpPr>
        <p:grpSpPr>
          <a:xfrm>
            <a:off x="4389120" y="4069080"/>
            <a:ext cx="1874519" cy="1005840"/>
            <a:chOff x="4389120" y="4069080"/>
            <a:chExt cx="1874519" cy="1005840"/>
          </a:xfrm>
        </p:grpSpPr>
        <p:sp>
          <p:nvSpPr>
            <p:cNvPr id="55" name="CM bg"/>
            <p:cNvSpPr/>
            <p:nvPr/>
          </p:nvSpPr>
          <p:spPr>
            <a:xfrm>
              <a:off x="4389120" y="4069080"/>
              <a:ext cx="1874519" cy="1005840"/>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6" name="CM value"/>
            <p:cNvSpPr txBox="1"/>
            <p:nvPr/>
          </p:nvSpPr>
          <p:spPr>
            <a:xfrm>
              <a:off x="4389120" y="4123944"/>
              <a:ext cx="1874519" cy="548640"/>
            </a:xfrm>
            <a:prstGeom prst="rect">
              <a:avLst/>
            </a:prstGeom>
            <a:noFill/>
          </p:spPr>
          <p:txBody>
            <a:bodyPr wrap="square" lIns="36576" tIns="36576" rIns="36576" bIns="36576" anchor="t">
              <a:spAutoFit/>
            </a:bodyPr>
            <a:lstStyle/>
            <a:p>
              <a:pPr algn="ctr">
                <a:lnSpc>
                  <a:spcPct val="108000"/>
                </a:lnSpc>
              </a:pPr>
              <a:r>
                <a:rPr sz="2800" b="1" i="0">
                  <a:solidFill>
                    <a:srgbClr val="C77A1E"/>
                  </a:solidFill>
                  <a:latin typeface="Bahnschrift"/>
                </a:rPr>
                <a:t>13</a:t>
              </a:r>
            </a:p>
          </p:txBody>
        </p:sp>
        <p:sp>
          <p:nvSpPr>
            <p:cNvPr id="57" name="CM key"/>
            <p:cNvSpPr txBox="1"/>
            <p:nvPr/>
          </p:nvSpPr>
          <p:spPr>
            <a:xfrm>
              <a:off x="4389120" y="4672584"/>
              <a:ext cx="1874519" cy="329184"/>
            </a:xfrm>
            <a:prstGeom prst="rect">
              <a:avLst/>
            </a:prstGeom>
            <a:noFill/>
          </p:spPr>
          <p:txBody>
            <a:bodyPr wrap="square" lIns="36576" tIns="36576" rIns="36576" bIns="36576" anchor="t">
              <a:spAutoFit/>
            </a:bodyPr>
            <a:lstStyle/>
            <a:p>
              <a:pPr algn="ctr">
                <a:lnSpc>
                  <a:spcPct val="108000"/>
                </a:lnSpc>
              </a:pPr>
              <a:r>
                <a:rPr sz="1200" b="0" i="0">
                  <a:solidFill>
                    <a:srgbClr val="857A72"/>
                  </a:solidFill>
                  <a:latin typeface="Calibri"/>
                </a:rPr>
                <a:t>False negatives</a:t>
              </a:r>
            </a:p>
          </p:txBody>
        </p:sp>
      </p:grpSp>
      <p:grpSp>
        <p:nvGrpSpPr>
          <p:cNvPr id="62" name="CM cell 216"/>
          <p:cNvGrpSpPr/>
          <p:nvPr/>
        </p:nvGrpSpPr>
        <p:grpSpPr>
          <a:xfrm>
            <a:off x="2423160" y="5166360"/>
            <a:ext cx="1874519" cy="1005840"/>
            <a:chOff x="2423160" y="5166360"/>
            <a:chExt cx="1874519" cy="1005840"/>
          </a:xfrm>
        </p:grpSpPr>
        <p:sp>
          <p:nvSpPr>
            <p:cNvPr id="59" name="CM bg"/>
            <p:cNvSpPr/>
            <p:nvPr/>
          </p:nvSpPr>
          <p:spPr>
            <a:xfrm>
              <a:off x="2423160" y="5166360"/>
              <a:ext cx="1874519" cy="1005840"/>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0" name="CM value"/>
            <p:cNvSpPr txBox="1"/>
            <p:nvPr/>
          </p:nvSpPr>
          <p:spPr>
            <a:xfrm>
              <a:off x="2423160" y="5221224"/>
              <a:ext cx="1874519" cy="548640"/>
            </a:xfrm>
            <a:prstGeom prst="rect">
              <a:avLst/>
            </a:prstGeom>
            <a:noFill/>
          </p:spPr>
          <p:txBody>
            <a:bodyPr wrap="square" lIns="36576" tIns="36576" rIns="36576" bIns="36576" anchor="t">
              <a:spAutoFit/>
            </a:bodyPr>
            <a:lstStyle/>
            <a:p>
              <a:pPr algn="ctr">
                <a:lnSpc>
                  <a:spcPct val="108000"/>
                </a:lnSpc>
              </a:pPr>
              <a:r>
                <a:rPr sz="2800" b="1" i="0">
                  <a:solidFill>
                    <a:srgbClr val="C77A1E"/>
                  </a:solidFill>
                  <a:latin typeface="Bahnschrift"/>
                </a:rPr>
                <a:t>3</a:t>
              </a:r>
            </a:p>
          </p:txBody>
        </p:sp>
        <p:sp>
          <p:nvSpPr>
            <p:cNvPr id="61" name="CM key"/>
            <p:cNvSpPr txBox="1"/>
            <p:nvPr/>
          </p:nvSpPr>
          <p:spPr>
            <a:xfrm>
              <a:off x="2423160" y="5769864"/>
              <a:ext cx="1874519" cy="329184"/>
            </a:xfrm>
            <a:prstGeom prst="rect">
              <a:avLst/>
            </a:prstGeom>
            <a:noFill/>
          </p:spPr>
          <p:txBody>
            <a:bodyPr wrap="square" lIns="36576" tIns="36576" rIns="36576" bIns="36576" anchor="t">
              <a:spAutoFit/>
            </a:bodyPr>
            <a:lstStyle/>
            <a:p>
              <a:pPr algn="ctr">
                <a:lnSpc>
                  <a:spcPct val="108000"/>
                </a:lnSpc>
              </a:pPr>
              <a:r>
                <a:rPr sz="1200" b="0" i="0">
                  <a:solidFill>
                    <a:srgbClr val="857A72"/>
                  </a:solidFill>
                  <a:latin typeface="Calibri"/>
                </a:rPr>
                <a:t>False positives</a:t>
              </a:r>
            </a:p>
          </p:txBody>
        </p:sp>
      </p:grpSp>
      <p:grpSp>
        <p:nvGrpSpPr>
          <p:cNvPr id="66" name="CM cell 217"/>
          <p:cNvGrpSpPr/>
          <p:nvPr/>
        </p:nvGrpSpPr>
        <p:grpSpPr>
          <a:xfrm>
            <a:off x="4389120" y="5166360"/>
            <a:ext cx="1874519" cy="1005840"/>
            <a:chOff x="4389120" y="5166360"/>
            <a:chExt cx="1874519" cy="1005840"/>
          </a:xfrm>
        </p:grpSpPr>
        <p:sp>
          <p:nvSpPr>
            <p:cNvPr id="63" name="CM bg"/>
            <p:cNvSpPr/>
            <p:nvPr/>
          </p:nvSpPr>
          <p:spPr>
            <a:xfrm>
              <a:off x="4389120" y="5166360"/>
              <a:ext cx="1874519" cy="1005840"/>
            </a:xfrm>
            <a:prstGeom prst="roundRect">
              <a:avLst>
                <a:gd name="adj" fmla="val 8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4" name="CM value"/>
            <p:cNvSpPr txBox="1"/>
            <p:nvPr/>
          </p:nvSpPr>
          <p:spPr>
            <a:xfrm>
              <a:off x="4389120" y="5221224"/>
              <a:ext cx="1874519" cy="548640"/>
            </a:xfrm>
            <a:prstGeom prst="rect">
              <a:avLst/>
            </a:prstGeom>
            <a:noFill/>
          </p:spPr>
          <p:txBody>
            <a:bodyPr wrap="square" lIns="36576" tIns="36576" rIns="36576" bIns="36576" anchor="t">
              <a:spAutoFit/>
            </a:bodyPr>
            <a:lstStyle/>
            <a:p>
              <a:pPr algn="ctr">
                <a:lnSpc>
                  <a:spcPct val="108000"/>
                </a:lnSpc>
              </a:pPr>
              <a:r>
                <a:rPr sz="2800" b="1" i="0">
                  <a:solidFill>
                    <a:srgbClr val="869B7E"/>
                  </a:solidFill>
                  <a:latin typeface="Bahnschrift"/>
                </a:rPr>
                <a:t>147</a:t>
              </a:r>
            </a:p>
          </p:txBody>
        </p:sp>
        <p:sp>
          <p:nvSpPr>
            <p:cNvPr id="65" name="CM key"/>
            <p:cNvSpPr txBox="1"/>
            <p:nvPr/>
          </p:nvSpPr>
          <p:spPr>
            <a:xfrm>
              <a:off x="4389120" y="5769864"/>
              <a:ext cx="1874519" cy="329184"/>
            </a:xfrm>
            <a:prstGeom prst="rect">
              <a:avLst/>
            </a:prstGeom>
            <a:noFill/>
          </p:spPr>
          <p:txBody>
            <a:bodyPr wrap="square" lIns="36576" tIns="36576" rIns="36576" bIns="36576" anchor="t">
              <a:spAutoFit/>
            </a:bodyPr>
            <a:lstStyle/>
            <a:p>
              <a:pPr algn="ctr">
                <a:lnSpc>
                  <a:spcPct val="108000"/>
                </a:lnSpc>
              </a:pPr>
              <a:r>
                <a:rPr sz="1200" b="0" i="0">
                  <a:solidFill>
                    <a:srgbClr val="EFE9DD"/>
                  </a:solidFill>
                  <a:latin typeface="Calibri"/>
                </a:rPr>
                <a:t>True negatives</a:t>
              </a:r>
            </a:p>
          </p:txBody>
        </p:sp>
      </p:grpSp>
      <p:sp>
        <p:nvSpPr>
          <p:cNvPr id="67" name="CM axis 218"/>
          <p:cNvSpPr txBox="1"/>
          <p:nvPr/>
        </p:nvSpPr>
        <p:spPr>
          <a:xfrm>
            <a:off x="1417320" y="4224528"/>
            <a:ext cx="960120" cy="731520"/>
          </a:xfrm>
          <a:prstGeom prst="rect">
            <a:avLst/>
          </a:prstGeom>
          <a:noFill/>
        </p:spPr>
        <p:txBody>
          <a:bodyPr wrap="square" lIns="36576" tIns="36576" rIns="36576" bIns="36576" anchor="t">
            <a:spAutoFit/>
          </a:bodyPr>
          <a:lstStyle/>
          <a:p>
            <a:pPr algn="r">
              <a:lnSpc>
                <a:spcPct val="108000"/>
              </a:lnSpc>
            </a:pPr>
            <a:r>
              <a:rPr sz="1100" b="0" i="0">
                <a:solidFill>
                  <a:srgbClr val="857A72"/>
                </a:solidFill>
                <a:latin typeface="Calibri"/>
              </a:rPr>
              <a:t>Actual harmful</a:t>
            </a:r>
          </a:p>
        </p:txBody>
      </p:sp>
      <p:sp>
        <p:nvSpPr>
          <p:cNvPr id="68" name="CM axis 219"/>
          <p:cNvSpPr txBox="1"/>
          <p:nvPr/>
        </p:nvSpPr>
        <p:spPr>
          <a:xfrm>
            <a:off x="1417320" y="5321808"/>
            <a:ext cx="960120" cy="731520"/>
          </a:xfrm>
          <a:prstGeom prst="rect">
            <a:avLst/>
          </a:prstGeom>
          <a:noFill/>
        </p:spPr>
        <p:txBody>
          <a:bodyPr wrap="square" lIns="36576" tIns="36576" rIns="36576" bIns="36576" anchor="t">
            <a:spAutoFit/>
          </a:bodyPr>
          <a:lstStyle/>
          <a:p>
            <a:pPr algn="r">
              <a:lnSpc>
                <a:spcPct val="108000"/>
              </a:lnSpc>
            </a:pPr>
            <a:r>
              <a:rPr sz="1100" b="0" i="0">
                <a:solidFill>
                  <a:srgbClr val="857A72"/>
                </a:solidFill>
                <a:latin typeface="Calibri"/>
              </a:rPr>
              <a:t>Actual benign</a:t>
            </a:r>
          </a:p>
        </p:txBody>
      </p:sp>
      <p:sp>
        <p:nvSpPr>
          <p:cNvPr id="69" name="Cat label 220"/>
          <p:cNvSpPr txBox="1"/>
          <p:nvPr/>
        </p:nvSpPr>
        <p:spPr>
          <a:xfrm>
            <a:off x="6629400" y="3657600"/>
            <a:ext cx="4846320" cy="320040"/>
          </a:xfrm>
          <a:prstGeom prst="rect">
            <a:avLst/>
          </a:prstGeom>
          <a:noFill/>
        </p:spPr>
        <p:txBody>
          <a:bodyPr wrap="square" lIns="36576" tIns="36576" rIns="36576" bIns="36576" anchor="t">
            <a:spAutoFit/>
          </a:bodyPr>
          <a:lstStyle/>
          <a:p>
            <a:pPr algn="l">
              <a:lnSpc>
                <a:spcPct val="108000"/>
              </a:lnSpc>
            </a:pPr>
            <a:r>
              <a:rPr sz="1100" b="1" i="0">
                <a:solidFill>
                  <a:srgbClr val="C77A1E"/>
                </a:solidFill>
                <a:latin typeface="Consolas"/>
              </a:rPr>
              <a:t>DETECTION BY CATEGORY</a:t>
            </a:r>
          </a:p>
        </p:txBody>
      </p:sp>
      <p:sp>
        <p:nvSpPr>
          <p:cNvPr id="70" name="Cat name 221"/>
          <p:cNvSpPr txBox="1"/>
          <p:nvPr/>
        </p:nvSpPr>
        <p:spPr>
          <a:xfrm>
            <a:off x="6629400" y="4069080"/>
            <a:ext cx="3291840" cy="320040"/>
          </a:xfrm>
          <a:prstGeom prst="rect">
            <a:avLst/>
          </a:prstGeom>
          <a:noFill/>
        </p:spPr>
        <p:txBody>
          <a:bodyPr wrap="square" lIns="36576" tIns="36576" rIns="36576" bIns="36576" anchor="t">
            <a:spAutoFit/>
          </a:bodyPr>
          <a:lstStyle/>
          <a:p>
            <a:pPr algn="l">
              <a:lnSpc>
                <a:spcPct val="108000"/>
              </a:lnSpc>
            </a:pPr>
            <a:r>
              <a:rPr sz="1400" b="1" i="0">
                <a:solidFill>
                  <a:srgbClr val="1F1A1B"/>
                </a:solidFill>
                <a:latin typeface="Calibri"/>
              </a:rPr>
              <a:t>Safe (benign) websites</a:t>
            </a:r>
            <a:r>
              <a:rPr sz="1400" b="0" i="0">
                <a:solidFill>
                  <a:srgbClr val="857A72"/>
                </a:solidFill>
                <a:latin typeface="Calibri"/>
              </a:rPr>
              <a:t>   147 / 150</a:t>
            </a:r>
          </a:p>
        </p:txBody>
      </p:sp>
      <p:sp>
        <p:nvSpPr>
          <p:cNvPr id="71" name="Cat track 222"/>
          <p:cNvSpPr/>
          <p:nvPr/>
        </p:nvSpPr>
        <p:spPr>
          <a:xfrm>
            <a:off x="6629400" y="4453128"/>
            <a:ext cx="4114800" cy="274320"/>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2" name="Cat bar 223"/>
          <p:cNvSpPr/>
          <p:nvPr/>
        </p:nvSpPr>
        <p:spPr>
          <a:xfrm>
            <a:off x="6629400" y="4453128"/>
            <a:ext cx="4032504" cy="274320"/>
          </a:xfrm>
          <a:prstGeom prst="roundRect">
            <a:avLst>
              <a:gd name="adj" fmla="val 40000"/>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3" name="Cat pct 224"/>
          <p:cNvSpPr txBox="1"/>
          <p:nvPr/>
        </p:nvSpPr>
        <p:spPr>
          <a:xfrm>
            <a:off x="10835640" y="4343400"/>
            <a:ext cx="822960" cy="457200"/>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98.0%</a:t>
            </a:r>
          </a:p>
        </p:txBody>
      </p:sp>
      <p:sp>
        <p:nvSpPr>
          <p:cNvPr id="74" name="Cat name 225"/>
          <p:cNvSpPr txBox="1"/>
          <p:nvPr/>
        </p:nvSpPr>
        <p:spPr>
          <a:xfrm>
            <a:off x="6629400" y="4818888"/>
            <a:ext cx="3291840" cy="320040"/>
          </a:xfrm>
          <a:prstGeom prst="rect">
            <a:avLst/>
          </a:prstGeom>
          <a:noFill/>
        </p:spPr>
        <p:txBody>
          <a:bodyPr wrap="square" lIns="36576" tIns="36576" rIns="36576" bIns="36576" anchor="t">
            <a:spAutoFit/>
          </a:bodyPr>
          <a:lstStyle/>
          <a:p>
            <a:pPr algn="l">
              <a:lnSpc>
                <a:spcPct val="108000"/>
              </a:lnSpc>
            </a:pPr>
            <a:r>
              <a:rPr sz="1400" b="1" i="0">
                <a:solidFill>
                  <a:srgbClr val="1F1A1B"/>
                </a:solidFill>
                <a:latin typeface="Calibri"/>
              </a:rPr>
              <a:t>Phishing websites</a:t>
            </a:r>
            <a:r>
              <a:rPr sz="1400" b="0" i="0">
                <a:solidFill>
                  <a:srgbClr val="857A72"/>
                </a:solidFill>
                <a:latin typeface="Calibri"/>
              </a:rPr>
              <a:t>   92 / 100</a:t>
            </a:r>
          </a:p>
        </p:txBody>
      </p:sp>
      <p:sp>
        <p:nvSpPr>
          <p:cNvPr id="75" name="Cat track 226"/>
          <p:cNvSpPr/>
          <p:nvPr/>
        </p:nvSpPr>
        <p:spPr>
          <a:xfrm>
            <a:off x="6629400" y="5202936"/>
            <a:ext cx="4114800" cy="274320"/>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6" name="Cat bar 227"/>
          <p:cNvSpPr/>
          <p:nvPr/>
        </p:nvSpPr>
        <p:spPr>
          <a:xfrm>
            <a:off x="6629400" y="5202936"/>
            <a:ext cx="3785615" cy="274320"/>
          </a:xfrm>
          <a:prstGeom prst="roundRect">
            <a:avLst>
              <a:gd name="adj" fmla="val 40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7" name="Cat pct 228"/>
          <p:cNvSpPr txBox="1"/>
          <p:nvPr/>
        </p:nvSpPr>
        <p:spPr>
          <a:xfrm>
            <a:off x="10835640" y="5093208"/>
            <a:ext cx="822960" cy="457200"/>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92.0%</a:t>
            </a:r>
          </a:p>
        </p:txBody>
      </p:sp>
      <p:sp>
        <p:nvSpPr>
          <p:cNvPr id="78" name="Cat name 229"/>
          <p:cNvSpPr txBox="1"/>
          <p:nvPr/>
        </p:nvSpPr>
        <p:spPr>
          <a:xfrm>
            <a:off x="6629400" y="5568696"/>
            <a:ext cx="3291840" cy="320040"/>
          </a:xfrm>
          <a:prstGeom prst="rect">
            <a:avLst/>
          </a:prstGeom>
          <a:noFill/>
        </p:spPr>
        <p:txBody>
          <a:bodyPr wrap="square" lIns="36576" tIns="36576" rIns="36576" bIns="36576" anchor="t">
            <a:spAutoFit/>
          </a:bodyPr>
          <a:lstStyle/>
          <a:p>
            <a:pPr algn="l">
              <a:lnSpc>
                <a:spcPct val="108000"/>
              </a:lnSpc>
            </a:pPr>
            <a:r>
              <a:rPr sz="1400" b="1" i="0">
                <a:solidFill>
                  <a:srgbClr val="1F1A1B"/>
                </a:solidFill>
                <a:latin typeface="Calibri"/>
              </a:rPr>
              <a:t>Malware and DGA domains</a:t>
            </a:r>
            <a:r>
              <a:rPr sz="1400" b="0" i="0">
                <a:solidFill>
                  <a:srgbClr val="857A72"/>
                </a:solidFill>
                <a:latin typeface="Calibri"/>
              </a:rPr>
              <a:t>   45 / 50</a:t>
            </a:r>
          </a:p>
        </p:txBody>
      </p:sp>
      <p:sp>
        <p:nvSpPr>
          <p:cNvPr id="79" name="Cat track 230"/>
          <p:cNvSpPr/>
          <p:nvPr/>
        </p:nvSpPr>
        <p:spPr>
          <a:xfrm>
            <a:off x="6629400" y="5952744"/>
            <a:ext cx="4114800" cy="274320"/>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0" name="Cat bar 231"/>
          <p:cNvSpPr/>
          <p:nvPr/>
        </p:nvSpPr>
        <p:spPr>
          <a:xfrm>
            <a:off x="6629400" y="5952744"/>
            <a:ext cx="3703320" cy="274320"/>
          </a:xfrm>
          <a:prstGeom prst="roundRect">
            <a:avLst>
              <a:gd name="adj" fmla="val 40000"/>
            </a:avLst>
          </a:prstGeom>
          <a:solidFill>
            <a:srgbClr val="C77A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1" name="Cat pct 232"/>
          <p:cNvSpPr txBox="1"/>
          <p:nvPr/>
        </p:nvSpPr>
        <p:spPr>
          <a:xfrm>
            <a:off x="10835640" y="5843016"/>
            <a:ext cx="822960" cy="457200"/>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90.0%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9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1650"/>
                            </p:stCondLst>
                            <p:childTnLst>
                              <p:par>
                                <p:cTn id="19" presetID="53" presetClass="entr" presetSubtype="16" fill="hold" nodeType="after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p:cTn id="21" dur="350" fill="hold"/>
                                        <p:tgtEl>
                                          <p:spTgt spid="24"/>
                                        </p:tgtEl>
                                        <p:attrNameLst>
                                          <p:attrName>ppt_w</p:attrName>
                                        </p:attrNameLst>
                                      </p:cBhvr>
                                      <p:tavLst>
                                        <p:tav tm="0">
                                          <p:val>
                                            <p:fltVal val="0"/>
                                          </p:val>
                                        </p:tav>
                                        <p:tav tm="100000">
                                          <p:val>
                                            <p:strVal val="#ppt_w"/>
                                          </p:val>
                                        </p:tav>
                                      </p:tavLst>
                                    </p:anim>
                                    <p:anim calcmode="lin" valueType="num">
                                      <p:cBhvr>
                                        <p:cTn id="22" dur="350" fill="hold"/>
                                        <p:tgtEl>
                                          <p:spTgt spid="24"/>
                                        </p:tgtEl>
                                        <p:attrNameLst>
                                          <p:attrName>ppt_h</p:attrName>
                                        </p:attrNameLst>
                                      </p:cBhvr>
                                      <p:tavLst>
                                        <p:tav tm="0">
                                          <p:val>
                                            <p:fltVal val="0"/>
                                          </p:val>
                                        </p:tav>
                                        <p:tav tm="100000">
                                          <p:val>
                                            <p:strVal val="#ppt_h"/>
                                          </p:val>
                                        </p:tav>
                                      </p:tavLst>
                                    </p:anim>
                                    <p:animEffect transition="in" filter="fade">
                                      <p:cBhvr>
                                        <p:cTn id="23" dur="350"/>
                                        <p:tgtEl>
                                          <p:spTgt spid="24"/>
                                        </p:tgtEl>
                                      </p:cBhvr>
                                    </p:animEffect>
                                  </p:childTnLst>
                                </p:cTn>
                              </p:par>
                            </p:childTnLst>
                          </p:cTn>
                        </p:par>
                        <p:par>
                          <p:cTn id="24" fill="hold">
                            <p:stCondLst>
                              <p:cond delay="2000"/>
                            </p:stCondLst>
                            <p:childTnLst>
                              <p:par>
                                <p:cTn id="25" presetID="26" presetClass="emph" presetSubtype="0" fill="hold" nodeType="afterEffect">
                                  <p:stCondLst>
                                    <p:cond delay="0"/>
                                  </p:stCondLst>
                                  <p:childTnLst>
                                    <p:animEffect transition="out" filter="fade">
                                      <p:cBhvr>
                                        <p:cTn id="26" dur="600" tmFilter="0, 0; .2, .5; .8, .5; 1, 0"/>
                                        <p:tgtEl>
                                          <p:spTgt spid="24"/>
                                        </p:tgtEl>
                                      </p:cBhvr>
                                    </p:animEffect>
                                    <p:animScale>
                                      <p:cBhvr>
                                        <p:cTn id="27" dur="300" autoRev="1" fill="hold"/>
                                        <p:tgtEl>
                                          <p:spTgt spid="24"/>
                                        </p:tgtEl>
                                      </p:cBhvr>
                                      <p:by x="105000" y="105000"/>
                                    </p:animScale>
                                  </p:childTnLst>
                                </p:cTn>
                              </p:par>
                            </p:childTnLst>
                          </p:cTn>
                        </p:par>
                        <p:par>
                          <p:cTn id="28" fill="hold">
                            <p:stCondLst>
                              <p:cond delay="2600"/>
                            </p:stCondLst>
                            <p:childTnLst>
                              <p:par>
                                <p:cTn id="29" presetID="53" presetClass="entr" presetSubtype="16" fill="hold" nodeType="after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p:cTn id="31" dur="350" fill="hold"/>
                                        <p:tgtEl>
                                          <p:spTgt spid="29"/>
                                        </p:tgtEl>
                                        <p:attrNameLst>
                                          <p:attrName>ppt_w</p:attrName>
                                        </p:attrNameLst>
                                      </p:cBhvr>
                                      <p:tavLst>
                                        <p:tav tm="0">
                                          <p:val>
                                            <p:fltVal val="0"/>
                                          </p:val>
                                        </p:tav>
                                        <p:tav tm="100000">
                                          <p:val>
                                            <p:strVal val="#ppt_w"/>
                                          </p:val>
                                        </p:tav>
                                      </p:tavLst>
                                    </p:anim>
                                    <p:anim calcmode="lin" valueType="num">
                                      <p:cBhvr>
                                        <p:cTn id="32" dur="350" fill="hold"/>
                                        <p:tgtEl>
                                          <p:spTgt spid="29"/>
                                        </p:tgtEl>
                                        <p:attrNameLst>
                                          <p:attrName>ppt_h</p:attrName>
                                        </p:attrNameLst>
                                      </p:cBhvr>
                                      <p:tavLst>
                                        <p:tav tm="0">
                                          <p:val>
                                            <p:fltVal val="0"/>
                                          </p:val>
                                        </p:tav>
                                        <p:tav tm="100000">
                                          <p:val>
                                            <p:strVal val="#ppt_h"/>
                                          </p:val>
                                        </p:tav>
                                      </p:tavLst>
                                    </p:anim>
                                    <p:animEffect transition="in" filter="fade">
                                      <p:cBhvr>
                                        <p:cTn id="33" dur="350"/>
                                        <p:tgtEl>
                                          <p:spTgt spid="29"/>
                                        </p:tgtEl>
                                      </p:cBhvr>
                                    </p:animEffect>
                                  </p:childTnLst>
                                </p:cTn>
                              </p:par>
                            </p:childTnLst>
                          </p:cTn>
                        </p:par>
                        <p:par>
                          <p:cTn id="34" fill="hold">
                            <p:stCondLst>
                              <p:cond delay="2950"/>
                            </p:stCondLst>
                            <p:childTnLst>
                              <p:par>
                                <p:cTn id="35" presetID="53" presetClass="entr" presetSubtype="16" fill="hold" nodeType="after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p:cTn id="37" dur="350" fill="hold"/>
                                        <p:tgtEl>
                                          <p:spTgt spid="34"/>
                                        </p:tgtEl>
                                        <p:attrNameLst>
                                          <p:attrName>ppt_w</p:attrName>
                                        </p:attrNameLst>
                                      </p:cBhvr>
                                      <p:tavLst>
                                        <p:tav tm="0">
                                          <p:val>
                                            <p:fltVal val="0"/>
                                          </p:val>
                                        </p:tav>
                                        <p:tav tm="100000">
                                          <p:val>
                                            <p:strVal val="#ppt_w"/>
                                          </p:val>
                                        </p:tav>
                                      </p:tavLst>
                                    </p:anim>
                                    <p:anim calcmode="lin" valueType="num">
                                      <p:cBhvr>
                                        <p:cTn id="38" dur="350" fill="hold"/>
                                        <p:tgtEl>
                                          <p:spTgt spid="34"/>
                                        </p:tgtEl>
                                        <p:attrNameLst>
                                          <p:attrName>ppt_h</p:attrName>
                                        </p:attrNameLst>
                                      </p:cBhvr>
                                      <p:tavLst>
                                        <p:tav tm="0">
                                          <p:val>
                                            <p:fltVal val="0"/>
                                          </p:val>
                                        </p:tav>
                                        <p:tav tm="100000">
                                          <p:val>
                                            <p:strVal val="#ppt_h"/>
                                          </p:val>
                                        </p:tav>
                                      </p:tavLst>
                                    </p:anim>
                                    <p:animEffect transition="in" filter="fade">
                                      <p:cBhvr>
                                        <p:cTn id="39" dur="350"/>
                                        <p:tgtEl>
                                          <p:spTgt spid="34"/>
                                        </p:tgtEl>
                                      </p:cBhvr>
                                    </p:animEffect>
                                  </p:childTnLst>
                                </p:cTn>
                              </p:par>
                            </p:childTnLst>
                          </p:cTn>
                        </p:par>
                        <p:par>
                          <p:cTn id="40" fill="hold">
                            <p:stCondLst>
                              <p:cond delay="3300"/>
                            </p:stCondLst>
                            <p:childTnLst>
                              <p:par>
                                <p:cTn id="41" presetID="53" presetClass="entr" presetSubtype="16" fill="hold" nodeType="after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p:cTn id="43" dur="350" fill="hold"/>
                                        <p:tgtEl>
                                          <p:spTgt spid="39"/>
                                        </p:tgtEl>
                                        <p:attrNameLst>
                                          <p:attrName>ppt_w</p:attrName>
                                        </p:attrNameLst>
                                      </p:cBhvr>
                                      <p:tavLst>
                                        <p:tav tm="0">
                                          <p:val>
                                            <p:fltVal val="0"/>
                                          </p:val>
                                        </p:tav>
                                        <p:tav tm="100000">
                                          <p:val>
                                            <p:strVal val="#ppt_w"/>
                                          </p:val>
                                        </p:tav>
                                      </p:tavLst>
                                    </p:anim>
                                    <p:anim calcmode="lin" valueType="num">
                                      <p:cBhvr>
                                        <p:cTn id="44" dur="350" fill="hold"/>
                                        <p:tgtEl>
                                          <p:spTgt spid="39"/>
                                        </p:tgtEl>
                                        <p:attrNameLst>
                                          <p:attrName>ppt_h</p:attrName>
                                        </p:attrNameLst>
                                      </p:cBhvr>
                                      <p:tavLst>
                                        <p:tav tm="0">
                                          <p:val>
                                            <p:fltVal val="0"/>
                                          </p:val>
                                        </p:tav>
                                        <p:tav tm="100000">
                                          <p:val>
                                            <p:strVal val="#ppt_h"/>
                                          </p:val>
                                        </p:tav>
                                      </p:tavLst>
                                    </p:anim>
                                    <p:animEffect transition="in" filter="fade">
                                      <p:cBhvr>
                                        <p:cTn id="45" dur="350"/>
                                        <p:tgtEl>
                                          <p:spTgt spid="39"/>
                                        </p:tgtEl>
                                      </p:cBhvr>
                                    </p:animEffect>
                                  </p:childTnLst>
                                </p:cTn>
                              </p:par>
                            </p:childTnLst>
                          </p:cTn>
                        </p:par>
                        <p:par>
                          <p:cTn id="46" fill="hold">
                            <p:stCondLst>
                              <p:cond delay="3650"/>
                            </p:stCondLst>
                            <p:childTnLst>
                              <p:par>
                                <p:cTn id="47" presetID="53" presetClass="entr" presetSubtype="16" fill="hold" nodeType="afterEffect">
                                  <p:stCondLst>
                                    <p:cond delay="0"/>
                                  </p:stCondLst>
                                  <p:childTnLst>
                                    <p:set>
                                      <p:cBhvr>
                                        <p:cTn id="48" dur="1" fill="hold">
                                          <p:stCondLst>
                                            <p:cond delay="0"/>
                                          </p:stCondLst>
                                        </p:cTn>
                                        <p:tgtEl>
                                          <p:spTgt spid="44"/>
                                        </p:tgtEl>
                                        <p:attrNameLst>
                                          <p:attrName>style.visibility</p:attrName>
                                        </p:attrNameLst>
                                      </p:cBhvr>
                                      <p:to>
                                        <p:strVal val="visible"/>
                                      </p:to>
                                    </p:set>
                                    <p:anim calcmode="lin" valueType="num">
                                      <p:cBhvr>
                                        <p:cTn id="49" dur="350" fill="hold"/>
                                        <p:tgtEl>
                                          <p:spTgt spid="44"/>
                                        </p:tgtEl>
                                        <p:attrNameLst>
                                          <p:attrName>ppt_w</p:attrName>
                                        </p:attrNameLst>
                                      </p:cBhvr>
                                      <p:tavLst>
                                        <p:tav tm="0">
                                          <p:val>
                                            <p:fltVal val="0"/>
                                          </p:val>
                                        </p:tav>
                                        <p:tav tm="100000">
                                          <p:val>
                                            <p:strVal val="#ppt_w"/>
                                          </p:val>
                                        </p:tav>
                                      </p:tavLst>
                                    </p:anim>
                                    <p:anim calcmode="lin" valueType="num">
                                      <p:cBhvr>
                                        <p:cTn id="50" dur="350" fill="hold"/>
                                        <p:tgtEl>
                                          <p:spTgt spid="44"/>
                                        </p:tgtEl>
                                        <p:attrNameLst>
                                          <p:attrName>ppt_h</p:attrName>
                                        </p:attrNameLst>
                                      </p:cBhvr>
                                      <p:tavLst>
                                        <p:tav tm="0">
                                          <p:val>
                                            <p:fltVal val="0"/>
                                          </p:val>
                                        </p:tav>
                                        <p:tav tm="100000">
                                          <p:val>
                                            <p:strVal val="#ppt_h"/>
                                          </p:val>
                                        </p:tav>
                                      </p:tavLst>
                                    </p:anim>
                                    <p:animEffect transition="in" filter="fade">
                                      <p:cBhvr>
                                        <p:cTn id="51" dur="350"/>
                                        <p:tgtEl>
                                          <p:spTgt spid="44"/>
                                        </p:tgtEl>
                                      </p:cBhvr>
                                    </p:animEffect>
                                  </p:childTnLst>
                                </p:cTn>
                              </p:par>
                            </p:childTnLst>
                          </p:cTn>
                        </p:par>
                        <p:par>
                          <p:cTn id="52" fill="hold">
                            <p:stCondLst>
                              <p:cond delay="4000"/>
                            </p:stCondLst>
                            <p:childTnLst>
                              <p:par>
                                <p:cTn id="53" presetID="53" presetClass="entr" presetSubtype="16" fill="hold" nodeType="afterEffect">
                                  <p:stCondLst>
                                    <p:cond delay="0"/>
                                  </p:stCondLst>
                                  <p:childTnLst>
                                    <p:set>
                                      <p:cBhvr>
                                        <p:cTn id="54" dur="1" fill="hold">
                                          <p:stCondLst>
                                            <p:cond delay="0"/>
                                          </p:stCondLst>
                                        </p:cTn>
                                        <p:tgtEl>
                                          <p:spTgt spid="49"/>
                                        </p:tgtEl>
                                        <p:attrNameLst>
                                          <p:attrName>style.visibility</p:attrName>
                                        </p:attrNameLst>
                                      </p:cBhvr>
                                      <p:to>
                                        <p:strVal val="visible"/>
                                      </p:to>
                                    </p:set>
                                    <p:anim calcmode="lin" valueType="num">
                                      <p:cBhvr>
                                        <p:cTn id="55" dur="350" fill="hold"/>
                                        <p:tgtEl>
                                          <p:spTgt spid="49"/>
                                        </p:tgtEl>
                                        <p:attrNameLst>
                                          <p:attrName>ppt_w</p:attrName>
                                        </p:attrNameLst>
                                      </p:cBhvr>
                                      <p:tavLst>
                                        <p:tav tm="0">
                                          <p:val>
                                            <p:fltVal val="0"/>
                                          </p:val>
                                        </p:tav>
                                        <p:tav tm="100000">
                                          <p:val>
                                            <p:strVal val="#ppt_w"/>
                                          </p:val>
                                        </p:tav>
                                      </p:tavLst>
                                    </p:anim>
                                    <p:anim calcmode="lin" valueType="num">
                                      <p:cBhvr>
                                        <p:cTn id="56" dur="350" fill="hold"/>
                                        <p:tgtEl>
                                          <p:spTgt spid="49"/>
                                        </p:tgtEl>
                                        <p:attrNameLst>
                                          <p:attrName>ppt_h</p:attrName>
                                        </p:attrNameLst>
                                      </p:cBhvr>
                                      <p:tavLst>
                                        <p:tav tm="0">
                                          <p:val>
                                            <p:fltVal val="0"/>
                                          </p:val>
                                        </p:tav>
                                        <p:tav tm="100000">
                                          <p:val>
                                            <p:strVal val="#ppt_h"/>
                                          </p:val>
                                        </p:tav>
                                      </p:tavLst>
                                    </p:anim>
                                    <p:animEffect transition="in" filter="fade">
                                      <p:cBhvr>
                                        <p:cTn id="57" dur="350"/>
                                        <p:tgtEl>
                                          <p:spTgt spid="49"/>
                                        </p:tgtEl>
                                      </p:cBhvr>
                                    </p:animEffect>
                                  </p:childTnLst>
                                </p:cTn>
                              </p:par>
                            </p:childTnLst>
                          </p:cTn>
                        </p:par>
                        <p:par>
                          <p:cTn id="58" fill="hold">
                            <p:stCondLst>
                              <p:cond delay="4350"/>
                            </p:stCondLst>
                            <p:childTnLst>
                              <p:par>
                                <p:cTn id="59" presetID="10" presetClass="entr" presetSubtype="0" fill="hold" grpId="0" nodeType="after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fade">
                                      <p:cBhvr>
                                        <p:cTn id="61" dur="300"/>
                                        <p:tgtEl>
                                          <p:spTgt spid="50"/>
                                        </p:tgtEl>
                                      </p:cBhvr>
                                    </p:animEffect>
                                  </p:childTnLst>
                                </p:cTn>
                              </p:par>
                            </p:childTnLst>
                          </p:cTn>
                        </p:par>
                        <p:par>
                          <p:cTn id="62" fill="hold">
                            <p:stCondLst>
                              <p:cond delay="4650"/>
                            </p:stCondLst>
                            <p:childTnLst>
                              <p:par>
                                <p:cTn id="63" presetID="23" presetClass="entr" presetSubtype="16" fill="hold" nodeType="afterEffect">
                                  <p:stCondLst>
                                    <p:cond delay="0"/>
                                  </p:stCondLst>
                                  <p:childTnLst>
                                    <p:set>
                                      <p:cBhvr>
                                        <p:cTn id="64" dur="1" fill="hold">
                                          <p:stCondLst>
                                            <p:cond delay="0"/>
                                          </p:stCondLst>
                                        </p:cTn>
                                        <p:tgtEl>
                                          <p:spTgt spid="54"/>
                                        </p:tgtEl>
                                        <p:attrNameLst>
                                          <p:attrName>style.visibility</p:attrName>
                                        </p:attrNameLst>
                                      </p:cBhvr>
                                      <p:to>
                                        <p:strVal val="visible"/>
                                      </p:to>
                                    </p:set>
                                    <p:anim calcmode="lin" valueType="num">
                                      <p:cBhvr>
                                        <p:cTn id="65" dur="250" fill="hold"/>
                                        <p:tgtEl>
                                          <p:spTgt spid="54"/>
                                        </p:tgtEl>
                                        <p:attrNameLst>
                                          <p:attrName>ppt_w</p:attrName>
                                        </p:attrNameLst>
                                      </p:cBhvr>
                                      <p:tavLst>
                                        <p:tav tm="0">
                                          <p:val>
                                            <p:fltVal val="0"/>
                                          </p:val>
                                        </p:tav>
                                        <p:tav tm="100000">
                                          <p:val>
                                            <p:strVal val="#ppt_w"/>
                                          </p:val>
                                        </p:tav>
                                      </p:tavLst>
                                    </p:anim>
                                    <p:anim calcmode="lin" valueType="num">
                                      <p:cBhvr>
                                        <p:cTn id="66" dur="250" fill="hold"/>
                                        <p:tgtEl>
                                          <p:spTgt spid="54"/>
                                        </p:tgtEl>
                                        <p:attrNameLst>
                                          <p:attrName>ppt_h</p:attrName>
                                        </p:attrNameLst>
                                      </p:cBhvr>
                                      <p:tavLst>
                                        <p:tav tm="0">
                                          <p:val>
                                            <p:fltVal val="0"/>
                                          </p:val>
                                        </p:tav>
                                        <p:tav tm="100000">
                                          <p:val>
                                            <p:strVal val="#ppt_h"/>
                                          </p:val>
                                        </p:tav>
                                      </p:tavLst>
                                    </p:anim>
                                  </p:childTnLst>
                                </p:cTn>
                              </p:par>
                            </p:childTnLst>
                          </p:cTn>
                        </p:par>
                        <p:par>
                          <p:cTn id="67" fill="hold">
                            <p:stCondLst>
                              <p:cond delay="4900"/>
                            </p:stCondLst>
                            <p:childTnLst>
                              <p:par>
                                <p:cTn id="68" presetID="23" presetClass="entr" presetSubtype="16" fill="hold" nodeType="afterEffect">
                                  <p:stCondLst>
                                    <p:cond delay="0"/>
                                  </p:stCondLst>
                                  <p:childTnLst>
                                    <p:set>
                                      <p:cBhvr>
                                        <p:cTn id="69" dur="1" fill="hold">
                                          <p:stCondLst>
                                            <p:cond delay="0"/>
                                          </p:stCondLst>
                                        </p:cTn>
                                        <p:tgtEl>
                                          <p:spTgt spid="58"/>
                                        </p:tgtEl>
                                        <p:attrNameLst>
                                          <p:attrName>style.visibility</p:attrName>
                                        </p:attrNameLst>
                                      </p:cBhvr>
                                      <p:to>
                                        <p:strVal val="visible"/>
                                      </p:to>
                                    </p:set>
                                    <p:anim calcmode="lin" valueType="num">
                                      <p:cBhvr>
                                        <p:cTn id="70" dur="250" fill="hold"/>
                                        <p:tgtEl>
                                          <p:spTgt spid="58"/>
                                        </p:tgtEl>
                                        <p:attrNameLst>
                                          <p:attrName>ppt_w</p:attrName>
                                        </p:attrNameLst>
                                      </p:cBhvr>
                                      <p:tavLst>
                                        <p:tav tm="0">
                                          <p:val>
                                            <p:fltVal val="0"/>
                                          </p:val>
                                        </p:tav>
                                        <p:tav tm="100000">
                                          <p:val>
                                            <p:strVal val="#ppt_w"/>
                                          </p:val>
                                        </p:tav>
                                      </p:tavLst>
                                    </p:anim>
                                    <p:anim calcmode="lin" valueType="num">
                                      <p:cBhvr>
                                        <p:cTn id="71" dur="250" fill="hold"/>
                                        <p:tgtEl>
                                          <p:spTgt spid="58"/>
                                        </p:tgtEl>
                                        <p:attrNameLst>
                                          <p:attrName>ppt_h</p:attrName>
                                        </p:attrNameLst>
                                      </p:cBhvr>
                                      <p:tavLst>
                                        <p:tav tm="0">
                                          <p:val>
                                            <p:fltVal val="0"/>
                                          </p:val>
                                        </p:tav>
                                        <p:tav tm="100000">
                                          <p:val>
                                            <p:strVal val="#ppt_h"/>
                                          </p:val>
                                        </p:tav>
                                      </p:tavLst>
                                    </p:anim>
                                  </p:childTnLst>
                                </p:cTn>
                              </p:par>
                            </p:childTnLst>
                          </p:cTn>
                        </p:par>
                        <p:par>
                          <p:cTn id="72" fill="hold">
                            <p:stCondLst>
                              <p:cond delay="5150"/>
                            </p:stCondLst>
                            <p:childTnLst>
                              <p:par>
                                <p:cTn id="73" presetID="23" presetClass="entr" presetSubtype="16" fill="hold" nodeType="afterEffect">
                                  <p:stCondLst>
                                    <p:cond delay="0"/>
                                  </p:stCondLst>
                                  <p:childTnLst>
                                    <p:set>
                                      <p:cBhvr>
                                        <p:cTn id="74" dur="1" fill="hold">
                                          <p:stCondLst>
                                            <p:cond delay="0"/>
                                          </p:stCondLst>
                                        </p:cTn>
                                        <p:tgtEl>
                                          <p:spTgt spid="62"/>
                                        </p:tgtEl>
                                        <p:attrNameLst>
                                          <p:attrName>style.visibility</p:attrName>
                                        </p:attrNameLst>
                                      </p:cBhvr>
                                      <p:to>
                                        <p:strVal val="visible"/>
                                      </p:to>
                                    </p:set>
                                    <p:anim calcmode="lin" valueType="num">
                                      <p:cBhvr>
                                        <p:cTn id="75" dur="250" fill="hold"/>
                                        <p:tgtEl>
                                          <p:spTgt spid="62"/>
                                        </p:tgtEl>
                                        <p:attrNameLst>
                                          <p:attrName>ppt_w</p:attrName>
                                        </p:attrNameLst>
                                      </p:cBhvr>
                                      <p:tavLst>
                                        <p:tav tm="0">
                                          <p:val>
                                            <p:fltVal val="0"/>
                                          </p:val>
                                        </p:tav>
                                        <p:tav tm="100000">
                                          <p:val>
                                            <p:strVal val="#ppt_w"/>
                                          </p:val>
                                        </p:tav>
                                      </p:tavLst>
                                    </p:anim>
                                    <p:anim calcmode="lin" valueType="num">
                                      <p:cBhvr>
                                        <p:cTn id="76" dur="250" fill="hold"/>
                                        <p:tgtEl>
                                          <p:spTgt spid="62"/>
                                        </p:tgtEl>
                                        <p:attrNameLst>
                                          <p:attrName>ppt_h</p:attrName>
                                        </p:attrNameLst>
                                      </p:cBhvr>
                                      <p:tavLst>
                                        <p:tav tm="0">
                                          <p:val>
                                            <p:fltVal val="0"/>
                                          </p:val>
                                        </p:tav>
                                        <p:tav tm="100000">
                                          <p:val>
                                            <p:strVal val="#ppt_h"/>
                                          </p:val>
                                        </p:tav>
                                      </p:tavLst>
                                    </p:anim>
                                  </p:childTnLst>
                                </p:cTn>
                              </p:par>
                            </p:childTnLst>
                          </p:cTn>
                        </p:par>
                        <p:par>
                          <p:cTn id="77" fill="hold">
                            <p:stCondLst>
                              <p:cond delay="5400"/>
                            </p:stCondLst>
                            <p:childTnLst>
                              <p:par>
                                <p:cTn id="78" presetID="23" presetClass="entr" presetSubtype="16" fill="hold" nodeType="afterEffect">
                                  <p:stCondLst>
                                    <p:cond delay="0"/>
                                  </p:stCondLst>
                                  <p:childTnLst>
                                    <p:set>
                                      <p:cBhvr>
                                        <p:cTn id="79" dur="1" fill="hold">
                                          <p:stCondLst>
                                            <p:cond delay="0"/>
                                          </p:stCondLst>
                                        </p:cTn>
                                        <p:tgtEl>
                                          <p:spTgt spid="66"/>
                                        </p:tgtEl>
                                        <p:attrNameLst>
                                          <p:attrName>style.visibility</p:attrName>
                                        </p:attrNameLst>
                                      </p:cBhvr>
                                      <p:to>
                                        <p:strVal val="visible"/>
                                      </p:to>
                                    </p:set>
                                    <p:anim calcmode="lin" valueType="num">
                                      <p:cBhvr>
                                        <p:cTn id="80" dur="250" fill="hold"/>
                                        <p:tgtEl>
                                          <p:spTgt spid="66"/>
                                        </p:tgtEl>
                                        <p:attrNameLst>
                                          <p:attrName>ppt_w</p:attrName>
                                        </p:attrNameLst>
                                      </p:cBhvr>
                                      <p:tavLst>
                                        <p:tav tm="0">
                                          <p:val>
                                            <p:fltVal val="0"/>
                                          </p:val>
                                        </p:tav>
                                        <p:tav tm="100000">
                                          <p:val>
                                            <p:strVal val="#ppt_w"/>
                                          </p:val>
                                        </p:tav>
                                      </p:tavLst>
                                    </p:anim>
                                    <p:anim calcmode="lin" valueType="num">
                                      <p:cBhvr>
                                        <p:cTn id="81" dur="250" fill="hold"/>
                                        <p:tgtEl>
                                          <p:spTgt spid="66"/>
                                        </p:tgtEl>
                                        <p:attrNameLst>
                                          <p:attrName>ppt_h</p:attrName>
                                        </p:attrNameLst>
                                      </p:cBhvr>
                                      <p:tavLst>
                                        <p:tav tm="0">
                                          <p:val>
                                            <p:fltVal val="0"/>
                                          </p:val>
                                        </p:tav>
                                        <p:tav tm="100000">
                                          <p:val>
                                            <p:strVal val="#ppt_h"/>
                                          </p:val>
                                        </p:tav>
                                      </p:tavLst>
                                    </p:anim>
                                  </p:childTnLst>
                                </p:cTn>
                              </p:par>
                              <p:par>
                                <p:cTn id="82" presetID="10" presetClass="entr" presetSubtype="0" fill="hold" grpId="0" nodeType="withEffect">
                                  <p:stCondLst>
                                    <p:cond delay="0"/>
                                  </p:stCondLst>
                                  <p:childTnLst>
                                    <p:set>
                                      <p:cBhvr>
                                        <p:cTn id="83" dur="1" fill="hold">
                                          <p:stCondLst>
                                            <p:cond delay="0"/>
                                          </p:stCondLst>
                                        </p:cTn>
                                        <p:tgtEl>
                                          <p:spTgt spid="67"/>
                                        </p:tgtEl>
                                        <p:attrNameLst>
                                          <p:attrName>style.visibility</p:attrName>
                                        </p:attrNameLst>
                                      </p:cBhvr>
                                      <p:to>
                                        <p:strVal val="visible"/>
                                      </p:to>
                                    </p:set>
                                    <p:animEffect transition="in" filter="fade">
                                      <p:cBhvr>
                                        <p:cTn id="84" dur="300"/>
                                        <p:tgtEl>
                                          <p:spTgt spid="6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8"/>
                                        </p:tgtEl>
                                        <p:attrNameLst>
                                          <p:attrName>style.visibility</p:attrName>
                                        </p:attrNameLst>
                                      </p:cBhvr>
                                      <p:to>
                                        <p:strVal val="visible"/>
                                      </p:to>
                                    </p:set>
                                    <p:animEffect transition="in" filter="fade">
                                      <p:cBhvr>
                                        <p:cTn id="87" dur="300"/>
                                        <p:tgtEl>
                                          <p:spTgt spid="68"/>
                                        </p:tgtEl>
                                      </p:cBhvr>
                                    </p:animEffect>
                                  </p:childTnLst>
                                </p:cTn>
                              </p:par>
                            </p:childTnLst>
                          </p:cTn>
                        </p:par>
                        <p:par>
                          <p:cTn id="88" fill="hold">
                            <p:stCondLst>
                              <p:cond delay="5700"/>
                            </p:stCondLst>
                            <p:childTnLst>
                              <p:par>
                                <p:cTn id="89" presetID="10" presetClass="entr" presetSubtype="0" fill="hold" grpId="0" nodeType="afterEffect">
                                  <p:stCondLst>
                                    <p:cond delay="0"/>
                                  </p:stCondLst>
                                  <p:childTnLst>
                                    <p:set>
                                      <p:cBhvr>
                                        <p:cTn id="90" dur="1" fill="hold">
                                          <p:stCondLst>
                                            <p:cond delay="0"/>
                                          </p:stCondLst>
                                        </p:cTn>
                                        <p:tgtEl>
                                          <p:spTgt spid="69"/>
                                        </p:tgtEl>
                                        <p:attrNameLst>
                                          <p:attrName>style.visibility</p:attrName>
                                        </p:attrNameLst>
                                      </p:cBhvr>
                                      <p:to>
                                        <p:strVal val="visible"/>
                                      </p:to>
                                    </p:set>
                                    <p:animEffect transition="in" filter="fade">
                                      <p:cBhvr>
                                        <p:cTn id="91" dur="300"/>
                                        <p:tgtEl>
                                          <p:spTgt spid="69"/>
                                        </p:tgtEl>
                                      </p:cBhvr>
                                    </p:animEffect>
                                  </p:childTnLst>
                                </p:cTn>
                              </p:par>
                            </p:childTnLst>
                          </p:cTn>
                        </p:par>
                        <p:par>
                          <p:cTn id="92" fill="hold">
                            <p:stCondLst>
                              <p:cond delay="6000"/>
                            </p:stCondLst>
                            <p:childTnLst>
                              <p:par>
                                <p:cTn id="93" presetID="10" presetClass="entr" presetSubtype="0" fill="hold" grpId="0" nodeType="afterEffect">
                                  <p:stCondLst>
                                    <p:cond delay="0"/>
                                  </p:stCondLst>
                                  <p:childTnLst>
                                    <p:set>
                                      <p:cBhvr>
                                        <p:cTn id="94" dur="1" fill="hold">
                                          <p:stCondLst>
                                            <p:cond delay="0"/>
                                          </p:stCondLst>
                                        </p:cTn>
                                        <p:tgtEl>
                                          <p:spTgt spid="70"/>
                                        </p:tgtEl>
                                        <p:attrNameLst>
                                          <p:attrName>style.visibility</p:attrName>
                                        </p:attrNameLst>
                                      </p:cBhvr>
                                      <p:to>
                                        <p:strVal val="visible"/>
                                      </p:to>
                                    </p:set>
                                    <p:animEffect transition="in" filter="fade">
                                      <p:cBhvr>
                                        <p:cTn id="95" dur="200"/>
                                        <p:tgtEl>
                                          <p:spTgt spid="7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71"/>
                                        </p:tgtEl>
                                        <p:attrNameLst>
                                          <p:attrName>style.visibility</p:attrName>
                                        </p:attrNameLst>
                                      </p:cBhvr>
                                      <p:to>
                                        <p:strVal val="visible"/>
                                      </p:to>
                                    </p:set>
                                    <p:animEffect transition="in" filter="fade">
                                      <p:cBhvr>
                                        <p:cTn id="98" dur="200"/>
                                        <p:tgtEl>
                                          <p:spTgt spid="71"/>
                                        </p:tgtEl>
                                      </p:cBhvr>
                                    </p:animEffect>
                                  </p:childTnLst>
                                </p:cTn>
                              </p:par>
                            </p:childTnLst>
                          </p:cTn>
                        </p:par>
                        <p:par>
                          <p:cTn id="99" fill="hold">
                            <p:stCondLst>
                              <p:cond delay="6200"/>
                            </p:stCondLst>
                            <p:childTnLst>
                              <p:par>
                                <p:cTn id="100" presetID="22" presetClass="entr" presetSubtype="8" fill="hold" grpId="0" nodeType="afterEffect">
                                  <p:stCondLst>
                                    <p:cond delay="0"/>
                                  </p:stCondLst>
                                  <p:childTnLst>
                                    <p:set>
                                      <p:cBhvr>
                                        <p:cTn id="101" dur="1" fill="hold">
                                          <p:stCondLst>
                                            <p:cond delay="0"/>
                                          </p:stCondLst>
                                        </p:cTn>
                                        <p:tgtEl>
                                          <p:spTgt spid="72"/>
                                        </p:tgtEl>
                                        <p:attrNameLst>
                                          <p:attrName>style.visibility</p:attrName>
                                        </p:attrNameLst>
                                      </p:cBhvr>
                                      <p:to>
                                        <p:strVal val="visible"/>
                                      </p:to>
                                    </p:set>
                                    <p:animEffect transition="in" filter="wipe(left)">
                                      <p:cBhvr>
                                        <p:cTn id="102" dur="500"/>
                                        <p:tgtEl>
                                          <p:spTgt spid="72"/>
                                        </p:tgtEl>
                                      </p:cBhvr>
                                    </p:animEffect>
                                  </p:childTnLst>
                                </p:cTn>
                              </p:par>
                              <p:par>
                                <p:cTn id="103" presetID="10" presetClass="entr" presetSubtype="0" fill="hold" grpId="0" nodeType="withEffect">
                                  <p:stCondLst>
                                    <p:cond delay="400"/>
                                  </p:stCondLst>
                                  <p:childTnLst>
                                    <p:set>
                                      <p:cBhvr>
                                        <p:cTn id="104" dur="1" fill="hold">
                                          <p:stCondLst>
                                            <p:cond delay="0"/>
                                          </p:stCondLst>
                                        </p:cTn>
                                        <p:tgtEl>
                                          <p:spTgt spid="73"/>
                                        </p:tgtEl>
                                        <p:attrNameLst>
                                          <p:attrName>style.visibility</p:attrName>
                                        </p:attrNameLst>
                                      </p:cBhvr>
                                      <p:to>
                                        <p:strVal val="visible"/>
                                      </p:to>
                                    </p:set>
                                    <p:animEffect transition="in" filter="fade">
                                      <p:cBhvr>
                                        <p:cTn id="105" dur="300"/>
                                        <p:tgtEl>
                                          <p:spTgt spid="73"/>
                                        </p:tgtEl>
                                      </p:cBhvr>
                                    </p:animEffect>
                                  </p:childTnLst>
                                </p:cTn>
                              </p:par>
                            </p:childTnLst>
                          </p:cTn>
                        </p:par>
                        <p:par>
                          <p:cTn id="106" fill="hold">
                            <p:stCondLst>
                              <p:cond delay="6900"/>
                            </p:stCondLst>
                            <p:childTnLst>
                              <p:par>
                                <p:cTn id="107" presetID="10" presetClass="entr" presetSubtype="0" fill="hold" grpId="0" nodeType="afterEffect">
                                  <p:stCondLst>
                                    <p:cond delay="0"/>
                                  </p:stCondLst>
                                  <p:childTnLst>
                                    <p:set>
                                      <p:cBhvr>
                                        <p:cTn id="108" dur="1" fill="hold">
                                          <p:stCondLst>
                                            <p:cond delay="0"/>
                                          </p:stCondLst>
                                        </p:cTn>
                                        <p:tgtEl>
                                          <p:spTgt spid="74"/>
                                        </p:tgtEl>
                                        <p:attrNameLst>
                                          <p:attrName>style.visibility</p:attrName>
                                        </p:attrNameLst>
                                      </p:cBhvr>
                                      <p:to>
                                        <p:strVal val="visible"/>
                                      </p:to>
                                    </p:set>
                                    <p:animEffect transition="in" filter="fade">
                                      <p:cBhvr>
                                        <p:cTn id="109" dur="200"/>
                                        <p:tgtEl>
                                          <p:spTgt spid="74"/>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75"/>
                                        </p:tgtEl>
                                        <p:attrNameLst>
                                          <p:attrName>style.visibility</p:attrName>
                                        </p:attrNameLst>
                                      </p:cBhvr>
                                      <p:to>
                                        <p:strVal val="visible"/>
                                      </p:to>
                                    </p:set>
                                    <p:animEffect transition="in" filter="fade">
                                      <p:cBhvr>
                                        <p:cTn id="112" dur="200"/>
                                        <p:tgtEl>
                                          <p:spTgt spid="75"/>
                                        </p:tgtEl>
                                      </p:cBhvr>
                                    </p:animEffect>
                                  </p:childTnLst>
                                </p:cTn>
                              </p:par>
                            </p:childTnLst>
                          </p:cTn>
                        </p:par>
                        <p:par>
                          <p:cTn id="113" fill="hold">
                            <p:stCondLst>
                              <p:cond delay="7100"/>
                            </p:stCondLst>
                            <p:childTnLst>
                              <p:par>
                                <p:cTn id="114" presetID="22" presetClass="entr" presetSubtype="8" fill="hold" grpId="0" nodeType="afterEffect">
                                  <p:stCondLst>
                                    <p:cond delay="0"/>
                                  </p:stCondLst>
                                  <p:childTnLst>
                                    <p:set>
                                      <p:cBhvr>
                                        <p:cTn id="115" dur="1" fill="hold">
                                          <p:stCondLst>
                                            <p:cond delay="0"/>
                                          </p:stCondLst>
                                        </p:cTn>
                                        <p:tgtEl>
                                          <p:spTgt spid="76"/>
                                        </p:tgtEl>
                                        <p:attrNameLst>
                                          <p:attrName>style.visibility</p:attrName>
                                        </p:attrNameLst>
                                      </p:cBhvr>
                                      <p:to>
                                        <p:strVal val="visible"/>
                                      </p:to>
                                    </p:set>
                                    <p:animEffect transition="in" filter="wipe(left)">
                                      <p:cBhvr>
                                        <p:cTn id="116" dur="500"/>
                                        <p:tgtEl>
                                          <p:spTgt spid="76"/>
                                        </p:tgtEl>
                                      </p:cBhvr>
                                    </p:animEffect>
                                  </p:childTnLst>
                                </p:cTn>
                              </p:par>
                              <p:par>
                                <p:cTn id="117" presetID="10" presetClass="entr" presetSubtype="0" fill="hold" grpId="0" nodeType="withEffect">
                                  <p:stCondLst>
                                    <p:cond delay="400"/>
                                  </p:stCondLst>
                                  <p:childTnLst>
                                    <p:set>
                                      <p:cBhvr>
                                        <p:cTn id="118" dur="1" fill="hold">
                                          <p:stCondLst>
                                            <p:cond delay="0"/>
                                          </p:stCondLst>
                                        </p:cTn>
                                        <p:tgtEl>
                                          <p:spTgt spid="77"/>
                                        </p:tgtEl>
                                        <p:attrNameLst>
                                          <p:attrName>style.visibility</p:attrName>
                                        </p:attrNameLst>
                                      </p:cBhvr>
                                      <p:to>
                                        <p:strVal val="visible"/>
                                      </p:to>
                                    </p:set>
                                    <p:animEffect transition="in" filter="fade">
                                      <p:cBhvr>
                                        <p:cTn id="119" dur="300"/>
                                        <p:tgtEl>
                                          <p:spTgt spid="77"/>
                                        </p:tgtEl>
                                      </p:cBhvr>
                                    </p:animEffect>
                                  </p:childTnLst>
                                </p:cTn>
                              </p:par>
                            </p:childTnLst>
                          </p:cTn>
                        </p:par>
                        <p:par>
                          <p:cTn id="120" fill="hold">
                            <p:stCondLst>
                              <p:cond delay="7800"/>
                            </p:stCondLst>
                            <p:childTnLst>
                              <p:par>
                                <p:cTn id="121" presetID="10" presetClass="entr" presetSubtype="0" fill="hold" grpId="0" nodeType="afterEffect">
                                  <p:stCondLst>
                                    <p:cond delay="0"/>
                                  </p:stCondLst>
                                  <p:childTnLst>
                                    <p:set>
                                      <p:cBhvr>
                                        <p:cTn id="122" dur="1" fill="hold">
                                          <p:stCondLst>
                                            <p:cond delay="0"/>
                                          </p:stCondLst>
                                        </p:cTn>
                                        <p:tgtEl>
                                          <p:spTgt spid="78"/>
                                        </p:tgtEl>
                                        <p:attrNameLst>
                                          <p:attrName>style.visibility</p:attrName>
                                        </p:attrNameLst>
                                      </p:cBhvr>
                                      <p:to>
                                        <p:strVal val="visible"/>
                                      </p:to>
                                    </p:set>
                                    <p:animEffect transition="in" filter="fade">
                                      <p:cBhvr>
                                        <p:cTn id="123" dur="200"/>
                                        <p:tgtEl>
                                          <p:spTgt spid="78"/>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79"/>
                                        </p:tgtEl>
                                        <p:attrNameLst>
                                          <p:attrName>style.visibility</p:attrName>
                                        </p:attrNameLst>
                                      </p:cBhvr>
                                      <p:to>
                                        <p:strVal val="visible"/>
                                      </p:to>
                                    </p:set>
                                    <p:animEffect transition="in" filter="fade">
                                      <p:cBhvr>
                                        <p:cTn id="126" dur="200"/>
                                        <p:tgtEl>
                                          <p:spTgt spid="79"/>
                                        </p:tgtEl>
                                      </p:cBhvr>
                                    </p:animEffect>
                                  </p:childTnLst>
                                </p:cTn>
                              </p:par>
                            </p:childTnLst>
                          </p:cTn>
                        </p:par>
                        <p:par>
                          <p:cTn id="127" fill="hold">
                            <p:stCondLst>
                              <p:cond delay="8000"/>
                            </p:stCondLst>
                            <p:childTnLst>
                              <p:par>
                                <p:cTn id="128" presetID="22" presetClass="entr" presetSubtype="8" fill="hold" grpId="0" nodeType="afterEffect">
                                  <p:stCondLst>
                                    <p:cond delay="0"/>
                                  </p:stCondLst>
                                  <p:childTnLst>
                                    <p:set>
                                      <p:cBhvr>
                                        <p:cTn id="129" dur="1" fill="hold">
                                          <p:stCondLst>
                                            <p:cond delay="0"/>
                                          </p:stCondLst>
                                        </p:cTn>
                                        <p:tgtEl>
                                          <p:spTgt spid="80"/>
                                        </p:tgtEl>
                                        <p:attrNameLst>
                                          <p:attrName>style.visibility</p:attrName>
                                        </p:attrNameLst>
                                      </p:cBhvr>
                                      <p:to>
                                        <p:strVal val="visible"/>
                                      </p:to>
                                    </p:set>
                                    <p:animEffect transition="in" filter="wipe(left)">
                                      <p:cBhvr>
                                        <p:cTn id="130" dur="500"/>
                                        <p:tgtEl>
                                          <p:spTgt spid="80"/>
                                        </p:tgtEl>
                                      </p:cBhvr>
                                    </p:animEffect>
                                  </p:childTnLst>
                                </p:cTn>
                              </p:par>
                              <p:par>
                                <p:cTn id="131" presetID="10" presetClass="entr" presetSubtype="0" fill="hold" grpId="0" nodeType="withEffect">
                                  <p:stCondLst>
                                    <p:cond delay="400"/>
                                  </p:stCondLst>
                                  <p:childTnLst>
                                    <p:set>
                                      <p:cBhvr>
                                        <p:cTn id="132" dur="1" fill="hold">
                                          <p:stCondLst>
                                            <p:cond delay="0"/>
                                          </p:stCondLst>
                                        </p:cTn>
                                        <p:tgtEl>
                                          <p:spTgt spid="81"/>
                                        </p:tgtEl>
                                        <p:attrNameLst>
                                          <p:attrName>style.visibility</p:attrName>
                                        </p:attrNameLst>
                                      </p:cBhvr>
                                      <p:to>
                                        <p:strVal val="visible"/>
                                      </p:to>
                                    </p:set>
                                    <p:animEffect transition="in" filter="fade">
                                      <p:cBhvr>
                                        <p:cTn id="133" dur="3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50" grpId="0"/>
      <p:bldP spid="67" grpId="0"/>
      <p:bldP spid="68" grpId="0"/>
      <p:bldP spid="69" grpId="0"/>
      <p:bldP spid="70" grpId="0"/>
      <p:bldP spid="71" grpId="0" animBg="1"/>
      <p:bldP spid="72" grpId="0" animBg="1"/>
      <p:bldP spid="73" grpId="0"/>
      <p:bldP spid="74" grpId="0"/>
      <p:bldP spid="75" grpId="0" animBg="1"/>
      <p:bldP spid="76" grpId="0" animBg="1"/>
      <p:bldP spid="77" grpId="0"/>
      <p:bldP spid="78" grpId="0"/>
      <p:bldP spid="79" grpId="0" animBg="1"/>
      <p:bldP spid="80" grpId="0" animBg="1"/>
      <p:bldP spid="8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418320" y="4389120"/>
            <a:ext cx="3291840" cy="329184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010851" y="4981651"/>
            <a:ext cx="2106777" cy="2106777"/>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1051559"/>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3383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06</a:t>
            </a:r>
          </a:p>
        </p:txBody>
      </p:sp>
      <p:sp>
        <p:nvSpPr>
          <p:cNvPr id="12" name="!!rail7"/>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07</a:t>
            </a:r>
          </a:p>
        </p:txBody>
      </p:sp>
      <p:sp>
        <p:nvSpPr>
          <p:cNvPr id="13" name="!!rail8"/>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233"/>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07  ·  RESULTS  ·  2 OF 4</a:t>
            </a:r>
          </a:p>
        </p:txBody>
      </p:sp>
      <p:sp>
        <p:nvSpPr>
          <p:cNvPr id="15" name="Title 234"/>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Results</a:t>
            </a:r>
          </a:p>
        </p:txBody>
      </p:sp>
      <p:sp>
        <p:nvSpPr>
          <p:cNvPr id="16" name="Subtitle 235"/>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Processing speed: where the 4.05 seconds go</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Tables 4.1 and 4.2 (historical prototype results)</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15 / 20</a:t>
            </a:r>
          </a:p>
        </p:txBody>
      </p:sp>
      <p:sp>
        <p:nvSpPr>
          <p:cNvPr id="20" name="Speed label 236"/>
          <p:cNvSpPr txBox="1"/>
          <p:nvPr/>
        </p:nvSpPr>
        <p:spPr>
          <a:xfrm>
            <a:off x="1417320" y="1965960"/>
            <a:ext cx="3017520" cy="365760"/>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Stage 1 · URL and context</a:t>
            </a:r>
          </a:p>
        </p:txBody>
      </p:sp>
      <p:sp>
        <p:nvSpPr>
          <p:cNvPr id="21" name="Speed track 237"/>
          <p:cNvSpPr/>
          <p:nvPr/>
        </p:nvSpPr>
        <p:spPr>
          <a:xfrm>
            <a:off x="4480560" y="2002536"/>
            <a:ext cx="3017520" cy="329184"/>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Speed bar 238"/>
          <p:cNvSpPr/>
          <p:nvPr/>
        </p:nvSpPr>
        <p:spPr>
          <a:xfrm>
            <a:off x="4480560" y="2002536"/>
            <a:ext cx="1832065" cy="329184"/>
          </a:xfrm>
          <a:prstGeom prst="roundRect">
            <a:avLst>
              <a:gd name="adj" fmla="val 40000"/>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Speed value 239"/>
          <p:cNvSpPr txBox="1"/>
          <p:nvPr/>
        </p:nvSpPr>
        <p:spPr>
          <a:xfrm>
            <a:off x="7589520" y="1947672"/>
            <a:ext cx="1554480" cy="411480"/>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850 ms</a:t>
            </a:r>
            <a:r>
              <a:rPr sz="1500" b="0" i="0">
                <a:solidFill>
                  <a:srgbClr val="857A72"/>
                </a:solidFill>
                <a:latin typeface="Calibri"/>
              </a:rPr>
              <a:t>  21%</a:t>
            </a:r>
          </a:p>
        </p:txBody>
      </p:sp>
      <p:sp>
        <p:nvSpPr>
          <p:cNvPr id="24" name="Speed label 240"/>
          <p:cNvSpPr txBox="1"/>
          <p:nvPr/>
        </p:nvSpPr>
        <p:spPr>
          <a:xfrm>
            <a:off x="1417320" y="2679191"/>
            <a:ext cx="3017520" cy="365760"/>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Stage 2 · Content analysis</a:t>
            </a:r>
          </a:p>
        </p:txBody>
      </p:sp>
      <p:sp>
        <p:nvSpPr>
          <p:cNvPr id="25" name="Speed track 241"/>
          <p:cNvSpPr/>
          <p:nvPr/>
        </p:nvSpPr>
        <p:spPr>
          <a:xfrm>
            <a:off x="4480560" y="2715768"/>
            <a:ext cx="3017520" cy="329184"/>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Speed bar 242"/>
          <p:cNvSpPr/>
          <p:nvPr/>
        </p:nvSpPr>
        <p:spPr>
          <a:xfrm>
            <a:off x="4480560" y="2715768"/>
            <a:ext cx="2586445" cy="329184"/>
          </a:xfrm>
          <a:prstGeom prst="roundRect">
            <a:avLst>
              <a:gd name="adj" fmla="val 40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Speed value 243"/>
          <p:cNvSpPr txBox="1"/>
          <p:nvPr/>
        </p:nvSpPr>
        <p:spPr>
          <a:xfrm>
            <a:off x="7589520" y="2660903"/>
            <a:ext cx="1554480" cy="411480"/>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1,200 ms</a:t>
            </a:r>
            <a:r>
              <a:rPr sz="1500" b="0" i="0">
                <a:solidFill>
                  <a:srgbClr val="857A72"/>
                </a:solidFill>
                <a:latin typeface="Calibri"/>
              </a:rPr>
              <a:t>  30%</a:t>
            </a:r>
          </a:p>
        </p:txBody>
      </p:sp>
      <p:sp>
        <p:nvSpPr>
          <p:cNvPr id="28" name="Speed label 244"/>
          <p:cNvSpPr txBox="1"/>
          <p:nvPr/>
        </p:nvSpPr>
        <p:spPr>
          <a:xfrm>
            <a:off x="1417320" y="3392424"/>
            <a:ext cx="3017520" cy="365760"/>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Stage 3 · Threat intelligence</a:t>
            </a:r>
          </a:p>
        </p:txBody>
      </p:sp>
      <p:sp>
        <p:nvSpPr>
          <p:cNvPr id="29" name="Speed track 245"/>
          <p:cNvSpPr/>
          <p:nvPr/>
        </p:nvSpPr>
        <p:spPr>
          <a:xfrm>
            <a:off x="4480560" y="3429000"/>
            <a:ext cx="3017520" cy="329184"/>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Speed bar 246"/>
          <p:cNvSpPr/>
          <p:nvPr/>
        </p:nvSpPr>
        <p:spPr>
          <a:xfrm>
            <a:off x="4480560" y="3429000"/>
            <a:ext cx="1293222" cy="329184"/>
          </a:xfrm>
          <a:prstGeom prst="roundRect">
            <a:avLst>
              <a:gd name="adj" fmla="val 40000"/>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Speed value 247"/>
          <p:cNvSpPr txBox="1"/>
          <p:nvPr/>
        </p:nvSpPr>
        <p:spPr>
          <a:xfrm>
            <a:off x="7589520" y="3374136"/>
            <a:ext cx="1554480" cy="411480"/>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600 ms</a:t>
            </a:r>
            <a:r>
              <a:rPr sz="1500" b="0" i="0">
                <a:solidFill>
                  <a:srgbClr val="857A72"/>
                </a:solidFill>
                <a:latin typeface="Calibri"/>
              </a:rPr>
              <a:t>  15%</a:t>
            </a:r>
          </a:p>
        </p:txBody>
      </p:sp>
      <p:sp>
        <p:nvSpPr>
          <p:cNvPr id="32" name="Speed label 248"/>
          <p:cNvSpPr txBox="1"/>
          <p:nvPr/>
        </p:nvSpPr>
        <p:spPr>
          <a:xfrm>
            <a:off x="1417320" y="4105656"/>
            <a:ext cx="3017520" cy="365760"/>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Reporter · report generation</a:t>
            </a:r>
          </a:p>
        </p:txBody>
      </p:sp>
      <p:sp>
        <p:nvSpPr>
          <p:cNvPr id="33" name="Speed track 249"/>
          <p:cNvSpPr/>
          <p:nvPr/>
        </p:nvSpPr>
        <p:spPr>
          <a:xfrm>
            <a:off x="4480560" y="4142232"/>
            <a:ext cx="3017520" cy="329184"/>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Speed bar 250"/>
          <p:cNvSpPr/>
          <p:nvPr/>
        </p:nvSpPr>
        <p:spPr>
          <a:xfrm>
            <a:off x="4480560" y="4142232"/>
            <a:ext cx="3017520" cy="329184"/>
          </a:xfrm>
          <a:prstGeom prst="roundRect">
            <a:avLst>
              <a:gd name="adj" fmla="val 40000"/>
            </a:avLst>
          </a:prstGeom>
          <a:solidFill>
            <a:srgbClr val="C77A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5" name="Speed value 251"/>
          <p:cNvSpPr txBox="1"/>
          <p:nvPr/>
        </p:nvSpPr>
        <p:spPr>
          <a:xfrm>
            <a:off x="7589520" y="4087368"/>
            <a:ext cx="1554480" cy="411480"/>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1,400 ms</a:t>
            </a:r>
            <a:r>
              <a:rPr sz="1500" b="0" i="0">
                <a:solidFill>
                  <a:srgbClr val="857A72"/>
                </a:solidFill>
                <a:latin typeface="Calibri"/>
              </a:rPr>
              <a:t>  34%</a:t>
            </a:r>
          </a:p>
        </p:txBody>
      </p:sp>
      <p:grpSp>
        <p:nvGrpSpPr>
          <p:cNvPr id="40" name="Total 252"/>
          <p:cNvGrpSpPr/>
          <p:nvPr/>
        </p:nvGrpSpPr>
        <p:grpSpPr>
          <a:xfrm>
            <a:off x="9281160" y="1874519"/>
            <a:ext cx="2361895" cy="2834640"/>
            <a:chOff x="9281160" y="1874519"/>
            <a:chExt cx="2361895" cy="2834640"/>
          </a:xfrm>
        </p:grpSpPr>
        <p:sp>
          <p:nvSpPr>
            <p:cNvPr id="36" name="Total bg"/>
            <p:cNvSpPr/>
            <p:nvPr/>
          </p:nvSpPr>
          <p:spPr>
            <a:xfrm>
              <a:off x="9281160" y="1874519"/>
              <a:ext cx="2361895" cy="2834640"/>
            </a:xfrm>
            <a:prstGeom prst="roundRect">
              <a:avLst>
                <a:gd name="adj" fmla="val 6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Total label"/>
            <p:cNvSpPr txBox="1"/>
            <p:nvPr/>
          </p:nvSpPr>
          <p:spPr>
            <a:xfrm>
              <a:off x="9509760" y="2029968"/>
              <a:ext cx="1904695" cy="274320"/>
            </a:xfrm>
            <a:prstGeom prst="rect">
              <a:avLst/>
            </a:prstGeom>
            <a:noFill/>
          </p:spPr>
          <p:txBody>
            <a:bodyPr wrap="square" lIns="36576" tIns="36576" rIns="36576" bIns="36576" anchor="t">
              <a:spAutoFit/>
            </a:bodyPr>
            <a:lstStyle/>
            <a:p>
              <a:pPr algn="l">
                <a:lnSpc>
                  <a:spcPct val="108000"/>
                </a:lnSpc>
              </a:pPr>
              <a:r>
                <a:rPr sz="1050" b="1" i="0">
                  <a:solidFill>
                    <a:srgbClr val="F69D39"/>
                  </a:solidFill>
                  <a:latin typeface="Consolas"/>
                </a:rPr>
                <a:t>MEAN END TO END</a:t>
              </a:r>
            </a:p>
          </p:txBody>
        </p:sp>
        <p:sp>
          <p:nvSpPr>
            <p:cNvPr id="38" name="Total value"/>
            <p:cNvSpPr txBox="1"/>
            <p:nvPr/>
          </p:nvSpPr>
          <p:spPr>
            <a:xfrm>
              <a:off x="9509760" y="2304288"/>
              <a:ext cx="1904695" cy="868680"/>
            </a:xfrm>
            <a:prstGeom prst="rect">
              <a:avLst/>
            </a:prstGeom>
            <a:noFill/>
          </p:spPr>
          <p:txBody>
            <a:bodyPr wrap="square" lIns="36576" tIns="36576" rIns="36576" bIns="36576" anchor="t">
              <a:spAutoFit/>
            </a:bodyPr>
            <a:lstStyle/>
            <a:p>
              <a:pPr algn="l">
                <a:lnSpc>
                  <a:spcPct val="108000"/>
                </a:lnSpc>
              </a:pPr>
              <a:r>
                <a:rPr sz="4400" b="1" i="0">
                  <a:solidFill>
                    <a:srgbClr val="EFE9DD"/>
                  </a:solidFill>
                  <a:latin typeface="Bahnschrift"/>
                </a:rPr>
                <a:t>4.05 s</a:t>
              </a:r>
            </a:p>
          </p:txBody>
        </p:sp>
        <p:sp>
          <p:nvSpPr>
            <p:cNvPr id="39" name="Total text"/>
            <p:cNvSpPr txBox="1"/>
            <p:nvPr/>
          </p:nvSpPr>
          <p:spPr>
            <a:xfrm>
              <a:off x="9509760" y="3200400"/>
              <a:ext cx="1904695" cy="1463040"/>
            </a:xfrm>
            <a:prstGeom prst="rect">
              <a:avLst/>
            </a:prstGeom>
            <a:noFill/>
          </p:spPr>
          <p:txBody>
            <a:bodyPr wrap="square" lIns="36576" tIns="36576" rIns="36576" bIns="36576" anchor="t">
              <a:spAutoFit/>
            </a:bodyPr>
            <a:lstStyle/>
            <a:p>
              <a:pPr algn="l">
                <a:lnSpc>
                  <a:spcPct val="108000"/>
                </a:lnSpc>
                <a:spcAft>
                  <a:spcPts val="400"/>
                </a:spcAft>
              </a:pPr>
              <a:r>
                <a:rPr sz="1300" b="0" i="0">
                  <a:solidFill>
                    <a:srgbClr val="F69D39"/>
                  </a:solidFill>
                  <a:latin typeface="Calibri"/>
                </a:rPr>
                <a:t>Warm target 4.00 s: missed by 0.05 s</a:t>
              </a:r>
            </a:p>
            <a:p>
              <a:pPr algn="l">
                <a:lnSpc>
                  <a:spcPct val="108000"/>
                </a:lnSpc>
              </a:pPr>
              <a:r>
                <a:rPr sz="1200" b="0" i="0">
                  <a:solidFill>
                    <a:srgbClr val="CFC6B8"/>
                  </a:solidFill>
                  <a:latin typeface="Calibri"/>
                </a:rPr>
                <a:t>Cached repeat visits: under 100 ms (about 15% of queries)</a:t>
              </a:r>
            </a:p>
          </p:txBody>
        </p:sp>
      </p:grpSp>
      <p:sp>
        <p:nvSpPr>
          <p:cNvPr id="41" name="Agents label 253"/>
          <p:cNvSpPr txBox="1"/>
          <p:nvPr/>
        </p:nvSpPr>
        <p:spPr>
          <a:xfrm>
            <a:off x="1417320" y="4846320"/>
            <a:ext cx="3657600" cy="320040"/>
          </a:xfrm>
          <a:prstGeom prst="rect">
            <a:avLst/>
          </a:prstGeom>
          <a:noFill/>
        </p:spPr>
        <p:txBody>
          <a:bodyPr wrap="square" lIns="36576" tIns="36576" rIns="36576" bIns="36576" anchor="t">
            <a:spAutoFit/>
          </a:bodyPr>
          <a:lstStyle/>
          <a:p>
            <a:pPr algn="l">
              <a:lnSpc>
                <a:spcPct val="108000"/>
              </a:lnSpc>
            </a:pPr>
            <a:r>
              <a:rPr sz="1100" b="1" i="0">
                <a:solidFill>
                  <a:srgbClr val="C77A1E"/>
                </a:solidFill>
                <a:latin typeface="Consolas"/>
              </a:rPr>
              <a:t>SLOWEST AGENTS IN EACH STAGE</a:t>
            </a:r>
          </a:p>
        </p:txBody>
      </p:sp>
      <p:grpSp>
        <p:nvGrpSpPr>
          <p:cNvPr id="46" name="Card 254"/>
          <p:cNvGrpSpPr/>
          <p:nvPr/>
        </p:nvGrpSpPr>
        <p:grpSpPr>
          <a:xfrm>
            <a:off x="1417320" y="5193792"/>
            <a:ext cx="2419273" cy="1042415"/>
            <a:chOff x="1417320" y="5193792"/>
            <a:chExt cx="2419273" cy="1042415"/>
          </a:xfrm>
        </p:grpSpPr>
        <p:sp>
          <p:nvSpPr>
            <p:cNvPr id="42" name="Card bg"/>
            <p:cNvSpPr/>
            <p:nvPr/>
          </p:nvSpPr>
          <p:spPr>
            <a:xfrm>
              <a:off x="1417320" y="5193792"/>
              <a:ext cx="2419273" cy="1042415"/>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Card accent"/>
            <p:cNvSpPr/>
            <p:nvPr/>
          </p:nvSpPr>
          <p:spPr>
            <a:xfrm>
              <a:off x="1417320" y="5193792"/>
              <a:ext cx="2419273"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4" name="Card title"/>
            <p:cNvSpPr txBox="1"/>
            <p:nvPr/>
          </p:nvSpPr>
          <p:spPr>
            <a:xfrm>
              <a:off x="1618488" y="5376672"/>
              <a:ext cx="2016937" cy="311277"/>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URL Classifier</a:t>
              </a:r>
            </a:p>
          </p:txBody>
        </p:sp>
        <p:sp>
          <p:nvSpPr>
            <p:cNvPr id="45" name="Card body"/>
            <p:cNvSpPr txBox="1"/>
            <p:nvPr/>
          </p:nvSpPr>
          <p:spPr>
            <a:xfrm>
              <a:off x="1618488" y="5687949"/>
              <a:ext cx="2016937" cy="438530"/>
            </a:xfrm>
            <a:prstGeom prst="rect">
              <a:avLst/>
            </a:prstGeom>
            <a:noFill/>
          </p:spPr>
          <p:txBody>
            <a:bodyPr wrap="square" lIns="36576" tIns="36576" rIns="36576" bIns="36576" anchor="t">
              <a:spAutoFit/>
            </a:bodyPr>
            <a:lstStyle/>
            <a:p>
              <a:pPr algn="l">
                <a:lnSpc>
                  <a:spcPct val="105000"/>
                </a:lnSpc>
              </a:pPr>
              <a:r>
                <a:rPr sz="1300" b="0" i="0">
                  <a:solidFill>
                    <a:srgbClr val="4A4244"/>
                  </a:solidFill>
                  <a:latin typeface="Calibri"/>
                </a:rPr>
                <a:t>720 ms  ·  BERT, Stage 1</a:t>
              </a:r>
            </a:p>
          </p:txBody>
        </p:sp>
      </p:grpSp>
      <p:grpSp>
        <p:nvGrpSpPr>
          <p:cNvPr id="51" name="Card 255"/>
          <p:cNvGrpSpPr/>
          <p:nvPr/>
        </p:nvGrpSpPr>
        <p:grpSpPr>
          <a:xfrm>
            <a:off x="4019473" y="5193792"/>
            <a:ext cx="2419273" cy="1042415"/>
            <a:chOff x="4019473" y="5193792"/>
            <a:chExt cx="2419273" cy="1042415"/>
          </a:xfrm>
        </p:grpSpPr>
        <p:sp>
          <p:nvSpPr>
            <p:cNvPr id="47" name="Card bg"/>
            <p:cNvSpPr/>
            <p:nvPr/>
          </p:nvSpPr>
          <p:spPr>
            <a:xfrm>
              <a:off x="4019473" y="5193792"/>
              <a:ext cx="2419273" cy="1042415"/>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8" name="Card accent"/>
            <p:cNvSpPr/>
            <p:nvPr/>
          </p:nvSpPr>
          <p:spPr>
            <a:xfrm>
              <a:off x="4019473" y="5193792"/>
              <a:ext cx="2419273"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9" name="Card title"/>
            <p:cNvSpPr txBox="1"/>
            <p:nvPr/>
          </p:nvSpPr>
          <p:spPr>
            <a:xfrm>
              <a:off x="4220641" y="5376672"/>
              <a:ext cx="2016937" cy="311277"/>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Web Scraper</a:t>
              </a:r>
            </a:p>
          </p:txBody>
        </p:sp>
        <p:sp>
          <p:nvSpPr>
            <p:cNvPr id="50" name="Card body"/>
            <p:cNvSpPr txBox="1"/>
            <p:nvPr/>
          </p:nvSpPr>
          <p:spPr>
            <a:xfrm>
              <a:off x="4220641" y="5687949"/>
              <a:ext cx="2016937" cy="438530"/>
            </a:xfrm>
            <a:prstGeom prst="rect">
              <a:avLst/>
            </a:prstGeom>
            <a:noFill/>
          </p:spPr>
          <p:txBody>
            <a:bodyPr wrap="square" lIns="36576" tIns="36576" rIns="36576" bIns="36576" anchor="t">
              <a:spAutoFit/>
            </a:bodyPr>
            <a:lstStyle/>
            <a:p>
              <a:pPr algn="l">
                <a:lnSpc>
                  <a:spcPct val="105000"/>
                </a:lnSpc>
              </a:pPr>
              <a:r>
                <a:rPr sz="1300" b="0" i="0">
                  <a:solidFill>
                    <a:srgbClr val="4A4244"/>
                  </a:solidFill>
                  <a:latin typeface="Calibri"/>
                </a:rPr>
                <a:t>900 ms  ·  page acquisition</a:t>
              </a:r>
            </a:p>
          </p:txBody>
        </p:sp>
      </p:grpSp>
      <p:grpSp>
        <p:nvGrpSpPr>
          <p:cNvPr id="56" name="Card 256"/>
          <p:cNvGrpSpPr/>
          <p:nvPr/>
        </p:nvGrpSpPr>
        <p:grpSpPr>
          <a:xfrm>
            <a:off x="6621627" y="5193792"/>
            <a:ext cx="2419273" cy="1042415"/>
            <a:chOff x="6621627" y="5193792"/>
            <a:chExt cx="2419273" cy="1042415"/>
          </a:xfrm>
        </p:grpSpPr>
        <p:sp>
          <p:nvSpPr>
            <p:cNvPr id="52" name="Card bg"/>
            <p:cNvSpPr/>
            <p:nvPr/>
          </p:nvSpPr>
          <p:spPr>
            <a:xfrm>
              <a:off x="6621627" y="5193792"/>
              <a:ext cx="2419273" cy="1042415"/>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3" name="Card accent"/>
            <p:cNvSpPr/>
            <p:nvPr/>
          </p:nvSpPr>
          <p:spPr>
            <a:xfrm>
              <a:off x="6621627" y="5193792"/>
              <a:ext cx="2419273"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4" name="Card title"/>
            <p:cNvSpPr txBox="1"/>
            <p:nvPr/>
          </p:nvSpPr>
          <p:spPr>
            <a:xfrm>
              <a:off x="6822795" y="5376672"/>
              <a:ext cx="2016937" cy="311277"/>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Threat Intelligence</a:t>
              </a:r>
            </a:p>
          </p:txBody>
        </p:sp>
        <p:sp>
          <p:nvSpPr>
            <p:cNvPr id="55" name="Card body"/>
            <p:cNvSpPr txBox="1"/>
            <p:nvPr/>
          </p:nvSpPr>
          <p:spPr>
            <a:xfrm>
              <a:off x="6822795" y="5687949"/>
              <a:ext cx="2016937" cy="438530"/>
            </a:xfrm>
            <a:prstGeom prst="rect">
              <a:avLst/>
            </a:prstGeom>
            <a:noFill/>
          </p:spPr>
          <p:txBody>
            <a:bodyPr wrap="square" lIns="36576" tIns="36576" rIns="36576" bIns="36576" anchor="t">
              <a:spAutoFit/>
            </a:bodyPr>
            <a:lstStyle/>
            <a:p>
              <a:pPr algn="l">
                <a:lnSpc>
                  <a:spcPct val="105000"/>
                </a:lnSpc>
              </a:pPr>
              <a:r>
                <a:rPr sz="1300" b="0" i="0">
                  <a:solidFill>
                    <a:srgbClr val="4A4244"/>
                  </a:solidFill>
                  <a:latin typeface="Calibri"/>
                </a:rPr>
                <a:t>600 ms  ·  OTX lookups</a:t>
              </a:r>
            </a:p>
          </p:txBody>
        </p:sp>
      </p:grpSp>
      <p:grpSp>
        <p:nvGrpSpPr>
          <p:cNvPr id="61" name="Card 257"/>
          <p:cNvGrpSpPr/>
          <p:nvPr/>
        </p:nvGrpSpPr>
        <p:grpSpPr>
          <a:xfrm>
            <a:off x="9223781" y="5193792"/>
            <a:ext cx="2419273" cy="1042415"/>
            <a:chOff x="9223781" y="5193792"/>
            <a:chExt cx="2419273" cy="1042415"/>
          </a:xfrm>
        </p:grpSpPr>
        <p:sp>
          <p:nvSpPr>
            <p:cNvPr id="57" name="Card bg"/>
            <p:cNvSpPr/>
            <p:nvPr/>
          </p:nvSpPr>
          <p:spPr>
            <a:xfrm>
              <a:off x="9223781" y="5193792"/>
              <a:ext cx="2419273" cy="1042415"/>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8" name="Card accent"/>
            <p:cNvSpPr/>
            <p:nvPr/>
          </p:nvSpPr>
          <p:spPr>
            <a:xfrm>
              <a:off x="9223781" y="5193792"/>
              <a:ext cx="2419273"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9" name="Card title"/>
            <p:cNvSpPr txBox="1"/>
            <p:nvPr/>
          </p:nvSpPr>
          <p:spPr>
            <a:xfrm>
              <a:off x="9424949" y="5376672"/>
              <a:ext cx="2016937" cy="311277"/>
            </a:xfrm>
            <a:prstGeom prst="rect">
              <a:avLst/>
            </a:prstGeom>
            <a:noFill/>
          </p:spPr>
          <p:txBody>
            <a:bodyPr wrap="square" lIns="36576" tIns="36576" rIns="36576" bIns="36576" anchor="t">
              <a:spAutoFit/>
            </a:bodyPr>
            <a:lstStyle/>
            <a:p>
              <a:pPr algn="l">
                <a:lnSpc>
                  <a:spcPct val="108000"/>
                </a:lnSpc>
              </a:pPr>
              <a:r>
                <a:rPr sz="1500" b="1" i="0">
                  <a:solidFill>
                    <a:srgbClr val="1F1A1B"/>
                  </a:solidFill>
                  <a:latin typeface="Bahnschrift"/>
                </a:rPr>
                <a:t>Reporter</a:t>
              </a:r>
            </a:p>
          </p:txBody>
        </p:sp>
        <p:sp>
          <p:nvSpPr>
            <p:cNvPr id="60" name="Card body"/>
            <p:cNvSpPr txBox="1"/>
            <p:nvPr/>
          </p:nvSpPr>
          <p:spPr>
            <a:xfrm>
              <a:off x="9424949" y="5687949"/>
              <a:ext cx="2016937" cy="438530"/>
            </a:xfrm>
            <a:prstGeom prst="rect">
              <a:avLst/>
            </a:prstGeom>
            <a:noFill/>
          </p:spPr>
          <p:txBody>
            <a:bodyPr wrap="square" lIns="36576" tIns="36576" rIns="36576" bIns="36576" anchor="t">
              <a:spAutoFit/>
            </a:bodyPr>
            <a:lstStyle/>
            <a:p>
              <a:pPr algn="l">
                <a:lnSpc>
                  <a:spcPct val="105000"/>
                </a:lnSpc>
              </a:pPr>
              <a:r>
                <a:rPr sz="1300" b="0" i="0">
                  <a:solidFill>
                    <a:srgbClr val="4A4244"/>
                  </a:solidFill>
                  <a:latin typeface="Calibri"/>
                </a:rPr>
                <a:t>1,400 ms  ·  scoring and explanation</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9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1750"/>
                            </p:stCondLst>
                            <p:childTnLst>
                              <p:par>
                                <p:cTn id="19" presetID="10" presetClass="entr" presetSubtype="0"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200"/>
                                        <p:tgtEl>
                                          <p:spTgt spid="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200"/>
                                        <p:tgtEl>
                                          <p:spTgt spid="21"/>
                                        </p:tgtEl>
                                      </p:cBhvr>
                                    </p:animEffect>
                                  </p:childTnLst>
                                </p:cTn>
                              </p:par>
                            </p:childTnLst>
                          </p:cTn>
                        </p:par>
                        <p:par>
                          <p:cTn id="25" fill="hold">
                            <p:stCondLst>
                              <p:cond delay="1950"/>
                            </p:stCondLst>
                            <p:childTnLst>
                              <p:par>
                                <p:cTn id="26" presetID="22" presetClass="entr" presetSubtype="8" fill="hold" grpId="0"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left)">
                                      <p:cBhvr>
                                        <p:cTn id="28" dur="500"/>
                                        <p:tgtEl>
                                          <p:spTgt spid="22"/>
                                        </p:tgtEl>
                                      </p:cBhvr>
                                    </p:animEffect>
                                  </p:childTnLst>
                                </p:cTn>
                              </p:par>
                              <p:par>
                                <p:cTn id="29" presetID="10" presetClass="entr" presetSubtype="0" fill="hold" grpId="0" nodeType="withEffect">
                                  <p:stCondLst>
                                    <p:cond delay="40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300"/>
                                        <p:tgtEl>
                                          <p:spTgt spid="23"/>
                                        </p:tgtEl>
                                      </p:cBhvr>
                                    </p:animEffect>
                                  </p:childTnLst>
                                </p:cTn>
                              </p:par>
                            </p:childTnLst>
                          </p:cTn>
                        </p:par>
                        <p:par>
                          <p:cTn id="32" fill="hold">
                            <p:stCondLst>
                              <p:cond delay="2650"/>
                            </p:stCondLst>
                            <p:childTnLst>
                              <p:par>
                                <p:cTn id="33" presetID="10" presetClass="entr" presetSubtype="0"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200"/>
                                        <p:tgtEl>
                                          <p:spTgt spid="2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200"/>
                                        <p:tgtEl>
                                          <p:spTgt spid="25"/>
                                        </p:tgtEl>
                                      </p:cBhvr>
                                    </p:animEffect>
                                  </p:childTnLst>
                                </p:cTn>
                              </p:par>
                            </p:childTnLst>
                          </p:cTn>
                        </p:par>
                        <p:par>
                          <p:cTn id="39" fill="hold">
                            <p:stCondLst>
                              <p:cond delay="2850"/>
                            </p:stCondLst>
                            <p:childTnLst>
                              <p:par>
                                <p:cTn id="40" presetID="22" presetClass="entr" presetSubtype="8" fill="hold" grpId="0" nodeType="after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left)">
                                      <p:cBhvr>
                                        <p:cTn id="42" dur="500"/>
                                        <p:tgtEl>
                                          <p:spTgt spid="26"/>
                                        </p:tgtEl>
                                      </p:cBhvr>
                                    </p:animEffect>
                                  </p:childTnLst>
                                </p:cTn>
                              </p:par>
                              <p:par>
                                <p:cTn id="43" presetID="10" presetClass="entr" presetSubtype="0" fill="hold" grpId="0" nodeType="withEffect">
                                  <p:stCondLst>
                                    <p:cond delay="40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300"/>
                                        <p:tgtEl>
                                          <p:spTgt spid="27"/>
                                        </p:tgtEl>
                                      </p:cBhvr>
                                    </p:animEffect>
                                  </p:childTnLst>
                                </p:cTn>
                              </p:par>
                            </p:childTnLst>
                          </p:cTn>
                        </p:par>
                        <p:par>
                          <p:cTn id="46" fill="hold">
                            <p:stCondLst>
                              <p:cond delay="3550"/>
                            </p:stCondLst>
                            <p:childTnLst>
                              <p:par>
                                <p:cTn id="47" presetID="10" presetClass="entr" presetSubtype="0" fill="hold" grpId="0" nodeType="after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200"/>
                                        <p:tgtEl>
                                          <p:spTgt spid="2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200"/>
                                        <p:tgtEl>
                                          <p:spTgt spid="29"/>
                                        </p:tgtEl>
                                      </p:cBhvr>
                                    </p:animEffect>
                                  </p:childTnLst>
                                </p:cTn>
                              </p:par>
                            </p:childTnLst>
                          </p:cTn>
                        </p:par>
                        <p:par>
                          <p:cTn id="53" fill="hold">
                            <p:stCondLst>
                              <p:cond delay="3750"/>
                            </p:stCondLst>
                            <p:childTnLst>
                              <p:par>
                                <p:cTn id="54" presetID="22" presetClass="entr" presetSubtype="8" fill="hold" grpId="0" nodeType="after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wipe(left)">
                                      <p:cBhvr>
                                        <p:cTn id="56" dur="500"/>
                                        <p:tgtEl>
                                          <p:spTgt spid="30"/>
                                        </p:tgtEl>
                                      </p:cBhvr>
                                    </p:animEffect>
                                  </p:childTnLst>
                                </p:cTn>
                              </p:par>
                              <p:par>
                                <p:cTn id="57" presetID="10" presetClass="entr" presetSubtype="0" fill="hold" grpId="0" nodeType="withEffect">
                                  <p:stCondLst>
                                    <p:cond delay="40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300"/>
                                        <p:tgtEl>
                                          <p:spTgt spid="31"/>
                                        </p:tgtEl>
                                      </p:cBhvr>
                                    </p:animEffect>
                                  </p:childTnLst>
                                </p:cTn>
                              </p:par>
                            </p:childTnLst>
                          </p:cTn>
                        </p:par>
                        <p:par>
                          <p:cTn id="60" fill="hold">
                            <p:stCondLst>
                              <p:cond delay="4450"/>
                            </p:stCondLst>
                            <p:childTnLst>
                              <p:par>
                                <p:cTn id="61" presetID="10" presetClass="entr" presetSubtype="0" fill="hold" grpId="0"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2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200"/>
                                        <p:tgtEl>
                                          <p:spTgt spid="33"/>
                                        </p:tgtEl>
                                      </p:cBhvr>
                                    </p:animEffect>
                                  </p:childTnLst>
                                </p:cTn>
                              </p:par>
                            </p:childTnLst>
                          </p:cTn>
                        </p:par>
                        <p:par>
                          <p:cTn id="67" fill="hold">
                            <p:stCondLst>
                              <p:cond delay="4650"/>
                            </p:stCondLst>
                            <p:childTnLst>
                              <p:par>
                                <p:cTn id="68" presetID="22" presetClass="entr" presetSubtype="8" fill="hold" grpId="0" nodeType="after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wipe(left)">
                                      <p:cBhvr>
                                        <p:cTn id="70" dur="500"/>
                                        <p:tgtEl>
                                          <p:spTgt spid="34"/>
                                        </p:tgtEl>
                                      </p:cBhvr>
                                    </p:animEffect>
                                  </p:childTnLst>
                                </p:cTn>
                              </p:par>
                              <p:par>
                                <p:cTn id="71" presetID="10" presetClass="entr" presetSubtype="0" fill="hold" grpId="0" nodeType="withEffect">
                                  <p:stCondLst>
                                    <p:cond delay="40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300"/>
                                        <p:tgtEl>
                                          <p:spTgt spid="35"/>
                                        </p:tgtEl>
                                      </p:cBhvr>
                                    </p:animEffect>
                                  </p:childTnLst>
                                </p:cTn>
                              </p:par>
                            </p:childTnLst>
                          </p:cTn>
                        </p:par>
                        <p:par>
                          <p:cTn id="74" fill="hold">
                            <p:stCondLst>
                              <p:cond delay="5350"/>
                            </p:stCondLst>
                            <p:childTnLst>
                              <p:par>
                                <p:cTn id="75" presetID="2" presetClass="entr" presetSubtype="2" fill="hold" nodeType="afterEffect">
                                  <p:stCondLst>
                                    <p:cond delay="0"/>
                                  </p:stCondLst>
                                  <p:childTnLst>
                                    <p:set>
                                      <p:cBhvr>
                                        <p:cTn id="76" dur="1" fill="hold">
                                          <p:stCondLst>
                                            <p:cond delay="0"/>
                                          </p:stCondLst>
                                        </p:cTn>
                                        <p:tgtEl>
                                          <p:spTgt spid="40"/>
                                        </p:tgtEl>
                                        <p:attrNameLst>
                                          <p:attrName>style.visibility</p:attrName>
                                        </p:attrNameLst>
                                      </p:cBhvr>
                                      <p:to>
                                        <p:strVal val="visible"/>
                                      </p:to>
                                    </p:set>
                                    <p:anim calcmode="lin" valueType="num">
                                      <p:cBhvr additive="base">
                                        <p:cTn id="77" dur="500" fill="hold"/>
                                        <p:tgtEl>
                                          <p:spTgt spid="40"/>
                                        </p:tgtEl>
                                        <p:attrNameLst>
                                          <p:attrName>ppt_x</p:attrName>
                                        </p:attrNameLst>
                                      </p:cBhvr>
                                      <p:tavLst>
                                        <p:tav tm="0">
                                          <p:val>
                                            <p:strVal val="1+#ppt_w/2"/>
                                          </p:val>
                                        </p:tav>
                                        <p:tav tm="100000">
                                          <p:val>
                                            <p:strVal val="#ppt_x"/>
                                          </p:val>
                                        </p:tav>
                                      </p:tavLst>
                                    </p:anim>
                                    <p:anim calcmode="lin" valueType="num">
                                      <p:cBhvr additive="base">
                                        <p:cTn id="78" dur="500" fill="hold"/>
                                        <p:tgtEl>
                                          <p:spTgt spid="40"/>
                                        </p:tgtEl>
                                        <p:attrNameLst>
                                          <p:attrName>ppt_y</p:attrName>
                                        </p:attrNameLst>
                                      </p:cBhvr>
                                      <p:tavLst>
                                        <p:tav tm="0">
                                          <p:val>
                                            <p:strVal val="#ppt_y"/>
                                          </p:val>
                                        </p:tav>
                                        <p:tav tm="100000">
                                          <p:val>
                                            <p:strVal val="#ppt_y"/>
                                          </p:val>
                                        </p:tav>
                                      </p:tavLst>
                                    </p:anim>
                                  </p:childTnLst>
                                </p:cTn>
                              </p:par>
                            </p:childTnLst>
                          </p:cTn>
                        </p:par>
                        <p:par>
                          <p:cTn id="79" fill="hold">
                            <p:stCondLst>
                              <p:cond delay="5850"/>
                            </p:stCondLst>
                            <p:childTnLst>
                              <p:par>
                                <p:cTn id="80" presetID="26" presetClass="emph" presetSubtype="0" fill="hold" nodeType="afterEffect">
                                  <p:stCondLst>
                                    <p:cond delay="0"/>
                                  </p:stCondLst>
                                  <p:childTnLst>
                                    <p:animEffect transition="out" filter="fade">
                                      <p:cBhvr>
                                        <p:cTn id="81" dur="600" tmFilter="0, 0; .2, .5; .8, .5; 1, 0"/>
                                        <p:tgtEl>
                                          <p:spTgt spid="40"/>
                                        </p:tgtEl>
                                      </p:cBhvr>
                                    </p:animEffect>
                                    <p:animScale>
                                      <p:cBhvr>
                                        <p:cTn id="82" dur="300" autoRev="1" fill="hold"/>
                                        <p:tgtEl>
                                          <p:spTgt spid="40"/>
                                        </p:tgtEl>
                                      </p:cBhvr>
                                      <p:by x="105000" y="105000"/>
                                    </p:animScale>
                                  </p:childTnLst>
                                </p:cTn>
                              </p:par>
                            </p:childTnLst>
                          </p:cTn>
                        </p:par>
                        <p:par>
                          <p:cTn id="83" fill="hold">
                            <p:stCondLst>
                              <p:cond delay="6450"/>
                            </p:stCondLst>
                            <p:childTnLst>
                              <p:par>
                                <p:cTn id="84" presetID="10" presetClass="entr" presetSubtype="0" fill="hold" grpId="0" nodeType="after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fade">
                                      <p:cBhvr>
                                        <p:cTn id="86" dur="300"/>
                                        <p:tgtEl>
                                          <p:spTgt spid="41"/>
                                        </p:tgtEl>
                                      </p:cBhvr>
                                    </p:animEffect>
                                  </p:childTnLst>
                                </p:cTn>
                              </p:par>
                            </p:childTnLst>
                          </p:cTn>
                        </p:par>
                        <p:par>
                          <p:cTn id="87" fill="hold">
                            <p:stCondLst>
                              <p:cond delay="6750"/>
                            </p:stCondLst>
                            <p:childTnLst>
                              <p:par>
                                <p:cTn id="88" presetID="37" presetClass="entr" presetSubtype="0" fill="hold" nodeType="after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fade">
                                      <p:cBhvr>
                                        <p:cTn id="90" dur="450"/>
                                        <p:tgtEl>
                                          <p:spTgt spid="46"/>
                                        </p:tgtEl>
                                      </p:cBhvr>
                                    </p:animEffect>
                                    <p:anim calcmode="lin" valueType="num">
                                      <p:cBhvr>
                                        <p:cTn id="91" dur="450" fill="hold"/>
                                        <p:tgtEl>
                                          <p:spTgt spid="46"/>
                                        </p:tgtEl>
                                        <p:attrNameLst>
                                          <p:attrName>ppt_x</p:attrName>
                                        </p:attrNameLst>
                                      </p:cBhvr>
                                      <p:tavLst>
                                        <p:tav tm="0">
                                          <p:val>
                                            <p:strVal val="#ppt_x"/>
                                          </p:val>
                                        </p:tav>
                                        <p:tav tm="100000">
                                          <p:val>
                                            <p:strVal val="#ppt_x"/>
                                          </p:val>
                                        </p:tav>
                                      </p:tavLst>
                                    </p:anim>
                                    <p:anim calcmode="lin" valueType="num">
                                      <p:cBhvr>
                                        <p:cTn id="92" dur="405" decel="100000" fill="hold"/>
                                        <p:tgtEl>
                                          <p:spTgt spid="46"/>
                                        </p:tgtEl>
                                        <p:attrNameLst>
                                          <p:attrName>ppt_y</p:attrName>
                                        </p:attrNameLst>
                                      </p:cBhvr>
                                      <p:tavLst>
                                        <p:tav tm="0">
                                          <p:val>
                                            <p:strVal val="#ppt_y+1"/>
                                          </p:val>
                                        </p:tav>
                                        <p:tav tm="100000">
                                          <p:val>
                                            <p:strVal val="#ppt_y-.03"/>
                                          </p:val>
                                        </p:tav>
                                      </p:tavLst>
                                    </p:anim>
                                    <p:anim calcmode="lin" valueType="num">
                                      <p:cBhvr>
                                        <p:cTn id="93" dur="45" accel="100000" fill="hold">
                                          <p:stCondLst>
                                            <p:cond delay="405"/>
                                          </p:stCondLst>
                                        </p:cTn>
                                        <p:tgtEl>
                                          <p:spTgt spid="46"/>
                                        </p:tgtEl>
                                        <p:attrNameLst>
                                          <p:attrName>ppt_y</p:attrName>
                                        </p:attrNameLst>
                                      </p:cBhvr>
                                      <p:tavLst>
                                        <p:tav tm="0">
                                          <p:val>
                                            <p:strVal val="#ppt_y-.03"/>
                                          </p:val>
                                        </p:tav>
                                        <p:tav tm="100000">
                                          <p:val>
                                            <p:strVal val="#ppt_y"/>
                                          </p:val>
                                        </p:tav>
                                      </p:tavLst>
                                    </p:anim>
                                  </p:childTnLst>
                                </p:cTn>
                              </p:par>
                            </p:childTnLst>
                          </p:cTn>
                        </p:par>
                        <p:par>
                          <p:cTn id="94" fill="hold">
                            <p:stCondLst>
                              <p:cond delay="7200"/>
                            </p:stCondLst>
                            <p:childTnLst>
                              <p:par>
                                <p:cTn id="95" presetID="37" presetClass="entr" presetSubtype="0" fill="hold" nodeType="afterEffect">
                                  <p:stCondLst>
                                    <p:cond delay="0"/>
                                  </p:stCondLst>
                                  <p:childTnLst>
                                    <p:set>
                                      <p:cBhvr>
                                        <p:cTn id="96" dur="1" fill="hold">
                                          <p:stCondLst>
                                            <p:cond delay="0"/>
                                          </p:stCondLst>
                                        </p:cTn>
                                        <p:tgtEl>
                                          <p:spTgt spid="51"/>
                                        </p:tgtEl>
                                        <p:attrNameLst>
                                          <p:attrName>style.visibility</p:attrName>
                                        </p:attrNameLst>
                                      </p:cBhvr>
                                      <p:to>
                                        <p:strVal val="visible"/>
                                      </p:to>
                                    </p:set>
                                    <p:animEffect transition="in" filter="fade">
                                      <p:cBhvr>
                                        <p:cTn id="97" dur="450"/>
                                        <p:tgtEl>
                                          <p:spTgt spid="51"/>
                                        </p:tgtEl>
                                      </p:cBhvr>
                                    </p:animEffect>
                                    <p:anim calcmode="lin" valueType="num">
                                      <p:cBhvr>
                                        <p:cTn id="98" dur="450" fill="hold"/>
                                        <p:tgtEl>
                                          <p:spTgt spid="51"/>
                                        </p:tgtEl>
                                        <p:attrNameLst>
                                          <p:attrName>ppt_x</p:attrName>
                                        </p:attrNameLst>
                                      </p:cBhvr>
                                      <p:tavLst>
                                        <p:tav tm="0">
                                          <p:val>
                                            <p:strVal val="#ppt_x"/>
                                          </p:val>
                                        </p:tav>
                                        <p:tav tm="100000">
                                          <p:val>
                                            <p:strVal val="#ppt_x"/>
                                          </p:val>
                                        </p:tav>
                                      </p:tavLst>
                                    </p:anim>
                                    <p:anim calcmode="lin" valueType="num">
                                      <p:cBhvr>
                                        <p:cTn id="99" dur="405" decel="100000" fill="hold"/>
                                        <p:tgtEl>
                                          <p:spTgt spid="51"/>
                                        </p:tgtEl>
                                        <p:attrNameLst>
                                          <p:attrName>ppt_y</p:attrName>
                                        </p:attrNameLst>
                                      </p:cBhvr>
                                      <p:tavLst>
                                        <p:tav tm="0">
                                          <p:val>
                                            <p:strVal val="#ppt_y+1"/>
                                          </p:val>
                                        </p:tav>
                                        <p:tav tm="100000">
                                          <p:val>
                                            <p:strVal val="#ppt_y-.03"/>
                                          </p:val>
                                        </p:tav>
                                      </p:tavLst>
                                    </p:anim>
                                    <p:anim calcmode="lin" valueType="num">
                                      <p:cBhvr>
                                        <p:cTn id="100" dur="45" accel="100000" fill="hold">
                                          <p:stCondLst>
                                            <p:cond delay="405"/>
                                          </p:stCondLst>
                                        </p:cTn>
                                        <p:tgtEl>
                                          <p:spTgt spid="51"/>
                                        </p:tgtEl>
                                        <p:attrNameLst>
                                          <p:attrName>ppt_y</p:attrName>
                                        </p:attrNameLst>
                                      </p:cBhvr>
                                      <p:tavLst>
                                        <p:tav tm="0">
                                          <p:val>
                                            <p:strVal val="#ppt_y-.03"/>
                                          </p:val>
                                        </p:tav>
                                        <p:tav tm="100000">
                                          <p:val>
                                            <p:strVal val="#ppt_y"/>
                                          </p:val>
                                        </p:tav>
                                      </p:tavLst>
                                    </p:anim>
                                  </p:childTnLst>
                                </p:cTn>
                              </p:par>
                            </p:childTnLst>
                          </p:cTn>
                        </p:par>
                        <p:par>
                          <p:cTn id="101" fill="hold">
                            <p:stCondLst>
                              <p:cond delay="7650"/>
                            </p:stCondLst>
                            <p:childTnLst>
                              <p:par>
                                <p:cTn id="102" presetID="37" presetClass="entr" presetSubtype="0" fill="hold" nodeType="afterEffect">
                                  <p:stCondLst>
                                    <p:cond delay="0"/>
                                  </p:stCondLst>
                                  <p:childTnLst>
                                    <p:set>
                                      <p:cBhvr>
                                        <p:cTn id="103" dur="1" fill="hold">
                                          <p:stCondLst>
                                            <p:cond delay="0"/>
                                          </p:stCondLst>
                                        </p:cTn>
                                        <p:tgtEl>
                                          <p:spTgt spid="56"/>
                                        </p:tgtEl>
                                        <p:attrNameLst>
                                          <p:attrName>style.visibility</p:attrName>
                                        </p:attrNameLst>
                                      </p:cBhvr>
                                      <p:to>
                                        <p:strVal val="visible"/>
                                      </p:to>
                                    </p:set>
                                    <p:animEffect transition="in" filter="fade">
                                      <p:cBhvr>
                                        <p:cTn id="104" dur="450"/>
                                        <p:tgtEl>
                                          <p:spTgt spid="56"/>
                                        </p:tgtEl>
                                      </p:cBhvr>
                                    </p:animEffect>
                                    <p:anim calcmode="lin" valueType="num">
                                      <p:cBhvr>
                                        <p:cTn id="105" dur="450" fill="hold"/>
                                        <p:tgtEl>
                                          <p:spTgt spid="56"/>
                                        </p:tgtEl>
                                        <p:attrNameLst>
                                          <p:attrName>ppt_x</p:attrName>
                                        </p:attrNameLst>
                                      </p:cBhvr>
                                      <p:tavLst>
                                        <p:tav tm="0">
                                          <p:val>
                                            <p:strVal val="#ppt_x"/>
                                          </p:val>
                                        </p:tav>
                                        <p:tav tm="100000">
                                          <p:val>
                                            <p:strVal val="#ppt_x"/>
                                          </p:val>
                                        </p:tav>
                                      </p:tavLst>
                                    </p:anim>
                                    <p:anim calcmode="lin" valueType="num">
                                      <p:cBhvr>
                                        <p:cTn id="106" dur="405" decel="100000" fill="hold"/>
                                        <p:tgtEl>
                                          <p:spTgt spid="56"/>
                                        </p:tgtEl>
                                        <p:attrNameLst>
                                          <p:attrName>ppt_y</p:attrName>
                                        </p:attrNameLst>
                                      </p:cBhvr>
                                      <p:tavLst>
                                        <p:tav tm="0">
                                          <p:val>
                                            <p:strVal val="#ppt_y+1"/>
                                          </p:val>
                                        </p:tav>
                                        <p:tav tm="100000">
                                          <p:val>
                                            <p:strVal val="#ppt_y-.03"/>
                                          </p:val>
                                        </p:tav>
                                      </p:tavLst>
                                    </p:anim>
                                    <p:anim calcmode="lin" valueType="num">
                                      <p:cBhvr>
                                        <p:cTn id="107" dur="45" accel="100000" fill="hold">
                                          <p:stCondLst>
                                            <p:cond delay="405"/>
                                          </p:stCondLst>
                                        </p:cTn>
                                        <p:tgtEl>
                                          <p:spTgt spid="56"/>
                                        </p:tgtEl>
                                        <p:attrNameLst>
                                          <p:attrName>ppt_y</p:attrName>
                                        </p:attrNameLst>
                                      </p:cBhvr>
                                      <p:tavLst>
                                        <p:tav tm="0">
                                          <p:val>
                                            <p:strVal val="#ppt_y-.03"/>
                                          </p:val>
                                        </p:tav>
                                        <p:tav tm="100000">
                                          <p:val>
                                            <p:strVal val="#ppt_y"/>
                                          </p:val>
                                        </p:tav>
                                      </p:tavLst>
                                    </p:anim>
                                  </p:childTnLst>
                                </p:cTn>
                              </p:par>
                            </p:childTnLst>
                          </p:cTn>
                        </p:par>
                        <p:par>
                          <p:cTn id="108" fill="hold">
                            <p:stCondLst>
                              <p:cond delay="8100"/>
                            </p:stCondLst>
                            <p:childTnLst>
                              <p:par>
                                <p:cTn id="109" presetID="37" presetClass="entr" presetSubtype="0" fill="hold" nodeType="afterEffect">
                                  <p:stCondLst>
                                    <p:cond delay="0"/>
                                  </p:stCondLst>
                                  <p:childTnLst>
                                    <p:set>
                                      <p:cBhvr>
                                        <p:cTn id="110" dur="1" fill="hold">
                                          <p:stCondLst>
                                            <p:cond delay="0"/>
                                          </p:stCondLst>
                                        </p:cTn>
                                        <p:tgtEl>
                                          <p:spTgt spid="61"/>
                                        </p:tgtEl>
                                        <p:attrNameLst>
                                          <p:attrName>style.visibility</p:attrName>
                                        </p:attrNameLst>
                                      </p:cBhvr>
                                      <p:to>
                                        <p:strVal val="visible"/>
                                      </p:to>
                                    </p:set>
                                    <p:animEffect transition="in" filter="fade">
                                      <p:cBhvr>
                                        <p:cTn id="111" dur="450"/>
                                        <p:tgtEl>
                                          <p:spTgt spid="61"/>
                                        </p:tgtEl>
                                      </p:cBhvr>
                                    </p:animEffect>
                                    <p:anim calcmode="lin" valueType="num">
                                      <p:cBhvr>
                                        <p:cTn id="112" dur="450" fill="hold"/>
                                        <p:tgtEl>
                                          <p:spTgt spid="61"/>
                                        </p:tgtEl>
                                        <p:attrNameLst>
                                          <p:attrName>ppt_x</p:attrName>
                                        </p:attrNameLst>
                                      </p:cBhvr>
                                      <p:tavLst>
                                        <p:tav tm="0">
                                          <p:val>
                                            <p:strVal val="#ppt_x"/>
                                          </p:val>
                                        </p:tav>
                                        <p:tav tm="100000">
                                          <p:val>
                                            <p:strVal val="#ppt_x"/>
                                          </p:val>
                                        </p:tav>
                                      </p:tavLst>
                                    </p:anim>
                                    <p:anim calcmode="lin" valueType="num">
                                      <p:cBhvr>
                                        <p:cTn id="113" dur="405" decel="100000" fill="hold"/>
                                        <p:tgtEl>
                                          <p:spTgt spid="61"/>
                                        </p:tgtEl>
                                        <p:attrNameLst>
                                          <p:attrName>ppt_y</p:attrName>
                                        </p:attrNameLst>
                                      </p:cBhvr>
                                      <p:tavLst>
                                        <p:tav tm="0">
                                          <p:val>
                                            <p:strVal val="#ppt_y+1"/>
                                          </p:val>
                                        </p:tav>
                                        <p:tav tm="100000">
                                          <p:val>
                                            <p:strVal val="#ppt_y-.03"/>
                                          </p:val>
                                        </p:tav>
                                      </p:tavLst>
                                    </p:anim>
                                    <p:anim calcmode="lin" valueType="num">
                                      <p:cBhvr>
                                        <p:cTn id="114" dur="45" accel="100000" fill="hold">
                                          <p:stCondLst>
                                            <p:cond delay="405"/>
                                          </p:stCondLst>
                                        </p:cTn>
                                        <p:tgtEl>
                                          <p:spTgt spid="6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20" grpId="0"/>
      <p:bldP spid="21" grpId="0" animBg="1"/>
      <p:bldP spid="22" grpId="0" animBg="1"/>
      <p:bldP spid="23" grpId="0"/>
      <p:bldP spid="24" grpId="0"/>
      <p:bldP spid="25" grpId="0" animBg="1"/>
      <p:bldP spid="26" grpId="0" animBg="1"/>
      <p:bldP spid="27" grpId="0"/>
      <p:bldP spid="28" grpId="0"/>
      <p:bldP spid="29" grpId="0" animBg="1"/>
      <p:bldP spid="30" grpId="0" animBg="1"/>
      <p:bldP spid="31" grpId="0"/>
      <p:bldP spid="32" grpId="0"/>
      <p:bldP spid="33" grpId="0" animBg="1"/>
      <p:bldP spid="34" grpId="0" animBg="1"/>
      <p:bldP spid="35" grpId="0"/>
      <p:bldP spid="41"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875520" y="-1371600"/>
            <a:ext cx="3017520" cy="301752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418673" y="-828446"/>
            <a:ext cx="1931212" cy="1931212"/>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1051559"/>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3383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06</a:t>
            </a:r>
          </a:p>
        </p:txBody>
      </p:sp>
      <p:sp>
        <p:nvSpPr>
          <p:cNvPr id="12" name="!!rail7"/>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07</a:t>
            </a:r>
          </a:p>
        </p:txBody>
      </p:sp>
      <p:sp>
        <p:nvSpPr>
          <p:cNvPr id="13" name="!!rail8"/>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258"/>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07  ·  RESULTS  ·  3 OF 4</a:t>
            </a:r>
          </a:p>
        </p:txBody>
      </p:sp>
      <p:sp>
        <p:nvSpPr>
          <p:cNvPr id="15" name="Title 259"/>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Results</a:t>
            </a:r>
          </a:p>
        </p:txBody>
      </p:sp>
      <p:sp>
        <p:nvSpPr>
          <p:cNvPr id="16" name="Subtitle 260"/>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How dependably each agent and service answered</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Tables 4.5 and 4.7 (historical test period; return-success and uptime, not accuracy)</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16 / 20</a:t>
            </a:r>
          </a:p>
        </p:txBody>
      </p:sp>
      <p:sp>
        <p:nvSpPr>
          <p:cNvPr id="20" name="Rel label 261"/>
          <p:cNvSpPr txBox="1"/>
          <p:nvPr/>
        </p:nvSpPr>
        <p:spPr>
          <a:xfrm>
            <a:off x="1417320" y="1828800"/>
            <a:ext cx="5486400" cy="320040"/>
          </a:xfrm>
          <a:prstGeom prst="rect">
            <a:avLst/>
          </a:prstGeom>
          <a:noFill/>
        </p:spPr>
        <p:txBody>
          <a:bodyPr wrap="square" lIns="36576" tIns="36576" rIns="36576" bIns="36576" anchor="t">
            <a:spAutoFit/>
          </a:bodyPr>
          <a:lstStyle/>
          <a:p>
            <a:pPr algn="l">
              <a:lnSpc>
                <a:spcPct val="108000"/>
              </a:lnSpc>
            </a:pPr>
            <a:r>
              <a:rPr sz="1100" b="1" i="0">
                <a:solidFill>
                  <a:srgbClr val="C77A1E"/>
                </a:solidFill>
                <a:latin typeface="Consolas"/>
              </a:rPr>
              <a:t>AGENT RELIABILITY  ·  usable result instead of timeout or error</a:t>
            </a:r>
          </a:p>
        </p:txBody>
      </p:sp>
      <p:sp>
        <p:nvSpPr>
          <p:cNvPr id="21" name="Rel name 262"/>
          <p:cNvSpPr txBox="1"/>
          <p:nvPr/>
        </p:nvSpPr>
        <p:spPr>
          <a:xfrm>
            <a:off x="1417320" y="2240280"/>
            <a:ext cx="214884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Calibri"/>
              </a:rPr>
              <a:t>URL Classifier</a:t>
            </a:r>
          </a:p>
        </p:txBody>
      </p:sp>
      <p:sp>
        <p:nvSpPr>
          <p:cNvPr id="22" name="Rel track 263"/>
          <p:cNvSpPr/>
          <p:nvPr/>
        </p:nvSpPr>
        <p:spPr>
          <a:xfrm>
            <a:off x="3611880" y="2313432"/>
            <a:ext cx="3291840" cy="237744"/>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Rel bar 264"/>
          <p:cNvSpPr/>
          <p:nvPr/>
        </p:nvSpPr>
        <p:spPr>
          <a:xfrm>
            <a:off x="3611880" y="2313432"/>
            <a:ext cx="3127248" cy="237744"/>
          </a:xfrm>
          <a:prstGeom prst="roundRect">
            <a:avLst>
              <a:gd name="adj" fmla="val 40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Rel value 265"/>
          <p:cNvSpPr txBox="1"/>
          <p:nvPr/>
        </p:nvSpPr>
        <p:spPr>
          <a:xfrm>
            <a:off x="6995159" y="2240280"/>
            <a:ext cx="82296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Bahnschrift"/>
              </a:rPr>
              <a:t>99.5%</a:t>
            </a:r>
          </a:p>
        </p:txBody>
      </p:sp>
      <p:sp>
        <p:nvSpPr>
          <p:cNvPr id="25" name="Rel name 266"/>
          <p:cNvSpPr txBox="1"/>
          <p:nvPr/>
        </p:nvSpPr>
        <p:spPr>
          <a:xfrm>
            <a:off x="1417320" y="2679192"/>
            <a:ext cx="214884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Calibri"/>
              </a:rPr>
              <a:t>DGA Detector</a:t>
            </a:r>
          </a:p>
        </p:txBody>
      </p:sp>
      <p:sp>
        <p:nvSpPr>
          <p:cNvPr id="26" name="Rel track 267"/>
          <p:cNvSpPr/>
          <p:nvPr/>
        </p:nvSpPr>
        <p:spPr>
          <a:xfrm>
            <a:off x="3611880" y="2752344"/>
            <a:ext cx="3291840" cy="237744"/>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Rel bar 268"/>
          <p:cNvSpPr/>
          <p:nvPr/>
        </p:nvSpPr>
        <p:spPr>
          <a:xfrm>
            <a:off x="3611880" y="2752344"/>
            <a:ext cx="3291840" cy="237744"/>
          </a:xfrm>
          <a:prstGeom prst="roundRect">
            <a:avLst>
              <a:gd name="adj" fmla="val 40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Rel value 269"/>
          <p:cNvSpPr txBox="1"/>
          <p:nvPr/>
        </p:nvSpPr>
        <p:spPr>
          <a:xfrm>
            <a:off x="6995159" y="2679192"/>
            <a:ext cx="82296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Bahnschrift"/>
              </a:rPr>
              <a:t>100%</a:t>
            </a:r>
          </a:p>
        </p:txBody>
      </p:sp>
      <p:sp>
        <p:nvSpPr>
          <p:cNvPr id="29" name="Rel name 270"/>
          <p:cNvSpPr txBox="1"/>
          <p:nvPr/>
        </p:nvSpPr>
        <p:spPr>
          <a:xfrm>
            <a:off x="1417320" y="3118104"/>
            <a:ext cx="214884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Calibri"/>
              </a:rPr>
              <a:t>Web Scraper</a:t>
            </a:r>
          </a:p>
        </p:txBody>
      </p:sp>
      <p:sp>
        <p:nvSpPr>
          <p:cNvPr id="30" name="Rel track 271"/>
          <p:cNvSpPr/>
          <p:nvPr/>
        </p:nvSpPr>
        <p:spPr>
          <a:xfrm>
            <a:off x="3611880" y="3191256"/>
            <a:ext cx="3291840" cy="237744"/>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Rel bar 272"/>
          <p:cNvSpPr/>
          <p:nvPr/>
        </p:nvSpPr>
        <p:spPr>
          <a:xfrm>
            <a:off x="3611880" y="3191256"/>
            <a:ext cx="1975104" cy="237744"/>
          </a:xfrm>
          <a:prstGeom prst="roundRect">
            <a:avLst>
              <a:gd name="adj" fmla="val 40000"/>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2" name="Rel value 273"/>
          <p:cNvSpPr txBox="1"/>
          <p:nvPr/>
        </p:nvSpPr>
        <p:spPr>
          <a:xfrm>
            <a:off x="6995159" y="3118104"/>
            <a:ext cx="82296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Bahnschrift"/>
              </a:rPr>
              <a:t>96%</a:t>
            </a:r>
          </a:p>
        </p:txBody>
      </p:sp>
      <p:sp>
        <p:nvSpPr>
          <p:cNvPr id="33" name="Rel name 274"/>
          <p:cNvSpPr txBox="1"/>
          <p:nvPr/>
        </p:nvSpPr>
        <p:spPr>
          <a:xfrm>
            <a:off x="1417320" y="3557016"/>
            <a:ext cx="214884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Calibri"/>
              </a:rPr>
              <a:t>Memory Reader</a:t>
            </a:r>
          </a:p>
        </p:txBody>
      </p:sp>
      <p:sp>
        <p:nvSpPr>
          <p:cNvPr id="34" name="Rel track 275"/>
          <p:cNvSpPr/>
          <p:nvPr/>
        </p:nvSpPr>
        <p:spPr>
          <a:xfrm>
            <a:off x="3611880" y="3630168"/>
            <a:ext cx="3291840" cy="237744"/>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5" name="Rel bar 276"/>
          <p:cNvSpPr/>
          <p:nvPr/>
        </p:nvSpPr>
        <p:spPr>
          <a:xfrm>
            <a:off x="3611880" y="3630168"/>
            <a:ext cx="3291840" cy="237744"/>
          </a:xfrm>
          <a:prstGeom prst="roundRect">
            <a:avLst>
              <a:gd name="adj" fmla="val 40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Rel value 277"/>
          <p:cNvSpPr txBox="1"/>
          <p:nvPr/>
        </p:nvSpPr>
        <p:spPr>
          <a:xfrm>
            <a:off x="6995159" y="3557016"/>
            <a:ext cx="82296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Bahnschrift"/>
              </a:rPr>
              <a:t>100%</a:t>
            </a:r>
          </a:p>
        </p:txBody>
      </p:sp>
      <p:sp>
        <p:nvSpPr>
          <p:cNvPr id="37" name="Rel name 278"/>
          <p:cNvSpPr txBox="1"/>
          <p:nvPr/>
        </p:nvSpPr>
        <p:spPr>
          <a:xfrm>
            <a:off x="1417320" y="3995928"/>
            <a:ext cx="214884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Calibri"/>
              </a:rPr>
              <a:t>IOC Extractor</a:t>
            </a:r>
          </a:p>
        </p:txBody>
      </p:sp>
      <p:sp>
        <p:nvSpPr>
          <p:cNvPr id="38" name="Rel track 279"/>
          <p:cNvSpPr/>
          <p:nvPr/>
        </p:nvSpPr>
        <p:spPr>
          <a:xfrm>
            <a:off x="3611880" y="4069080"/>
            <a:ext cx="3291840" cy="237744"/>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Rel bar 280"/>
          <p:cNvSpPr/>
          <p:nvPr/>
        </p:nvSpPr>
        <p:spPr>
          <a:xfrm>
            <a:off x="3611880" y="4069080"/>
            <a:ext cx="2962656" cy="237744"/>
          </a:xfrm>
          <a:prstGeom prst="roundRect">
            <a:avLst>
              <a:gd name="adj" fmla="val 40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0" name="Rel value 281"/>
          <p:cNvSpPr txBox="1"/>
          <p:nvPr/>
        </p:nvSpPr>
        <p:spPr>
          <a:xfrm>
            <a:off x="6995159" y="3995928"/>
            <a:ext cx="82296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Bahnschrift"/>
              </a:rPr>
              <a:t>99%</a:t>
            </a:r>
          </a:p>
        </p:txBody>
      </p:sp>
      <p:sp>
        <p:nvSpPr>
          <p:cNvPr id="41" name="Rel name 282"/>
          <p:cNvSpPr txBox="1"/>
          <p:nvPr/>
        </p:nvSpPr>
        <p:spPr>
          <a:xfrm>
            <a:off x="1417320" y="4434840"/>
            <a:ext cx="214884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Calibri"/>
              </a:rPr>
              <a:t>Behavioural Analyser</a:t>
            </a:r>
          </a:p>
        </p:txBody>
      </p:sp>
      <p:sp>
        <p:nvSpPr>
          <p:cNvPr id="42" name="Rel track 283"/>
          <p:cNvSpPr/>
          <p:nvPr/>
        </p:nvSpPr>
        <p:spPr>
          <a:xfrm>
            <a:off x="3611880" y="4507992"/>
            <a:ext cx="3291840" cy="237744"/>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Rel bar 284"/>
          <p:cNvSpPr/>
          <p:nvPr/>
        </p:nvSpPr>
        <p:spPr>
          <a:xfrm>
            <a:off x="3611880" y="4507992"/>
            <a:ext cx="2798064" cy="237744"/>
          </a:xfrm>
          <a:prstGeom prst="roundRect">
            <a:avLst>
              <a:gd name="adj" fmla="val 40000"/>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4" name="Rel value 285"/>
          <p:cNvSpPr txBox="1"/>
          <p:nvPr/>
        </p:nvSpPr>
        <p:spPr>
          <a:xfrm>
            <a:off x="6995159" y="4434840"/>
            <a:ext cx="82296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Bahnschrift"/>
              </a:rPr>
              <a:t>98.5%</a:t>
            </a:r>
          </a:p>
        </p:txBody>
      </p:sp>
      <p:sp>
        <p:nvSpPr>
          <p:cNvPr id="45" name="Rel name 286"/>
          <p:cNvSpPr txBox="1"/>
          <p:nvPr/>
        </p:nvSpPr>
        <p:spPr>
          <a:xfrm>
            <a:off x="1417320" y="4873752"/>
            <a:ext cx="214884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Calibri"/>
              </a:rPr>
              <a:t>MITRE Mapper</a:t>
            </a:r>
          </a:p>
        </p:txBody>
      </p:sp>
      <p:sp>
        <p:nvSpPr>
          <p:cNvPr id="46" name="Rel track 287"/>
          <p:cNvSpPr/>
          <p:nvPr/>
        </p:nvSpPr>
        <p:spPr>
          <a:xfrm>
            <a:off x="3611880" y="4946904"/>
            <a:ext cx="3291840" cy="237744"/>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7" name="Rel bar 288"/>
          <p:cNvSpPr/>
          <p:nvPr/>
        </p:nvSpPr>
        <p:spPr>
          <a:xfrm>
            <a:off x="3611880" y="4946904"/>
            <a:ext cx="2962656" cy="237744"/>
          </a:xfrm>
          <a:prstGeom prst="roundRect">
            <a:avLst>
              <a:gd name="adj" fmla="val 40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8" name="Rel value 289"/>
          <p:cNvSpPr txBox="1"/>
          <p:nvPr/>
        </p:nvSpPr>
        <p:spPr>
          <a:xfrm>
            <a:off x="6995159" y="4873752"/>
            <a:ext cx="82296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Bahnschrift"/>
              </a:rPr>
              <a:t>99%</a:t>
            </a:r>
          </a:p>
        </p:txBody>
      </p:sp>
      <p:sp>
        <p:nvSpPr>
          <p:cNvPr id="49" name="Rel name 290"/>
          <p:cNvSpPr txBox="1"/>
          <p:nvPr/>
        </p:nvSpPr>
        <p:spPr>
          <a:xfrm>
            <a:off x="1417320" y="5312664"/>
            <a:ext cx="214884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Calibri"/>
              </a:rPr>
              <a:t>Threat-Intel Enricher</a:t>
            </a:r>
          </a:p>
        </p:txBody>
      </p:sp>
      <p:sp>
        <p:nvSpPr>
          <p:cNvPr id="50" name="Rel track 291"/>
          <p:cNvSpPr/>
          <p:nvPr/>
        </p:nvSpPr>
        <p:spPr>
          <a:xfrm>
            <a:off x="3611880" y="5385816"/>
            <a:ext cx="3291840" cy="237744"/>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1" name="Rel bar 292"/>
          <p:cNvSpPr/>
          <p:nvPr/>
        </p:nvSpPr>
        <p:spPr>
          <a:xfrm>
            <a:off x="3611880" y="5385816"/>
            <a:ext cx="1645920" cy="237744"/>
          </a:xfrm>
          <a:prstGeom prst="roundRect">
            <a:avLst>
              <a:gd name="adj" fmla="val 40000"/>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2" name="Rel value 293"/>
          <p:cNvSpPr txBox="1"/>
          <p:nvPr/>
        </p:nvSpPr>
        <p:spPr>
          <a:xfrm>
            <a:off x="6995159" y="5312664"/>
            <a:ext cx="82296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Bahnschrift"/>
              </a:rPr>
              <a:t>95%</a:t>
            </a:r>
          </a:p>
        </p:txBody>
      </p:sp>
      <p:sp>
        <p:nvSpPr>
          <p:cNvPr id="53" name="Rel name 294"/>
          <p:cNvSpPr txBox="1"/>
          <p:nvPr/>
        </p:nvSpPr>
        <p:spPr>
          <a:xfrm>
            <a:off x="1417320" y="5751576"/>
            <a:ext cx="214884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Calibri"/>
              </a:rPr>
              <a:t>Reporter</a:t>
            </a:r>
          </a:p>
        </p:txBody>
      </p:sp>
      <p:sp>
        <p:nvSpPr>
          <p:cNvPr id="54" name="Rel track 295"/>
          <p:cNvSpPr/>
          <p:nvPr/>
        </p:nvSpPr>
        <p:spPr>
          <a:xfrm>
            <a:off x="3611880" y="5824728"/>
            <a:ext cx="3291840" cy="237744"/>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5" name="Rel bar 296"/>
          <p:cNvSpPr/>
          <p:nvPr/>
        </p:nvSpPr>
        <p:spPr>
          <a:xfrm>
            <a:off x="3611880" y="5824728"/>
            <a:ext cx="3226003" cy="237744"/>
          </a:xfrm>
          <a:prstGeom prst="roundRect">
            <a:avLst>
              <a:gd name="adj" fmla="val 40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6" name="Rel value 297"/>
          <p:cNvSpPr txBox="1"/>
          <p:nvPr/>
        </p:nvSpPr>
        <p:spPr>
          <a:xfrm>
            <a:off x="6995159" y="5751576"/>
            <a:ext cx="822960" cy="365760"/>
          </a:xfrm>
          <a:prstGeom prst="rect">
            <a:avLst/>
          </a:prstGeom>
          <a:noFill/>
        </p:spPr>
        <p:txBody>
          <a:bodyPr wrap="square" lIns="36576" tIns="36576" rIns="36576" bIns="36576" anchor="t">
            <a:spAutoFit/>
          </a:bodyPr>
          <a:lstStyle/>
          <a:p>
            <a:pPr algn="l">
              <a:lnSpc>
                <a:spcPct val="108000"/>
              </a:lnSpc>
            </a:pPr>
            <a:r>
              <a:rPr sz="1350" b="1" i="0">
                <a:solidFill>
                  <a:srgbClr val="1F1A1B"/>
                </a:solidFill>
                <a:latin typeface="Bahnschrift"/>
              </a:rPr>
              <a:t>99.8%</a:t>
            </a:r>
          </a:p>
        </p:txBody>
      </p:sp>
      <p:sp>
        <p:nvSpPr>
          <p:cNvPr id="57" name="Rel scale 298"/>
          <p:cNvSpPr txBox="1"/>
          <p:nvPr/>
        </p:nvSpPr>
        <p:spPr>
          <a:xfrm>
            <a:off x="3611880" y="6172200"/>
            <a:ext cx="3291840" cy="274320"/>
          </a:xfrm>
          <a:prstGeom prst="rect">
            <a:avLst/>
          </a:prstGeom>
          <a:noFill/>
        </p:spPr>
        <p:txBody>
          <a:bodyPr wrap="square" lIns="36576" tIns="36576" rIns="36576" bIns="36576" anchor="t">
            <a:spAutoFit/>
          </a:bodyPr>
          <a:lstStyle/>
          <a:p>
            <a:pPr algn="r">
              <a:lnSpc>
                <a:spcPct val="108000"/>
              </a:lnSpc>
            </a:pPr>
            <a:r>
              <a:rPr sz="1000" b="0" i="0">
                <a:solidFill>
                  <a:srgbClr val="857A72"/>
                </a:solidFill>
                <a:latin typeface="Consolas"/>
              </a:rPr>
              <a:t>scale 90% → 100%</a:t>
            </a:r>
          </a:p>
        </p:txBody>
      </p:sp>
      <p:sp>
        <p:nvSpPr>
          <p:cNvPr id="58" name="Svc label 299"/>
          <p:cNvSpPr txBox="1"/>
          <p:nvPr/>
        </p:nvSpPr>
        <p:spPr>
          <a:xfrm>
            <a:off x="8001000" y="1828800"/>
            <a:ext cx="3657600" cy="320040"/>
          </a:xfrm>
          <a:prstGeom prst="rect">
            <a:avLst/>
          </a:prstGeom>
          <a:noFill/>
        </p:spPr>
        <p:txBody>
          <a:bodyPr wrap="square" lIns="36576" tIns="36576" rIns="36576" bIns="36576" anchor="t">
            <a:spAutoFit/>
          </a:bodyPr>
          <a:lstStyle/>
          <a:p>
            <a:pPr algn="l">
              <a:lnSpc>
                <a:spcPct val="108000"/>
              </a:lnSpc>
            </a:pPr>
            <a:r>
              <a:rPr sz="1100" b="1" i="0">
                <a:solidFill>
                  <a:srgbClr val="C77A1E"/>
                </a:solidFill>
                <a:latin typeface="Consolas"/>
              </a:rPr>
              <a:t>EXTERNAL SERVICES  ·  uptime  ·  fallback</a:t>
            </a:r>
          </a:p>
        </p:txBody>
      </p:sp>
      <p:grpSp>
        <p:nvGrpSpPr>
          <p:cNvPr id="63" name="Service 300"/>
          <p:cNvGrpSpPr/>
          <p:nvPr/>
        </p:nvGrpSpPr>
        <p:grpSpPr>
          <a:xfrm>
            <a:off x="8001000" y="2240280"/>
            <a:ext cx="3642055" cy="566928"/>
            <a:chOff x="8001000" y="2240280"/>
            <a:chExt cx="3642055" cy="566928"/>
          </a:xfrm>
        </p:grpSpPr>
        <p:sp>
          <p:nvSpPr>
            <p:cNvPr id="59" name="Svc bg"/>
            <p:cNvSpPr/>
            <p:nvPr/>
          </p:nvSpPr>
          <p:spPr>
            <a:xfrm>
              <a:off x="8001000" y="2240280"/>
              <a:ext cx="3642055" cy="566928"/>
            </a:xfrm>
            <a:prstGeom prst="roundRect">
              <a:avLst>
                <a:gd name="adj" fmla="val 12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0" name="Svc name"/>
            <p:cNvSpPr txBox="1"/>
            <p:nvPr/>
          </p:nvSpPr>
          <p:spPr>
            <a:xfrm>
              <a:off x="8183879" y="2240280"/>
              <a:ext cx="2011680" cy="566928"/>
            </a:xfrm>
            <a:prstGeom prst="rect">
              <a:avLst/>
            </a:prstGeom>
            <a:noFill/>
          </p:spPr>
          <p:txBody>
            <a:bodyPr wrap="square" lIns="36576" tIns="36576" rIns="36576" bIns="36576" anchor="ctr">
              <a:spAutoFit/>
            </a:bodyPr>
            <a:lstStyle/>
            <a:p>
              <a:pPr algn="l">
                <a:lnSpc>
                  <a:spcPct val="108000"/>
                </a:lnSpc>
              </a:pPr>
              <a:r>
                <a:rPr sz="1350" b="1" i="0">
                  <a:solidFill>
                    <a:srgbClr val="1F1A1B"/>
                  </a:solidFill>
                  <a:latin typeface="Bahnschrift"/>
                </a:rPr>
                <a:t>Heroku backend</a:t>
              </a:r>
            </a:p>
          </p:txBody>
        </p:sp>
        <p:sp>
          <p:nvSpPr>
            <p:cNvPr id="61" name="Svc up"/>
            <p:cNvSpPr txBox="1"/>
            <p:nvPr/>
          </p:nvSpPr>
          <p:spPr>
            <a:xfrm>
              <a:off x="10012680" y="2240280"/>
              <a:ext cx="731520" cy="566928"/>
            </a:xfrm>
            <a:prstGeom prst="rect">
              <a:avLst/>
            </a:prstGeom>
            <a:noFill/>
          </p:spPr>
          <p:txBody>
            <a:bodyPr wrap="square" lIns="36576" tIns="36576" rIns="36576" bIns="36576" anchor="ctr">
              <a:spAutoFit/>
            </a:bodyPr>
            <a:lstStyle/>
            <a:p>
              <a:pPr algn="l">
                <a:lnSpc>
                  <a:spcPct val="108000"/>
                </a:lnSpc>
              </a:pPr>
              <a:r>
                <a:rPr sz="1400" b="1" i="0">
                  <a:solidFill>
                    <a:srgbClr val="C77A1E"/>
                  </a:solidFill>
                  <a:latin typeface="Bahnschrift"/>
                </a:rPr>
                <a:t>99.9%</a:t>
              </a:r>
            </a:p>
          </p:txBody>
        </p:sp>
        <p:sp>
          <p:nvSpPr>
            <p:cNvPr id="62" name="Svc fallback"/>
            <p:cNvSpPr txBox="1"/>
            <p:nvPr/>
          </p:nvSpPr>
          <p:spPr>
            <a:xfrm>
              <a:off x="10698480" y="2240280"/>
              <a:ext cx="898855" cy="566928"/>
            </a:xfrm>
            <a:prstGeom prst="rect">
              <a:avLst/>
            </a:prstGeom>
            <a:noFill/>
          </p:spPr>
          <p:txBody>
            <a:bodyPr wrap="square" lIns="36576" tIns="36576" rIns="36576" bIns="36576" anchor="ctr">
              <a:spAutoFit/>
            </a:bodyPr>
            <a:lstStyle/>
            <a:p>
              <a:pPr algn="l">
                <a:lnSpc>
                  <a:spcPct val="95000"/>
                </a:lnSpc>
              </a:pPr>
              <a:r>
                <a:rPr sz="1100" b="0" i="0">
                  <a:solidFill>
                    <a:srgbClr val="857A72"/>
                  </a:solidFill>
                  <a:latin typeface="Calibri"/>
                </a:rPr>
                <a:t>desktop retries</a:t>
              </a:r>
            </a:p>
          </p:txBody>
        </p:sp>
      </p:grpSp>
      <p:grpSp>
        <p:nvGrpSpPr>
          <p:cNvPr id="68" name="Service 301"/>
          <p:cNvGrpSpPr/>
          <p:nvPr/>
        </p:nvGrpSpPr>
        <p:grpSpPr>
          <a:xfrm>
            <a:off x="8001000" y="2898648"/>
            <a:ext cx="3642055" cy="566928"/>
            <a:chOff x="8001000" y="2898648"/>
            <a:chExt cx="3642055" cy="566928"/>
          </a:xfrm>
        </p:grpSpPr>
        <p:sp>
          <p:nvSpPr>
            <p:cNvPr id="64" name="Svc bg"/>
            <p:cNvSpPr/>
            <p:nvPr/>
          </p:nvSpPr>
          <p:spPr>
            <a:xfrm>
              <a:off x="8001000" y="2898648"/>
              <a:ext cx="3642055" cy="566928"/>
            </a:xfrm>
            <a:prstGeom prst="roundRect">
              <a:avLst>
                <a:gd name="adj" fmla="val 12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5" name="Svc name"/>
            <p:cNvSpPr txBox="1"/>
            <p:nvPr/>
          </p:nvSpPr>
          <p:spPr>
            <a:xfrm>
              <a:off x="8183879" y="2898648"/>
              <a:ext cx="2011680" cy="566928"/>
            </a:xfrm>
            <a:prstGeom prst="rect">
              <a:avLst/>
            </a:prstGeom>
            <a:noFill/>
          </p:spPr>
          <p:txBody>
            <a:bodyPr wrap="square" lIns="36576" tIns="36576" rIns="36576" bIns="36576" anchor="ctr">
              <a:spAutoFit/>
            </a:bodyPr>
            <a:lstStyle/>
            <a:p>
              <a:pPr algn="l">
                <a:lnSpc>
                  <a:spcPct val="108000"/>
                </a:lnSpc>
              </a:pPr>
              <a:r>
                <a:rPr sz="1350" b="1" i="0">
                  <a:solidFill>
                    <a:srgbClr val="1F1A1B"/>
                  </a:solidFill>
                  <a:latin typeface="Bahnschrift"/>
                </a:rPr>
                <a:t>Hugging Face Space</a:t>
              </a:r>
            </a:p>
          </p:txBody>
        </p:sp>
        <p:sp>
          <p:nvSpPr>
            <p:cNvPr id="66" name="Svc up"/>
            <p:cNvSpPr txBox="1"/>
            <p:nvPr/>
          </p:nvSpPr>
          <p:spPr>
            <a:xfrm>
              <a:off x="10012680" y="2898648"/>
              <a:ext cx="731520" cy="566928"/>
            </a:xfrm>
            <a:prstGeom prst="rect">
              <a:avLst/>
            </a:prstGeom>
            <a:noFill/>
          </p:spPr>
          <p:txBody>
            <a:bodyPr wrap="square" lIns="36576" tIns="36576" rIns="36576" bIns="36576" anchor="ctr">
              <a:spAutoFit/>
            </a:bodyPr>
            <a:lstStyle/>
            <a:p>
              <a:pPr algn="l">
                <a:lnSpc>
                  <a:spcPct val="108000"/>
                </a:lnSpc>
              </a:pPr>
              <a:r>
                <a:rPr sz="1400" b="1" i="0">
                  <a:solidFill>
                    <a:srgbClr val="C77A1E"/>
                  </a:solidFill>
                  <a:latin typeface="Bahnschrift"/>
                </a:rPr>
                <a:t>99.2%</a:t>
              </a:r>
            </a:p>
          </p:txBody>
        </p:sp>
        <p:sp>
          <p:nvSpPr>
            <p:cNvPr id="67" name="Svc fallback"/>
            <p:cNvSpPr txBox="1"/>
            <p:nvPr/>
          </p:nvSpPr>
          <p:spPr>
            <a:xfrm>
              <a:off x="10698480" y="2898648"/>
              <a:ext cx="898855" cy="566928"/>
            </a:xfrm>
            <a:prstGeom prst="rect">
              <a:avLst/>
            </a:prstGeom>
            <a:noFill/>
          </p:spPr>
          <p:txBody>
            <a:bodyPr wrap="square" lIns="36576" tIns="36576" rIns="36576" bIns="36576" anchor="ctr">
              <a:spAutoFit/>
            </a:bodyPr>
            <a:lstStyle/>
            <a:p>
              <a:pPr algn="l">
                <a:lnSpc>
                  <a:spcPct val="95000"/>
                </a:lnSpc>
              </a:pPr>
              <a:r>
                <a:rPr sz="1100" b="0" i="0">
                  <a:solidFill>
                    <a:srgbClr val="857A72"/>
                  </a:solidFill>
                  <a:latin typeface="Calibri"/>
                </a:rPr>
                <a:t>cached or heuristic result</a:t>
              </a:r>
            </a:p>
          </p:txBody>
        </p:sp>
      </p:grpSp>
      <p:grpSp>
        <p:nvGrpSpPr>
          <p:cNvPr id="73" name="Service 302"/>
          <p:cNvGrpSpPr/>
          <p:nvPr/>
        </p:nvGrpSpPr>
        <p:grpSpPr>
          <a:xfrm>
            <a:off x="8001000" y="3557015"/>
            <a:ext cx="3642055" cy="566928"/>
            <a:chOff x="8001000" y="3557015"/>
            <a:chExt cx="3642055" cy="566928"/>
          </a:xfrm>
        </p:grpSpPr>
        <p:sp>
          <p:nvSpPr>
            <p:cNvPr id="69" name="Svc bg"/>
            <p:cNvSpPr/>
            <p:nvPr/>
          </p:nvSpPr>
          <p:spPr>
            <a:xfrm>
              <a:off x="8001000" y="3557015"/>
              <a:ext cx="3642055" cy="566928"/>
            </a:xfrm>
            <a:prstGeom prst="roundRect">
              <a:avLst>
                <a:gd name="adj" fmla="val 12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0" name="Svc name"/>
            <p:cNvSpPr txBox="1"/>
            <p:nvPr/>
          </p:nvSpPr>
          <p:spPr>
            <a:xfrm>
              <a:off x="8183879" y="3557015"/>
              <a:ext cx="2011680" cy="566928"/>
            </a:xfrm>
            <a:prstGeom prst="rect">
              <a:avLst/>
            </a:prstGeom>
            <a:noFill/>
          </p:spPr>
          <p:txBody>
            <a:bodyPr wrap="square" lIns="36576" tIns="36576" rIns="36576" bIns="36576" anchor="ctr">
              <a:spAutoFit/>
            </a:bodyPr>
            <a:lstStyle/>
            <a:p>
              <a:pPr algn="l">
                <a:lnSpc>
                  <a:spcPct val="108000"/>
                </a:lnSpc>
              </a:pPr>
              <a:r>
                <a:rPr sz="1350" b="1" i="0">
                  <a:solidFill>
                    <a:srgbClr val="1F1A1B"/>
                  </a:solidFill>
                  <a:latin typeface="Bahnschrift"/>
                </a:rPr>
                <a:t>AlienVault OTX</a:t>
              </a:r>
            </a:p>
          </p:txBody>
        </p:sp>
        <p:sp>
          <p:nvSpPr>
            <p:cNvPr id="71" name="Svc up"/>
            <p:cNvSpPr txBox="1"/>
            <p:nvPr/>
          </p:nvSpPr>
          <p:spPr>
            <a:xfrm>
              <a:off x="10012680" y="3557015"/>
              <a:ext cx="731520" cy="566928"/>
            </a:xfrm>
            <a:prstGeom prst="rect">
              <a:avLst/>
            </a:prstGeom>
            <a:noFill/>
          </p:spPr>
          <p:txBody>
            <a:bodyPr wrap="square" lIns="36576" tIns="36576" rIns="36576" bIns="36576" anchor="ctr">
              <a:spAutoFit/>
            </a:bodyPr>
            <a:lstStyle/>
            <a:p>
              <a:pPr algn="l">
                <a:lnSpc>
                  <a:spcPct val="108000"/>
                </a:lnSpc>
              </a:pPr>
              <a:r>
                <a:rPr sz="1400" b="1" i="0">
                  <a:solidFill>
                    <a:srgbClr val="C77A1E"/>
                  </a:solidFill>
                  <a:latin typeface="Bahnschrift"/>
                </a:rPr>
                <a:t>97.5%</a:t>
              </a:r>
            </a:p>
          </p:txBody>
        </p:sp>
        <p:sp>
          <p:nvSpPr>
            <p:cNvPr id="72" name="Svc fallback"/>
            <p:cNvSpPr txBox="1"/>
            <p:nvPr/>
          </p:nvSpPr>
          <p:spPr>
            <a:xfrm>
              <a:off x="10698480" y="3557015"/>
              <a:ext cx="898855" cy="566928"/>
            </a:xfrm>
            <a:prstGeom prst="rect">
              <a:avLst/>
            </a:prstGeom>
            <a:noFill/>
          </p:spPr>
          <p:txBody>
            <a:bodyPr wrap="square" lIns="36576" tIns="36576" rIns="36576" bIns="36576" anchor="ctr">
              <a:spAutoFit/>
            </a:bodyPr>
            <a:lstStyle/>
            <a:p>
              <a:pPr algn="l">
                <a:lnSpc>
                  <a:spcPct val="95000"/>
                </a:lnSpc>
              </a:pPr>
              <a:r>
                <a:rPr sz="1100" b="0" i="0">
                  <a:solidFill>
                    <a:srgbClr val="857A72"/>
                  </a:solidFill>
                  <a:latin typeface="Calibri"/>
                </a:rPr>
                <a:t>scan continues unenriched</a:t>
              </a:r>
            </a:p>
          </p:txBody>
        </p:sp>
      </p:grpSp>
      <p:grpSp>
        <p:nvGrpSpPr>
          <p:cNvPr id="78" name="Service 303"/>
          <p:cNvGrpSpPr/>
          <p:nvPr/>
        </p:nvGrpSpPr>
        <p:grpSpPr>
          <a:xfrm>
            <a:off x="8001000" y="4215383"/>
            <a:ext cx="3642055" cy="566928"/>
            <a:chOff x="8001000" y="4215383"/>
            <a:chExt cx="3642055" cy="566928"/>
          </a:xfrm>
        </p:grpSpPr>
        <p:sp>
          <p:nvSpPr>
            <p:cNvPr id="74" name="Svc bg"/>
            <p:cNvSpPr/>
            <p:nvPr/>
          </p:nvSpPr>
          <p:spPr>
            <a:xfrm>
              <a:off x="8001000" y="4215383"/>
              <a:ext cx="3642055" cy="566928"/>
            </a:xfrm>
            <a:prstGeom prst="roundRect">
              <a:avLst>
                <a:gd name="adj" fmla="val 12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5" name="Svc name"/>
            <p:cNvSpPr txBox="1"/>
            <p:nvPr/>
          </p:nvSpPr>
          <p:spPr>
            <a:xfrm>
              <a:off x="8183879" y="4215383"/>
              <a:ext cx="2011680" cy="566928"/>
            </a:xfrm>
            <a:prstGeom prst="rect">
              <a:avLst/>
            </a:prstGeom>
            <a:noFill/>
          </p:spPr>
          <p:txBody>
            <a:bodyPr wrap="square" lIns="36576" tIns="36576" rIns="36576" bIns="36576" anchor="ctr">
              <a:spAutoFit/>
            </a:bodyPr>
            <a:lstStyle/>
            <a:p>
              <a:pPr algn="l">
                <a:lnSpc>
                  <a:spcPct val="108000"/>
                </a:lnSpc>
              </a:pPr>
              <a:r>
                <a:rPr sz="1350" b="1" i="0">
                  <a:solidFill>
                    <a:srgbClr val="1F1A1B"/>
                  </a:solidFill>
                  <a:latin typeface="Bahnschrift"/>
                </a:rPr>
                <a:t>Google Gemini</a:t>
              </a:r>
            </a:p>
          </p:txBody>
        </p:sp>
        <p:sp>
          <p:nvSpPr>
            <p:cNvPr id="76" name="Svc up"/>
            <p:cNvSpPr txBox="1"/>
            <p:nvPr/>
          </p:nvSpPr>
          <p:spPr>
            <a:xfrm>
              <a:off x="10012680" y="4215383"/>
              <a:ext cx="731520" cy="566928"/>
            </a:xfrm>
            <a:prstGeom prst="rect">
              <a:avLst/>
            </a:prstGeom>
            <a:noFill/>
          </p:spPr>
          <p:txBody>
            <a:bodyPr wrap="square" lIns="36576" tIns="36576" rIns="36576" bIns="36576" anchor="ctr">
              <a:spAutoFit/>
            </a:bodyPr>
            <a:lstStyle/>
            <a:p>
              <a:pPr algn="l">
                <a:lnSpc>
                  <a:spcPct val="108000"/>
                </a:lnSpc>
              </a:pPr>
              <a:r>
                <a:rPr sz="1400" b="1" i="0">
                  <a:solidFill>
                    <a:srgbClr val="C77A1E"/>
                  </a:solidFill>
                  <a:latin typeface="Bahnschrift"/>
                </a:rPr>
                <a:t>98.0%</a:t>
              </a:r>
            </a:p>
          </p:txBody>
        </p:sp>
        <p:sp>
          <p:nvSpPr>
            <p:cNvPr id="77" name="Svc fallback"/>
            <p:cNvSpPr txBox="1"/>
            <p:nvPr/>
          </p:nvSpPr>
          <p:spPr>
            <a:xfrm>
              <a:off x="10698480" y="4215383"/>
              <a:ext cx="898855" cy="566928"/>
            </a:xfrm>
            <a:prstGeom prst="rect">
              <a:avLst/>
            </a:prstGeom>
            <a:noFill/>
          </p:spPr>
          <p:txBody>
            <a:bodyPr wrap="square" lIns="36576" tIns="36576" rIns="36576" bIns="36576" anchor="ctr">
              <a:spAutoFit/>
            </a:bodyPr>
            <a:lstStyle/>
            <a:p>
              <a:pPr algn="l">
                <a:lnSpc>
                  <a:spcPct val="95000"/>
                </a:lnSpc>
              </a:pPr>
              <a:r>
                <a:rPr sz="1100" b="0" i="0">
                  <a:solidFill>
                    <a:srgbClr val="857A72"/>
                  </a:solidFill>
                  <a:latin typeface="Calibri"/>
                </a:rPr>
                <a:t>Mistral, then rules</a:t>
              </a:r>
            </a:p>
          </p:txBody>
        </p:sp>
      </p:grpSp>
      <p:grpSp>
        <p:nvGrpSpPr>
          <p:cNvPr id="83" name="Service 304"/>
          <p:cNvGrpSpPr/>
          <p:nvPr/>
        </p:nvGrpSpPr>
        <p:grpSpPr>
          <a:xfrm>
            <a:off x="8001000" y="4873751"/>
            <a:ext cx="3642055" cy="566928"/>
            <a:chOff x="8001000" y="4873751"/>
            <a:chExt cx="3642055" cy="566928"/>
          </a:xfrm>
        </p:grpSpPr>
        <p:sp>
          <p:nvSpPr>
            <p:cNvPr id="79" name="Svc bg"/>
            <p:cNvSpPr/>
            <p:nvPr/>
          </p:nvSpPr>
          <p:spPr>
            <a:xfrm>
              <a:off x="8001000" y="4873751"/>
              <a:ext cx="3642055" cy="566928"/>
            </a:xfrm>
            <a:prstGeom prst="roundRect">
              <a:avLst>
                <a:gd name="adj" fmla="val 12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0" name="Svc name"/>
            <p:cNvSpPr txBox="1"/>
            <p:nvPr/>
          </p:nvSpPr>
          <p:spPr>
            <a:xfrm>
              <a:off x="8183879" y="4873751"/>
              <a:ext cx="2011680" cy="566928"/>
            </a:xfrm>
            <a:prstGeom prst="rect">
              <a:avLst/>
            </a:prstGeom>
            <a:noFill/>
          </p:spPr>
          <p:txBody>
            <a:bodyPr wrap="square" lIns="36576" tIns="36576" rIns="36576" bIns="36576" anchor="ctr">
              <a:spAutoFit/>
            </a:bodyPr>
            <a:lstStyle/>
            <a:p>
              <a:pPr algn="l">
                <a:lnSpc>
                  <a:spcPct val="108000"/>
                </a:lnSpc>
              </a:pPr>
              <a:r>
                <a:rPr sz="1350" b="1" i="0">
                  <a:solidFill>
                    <a:srgbClr val="1F1A1B"/>
                  </a:solidFill>
                  <a:latin typeface="Bahnschrift"/>
                </a:rPr>
                <a:t>Appwrite Cloud</a:t>
              </a:r>
            </a:p>
          </p:txBody>
        </p:sp>
        <p:sp>
          <p:nvSpPr>
            <p:cNvPr id="81" name="Svc up"/>
            <p:cNvSpPr txBox="1"/>
            <p:nvPr/>
          </p:nvSpPr>
          <p:spPr>
            <a:xfrm>
              <a:off x="10012680" y="4873751"/>
              <a:ext cx="731520" cy="566928"/>
            </a:xfrm>
            <a:prstGeom prst="rect">
              <a:avLst/>
            </a:prstGeom>
            <a:noFill/>
          </p:spPr>
          <p:txBody>
            <a:bodyPr wrap="square" lIns="36576" tIns="36576" rIns="36576" bIns="36576" anchor="ctr">
              <a:spAutoFit/>
            </a:bodyPr>
            <a:lstStyle/>
            <a:p>
              <a:pPr algn="l">
                <a:lnSpc>
                  <a:spcPct val="108000"/>
                </a:lnSpc>
              </a:pPr>
              <a:r>
                <a:rPr sz="1400" b="1" i="0">
                  <a:solidFill>
                    <a:srgbClr val="C77A1E"/>
                  </a:solidFill>
                  <a:latin typeface="Bahnschrift"/>
                </a:rPr>
                <a:t>99.7%</a:t>
              </a:r>
            </a:p>
          </p:txBody>
        </p:sp>
        <p:sp>
          <p:nvSpPr>
            <p:cNvPr id="82" name="Svc fallback"/>
            <p:cNvSpPr txBox="1"/>
            <p:nvPr/>
          </p:nvSpPr>
          <p:spPr>
            <a:xfrm>
              <a:off x="10698480" y="4873751"/>
              <a:ext cx="898855" cy="566928"/>
            </a:xfrm>
            <a:prstGeom prst="rect">
              <a:avLst/>
            </a:prstGeom>
            <a:noFill/>
          </p:spPr>
          <p:txBody>
            <a:bodyPr wrap="square" lIns="36576" tIns="36576" rIns="36576" bIns="36576" anchor="ctr">
              <a:spAutoFit/>
            </a:bodyPr>
            <a:lstStyle/>
            <a:p>
              <a:pPr algn="l">
                <a:lnSpc>
                  <a:spcPct val="95000"/>
                </a:lnSpc>
              </a:pPr>
              <a:r>
                <a:rPr sz="1100" b="0" i="0">
                  <a:solidFill>
                    <a:srgbClr val="857A72"/>
                  </a:solidFill>
                  <a:latin typeface="Calibri"/>
                </a:rPr>
                <a:t>kept locally, synced later</a:t>
              </a:r>
            </a:p>
          </p:txBody>
        </p:sp>
      </p:grpSp>
      <p:grpSp>
        <p:nvGrpSpPr>
          <p:cNvPr id="88" name="Service 305"/>
          <p:cNvGrpSpPr/>
          <p:nvPr/>
        </p:nvGrpSpPr>
        <p:grpSpPr>
          <a:xfrm>
            <a:off x="8001000" y="5532119"/>
            <a:ext cx="3642055" cy="566928"/>
            <a:chOff x="8001000" y="5532119"/>
            <a:chExt cx="3642055" cy="566928"/>
          </a:xfrm>
        </p:grpSpPr>
        <p:sp>
          <p:nvSpPr>
            <p:cNvPr id="84" name="Svc bg"/>
            <p:cNvSpPr/>
            <p:nvPr/>
          </p:nvSpPr>
          <p:spPr>
            <a:xfrm>
              <a:off x="8001000" y="5532119"/>
              <a:ext cx="3642055" cy="566928"/>
            </a:xfrm>
            <a:prstGeom prst="roundRect">
              <a:avLst>
                <a:gd name="adj" fmla="val 12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5" name="Svc name"/>
            <p:cNvSpPr txBox="1"/>
            <p:nvPr/>
          </p:nvSpPr>
          <p:spPr>
            <a:xfrm>
              <a:off x="8183879" y="5532119"/>
              <a:ext cx="2011680" cy="566928"/>
            </a:xfrm>
            <a:prstGeom prst="rect">
              <a:avLst/>
            </a:prstGeom>
            <a:noFill/>
          </p:spPr>
          <p:txBody>
            <a:bodyPr wrap="square" lIns="36576" tIns="36576" rIns="36576" bIns="36576" anchor="ctr">
              <a:spAutoFit/>
            </a:bodyPr>
            <a:lstStyle/>
            <a:p>
              <a:pPr algn="l">
                <a:lnSpc>
                  <a:spcPct val="108000"/>
                </a:lnSpc>
              </a:pPr>
              <a:r>
                <a:rPr sz="1350" b="1" i="0">
                  <a:solidFill>
                    <a:srgbClr val="1F1A1B"/>
                  </a:solidFill>
                  <a:latin typeface="Bahnschrift"/>
                </a:rPr>
                <a:t>Redis cache</a:t>
              </a:r>
            </a:p>
          </p:txBody>
        </p:sp>
        <p:sp>
          <p:nvSpPr>
            <p:cNvPr id="86" name="Svc up"/>
            <p:cNvSpPr txBox="1"/>
            <p:nvPr/>
          </p:nvSpPr>
          <p:spPr>
            <a:xfrm>
              <a:off x="10012680" y="5532119"/>
              <a:ext cx="731520" cy="566928"/>
            </a:xfrm>
            <a:prstGeom prst="rect">
              <a:avLst/>
            </a:prstGeom>
            <a:noFill/>
          </p:spPr>
          <p:txBody>
            <a:bodyPr wrap="square" lIns="36576" tIns="36576" rIns="36576" bIns="36576" anchor="ctr">
              <a:spAutoFit/>
            </a:bodyPr>
            <a:lstStyle/>
            <a:p>
              <a:pPr algn="l">
                <a:lnSpc>
                  <a:spcPct val="108000"/>
                </a:lnSpc>
              </a:pPr>
              <a:r>
                <a:rPr sz="1400" b="1" i="0">
                  <a:solidFill>
                    <a:srgbClr val="C77A1E"/>
                  </a:solidFill>
                  <a:latin typeface="Bahnschrift"/>
                </a:rPr>
                <a:t>99.9%</a:t>
              </a:r>
            </a:p>
          </p:txBody>
        </p:sp>
        <p:sp>
          <p:nvSpPr>
            <p:cNvPr id="87" name="Svc fallback"/>
            <p:cNvSpPr txBox="1"/>
            <p:nvPr/>
          </p:nvSpPr>
          <p:spPr>
            <a:xfrm>
              <a:off x="10698480" y="5532119"/>
              <a:ext cx="898855" cy="566928"/>
            </a:xfrm>
            <a:prstGeom prst="rect">
              <a:avLst/>
            </a:prstGeom>
            <a:noFill/>
          </p:spPr>
          <p:txBody>
            <a:bodyPr wrap="square" lIns="36576" tIns="36576" rIns="36576" bIns="36576" anchor="ctr">
              <a:spAutoFit/>
            </a:bodyPr>
            <a:lstStyle/>
            <a:p>
              <a:pPr algn="l">
                <a:lnSpc>
                  <a:spcPct val="95000"/>
                </a:lnSpc>
              </a:pPr>
              <a:r>
                <a:rPr sz="1100" b="0" i="0">
                  <a:solidFill>
                    <a:srgbClr val="857A72"/>
                  </a:solidFill>
                  <a:latin typeface="Calibri"/>
                </a:rPr>
                <a:t>full pipeline instead</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9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1700"/>
                            </p:stCondLst>
                            <p:childTnLst>
                              <p:par>
                                <p:cTn id="19" presetID="10" presetClass="entr" presetSubtype="0"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12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120"/>
                                        <p:tgtEl>
                                          <p:spTgt spid="22"/>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left)">
                                      <p:cBhvr>
                                        <p:cTn id="31" dur="5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200"/>
                                        <p:tgtEl>
                                          <p:spTgt spid="24"/>
                                        </p:tgtEl>
                                      </p:cBhvr>
                                    </p:animEffect>
                                  </p:childTnLst>
                                </p:cTn>
                              </p:par>
                            </p:childTnLst>
                          </p:cTn>
                        </p:par>
                        <p:par>
                          <p:cTn id="35" fill="hold">
                            <p:stCondLst>
                              <p:cond delay="2500"/>
                            </p:stCondLst>
                            <p:childTnLst>
                              <p:par>
                                <p:cTn id="36" presetID="10" presetClass="entr" presetSubtype="0" fill="hold" grpId="0" nodeType="after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120"/>
                                        <p:tgtEl>
                                          <p:spTgt spid="2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20"/>
                                        <p:tgtEl>
                                          <p:spTgt spid="26"/>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left)">
                                      <p:cBhvr>
                                        <p:cTn id="44" dur="500"/>
                                        <p:tgtEl>
                                          <p:spTgt spid="2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200"/>
                                        <p:tgtEl>
                                          <p:spTgt spid="28"/>
                                        </p:tgtEl>
                                      </p:cBhvr>
                                    </p:animEffect>
                                  </p:childTnLst>
                                </p:cTn>
                              </p:par>
                            </p:childTnLst>
                          </p:cTn>
                        </p:par>
                        <p:par>
                          <p:cTn id="48" fill="hold">
                            <p:stCondLst>
                              <p:cond delay="3000"/>
                            </p:stCondLst>
                            <p:childTnLst>
                              <p:par>
                                <p:cTn id="49" presetID="10" presetClass="entr" presetSubtype="0"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120"/>
                                        <p:tgtEl>
                                          <p:spTgt spid="2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120"/>
                                        <p:tgtEl>
                                          <p:spTgt spid="30"/>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wipe(left)">
                                      <p:cBhvr>
                                        <p:cTn id="57" dur="500"/>
                                        <p:tgtEl>
                                          <p:spTgt spid="3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200"/>
                                        <p:tgtEl>
                                          <p:spTgt spid="32"/>
                                        </p:tgtEl>
                                      </p:cBhvr>
                                    </p:animEffect>
                                  </p:childTnLst>
                                </p:cTn>
                              </p:par>
                            </p:childTnLst>
                          </p:cTn>
                        </p:par>
                        <p:par>
                          <p:cTn id="61" fill="hold">
                            <p:stCondLst>
                              <p:cond delay="3500"/>
                            </p:stCondLst>
                            <p:childTnLst>
                              <p:par>
                                <p:cTn id="62" presetID="10" presetClass="entr" presetSubtype="0" fill="hold" grpId="0" nodeType="after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120"/>
                                        <p:tgtEl>
                                          <p:spTgt spid="3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120"/>
                                        <p:tgtEl>
                                          <p:spTgt spid="34"/>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wipe(left)">
                                      <p:cBhvr>
                                        <p:cTn id="70" dur="500"/>
                                        <p:tgtEl>
                                          <p:spTgt spid="3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200"/>
                                        <p:tgtEl>
                                          <p:spTgt spid="36"/>
                                        </p:tgtEl>
                                      </p:cBhvr>
                                    </p:animEffect>
                                  </p:childTnLst>
                                </p:cTn>
                              </p:par>
                            </p:childTnLst>
                          </p:cTn>
                        </p:par>
                        <p:par>
                          <p:cTn id="74" fill="hold">
                            <p:stCondLst>
                              <p:cond delay="4000"/>
                            </p:stCondLst>
                            <p:childTnLst>
                              <p:par>
                                <p:cTn id="75" presetID="10" presetClass="entr" presetSubtype="0"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12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120"/>
                                        <p:tgtEl>
                                          <p:spTgt spid="38"/>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wipe(left)">
                                      <p:cBhvr>
                                        <p:cTn id="83" dur="500"/>
                                        <p:tgtEl>
                                          <p:spTgt spid="3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200"/>
                                        <p:tgtEl>
                                          <p:spTgt spid="40"/>
                                        </p:tgtEl>
                                      </p:cBhvr>
                                    </p:animEffect>
                                  </p:childTnLst>
                                </p:cTn>
                              </p:par>
                            </p:childTnLst>
                          </p:cTn>
                        </p:par>
                        <p:par>
                          <p:cTn id="87" fill="hold">
                            <p:stCondLst>
                              <p:cond delay="4500"/>
                            </p:stCondLst>
                            <p:childTnLst>
                              <p:par>
                                <p:cTn id="88" presetID="10" presetClass="entr" presetSubtype="0" fill="hold" grpId="0" nodeType="afterEffect">
                                  <p:stCondLst>
                                    <p:cond delay="0"/>
                                  </p:stCondLst>
                                  <p:childTnLst>
                                    <p:set>
                                      <p:cBhvr>
                                        <p:cTn id="89" dur="1" fill="hold">
                                          <p:stCondLst>
                                            <p:cond delay="0"/>
                                          </p:stCondLst>
                                        </p:cTn>
                                        <p:tgtEl>
                                          <p:spTgt spid="41"/>
                                        </p:tgtEl>
                                        <p:attrNameLst>
                                          <p:attrName>style.visibility</p:attrName>
                                        </p:attrNameLst>
                                      </p:cBhvr>
                                      <p:to>
                                        <p:strVal val="visible"/>
                                      </p:to>
                                    </p:set>
                                    <p:animEffect transition="in" filter="fade">
                                      <p:cBhvr>
                                        <p:cTn id="90" dur="120"/>
                                        <p:tgtEl>
                                          <p:spTgt spid="4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2"/>
                                        </p:tgtEl>
                                        <p:attrNameLst>
                                          <p:attrName>style.visibility</p:attrName>
                                        </p:attrNameLst>
                                      </p:cBhvr>
                                      <p:to>
                                        <p:strVal val="visible"/>
                                      </p:to>
                                    </p:set>
                                    <p:animEffect transition="in" filter="fade">
                                      <p:cBhvr>
                                        <p:cTn id="93" dur="120"/>
                                        <p:tgtEl>
                                          <p:spTgt spid="42"/>
                                        </p:tgtEl>
                                      </p:cBhvr>
                                    </p:animEffect>
                                  </p:childTnLst>
                                </p:cTn>
                              </p:par>
                              <p:par>
                                <p:cTn id="94" presetID="22" presetClass="entr" presetSubtype="8" fill="hold" grpId="0" nodeType="with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wipe(left)">
                                      <p:cBhvr>
                                        <p:cTn id="96" dur="500"/>
                                        <p:tgtEl>
                                          <p:spTgt spid="4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4"/>
                                        </p:tgtEl>
                                        <p:attrNameLst>
                                          <p:attrName>style.visibility</p:attrName>
                                        </p:attrNameLst>
                                      </p:cBhvr>
                                      <p:to>
                                        <p:strVal val="visible"/>
                                      </p:to>
                                    </p:set>
                                    <p:animEffect transition="in" filter="fade">
                                      <p:cBhvr>
                                        <p:cTn id="99" dur="200"/>
                                        <p:tgtEl>
                                          <p:spTgt spid="44"/>
                                        </p:tgtEl>
                                      </p:cBhvr>
                                    </p:animEffect>
                                  </p:childTnLst>
                                </p:cTn>
                              </p:par>
                            </p:childTnLst>
                          </p:cTn>
                        </p:par>
                        <p:par>
                          <p:cTn id="100" fill="hold">
                            <p:stCondLst>
                              <p:cond delay="5000"/>
                            </p:stCondLst>
                            <p:childTnLst>
                              <p:par>
                                <p:cTn id="101" presetID="10" presetClass="entr" presetSubtype="0" fill="hold" grpId="0" nodeType="afterEffect">
                                  <p:stCondLst>
                                    <p:cond delay="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3" dur="120"/>
                                        <p:tgtEl>
                                          <p:spTgt spid="4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6"/>
                                        </p:tgtEl>
                                        <p:attrNameLst>
                                          <p:attrName>style.visibility</p:attrName>
                                        </p:attrNameLst>
                                      </p:cBhvr>
                                      <p:to>
                                        <p:strVal val="visible"/>
                                      </p:to>
                                    </p:set>
                                    <p:animEffect transition="in" filter="fade">
                                      <p:cBhvr>
                                        <p:cTn id="106" dur="120"/>
                                        <p:tgtEl>
                                          <p:spTgt spid="46"/>
                                        </p:tgtEl>
                                      </p:cBhvr>
                                    </p:animEffect>
                                  </p:childTnLst>
                                </p:cTn>
                              </p:par>
                              <p:par>
                                <p:cTn id="107" presetID="22" presetClass="entr" presetSubtype="8" fill="hold" grpId="0" nodeType="withEffect">
                                  <p:stCondLst>
                                    <p:cond delay="0"/>
                                  </p:stCondLst>
                                  <p:childTnLst>
                                    <p:set>
                                      <p:cBhvr>
                                        <p:cTn id="108" dur="1" fill="hold">
                                          <p:stCondLst>
                                            <p:cond delay="0"/>
                                          </p:stCondLst>
                                        </p:cTn>
                                        <p:tgtEl>
                                          <p:spTgt spid="47"/>
                                        </p:tgtEl>
                                        <p:attrNameLst>
                                          <p:attrName>style.visibility</p:attrName>
                                        </p:attrNameLst>
                                      </p:cBhvr>
                                      <p:to>
                                        <p:strVal val="visible"/>
                                      </p:to>
                                    </p:set>
                                    <p:animEffect transition="in" filter="wipe(left)">
                                      <p:cBhvr>
                                        <p:cTn id="109" dur="500"/>
                                        <p:tgtEl>
                                          <p:spTgt spid="4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fade">
                                      <p:cBhvr>
                                        <p:cTn id="112" dur="200"/>
                                        <p:tgtEl>
                                          <p:spTgt spid="48"/>
                                        </p:tgtEl>
                                      </p:cBhvr>
                                    </p:animEffect>
                                  </p:childTnLst>
                                </p:cTn>
                              </p:par>
                            </p:childTnLst>
                          </p:cTn>
                        </p:par>
                        <p:par>
                          <p:cTn id="113" fill="hold">
                            <p:stCondLst>
                              <p:cond delay="5500"/>
                            </p:stCondLst>
                            <p:childTnLst>
                              <p:par>
                                <p:cTn id="114" presetID="10" presetClass="entr" presetSubtype="0" fill="hold" grpId="0" nodeType="afterEffect">
                                  <p:stCondLst>
                                    <p:cond delay="0"/>
                                  </p:stCondLst>
                                  <p:childTnLst>
                                    <p:set>
                                      <p:cBhvr>
                                        <p:cTn id="115" dur="1" fill="hold">
                                          <p:stCondLst>
                                            <p:cond delay="0"/>
                                          </p:stCondLst>
                                        </p:cTn>
                                        <p:tgtEl>
                                          <p:spTgt spid="49"/>
                                        </p:tgtEl>
                                        <p:attrNameLst>
                                          <p:attrName>style.visibility</p:attrName>
                                        </p:attrNameLst>
                                      </p:cBhvr>
                                      <p:to>
                                        <p:strVal val="visible"/>
                                      </p:to>
                                    </p:set>
                                    <p:animEffect transition="in" filter="fade">
                                      <p:cBhvr>
                                        <p:cTn id="116" dur="120"/>
                                        <p:tgtEl>
                                          <p:spTgt spid="49"/>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50"/>
                                        </p:tgtEl>
                                        <p:attrNameLst>
                                          <p:attrName>style.visibility</p:attrName>
                                        </p:attrNameLst>
                                      </p:cBhvr>
                                      <p:to>
                                        <p:strVal val="visible"/>
                                      </p:to>
                                    </p:set>
                                    <p:animEffect transition="in" filter="fade">
                                      <p:cBhvr>
                                        <p:cTn id="119" dur="120"/>
                                        <p:tgtEl>
                                          <p:spTgt spid="50"/>
                                        </p:tgtEl>
                                      </p:cBhvr>
                                    </p:animEffect>
                                  </p:childTnLst>
                                </p:cTn>
                              </p:par>
                              <p:par>
                                <p:cTn id="120" presetID="22" presetClass="entr" presetSubtype="8" fill="hold" grpId="0" nodeType="withEffect">
                                  <p:stCondLst>
                                    <p:cond delay="0"/>
                                  </p:stCondLst>
                                  <p:childTnLst>
                                    <p:set>
                                      <p:cBhvr>
                                        <p:cTn id="121" dur="1" fill="hold">
                                          <p:stCondLst>
                                            <p:cond delay="0"/>
                                          </p:stCondLst>
                                        </p:cTn>
                                        <p:tgtEl>
                                          <p:spTgt spid="51"/>
                                        </p:tgtEl>
                                        <p:attrNameLst>
                                          <p:attrName>style.visibility</p:attrName>
                                        </p:attrNameLst>
                                      </p:cBhvr>
                                      <p:to>
                                        <p:strVal val="visible"/>
                                      </p:to>
                                    </p:set>
                                    <p:animEffect transition="in" filter="wipe(left)">
                                      <p:cBhvr>
                                        <p:cTn id="122" dur="500"/>
                                        <p:tgtEl>
                                          <p:spTgt spid="51"/>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2"/>
                                        </p:tgtEl>
                                        <p:attrNameLst>
                                          <p:attrName>style.visibility</p:attrName>
                                        </p:attrNameLst>
                                      </p:cBhvr>
                                      <p:to>
                                        <p:strVal val="visible"/>
                                      </p:to>
                                    </p:set>
                                    <p:animEffect transition="in" filter="fade">
                                      <p:cBhvr>
                                        <p:cTn id="125" dur="200"/>
                                        <p:tgtEl>
                                          <p:spTgt spid="52"/>
                                        </p:tgtEl>
                                      </p:cBhvr>
                                    </p:animEffect>
                                  </p:childTnLst>
                                </p:cTn>
                              </p:par>
                            </p:childTnLst>
                          </p:cTn>
                        </p:par>
                        <p:par>
                          <p:cTn id="126" fill="hold">
                            <p:stCondLst>
                              <p:cond delay="6000"/>
                            </p:stCondLst>
                            <p:childTnLst>
                              <p:par>
                                <p:cTn id="127" presetID="10" presetClass="entr" presetSubtype="0" fill="hold" grpId="0" nodeType="afterEffect">
                                  <p:stCondLst>
                                    <p:cond delay="0"/>
                                  </p:stCondLst>
                                  <p:childTnLst>
                                    <p:set>
                                      <p:cBhvr>
                                        <p:cTn id="128" dur="1" fill="hold">
                                          <p:stCondLst>
                                            <p:cond delay="0"/>
                                          </p:stCondLst>
                                        </p:cTn>
                                        <p:tgtEl>
                                          <p:spTgt spid="53"/>
                                        </p:tgtEl>
                                        <p:attrNameLst>
                                          <p:attrName>style.visibility</p:attrName>
                                        </p:attrNameLst>
                                      </p:cBhvr>
                                      <p:to>
                                        <p:strVal val="visible"/>
                                      </p:to>
                                    </p:set>
                                    <p:animEffect transition="in" filter="fade">
                                      <p:cBhvr>
                                        <p:cTn id="129" dur="120"/>
                                        <p:tgtEl>
                                          <p:spTgt spid="53"/>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4"/>
                                        </p:tgtEl>
                                        <p:attrNameLst>
                                          <p:attrName>style.visibility</p:attrName>
                                        </p:attrNameLst>
                                      </p:cBhvr>
                                      <p:to>
                                        <p:strVal val="visible"/>
                                      </p:to>
                                    </p:set>
                                    <p:animEffect transition="in" filter="fade">
                                      <p:cBhvr>
                                        <p:cTn id="132" dur="120"/>
                                        <p:tgtEl>
                                          <p:spTgt spid="54"/>
                                        </p:tgtEl>
                                      </p:cBhvr>
                                    </p:animEffect>
                                  </p:childTnLst>
                                </p:cTn>
                              </p:par>
                              <p:par>
                                <p:cTn id="133" presetID="22" presetClass="entr" presetSubtype="8" fill="hold" grpId="0" nodeType="withEffect">
                                  <p:stCondLst>
                                    <p:cond delay="0"/>
                                  </p:stCondLst>
                                  <p:childTnLst>
                                    <p:set>
                                      <p:cBhvr>
                                        <p:cTn id="134" dur="1" fill="hold">
                                          <p:stCondLst>
                                            <p:cond delay="0"/>
                                          </p:stCondLst>
                                        </p:cTn>
                                        <p:tgtEl>
                                          <p:spTgt spid="55"/>
                                        </p:tgtEl>
                                        <p:attrNameLst>
                                          <p:attrName>style.visibility</p:attrName>
                                        </p:attrNameLst>
                                      </p:cBhvr>
                                      <p:to>
                                        <p:strVal val="visible"/>
                                      </p:to>
                                    </p:set>
                                    <p:animEffect transition="in" filter="wipe(left)">
                                      <p:cBhvr>
                                        <p:cTn id="135" dur="500"/>
                                        <p:tgtEl>
                                          <p:spTgt spid="55"/>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6"/>
                                        </p:tgtEl>
                                        <p:attrNameLst>
                                          <p:attrName>style.visibility</p:attrName>
                                        </p:attrNameLst>
                                      </p:cBhvr>
                                      <p:to>
                                        <p:strVal val="visible"/>
                                      </p:to>
                                    </p:set>
                                    <p:animEffect transition="in" filter="fade">
                                      <p:cBhvr>
                                        <p:cTn id="138" dur="200"/>
                                        <p:tgtEl>
                                          <p:spTgt spid="56"/>
                                        </p:tgtEl>
                                      </p:cBhvr>
                                    </p:animEffect>
                                  </p:childTnLst>
                                </p:cTn>
                              </p:par>
                            </p:childTnLst>
                          </p:cTn>
                        </p:par>
                        <p:par>
                          <p:cTn id="139" fill="hold">
                            <p:stCondLst>
                              <p:cond delay="6500"/>
                            </p:stCondLst>
                            <p:childTnLst>
                              <p:par>
                                <p:cTn id="140" presetID="10" presetClass="entr" presetSubtype="0" fill="hold" grpId="0" nodeType="afterEffect">
                                  <p:stCondLst>
                                    <p:cond delay="0"/>
                                  </p:stCondLst>
                                  <p:childTnLst>
                                    <p:set>
                                      <p:cBhvr>
                                        <p:cTn id="141" dur="1" fill="hold">
                                          <p:stCondLst>
                                            <p:cond delay="0"/>
                                          </p:stCondLst>
                                        </p:cTn>
                                        <p:tgtEl>
                                          <p:spTgt spid="57"/>
                                        </p:tgtEl>
                                        <p:attrNameLst>
                                          <p:attrName>style.visibility</p:attrName>
                                        </p:attrNameLst>
                                      </p:cBhvr>
                                      <p:to>
                                        <p:strVal val="visible"/>
                                      </p:to>
                                    </p:set>
                                    <p:animEffect transition="in" filter="fade">
                                      <p:cBhvr>
                                        <p:cTn id="142" dur="200"/>
                                        <p:tgtEl>
                                          <p:spTgt spid="57"/>
                                        </p:tgtEl>
                                      </p:cBhvr>
                                    </p:animEffect>
                                  </p:childTnLst>
                                </p:cTn>
                              </p:par>
                            </p:childTnLst>
                          </p:cTn>
                        </p:par>
                        <p:par>
                          <p:cTn id="143" fill="hold">
                            <p:stCondLst>
                              <p:cond delay="6700"/>
                            </p:stCondLst>
                            <p:childTnLst>
                              <p:par>
                                <p:cTn id="144" presetID="10" presetClass="entr" presetSubtype="0" fill="hold" grpId="0" nodeType="afterEffect">
                                  <p:stCondLst>
                                    <p:cond delay="0"/>
                                  </p:stCondLst>
                                  <p:childTnLst>
                                    <p:set>
                                      <p:cBhvr>
                                        <p:cTn id="145" dur="1" fill="hold">
                                          <p:stCondLst>
                                            <p:cond delay="0"/>
                                          </p:stCondLst>
                                        </p:cTn>
                                        <p:tgtEl>
                                          <p:spTgt spid="58"/>
                                        </p:tgtEl>
                                        <p:attrNameLst>
                                          <p:attrName>style.visibility</p:attrName>
                                        </p:attrNameLst>
                                      </p:cBhvr>
                                      <p:to>
                                        <p:strVal val="visible"/>
                                      </p:to>
                                    </p:set>
                                    <p:animEffect transition="in" filter="fade">
                                      <p:cBhvr>
                                        <p:cTn id="146" dur="300"/>
                                        <p:tgtEl>
                                          <p:spTgt spid="58"/>
                                        </p:tgtEl>
                                      </p:cBhvr>
                                    </p:animEffect>
                                  </p:childTnLst>
                                </p:cTn>
                              </p:par>
                            </p:childTnLst>
                          </p:cTn>
                        </p:par>
                        <p:par>
                          <p:cTn id="147" fill="hold">
                            <p:stCondLst>
                              <p:cond delay="7000"/>
                            </p:stCondLst>
                            <p:childTnLst>
                              <p:par>
                                <p:cTn id="148" presetID="2" presetClass="entr" presetSubtype="2" fill="hold" nodeType="afterEffect">
                                  <p:stCondLst>
                                    <p:cond delay="0"/>
                                  </p:stCondLst>
                                  <p:childTnLst>
                                    <p:set>
                                      <p:cBhvr>
                                        <p:cTn id="149" dur="1" fill="hold">
                                          <p:stCondLst>
                                            <p:cond delay="0"/>
                                          </p:stCondLst>
                                        </p:cTn>
                                        <p:tgtEl>
                                          <p:spTgt spid="63"/>
                                        </p:tgtEl>
                                        <p:attrNameLst>
                                          <p:attrName>style.visibility</p:attrName>
                                        </p:attrNameLst>
                                      </p:cBhvr>
                                      <p:to>
                                        <p:strVal val="visible"/>
                                      </p:to>
                                    </p:set>
                                    <p:anim calcmode="lin" valueType="num">
                                      <p:cBhvr additive="base">
                                        <p:cTn id="150" dur="500" fill="hold"/>
                                        <p:tgtEl>
                                          <p:spTgt spid="63"/>
                                        </p:tgtEl>
                                        <p:attrNameLst>
                                          <p:attrName>ppt_x</p:attrName>
                                        </p:attrNameLst>
                                      </p:cBhvr>
                                      <p:tavLst>
                                        <p:tav tm="0">
                                          <p:val>
                                            <p:strVal val="1+#ppt_w/2"/>
                                          </p:val>
                                        </p:tav>
                                        <p:tav tm="100000">
                                          <p:val>
                                            <p:strVal val="#ppt_x"/>
                                          </p:val>
                                        </p:tav>
                                      </p:tavLst>
                                    </p:anim>
                                    <p:anim calcmode="lin" valueType="num">
                                      <p:cBhvr additive="base">
                                        <p:cTn id="151" dur="500" fill="hold"/>
                                        <p:tgtEl>
                                          <p:spTgt spid="63"/>
                                        </p:tgtEl>
                                        <p:attrNameLst>
                                          <p:attrName>ppt_y</p:attrName>
                                        </p:attrNameLst>
                                      </p:cBhvr>
                                      <p:tavLst>
                                        <p:tav tm="0">
                                          <p:val>
                                            <p:strVal val="#ppt_y"/>
                                          </p:val>
                                        </p:tav>
                                        <p:tav tm="100000">
                                          <p:val>
                                            <p:strVal val="#ppt_y"/>
                                          </p:val>
                                        </p:tav>
                                      </p:tavLst>
                                    </p:anim>
                                  </p:childTnLst>
                                </p:cTn>
                              </p:par>
                            </p:childTnLst>
                          </p:cTn>
                        </p:par>
                        <p:par>
                          <p:cTn id="152" fill="hold">
                            <p:stCondLst>
                              <p:cond delay="7500"/>
                            </p:stCondLst>
                            <p:childTnLst>
                              <p:par>
                                <p:cTn id="153" presetID="2" presetClass="entr" presetSubtype="2" fill="hold" nodeType="afterEffect">
                                  <p:stCondLst>
                                    <p:cond delay="0"/>
                                  </p:stCondLst>
                                  <p:childTnLst>
                                    <p:set>
                                      <p:cBhvr>
                                        <p:cTn id="154" dur="1" fill="hold">
                                          <p:stCondLst>
                                            <p:cond delay="0"/>
                                          </p:stCondLst>
                                        </p:cTn>
                                        <p:tgtEl>
                                          <p:spTgt spid="68"/>
                                        </p:tgtEl>
                                        <p:attrNameLst>
                                          <p:attrName>style.visibility</p:attrName>
                                        </p:attrNameLst>
                                      </p:cBhvr>
                                      <p:to>
                                        <p:strVal val="visible"/>
                                      </p:to>
                                    </p:set>
                                    <p:anim calcmode="lin" valueType="num">
                                      <p:cBhvr additive="base">
                                        <p:cTn id="155" dur="500" fill="hold"/>
                                        <p:tgtEl>
                                          <p:spTgt spid="68"/>
                                        </p:tgtEl>
                                        <p:attrNameLst>
                                          <p:attrName>ppt_x</p:attrName>
                                        </p:attrNameLst>
                                      </p:cBhvr>
                                      <p:tavLst>
                                        <p:tav tm="0">
                                          <p:val>
                                            <p:strVal val="1+#ppt_w/2"/>
                                          </p:val>
                                        </p:tav>
                                        <p:tav tm="100000">
                                          <p:val>
                                            <p:strVal val="#ppt_x"/>
                                          </p:val>
                                        </p:tav>
                                      </p:tavLst>
                                    </p:anim>
                                    <p:anim calcmode="lin" valueType="num">
                                      <p:cBhvr additive="base">
                                        <p:cTn id="156" dur="500" fill="hold"/>
                                        <p:tgtEl>
                                          <p:spTgt spid="68"/>
                                        </p:tgtEl>
                                        <p:attrNameLst>
                                          <p:attrName>ppt_y</p:attrName>
                                        </p:attrNameLst>
                                      </p:cBhvr>
                                      <p:tavLst>
                                        <p:tav tm="0">
                                          <p:val>
                                            <p:strVal val="#ppt_y"/>
                                          </p:val>
                                        </p:tav>
                                        <p:tav tm="100000">
                                          <p:val>
                                            <p:strVal val="#ppt_y"/>
                                          </p:val>
                                        </p:tav>
                                      </p:tavLst>
                                    </p:anim>
                                  </p:childTnLst>
                                </p:cTn>
                              </p:par>
                            </p:childTnLst>
                          </p:cTn>
                        </p:par>
                        <p:par>
                          <p:cTn id="157" fill="hold">
                            <p:stCondLst>
                              <p:cond delay="8000"/>
                            </p:stCondLst>
                            <p:childTnLst>
                              <p:par>
                                <p:cTn id="158" presetID="2" presetClass="entr" presetSubtype="2" fill="hold" nodeType="afterEffect">
                                  <p:stCondLst>
                                    <p:cond delay="0"/>
                                  </p:stCondLst>
                                  <p:childTnLst>
                                    <p:set>
                                      <p:cBhvr>
                                        <p:cTn id="159" dur="1" fill="hold">
                                          <p:stCondLst>
                                            <p:cond delay="0"/>
                                          </p:stCondLst>
                                        </p:cTn>
                                        <p:tgtEl>
                                          <p:spTgt spid="73"/>
                                        </p:tgtEl>
                                        <p:attrNameLst>
                                          <p:attrName>style.visibility</p:attrName>
                                        </p:attrNameLst>
                                      </p:cBhvr>
                                      <p:to>
                                        <p:strVal val="visible"/>
                                      </p:to>
                                    </p:set>
                                    <p:anim calcmode="lin" valueType="num">
                                      <p:cBhvr additive="base">
                                        <p:cTn id="160" dur="500" fill="hold"/>
                                        <p:tgtEl>
                                          <p:spTgt spid="73"/>
                                        </p:tgtEl>
                                        <p:attrNameLst>
                                          <p:attrName>ppt_x</p:attrName>
                                        </p:attrNameLst>
                                      </p:cBhvr>
                                      <p:tavLst>
                                        <p:tav tm="0">
                                          <p:val>
                                            <p:strVal val="1+#ppt_w/2"/>
                                          </p:val>
                                        </p:tav>
                                        <p:tav tm="100000">
                                          <p:val>
                                            <p:strVal val="#ppt_x"/>
                                          </p:val>
                                        </p:tav>
                                      </p:tavLst>
                                    </p:anim>
                                    <p:anim calcmode="lin" valueType="num">
                                      <p:cBhvr additive="base">
                                        <p:cTn id="161" dur="500" fill="hold"/>
                                        <p:tgtEl>
                                          <p:spTgt spid="73"/>
                                        </p:tgtEl>
                                        <p:attrNameLst>
                                          <p:attrName>ppt_y</p:attrName>
                                        </p:attrNameLst>
                                      </p:cBhvr>
                                      <p:tavLst>
                                        <p:tav tm="0">
                                          <p:val>
                                            <p:strVal val="#ppt_y"/>
                                          </p:val>
                                        </p:tav>
                                        <p:tav tm="100000">
                                          <p:val>
                                            <p:strVal val="#ppt_y"/>
                                          </p:val>
                                        </p:tav>
                                      </p:tavLst>
                                    </p:anim>
                                  </p:childTnLst>
                                </p:cTn>
                              </p:par>
                            </p:childTnLst>
                          </p:cTn>
                        </p:par>
                        <p:par>
                          <p:cTn id="162" fill="hold">
                            <p:stCondLst>
                              <p:cond delay="8500"/>
                            </p:stCondLst>
                            <p:childTnLst>
                              <p:par>
                                <p:cTn id="163" presetID="2" presetClass="entr" presetSubtype="2" fill="hold" nodeType="afterEffect">
                                  <p:stCondLst>
                                    <p:cond delay="0"/>
                                  </p:stCondLst>
                                  <p:childTnLst>
                                    <p:set>
                                      <p:cBhvr>
                                        <p:cTn id="164" dur="1" fill="hold">
                                          <p:stCondLst>
                                            <p:cond delay="0"/>
                                          </p:stCondLst>
                                        </p:cTn>
                                        <p:tgtEl>
                                          <p:spTgt spid="78"/>
                                        </p:tgtEl>
                                        <p:attrNameLst>
                                          <p:attrName>style.visibility</p:attrName>
                                        </p:attrNameLst>
                                      </p:cBhvr>
                                      <p:to>
                                        <p:strVal val="visible"/>
                                      </p:to>
                                    </p:set>
                                    <p:anim calcmode="lin" valueType="num">
                                      <p:cBhvr additive="base">
                                        <p:cTn id="165" dur="500" fill="hold"/>
                                        <p:tgtEl>
                                          <p:spTgt spid="78"/>
                                        </p:tgtEl>
                                        <p:attrNameLst>
                                          <p:attrName>ppt_x</p:attrName>
                                        </p:attrNameLst>
                                      </p:cBhvr>
                                      <p:tavLst>
                                        <p:tav tm="0">
                                          <p:val>
                                            <p:strVal val="1+#ppt_w/2"/>
                                          </p:val>
                                        </p:tav>
                                        <p:tav tm="100000">
                                          <p:val>
                                            <p:strVal val="#ppt_x"/>
                                          </p:val>
                                        </p:tav>
                                      </p:tavLst>
                                    </p:anim>
                                    <p:anim calcmode="lin" valueType="num">
                                      <p:cBhvr additive="base">
                                        <p:cTn id="166" dur="500" fill="hold"/>
                                        <p:tgtEl>
                                          <p:spTgt spid="78"/>
                                        </p:tgtEl>
                                        <p:attrNameLst>
                                          <p:attrName>ppt_y</p:attrName>
                                        </p:attrNameLst>
                                      </p:cBhvr>
                                      <p:tavLst>
                                        <p:tav tm="0">
                                          <p:val>
                                            <p:strVal val="#ppt_y"/>
                                          </p:val>
                                        </p:tav>
                                        <p:tav tm="100000">
                                          <p:val>
                                            <p:strVal val="#ppt_y"/>
                                          </p:val>
                                        </p:tav>
                                      </p:tavLst>
                                    </p:anim>
                                  </p:childTnLst>
                                </p:cTn>
                              </p:par>
                            </p:childTnLst>
                          </p:cTn>
                        </p:par>
                        <p:par>
                          <p:cTn id="167" fill="hold">
                            <p:stCondLst>
                              <p:cond delay="9000"/>
                            </p:stCondLst>
                            <p:childTnLst>
                              <p:par>
                                <p:cTn id="168" presetID="2" presetClass="entr" presetSubtype="2" fill="hold" nodeType="afterEffect">
                                  <p:stCondLst>
                                    <p:cond delay="0"/>
                                  </p:stCondLst>
                                  <p:childTnLst>
                                    <p:set>
                                      <p:cBhvr>
                                        <p:cTn id="169" dur="1" fill="hold">
                                          <p:stCondLst>
                                            <p:cond delay="0"/>
                                          </p:stCondLst>
                                        </p:cTn>
                                        <p:tgtEl>
                                          <p:spTgt spid="83"/>
                                        </p:tgtEl>
                                        <p:attrNameLst>
                                          <p:attrName>style.visibility</p:attrName>
                                        </p:attrNameLst>
                                      </p:cBhvr>
                                      <p:to>
                                        <p:strVal val="visible"/>
                                      </p:to>
                                    </p:set>
                                    <p:anim calcmode="lin" valueType="num">
                                      <p:cBhvr additive="base">
                                        <p:cTn id="170" dur="500" fill="hold"/>
                                        <p:tgtEl>
                                          <p:spTgt spid="83"/>
                                        </p:tgtEl>
                                        <p:attrNameLst>
                                          <p:attrName>ppt_x</p:attrName>
                                        </p:attrNameLst>
                                      </p:cBhvr>
                                      <p:tavLst>
                                        <p:tav tm="0">
                                          <p:val>
                                            <p:strVal val="1+#ppt_w/2"/>
                                          </p:val>
                                        </p:tav>
                                        <p:tav tm="100000">
                                          <p:val>
                                            <p:strVal val="#ppt_x"/>
                                          </p:val>
                                        </p:tav>
                                      </p:tavLst>
                                    </p:anim>
                                    <p:anim calcmode="lin" valueType="num">
                                      <p:cBhvr additive="base">
                                        <p:cTn id="171" dur="500" fill="hold"/>
                                        <p:tgtEl>
                                          <p:spTgt spid="83"/>
                                        </p:tgtEl>
                                        <p:attrNameLst>
                                          <p:attrName>ppt_y</p:attrName>
                                        </p:attrNameLst>
                                      </p:cBhvr>
                                      <p:tavLst>
                                        <p:tav tm="0">
                                          <p:val>
                                            <p:strVal val="#ppt_y"/>
                                          </p:val>
                                        </p:tav>
                                        <p:tav tm="100000">
                                          <p:val>
                                            <p:strVal val="#ppt_y"/>
                                          </p:val>
                                        </p:tav>
                                      </p:tavLst>
                                    </p:anim>
                                  </p:childTnLst>
                                </p:cTn>
                              </p:par>
                            </p:childTnLst>
                          </p:cTn>
                        </p:par>
                        <p:par>
                          <p:cTn id="172" fill="hold">
                            <p:stCondLst>
                              <p:cond delay="9500"/>
                            </p:stCondLst>
                            <p:childTnLst>
                              <p:par>
                                <p:cTn id="173" presetID="2" presetClass="entr" presetSubtype="2" fill="hold" nodeType="afterEffect">
                                  <p:stCondLst>
                                    <p:cond delay="0"/>
                                  </p:stCondLst>
                                  <p:childTnLst>
                                    <p:set>
                                      <p:cBhvr>
                                        <p:cTn id="174" dur="1" fill="hold">
                                          <p:stCondLst>
                                            <p:cond delay="0"/>
                                          </p:stCondLst>
                                        </p:cTn>
                                        <p:tgtEl>
                                          <p:spTgt spid="88"/>
                                        </p:tgtEl>
                                        <p:attrNameLst>
                                          <p:attrName>style.visibility</p:attrName>
                                        </p:attrNameLst>
                                      </p:cBhvr>
                                      <p:to>
                                        <p:strVal val="visible"/>
                                      </p:to>
                                    </p:set>
                                    <p:anim calcmode="lin" valueType="num">
                                      <p:cBhvr additive="base">
                                        <p:cTn id="175" dur="500" fill="hold"/>
                                        <p:tgtEl>
                                          <p:spTgt spid="88"/>
                                        </p:tgtEl>
                                        <p:attrNameLst>
                                          <p:attrName>ppt_x</p:attrName>
                                        </p:attrNameLst>
                                      </p:cBhvr>
                                      <p:tavLst>
                                        <p:tav tm="0">
                                          <p:val>
                                            <p:strVal val="1+#ppt_w/2"/>
                                          </p:val>
                                        </p:tav>
                                        <p:tav tm="100000">
                                          <p:val>
                                            <p:strVal val="#ppt_x"/>
                                          </p:val>
                                        </p:tav>
                                      </p:tavLst>
                                    </p:anim>
                                    <p:anim calcmode="lin" valueType="num">
                                      <p:cBhvr additive="base">
                                        <p:cTn id="176" dur="500" fill="hold"/>
                                        <p:tgtEl>
                                          <p:spTgt spid="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20" grpId="0"/>
      <p:bldP spid="21" grpId="0"/>
      <p:bldP spid="22" grpId="0" animBg="1"/>
      <p:bldP spid="23" grpId="0" animBg="1"/>
      <p:bldP spid="24" grpId="0"/>
      <p:bldP spid="25" grpId="0"/>
      <p:bldP spid="26" grpId="0" animBg="1"/>
      <p:bldP spid="27" grpId="0" animBg="1"/>
      <p:bldP spid="28" grpId="0"/>
      <p:bldP spid="29" grpId="0"/>
      <p:bldP spid="30" grpId="0" animBg="1"/>
      <p:bldP spid="31" grpId="0" animBg="1"/>
      <p:bldP spid="32" grpId="0"/>
      <p:bldP spid="33" grpId="0"/>
      <p:bldP spid="34" grpId="0" animBg="1"/>
      <p:bldP spid="35" grpId="0" animBg="1"/>
      <p:bldP spid="36" grpId="0"/>
      <p:bldP spid="37" grpId="0"/>
      <p:bldP spid="38" grpId="0" animBg="1"/>
      <p:bldP spid="39" grpId="0" animBg="1"/>
      <p:bldP spid="40" grpId="0"/>
      <p:bldP spid="41" grpId="0"/>
      <p:bldP spid="42" grpId="0" animBg="1"/>
      <p:bldP spid="43" grpId="0" animBg="1"/>
      <p:bldP spid="44" grpId="0"/>
      <p:bldP spid="45" grpId="0"/>
      <p:bldP spid="46" grpId="0" animBg="1"/>
      <p:bldP spid="47" grpId="0" animBg="1"/>
      <p:bldP spid="48" grpId="0"/>
      <p:bldP spid="49" grpId="0"/>
      <p:bldP spid="50" grpId="0" animBg="1"/>
      <p:bldP spid="51" grpId="0" animBg="1"/>
      <p:bldP spid="52" grpId="0"/>
      <p:bldP spid="53" grpId="0"/>
      <p:bldP spid="54" grpId="0" animBg="1"/>
      <p:bldP spid="55" grpId="0" animBg="1"/>
      <p:bldP spid="56" grpId="0"/>
      <p:bldP spid="57" grpId="0"/>
      <p:bldP spid="58"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418320" y="4389120"/>
            <a:ext cx="3291840" cy="329184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010851" y="4981651"/>
            <a:ext cx="2106777" cy="2106777"/>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1051559"/>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3383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06</a:t>
            </a:r>
          </a:p>
        </p:txBody>
      </p:sp>
      <p:sp>
        <p:nvSpPr>
          <p:cNvPr id="12" name="!!rail7"/>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07</a:t>
            </a:r>
          </a:p>
        </p:txBody>
      </p:sp>
      <p:sp>
        <p:nvSpPr>
          <p:cNvPr id="13" name="!!rail8"/>
          <p:cNvSpPr txBox="1"/>
          <p:nvPr/>
        </p:nvSpPr>
        <p:spPr>
          <a:xfrm>
            <a:off x="45720" y="394106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08</a:t>
            </a:r>
          </a:p>
        </p:txBody>
      </p:sp>
      <p:sp>
        <p:nvSpPr>
          <p:cNvPr id="14" name="Kicker 306"/>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07  ·  RESULTS  ·  4 OF 4</a:t>
            </a:r>
          </a:p>
        </p:txBody>
      </p:sp>
      <p:sp>
        <p:nvSpPr>
          <p:cNvPr id="15" name="Title 307"/>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Results</a:t>
            </a:r>
          </a:p>
        </p:txBody>
      </p:sp>
      <p:sp>
        <p:nvSpPr>
          <p:cNvPr id="16" name="Subtitle 308"/>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Explanation quality and the objectives against their targets</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Tables 4.6 and 4.8; Figure 4.3 (historical interface)</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17 / 20</a:t>
            </a:r>
          </a:p>
        </p:txBody>
      </p:sp>
      <p:sp>
        <p:nvSpPr>
          <p:cNvPr id="20" name="Exp label 309"/>
          <p:cNvSpPr txBox="1"/>
          <p:nvPr/>
        </p:nvSpPr>
        <p:spPr>
          <a:xfrm>
            <a:off x="1417320" y="1828800"/>
            <a:ext cx="4114800" cy="320040"/>
          </a:xfrm>
          <a:prstGeom prst="rect">
            <a:avLst/>
          </a:prstGeom>
          <a:noFill/>
        </p:spPr>
        <p:txBody>
          <a:bodyPr wrap="square" lIns="36576" tIns="36576" rIns="36576" bIns="36576" anchor="t">
            <a:spAutoFit/>
          </a:bodyPr>
          <a:lstStyle/>
          <a:p>
            <a:pPr algn="l">
              <a:lnSpc>
                <a:spcPct val="108000"/>
              </a:lnSpc>
            </a:pPr>
            <a:r>
              <a:rPr sz="1100" b="1" i="0">
                <a:solidFill>
                  <a:srgbClr val="C77A1E"/>
                </a:solidFill>
                <a:latin typeface="Consolas"/>
              </a:rPr>
              <a:t>AI-WRITTEN EXPLANATIONS  ·  manual 1–10 ratings</a:t>
            </a:r>
          </a:p>
        </p:txBody>
      </p:sp>
      <p:sp>
        <p:nvSpPr>
          <p:cNvPr id="21" name="Exp name 310"/>
          <p:cNvSpPr txBox="1"/>
          <p:nvPr/>
        </p:nvSpPr>
        <p:spPr>
          <a:xfrm>
            <a:off x="1417320" y="2240280"/>
            <a:ext cx="2377440" cy="566928"/>
          </a:xfrm>
          <a:prstGeom prst="rect">
            <a:avLst/>
          </a:prstGeom>
          <a:noFill/>
        </p:spPr>
        <p:txBody>
          <a:bodyPr wrap="square" lIns="36576" tIns="36576" rIns="36576" bIns="36576" anchor="t">
            <a:spAutoFit/>
          </a:bodyPr>
          <a:lstStyle/>
          <a:p>
            <a:pPr algn="l">
              <a:lnSpc>
                <a:spcPct val="108000"/>
              </a:lnSpc>
              <a:spcAft>
                <a:spcPts val="0"/>
              </a:spcAft>
            </a:pPr>
            <a:r>
              <a:rPr sz="1450" b="1" i="0">
                <a:solidFill>
                  <a:srgbClr val="1F1A1B"/>
                </a:solidFill>
                <a:latin typeface="Bahnschrift"/>
              </a:rPr>
              <a:t>Factual accuracy</a:t>
            </a:r>
          </a:p>
          <a:p>
            <a:pPr algn="l">
              <a:lnSpc>
                <a:spcPct val="108000"/>
              </a:lnSpc>
            </a:pPr>
            <a:r>
              <a:rPr sz="1100" b="0" i="0">
                <a:solidFill>
                  <a:srgbClr val="857A72"/>
                </a:solidFill>
                <a:latin typeface="Calibri"/>
              </a:rPr>
              <a:t>correct MITRE techniques and IOCs</a:t>
            </a:r>
          </a:p>
        </p:txBody>
      </p:sp>
      <p:sp>
        <p:nvSpPr>
          <p:cNvPr id="22" name="Exp track 311"/>
          <p:cNvSpPr/>
          <p:nvPr/>
        </p:nvSpPr>
        <p:spPr>
          <a:xfrm>
            <a:off x="3886200" y="2368296"/>
            <a:ext cx="2011680" cy="256032"/>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Exp bar 312"/>
          <p:cNvSpPr/>
          <p:nvPr/>
        </p:nvSpPr>
        <p:spPr>
          <a:xfrm>
            <a:off x="3886200" y="2368296"/>
            <a:ext cx="1911096" cy="256032"/>
          </a:xfrm>
          <a:prstGeom prst="roundRect">
            <a:avLst>
              <a:gd name="adj" fmla="val 40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Exp value 313"/>
          <p:cNvSpPr txBox="1"/>
          <p:nvPr/>
        </p:nvSpPr>
        <p:spPr>
          <a:xfrm>
            <a:off x="5989320" y="2258568"/>
            <a:ext cx="822960" cy="457200"/>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9.5</a:t>
            </a:r>
          </a:p>
        </p:txBody>
      </p:sp>
      <p:sp>
        <p:nvSpPr>
          <p:cNvPr id="25" name="Exp name 314"/>
          <p:cNvSpPr txBox="1"/>
          <p:nvPr/>
        </p:nvSpPr>
        <p:spPr>
          <a:xfrm>
            <a:off x="1417320" y="2971800"/>
            <a:ext cx="2377440" cy="566928"/>
          </a:xfrm>
          <a:prstGeom prst="rect">
            <a:avLst/>
          </a:prstGeom>
          <a:noFill/>
        </p:spPr>
        <p:txBody>
          <a:bodyPr wrap="square" lIns="36576" tIns="36576" rIns="36576" bIns="36576" anchor="t">
            <a:spAutoFit/>
          </a:bodyPr>
          <a:lstStyle/>
          <a:p>
            <a:pPr algn="l">
              <a:lnSpc>
                <a:spcPct val="108000"/>
              </a:lnSpc>
              <a:spcAft>
                <a:spcPts val="0"/>
              </a:spcAft>
            </a:pPr>
            <a:r>
              <a:rPr sz="1450" b="1" i="0">
                <a:solidFill>
                  <a:srgbClr val="1F1A1B"/>
                </a:solidFill>
                <a:latin typeface="Bahnschrift"/>
              </a:rPr>
              <a:t>Readability</a:t>
            </a:r>
          </a:p>
          <a:p>
            <a:pPr algn="l">
              <a:lnSpc>
                <a:spcPct val="108000"/>
              </a:lnSpc>
            </a:pPr>
            <a:r>
              <a:rPr sz="1100" b="0" i="0">
                <a:solidFill>
                  <a:srgbClr val="857A72"/>
                </a:solidFill>
                <a:latin typeface="Calibri"/>
              </a:rPr>
              <a:t>a non-expert could follow it</a:t>
            </a:r>
          </a:p>
        </p:txBody>
      </p:sp>
      <p:sp>
        <p:nvSpPr>
          <p:cNvPr id="26" name="Exp track 315"/>
          <p:cNvSpPr/>
          <p:nvPr/>
        </p:nvSpPr>
        <p:spPr>
          <a:xfrm>
            <a:off x="3886200" y="3099816"/>
            <a:ext cx="2011680" cy="256032"/>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Exp bar 316"/>
          <p:cNvSpPr/>
          <p:nvPr/>
        </p:nvSpPr>
        <p:spPr>
          <a:xfrm>
            <a:off x="3886200" y="3099816"/>
            <a:ext cx="1810512" cy="256032"/>
          </a:xfrm>
          <a:prstGeom prst="roundRect">
            <a:avLst>
              <a:gd name="adj" fmla="val 40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Exp value 317"/>
          <p:cNvSpPr txBox="1"/>
          <p:nvPr/>
        </p:nvSpPr>
        <p:spPr>
          <a:xfrm>
            <a:off x="5989320" y="2990088"/>
            <a:ext cx="822960" cy="457200"/>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9.0</a:t>
            </a:r>
          </a:p>
        </p:txBody>
      </p:sp>
      <p:sp>
        <p:nvSpPr>
          <p:cNvPr id="29" name="Exp name 318"/>
          <p:cNvSpPr txBox="1"/>
          <p:nvPr/>
        </p:nvSpPr>
        <p:spPr>
          <a:xfrm>
            <a:off x="1417320" y="3703320"/>
            <a:ext cx="2377440" cy="566928"/>
          </a:xfrm>
          <a:prstGeom prst="rect">
            <a:avLst/>
          </a:prstGeom>
          <a:noFill/>
        </p:spPr>
        <p:txBody>
          <a:bodyPr wrap="square" lIns="36576" tIns="36576" rIns="36576" bIns="36576" anchor="t">
            <a:spAutoFit/>
          </a:bodyPr>
          <a:lstStyle/>
          <a:p>
            <a:pPr algn="l">
              <a:lnSpc>
                <a:spcPct val="108000"/>
              </a:lnSpc>
              <a:spcAft>
                <a:spcPts val="0"/>
              </a:spcAft>
            </a:pPr>
            <a:r>
              <a:rPr sz="1450" b="1" i="0">
                <a:solidFill>
                  <a:srgbClr val="1F1A1B"/>
                </a:solidFill>
                <a:latin typeface="Bahnschrift"/>
              </a:rPr>
              <a:t>Usefulness of advice</a:t>
            </a:r>
          </a:p>
          <a:p>
            <a:pPr algn="l">
              <a:lnSpc>
                <a:spcPct val="108000"/>
              </a:lnSpc>
            </a:pPr>
            <a:r>
              <a:rPr sz="1100" b="0" i="0">
                <a:solidFill>
                  <a:srgbClr val="857A72"/>
                </a:solidFill>
                <a:latin typeface="Calibri"/>
              </a:rPr>
              <a:t>clear next steps</a:t>
            </a:r>
          </a:p>
        </p:txBody>
      </p:sp>
      <p:sp>
        <p:nvSpPr>
          <p:cNvPr id="30" name="Exp track 319"/>
          <p:cNvSpPr/>
          <p:nvPr/>
        </p:nvSpPr>
        <p:spPr>
          <a:xfrm>
            <a:off x="3886200" y="3831335"/>
            <a:ext cx="2011680" cy="256032"/>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Exp bar 320"/>
          <p:cNvSpPr/>
          <p:nvPr/>
        </p:nvSpPr>
        <p:spPr>
          <a:xfrm>
            <a:off x="3886200" y="3831335"/>
            <a:ext cx="1770278" cy="256032"/>
          </a:xfrm>
          <a:prstGeom prst="roundRect">
            <a:avLst>
              <a:gd name="adj" fmla="val 40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2" name="Exp value 321"/>
          <p:cNvSpPr txBox="1"/>
          <p:nvPr/>
        </p:nvSpPr>
        <p:spPr>
          <a:xfrm>
            <a:off x="5989320" y="3721607"/>
            <a:ext cx="822960" cy="457200"/>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8.8</a:t>
            </a:r>
          </a:p>
        </p:txBody>
      </p:sp>
      <p:sp>
        <p:nvSpPr>
          <p:cNvPr id="33" name="Exp name 322"/>
          <p:cNvSpPr txBox="1"/>
          <p:nvPr/>
        </p:nvSpPr>
        <p:spPr>
          <a:xfrm>
            <a:off x="1417320" y="4434840"/>
            <a:ext cx="2377440" cy="566928"/>
          </a:xfrm>
          <a:prstGeom prst="rect">
            <a:avLst/>
          </a:prstGeom>
          <a:noFill/>
        </p:spPr>
        <p:txBody>
          <a:bodyPr wrap="square" lIns="36576" tIns="36576" rIns="36576" bIns="36576" anchor="t">
            <a:spAutoFit/>
          </a:bodyPr>
          <a:lstStyle/>
          <a:p>
            <a:pPr algn="l">
              <a:lnSpc>
                <a:spcPct val="108000"/>
              </a:lnSpc>
              <a:spcAft>
                <a:spcPts val="0"/>
              </a:spcAft>
            </a:pPr>
            <a:r>
              <a:rPr sz="1450" b="1" i="0">
                <a:solidFill>
                  <a:srgbClr val="1F1A1B"/>
                </a:solidFill>
                <a:latin typeface="Bahnschrift"/>
              </a:rPr>
              <a:t>Speed</a:t>
            </a:r>
          </a:p>
          <a:p>
            <a:pPr algn="l">
              <a:lnSpc>
                <a:spcPct val="108000"/>
              </a:lnSpc>
            </a:pPr>
            <a:r>
              <a:rPr sz="1100" b="0" i="0">
                <a:solidFill>
                  <a:srgbClr val="857A72"/>
                </a:solidFill>
                <a:latin typeface="Calibri"/>
              </a:rPr>
              <a:t>Gemini ≈1.2 s, Mistral ≈2.0 s</a:t>
            </a:r>
          </a:p>
        </p:txBody>
      </p:sp>
      <p:sp>
        <p:nvSpPr>
          <p:cNvPr id="34" name="Exp track 323"/>
          <p:cNvSpPr/>
          <p:nvPr/>
        </p:nvSpPr>
        <p:spPr>
          <a:xfrm>
            <a:off x="3886200" y="4562855"/>
            <a:ext cx="2011680" cy="256032"/>
          </a:xfrm>
          <a:prstGeom prst="roundRect">
            <a:avLst>
              <a:gd name="adj" fmla="val 40000"/>
            </a:avLst>
          </a:prstGeom>
          <a:solidFill>
            <a:srgbClr val="E4DAC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5" name="Exp bar 324"/>
          <p:cNvSpPr/>
          <p:nvPr/>
        </p:nvSpPr>
        <p:spPr>
          <a:xfrm>
            <a:off x="3886200" y="4562855"/>
            <a:ext cx="1709928" cy="256032"/>
          </a:xfrm>
          <a:prstGeom prst="roundRect">
            <a:avLst>
              <a:gd name="adj" fmla="val 40000"/>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Exp value 325"/>
          <p:cNvSpPr txBox="1"/>
          <p:nvPr/>
        </p:nvSpPr>
        <p:spPr>
          <a:xfrm>
            <a:off x="5989320" y="4453127"/>
            <a:ext cx="822960" cy="457200"/>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8.5</a:t>
            </a:r>
          </a:p>
        </p:txBody>
      </p:sp>
      <p:pic>
        <p:nvPicPr>
          <p:cNvPr id="37" name="Alert screenshot 326" descr="image11.png"/>
          <p:cNvPicPr>
            <a:picLocks noChangeAspect="1"/>
          </p:cNvPicPr>
          <p:nvPr/>
        </p:nvPicPr>
        <p:blipFill>
          <a:blip r:embed="rId3"/>
          <a:stretch>
            <a:fillRect/>
          </a:stretch>
        </p:blipFill>
        <p:spPr>
          <a:xfrm>
            <a:off x="1417320" y="5212080"/>
            <a:ext cx="1234245" cy="1115568"/>
          </a:xfrm>
          <a:prstGeom prst="rect">
            <a:avLst/>
          </a:prstGeom>
        </p:spPr>
      </p:pic>
      <p:sp>
        <p:nvSpPr>
          <p:cNvPr id="38" name="Alert caption 327"/>
          <p:cNvSpPr txBox="1"/>
          <p:nvPr/>
        </p:nvSpPr>
        <p:spPr>
          <a:xfrm>
            <a:off x="2788920" y="5321808"/>
            <a:ext cx="4023360" cy="914400"/>
          </a:xfrm>
          <a:prstGeom prst="rect">
            <a:avLst/>
          </a:prstGeom>
          <a:noFill/>
        </p:spPr>
        <p:txBody>
          <a:bodyPr wrap="square" lIns="36576" tIns="36576" rIns="36576" bIns="36576" anchor="t">
            <a:spAutoFit/>
          </a:bodyPr>
          <a:lstStyle/>
          <a:p>
            <a:pPr algn="l">
              <a:lnSpc>
                <a:spcPct val="100000"/>
              </a:lnSpc>
            </a:pPr>
            <a:r>
              <a:rPr sz="1150" b="0" i="0">
                <a:solidFill>
                  <a:srgbClr val="857A72"/>
                </a:solidFill>
                <a:latin typeface="Calibri"/>
              </a:rPr>
              <a:t>The prototype's real-time alert, with Block, Protect and Allow. A historical interface illustration.</a:t>
            </a:r>
          </a:p>
        </p:txBody>
      </p:sp>
      <p:sp>
        <p:nvSpPr>
          <p:cNvPr id="39" name="Obj label 328"/>
          <p:cNvSpPr txBox="1"/>
          <p:nvPr/>
        </p:nvSpPr>
        <p:spPr>
          <a:xfrm>
            <a:off x="7040880" y="1828800"/>
            <a:ext cx="4572000" cy="320040"/>
          </a:xfrm>
          <a:prstGeom prst="rect">
            <a:avLst/>
          </a:prstGeom>
          <a:noFill/>
        </p:spPr>
        <p:txBody>
          <a:bodyPr wrap="square" lIns="36576" tIns="36576" rIns="36576" bIns="36576" anchor="t">
            <a:spAutoFit/>
          </a:bodyPr>
          <a:lstStyle/>
          <a:p>
            <a:pPr algn="l">
              <a:lnSpc>
                <a:spcPct val="108000"/>
              </a:lnSpc>
            </a:pPr>
            <a:r>
              <a:rPr sz="1100" b="1" i="0">
                <a:solidFill>
                  <a:srgbClr val="C77A1E"/>
                </a:solidFill>
                <a:latin typeface="Consolas"/>
              </a:rPr>
              <a:t>OBJECTIVES MET  ·  Table 4.8</a:t>
            </a:r>
          </a:p>
        </p:txBody>
      </p:sp>
      <p:grpSp>
        <p:nvGrpSpPr>
          <p:cNvPr id="45" name="Objective 329"/>
          <p:cNvGrpSpPr/>
          <p:nvPr/>
        </p:nvGrpSpPr>
        <p:grpSpPr>
          <a:xfrm>
            <a:off x="7040880" y="2240280"/>
            <a:ext cx="4602175" cy="731520"/>
            <a:chOff x="7040880" y="2240280"/>
            <a:chExt cx="4602175" cy="731520"/>
          </a:xfrm>
        </p:grpSpPr>
        <p:sp>
          <p:nvSpPr>
            <p:cNvPr id="40" name="Obj bg"/>
            <p:cNvSpPr/>
            <p:nvPr/>
          </p:nvSpPr>
          <p:spPr>
            <a:xfrm>
              <a:off x="7040880" y="2240280"/>
              <a:ext cx="4602175" cy="731520"/>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1" name="Obj text"/>
            <p:cNvSpPr txBox="1"/>
            <p:nvPr/>
          </p:nvSpPr>
          <p:spPr>
            <a:xfrm>
              <a:off x="7205472" y="2276856"/>
              <a:ext cx="2377440" cy="676656"/>
            </a:xfrm>
            <a:prstGeom prst="rect">
              <a:avLst/>
            </a:prstGeom>
            <a:noFill/>
          </p:spPr>
          <p:txBody>
            <a:bodyPr wrap="square" lIns="36576" tIns="36576" rIns="36576" bIns="36576" anchor="ctr">
              <a:spAutoFit/>
            </a:bodyPr>
            <a:lstStyle/>
            <a:p>
              <a:pPr algn="l">
                <a:lnSpc>
                  <a:spcPct val="108000"/>
                </a:lnSpc>
                <a:spcAft>
                  <a:spcPts val="0"/>
                </a:spcAft>
              </a:pPr>
              <a:r>
                <a:rPr sz="1450" b="1" i="0">
                  <a:solidFill>
                    <a:srgbClr val="1F1A1B"/>
                  </a:solidFill>
                  <a:latin typeface="Bahnschrift"/>
                </a:rPr>
                <a:t>Real-time analysis</a:t>
              </a:r>
            </a:p>
            <a:p>
              <a:pPr algn="l">
                <a:lnSpc>
                  <a:spcPct val="108000"/>
                </a:lnSpc>
              </a:pPr>
              <a:r>
                <a:rPr sz="1100" b="0" i="0">
                  <a:solidFill>
                    <a:srgbClr val="857A72"/>
                  </a:solidFill>
                  <a:latin typeface="Calibri"/>
                </a:rPr>
                <a:t>warm mean ≤ 4.00 s</a:t>
              </a:r>
            </a:p>
          </p:txBody>
        </p:sp>
        <p:sp>
          <p:nvSpPr>
            <p:cNvPr id="42" name="Obj result"/>
            <p:cNvSpPr txBox="1"/>
            <p:nvPr/>
          </p:nvSpPr>
          <p:spPr>
            <a:xfrm>
              <a:off x="9555480" y="2240280"/>
              <a:ext cx="1051560" cy="731520"/>
            </a:xfrm>
            <a:prstGeom prst="rect">
              <a:avLst/>
            </a:prstGeom>
            <a:noFill/>
          </p:spPr>
          <p:txBody>
            <a:bodyPr wrap="square" lIns="36576" tIns="36576" rIns="36576" bIns="36576" anchor="ctr">
              <a:spAutoFit/>
            </a:bodyPr>
            <a:lstStyle/>
            <a:p>
              <a:pPr algn="r">
                <a:lnSpc>
                  <a:spcPct val="108000"/>
                </a:lnSpc>
              </a:pPr>
              <a:r>
                <a:rPr sz="1600" b="1" i="0">
                  <a:solidFill>
                    <a:srgbClr val="1F1A1B"/>
                  </a:solidFill>
                  <a:latin typeface="Bahnschrift"/>
                </a:rPr>
                <a:t>4.05 s</a:t>
              </a:r>
            </a:p>
          </p:txBody>
        </p:sp>
        <p:sp>
          <p:nvSpPr>
            <p:cNvPr id="43" name="Obj badge"/>
            <p:cNvSpPr/>
            <p:nvPr/>
          </p:nvSpPr>
          <p:spPr>
            <a:xfrm>
              <a:off x="10744200" y="2423160"/>
              <a:ext cx="822960" cy="365760"/>
            </a:xfrm>
            <a:prstGeom prst="roundRect">
              <a:avLst>
                <a:gd name="adj" fmla="val 50000"/>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4" name="Obj badge text"/>
            <p:cNvSpPr txBox="1"/>
            <p:nvPr/>
          </p:nvSpPr>
          <p:spPr>
            <a:xfrm>
              <a:off x="10744200" y="2423160"/>
              <a:ext cx="822960" cy="365760"/>
            </a:xfrm>
            <a:prstGeom prst="rect">
              <a:avLst/>
            </a:prstGeom>
            <a:noFill/>
          </p:spPr>
          <p:txBody>
            <a:bodyPr wrap="square" lIns="0" tIns="0" rIns="0" bIns="0" anchor="ctr">
              <a:spAutoFit/>
            </a:bodyPr>
            <a:lstStyle/>
            <a:p>
              <a:pPr algn="ctr">
                <a:lnSpc>
                  <a:spcPct val="108000"/>
                </a:lnSpc>
              </a:pPr>
              <a:r>
                <a:rPr sz="850" b="1" i="0">
                  <a:solidFill>
                    <a:srgbClr val="EFE9DD"/>
                  </a:solidFill>
                  <a:latin typeface="Consolas"/>
                </a:rPr>
                <a:t>NOT MET</a:t>
              </a:r>
            </a:p>
          </p:txBody>
        </p:sp>
      </p:grpSp>
      <p:grpSp>
        <p:nvGrpSpPr>
          <p:cNvPr id="51" name="Objective 330"/>
          <p:cNvGrpSpPr/>
          <p:nvPr/>
        </p:nvGrpSpPr>
        <p:grpSpPr>
          <a:xfrm>
            <a:off x="7040880" y="3044952"/>
            <a:ext cx="4602175" cy="731520"/>
            <a:chOff x="7040880" y="3044952"/>
            <a:chExt cx="4602175" cy="731520"/>
          </a:xfrm>
        </p:grpSpPr>
        <p:sp>
          <p:nvSpPr>
            <p:cNvPr id="46" name="Obj bg"/>
            <p:cNvSpPr/>
            <p:nvPr/>
          </p:nvSpPr>
          <p:spPr>
            <a:xfrm>
              <a:off x="7040880" y="3044952"/>
              <a:ext cx="4602175" cy="731520"/>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7" name="Obj text"/>
            <p:cNvSpPr txBox="1"/>
            <p:nvPr/>
          </p:nvSpPr>
          <p:spPr>
            <a:xfrm>
              <a:off x="7205472" y="3081528"/>
              <a:ext cx="2377440" cy="676656"/>
            </a:xfrm>
            <a:prstGeom prst="rect">
              <a:avLst/>
            </a:prstGeom>
            <a:noFill/>
          </p:spPr>
          <p:txBody>
            <a:bodyPr wrap="square" lIns="36576" tIns="36576" rIns="36576" bIns="36576" anchor="ctr">
              <a:spAutoFit/>
            </a:bodyPr>
            <a:lstStyle/>
            <a:p>
              <a:pPr algn="l">
                <a:lnSpc>
                  <a:spcPct val="108000"/>
                </a:lnSpc>
                <a:spcAft>
                  <a:spcPts val="0"/>
                </a:spcAft>
              </a:pPr>
              <a:r>
                <a:rPr sz="1450" b="1" i="0">
                  <a:solidFill>
                    <a:srgbClr val="1F1A1B"/>
                  </a:solidFill>
                  <a:latin typeface="Bahnschrift"/>
                </a:rPr>
                <a:t>Accurate detection</a:t>
              </a:r>
            </a:p>
            <a:p>
              <a:pPr algn="l">
                <a:lnSpc>
                  <a:spcPct val="108000"/>
                </a:lnSpc>
              </a:pPr>
              <a:r>
                <a:rPr sz="1100" b="0" i="0">
                  <a:solidFill>
                    <a:srgbClr val="857A72"/>
                  </a:solidFill>
                  <a:latin typeface="Calibri"/>
                </a:rPr>
                <a:t>above 90% accuracy</a:t>
              </a:r>
            </a:p>
          </p:txBody>
        </p:sp>
        <p:sp>
          <p:nvSpPr>
            <p:cNvPr id="48" name="Obj result"/>
            <p:cNvSpPr txBox="1"/>
            <p:nvPr/>
          </p:nvSpPr>
          <p:spPr>
            <a:xfrm>
              <a:off x="9555480" y="3044952"/>
              <a:ext cx="1051560" cy="731520"/>
            </a:xfrm>
            <a:prstGeom prst="rect">
              <a:avLst/>
            </a:prstGeom>
            <a:noFill/>
          </p:spPr>
          <p:txBody>
            <a:bodyPr wrap="square" lIns="36576" tIns="36576" rIns="36576" bIns="36576" anchor="ctr">
              <a:spAutoFit/>
            </a:bodyPr>
            <a:lstStyle/>
            <a:p>
              <a:pPr algn="r">
                <a:lnSpc>
                  <a:spcPct val="108000"/>
                </a:lnSpc>
              </a:pPr>
              <a:r>
                <a:rPr sz="1600" b="1" i="0">
                  <a:solidFill>
                    <a:srgbClr val="1F1A1B"/>
                  </a:solidFill>
                  <a:latin typeface="Bahnschrift"/>
                </a:rPr>
                <a:t>94.7%</a:t>
              </a:r>
            </a:p>
          </p:txBody>
        </p:sp>
        <p:sp>
          <p:nvSpPr>
            <p:cNvPr id="49" name="Obj badge"/>
            <p:cNvSpPr/>
            <p:nvPr/>
          </p:nvSpPr>
          <p:spPr>
            <a:xfrm>
              <a:off x="10744200" y="3227832"/>
              <a:ext cx="822960" cy="365760"/>
            </a:xfrm>
            <a:prstGeom prst="roundRect">
              <a:avLst>
                <a:gd name="adj" fmla="val 50000"/>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0" name="Obj badge text"/>
            <p:cNvSpPr txBox="1"/>
            <p:nvPr/>
          </p:nvSpPr>
          <p:spPr>
            <a:xfrm>
              <a:off x="10744200" y="3227832"/>
              <a:ext cx="822960" cy="365760"/>
            </a:xfrm>
            <a:prstGeom prst="rect">
              <a:avLst/>
            </a:prstGeom>
            <a:noFill/>
          </p:spPr>
          <p:txBody>
            <a:bodyPr wrap="square" lIns="0" tIns="0" rIns="0" bIns="0" anchor="ctr">
              <a:spAutoFit/>
            </a:bodyPr>
            <a:lstStyle/>
            <a:p>
              <a:pPr algn="ctr">
                <a:lnSpc>
                  <a:spcPct val="108000"/>
                </a:lnSpc>
              </a:pPr>
              <a:r>
                <a:rPr sz="1000" b="1" i="0">
                  <a:solidFill>
                    <a:srgbClr val="EFE9DD"/>
                  </a:solidFill>
                  <a:latin typeface="Consolas"/>
                </a:rPr>
                <a:t>MET</a:t>
              </a:r>
            </a:p>
          </p:txBody>
        </p:sp>
      </p:grpSp>
      <p:grpSp>
        <p:nvGrpSpPr>
          <p:cNvPr id="57" name="Objective 331"/>
          <p:cNvGrpSpPr/>
          <p:nvPr/>
        </p:nvGrpSpPr>
        <p:grpSpPr>
          <a:xfrm>
            <a:off x="7040880" y="3849624"/>
            <a:ext cx="4602175" cy="731520"/>
            <a:chOff x="7040880" y="3849624"/>
            <a:chExt cx="4602175" cy="731520"/>
          </a:xfrm>
        </p:grpSpPr>
        <p:sp>
          <p:nvSpPr>
            <p:cNvPr id="52" name="Obj bg"/>
            <p:cNvSpPr/>
            <p:nvPr/>
          </p:nvSpPr>
          <p:spPr>
            <a:xfrm>
              <a:off x="7040880" y="3849624"/>
              <a:ext cx="4602175" cy="731520"/>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3" name="Obj text"/>
            <p:cNvSpPr txBox="1"/>
            <p:nvPr/>
          </p:nvSpPr>
          <p:spPr>
            <a:xfrm>
              <a:off x="7205472" y="3886200"/>
              <a:ext cx="2377440" cy="676656"/>
            </a:xfrm>
            <a:prstGeom prst="rect">
              <a:avLst/>
            </a:prstGeom>
            <a:noFill/>
          </p:spPr>
          <p:txBody>
            <a:bodyPr wrap="square" lIns="36576" tIns="36576" rIns="36576" bIns="36576" anchor="ctr">
              <a:spAutoFit/>
            </a:bodyPr>
            <a:lstStyle/>
            <a:p>
              <a:pPr algn="l">
                <a:lnSpc>
                  <a:spcPct val="108000"/>
                </a:lnSpc>
                <a:spcAft>
                  <a:spcPts val="0"/>
                </a:spcAft>
              </a:pPr>
              <a:r>
                <a:rPr sz="1450" b="1" i="0">
                  <a:solidFill>
                    <a:srgbClr val="1F1A1B"/>
                  </a:solidFill>
                  <a:latin typeface="Bahnschrift"/>
                </a:rPr>
                <a:t>Few false alarms</a:t>
              </a:r>
            </a:p>
            <a:p>
              <a:pPr algn="l">
                <a:lnSpc>
                  <a:spcPct val="108000"/>
                </a:lnSpc>
              </a:pPr>
              <a:r>
                <a:rPr sz="1100" b="0" i="0">
                  <a:solidFill>
                    <a:srgbClr val="857A72"/>
                  </a:solidFill>
                  <a:latin typeface="Calibri"/>
                </a:rPr>
                <a:t>keep false alarms low</a:t>
              </a:r>
            </a:p>
          </p:txBody>
        </p:sp>
        <p:sp>
          <p:nvSpPr>
            <p:cNvPr id="54" name="Obj result"/>
            <p:cNvSpPr txBox="1"/>
            <p:nvPr/>
          </p:nvSpPr>
          <p:spPr>
            <a:xfrm>
              <a:off x="9555480" y="3849624"/>
              <a:ext cx="1051560" cy="731520"/>
            </a:xfrm>
            <a:prstGeom prst="rect">
              <a:avLst/>
            </a:prstGeom>
            <a:noFill/>
          </p:spPr>
          <p:txBody>
            <a:bodyPr wrap="square" lIns="36576" tIns="36576" rIns="36576" bIns="36576" anchor="ctr">
              <a:spAutoFit/>
            </a:bodyPr>
            <a:lstStyle/>
            <a:p>
              <a:pPr algn="r">
                <a:lnSpc>
                  <a:spcPct val="108000"/>
                </a:lnSpc>
              </a:pPr>
              <a:r>
                <a:rPr sz="1600" b="1" i="0">
                  <a:solidFill>
                    <a:srgbClr val="1F1A1B"/>
                  </a:solidFill>
                  <a:latin typeface="Bahnschrift"/>
                </a:rPr>
                <a:t>2.0%</a:t>
              </a:r>
            </a:p>
          </p:txBody>
        </p:sp>
        <p:sp>
          <p:nvSpPr>
            <p:cNvPr id="55" name="Obj badge"/>
            <p:cNvSpPr/>
            <p:nvPr/>
          </p:nvSpPr>
          <p:spPr>
            <a:xfrm>
              <a:off x="10744200" y="4032504"/>
              <a:ext cx="822960" cy="365760"/>
            </a:xfrm>
            <a:prstGeom prst="roundRect">
              <a:avLst>
                <a:gd name="adj" fmla="val 50000"/>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6" name="Obj badge text"/>
            <p:cNvSpPr txBox="1"/>
            <p:nvPr/>
          </p:nvSpPr>
          <p:spPr>
            <a:xfrm>
              <a:off x="10744200" y="4032504"/>
              <a:ext cx="822960" cy="365760"/>
            </a:xfrm>
            <a:prstGeom prst="rect">
              <a:avLst/>
            </a:prstGeom>
            <a:noFill/>
          </p:spPr>
          <p:txBody>
            <a:bodyPr wrap="square" lIns="0" tIns="0" rIns="0" bIns="0" anchor="ctr">
              <a:spAutoFit/>
            </a:bodyPr>
            <a:lstStyle/>
            <a:p>
              <a:pPr algn="ctr">
                <a:lnSpc>
                  <a:spcPct val="108000"/>
                </a:lnSpc>
              </a:pPr>
              <a:r>
                <a:rPr sz="1000" b="1" i="0">
                  <a:solidFill>
                    <a:srgbClr val="EFE9DD"/>
                  </a:solidFill>
                  <a:latin typeface="Consolas"/>
                </a:rPr>
                <a:t>MET</a:t>
              </a:r>
            </a:p>
          </p:txBody>
        </p:sp>
      </p:grpSp>
      <p:grpSp>
        <p:nvGrpSpPr>
          <p:cNvPr id="63" name="Objective 332"/>
          <p:cNvGrpSpPr/>
          <p:nvPr/>
        </p:nvGrpSpPr>
        <p:grpSpPr>
          <a:xfrm>
            <a:off x="7040880" y="4654296"/>
            <a:ext cx="4602175" cy="731520"/>
            <a:chOff x="7040880" y="4654296"/>
            <a:chExt cx="4602175" cy="731520"/>
          </a:xfrm>
        </p:grpSpPr>
        <p:sp>
          <p:nvSpPr>
            <p:cNvPr id="58" name="Obj bg"/>
            <p:cNvSpPr/>
            <p:nvPr/>
          </p:nvSpPr>
          <p:spPr>
            <a:xfrm>
              <a:off x="7040880" y="4654296"/>
              <a:ext cx="4602175" cy="731520"/>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9" name="Obj text"/>
            <p:cNvSpPr txBox="1"/>
            <p:nvPr/>
          </p:nvSpPr>
          <p:spPr>
            <a:xfrm>
              <a:off x="7205472" y="4690872"/>
              <a:ext cx="2377440" cy="676656"/>
            </a:xfrm>
            <a:prstGeom prst="rect">
              <a:avLst/>
            </a:prstGeom>
            <a:noFill/>
          </p:spPr>
          <p:txBody>
            <a:bodyPr wrap="square" lIns="36576" tIns="36576" rIns="36576" bIns="36576" anchor="ctr">
              <a:spAutoFit/>
            </a:bodyPr>
            <a:lstStyle/>
            <a:p>
              <a:pPr algn="l">
                <a:lnSpc>
                  <a:spcPct val="108000"/>
                </a:lnSpc>
                <a:spcAft>
                  <a:spcPts val="0"/>
                </a:spcAft>
              </a:pPr>
              <a:r>
                <a:rPr sz="1450" b="1" i="0">
                  <a:solidFill>
                    <a:srgbClr val="1F1A1B"/>
                  </a:solidFill>
                  <a:latin typeface="Bahnschrift"/>
                </a:rPr>
                <a:t>Clear explanations</a:t>
              </a:r>
            </a:p>
            <a:p>
              <a:pPr algn="l">
                <a:lnSpc>
                  <a:spcPct val="108000"/>
                </a:lnSpc>
              </a:pPr>
              <a:r>
                <a:rPr sz="1100" b="0" i="0">
                  <a:solidFill>
                    <a:srgbClr val="857A72"/>
                  </a:solidFill>
                  <a:latin typeface="Calibri"/>
                </a:rPr>
                <a:t>readable by non-experts</a:t>
              </a:r>
            </a:p>
          </p:txBody>
        </p:sp>
        <p:sp>
          <p:nvSpPr>
            <p:cNvPr id="60" name="Obj result"/>
            <p:cNvSpPr txBox="1"/>
            <p:nvPr/>
          </p:nvSpPr>
          <p:spPr>
            <a:xfrm>
              <a:off x="9555480" y="4654296"/>
              <a:ext cx="1051560" cy="731520"/>
            </a:xfrm>
            <a:prstGeom prst="rect">
              <a:avLst/>
            </a:prstGeom>
            <a:noFill/>
          </p:spPr>
          <p:txBody>
            <a:bodyPr wrap="square" lIns="36576" tIns="36576" rIns="36576" bIns="36576" anchor="ctr">
              <a:spAutoFit/>
            </a:bodyPr>
            <a:lstStyle/>
            <a:p>
              <a:pPr algn="r">
                <a:lnSpc>
                  <a:spcPct val="108000"/>
                </a:lnSpc>
              </a:pPr>
              <a:r>
                <a:rPr sz="1600" b="1" i="0">
                  <a:solidFill>
                    <a:srgbClr val="1F1A1B"/>
                  </a:solidFill>
                  <a:latin typeface="Bahnschrift"/>
                </a:rPr>
                <a:t>9.0 / 10</a:t>
              </a:r>
            </a:p>
          </p:txBody>
        </p:sp>
        <p:sp>
          <p:nvSpPr>
            <p:cNvPr id="61" name="Obj badge"/>
            <p:cNvSpPr/>
            <p:nvPr/>
          </p:nvSpPr>
          <p:spPr>
            <a:xfrm>
              <a:off x="10744200" y="4837176"/>
              <a:ext cx="822960" cy="365760"/>
            </a:xfrm>
            <a:prstGeom prst="roundRect">
              <a:avLst>
                <a:gd name="adj" fmla="val 50000"/>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2" name="Obj badge text"/>
            <p:cNvSpPr txBox="1"/>
            <p:nvPr/>
          </p:nvSpPr>
          <p:spPr>
            <a:xfrm>
              <a:off x="10744200" y="4837176"/>
              <a:ext cx="822960" cy="365760"/>
            </a:xfrm>
            <a:prstGeom prst="rect">
              <a:avLst/>
            </a:prstGeom>
            <a:noFill/>
          </p:spPr>
          <p:txBody>
            <a:bodyPr wrap="square" lIns="0" tIns="0" rIns="0" bIns="0" anchor="ctr">
              <a:spAutoFit/>
            </a:bodyPr>
            <a:lstStyle/>
            <a:p>
              <a:pPr algn="ctr">
                <a:lnSpc>
                  <a:spcPct val="108000"/>
                </a:lnSpc>
              </a:pPr>
              <a:r>
                <a:rPr sz="1000" b="1" i="0">
                  <a:solidFill>
                    <a:srgbClr val="EFE9DD"/>
                  </a:solidFill>
                  <a:latin typeface="Consolas"/>
                </a:rPr>
                <a:t>MET</a:t>
              </a:r>
            </a:p>
          </p:txBody>
        </p:sp>
      </p:grpSp>
      <p:grpSp>
        <p:nvGrpSpPr>
          <p:cNvPr id="69" name="Objective 333"/>
          <p:cNvGrpSpPr/>
          <p:nvPr/>
        </p:nvGrpSpPr>
        <p:grpSpPr>
          <a:xfrm>
            <a:off x="7040880" y="5458968"/>
            <a:ext cx="4602175" cy="731520"/>
            <a:chOff x="7040880" y="5458968"/>
            <a:chExt cx="4602175" cy="731520"/>
          </a:xfrm>
        </p:grpSpPr>
        <p:sp>
          <p:nvSpPr>
            <p:cNvPr id="64" name="Obj bg"/>
            <p:cNvSpPr/>
            <p:nvPr/>
          </p:nvSpPr>
          <p:spPr>
            <a:xfrm>
              <a:off x="7040880" y="5458968"/>
              <a:ext cx="4602175" cy="731520"/>
            </a:xfrm>
            <a:prstGeom prst="roundRect">
              <a:avLst>
                <a:gd name="adj" fmla="val 10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5" name="Obj text"/>
            <p:cNvSpPr txBox="1"/>
            <p:nvPr/>
          </p:nvSpPr>
          <p:spPr>
            <a:xfrm>
              <a:off x="7205472" y="5495544"/>
              <a:ext cx="2377440" cy="676656"/>
            </a:xfrm>
            <a:prstGeom prst="rect">
              <a:avLst/>
            </a:prstGeom>
            <a:noFill/>
          </p:spPr>
          <p:txBody>
            <a:bodyPr wrap="square" lIns="36576" tIns="36576" rIns="36576" bIns="36576" anchor="ctr">
              <a:spAutoFit/>
            </a:bodyPr>
            <a:lstStyle/>
            <a:p>
              <a:pPr algn="l">
                <a:lnSpc>
                  <a:spcPct val="108000"/>
                </a:lnSpc>
                <a:spcAft>
                  <a:spcPts val="0"/>
                </a:spcAft>
              </a:pPr>
              <a:r>
                <a:rPr sz="1450" b="1" i="0">
                  <a:solidFill>
                    <a:srgbClr val="1F1A1B"/>
                  </a:solidFill>
                  <a:latin typeface="Bahnschrift"/>
                </a:rPr>
                <a:t>Reliable integrations</a:t>
              </a:r>
            </a:p>
            <a:p>
              <a:pPr algn="l">
                <a:lnSpc>
                  <a:spcPct val="108000"/>
                </a:lnSpc>
              </a:pPr>
              <a:r>
                <a:rPr sz="1100" b="0" i="0">
                  <a:solidFill>
                    <a:srgbClr val="857A72"/>
                  </a:solidFill>
                  <a:latin typeface="Calibri"/>
                </a:rPr>
                <a:t>stable cloud services</a:t>
              </a:r>
            </a:p>
          </p:txBody>
        </p:sp>
        <p:sp>
          <p:nvSpPr>
            <p:cNvPr id="66" name="Obj result"/>
            <p:cNvSpPr txBox="1"/>
            <p:nvPr/>
          </p:nvSpPr>
          <p:spPr>
            <a:xfrm>
              <a:off x="9555480" y="5458968"/>
              <a:ext cx="1051560" cy="731520"/>
            </a:xfrm>
            <a:prstGeom prst="rect">
              <a:avLst/>
            </a:prstGeom>
            <a:noFill/>
          </p:spPr>
          <p:txBody>
            <a:bodyPr wrap="square" lIns="36576" tIns="36576" rIns="36576" bIns="36576" anchor="ctr">
              <a:spAutoFit/>
            </a:bodyPr>
            <a:lstStyle/>
            <a:p>
              <a:pPr algn="r">
                <a:lnSpc>
                  <a:spcPct val="108000"/>
                </a:lnSpc>
              </a:pPr>
              <a:r>
                <a:rPr sz="1600" b="1" i="0">
                  <a:solidFill>
                    <a:srgbClr val="1F1A1B"/>
                  </a:solidFill>
                  <a:latin typeface="Bahnschrift"/>
                </a:rPr>
                <a:t>97.5%+</a:t>
              </a:r>
            </a:p>
          </p:txBody>
        </p:sp>
        <p:sp>
          <p:nvSpPr>
            <p:cNvPr id="67" name="Obj badge"/>
            <p:cNvSpPr/>
            <p:nvPr/>
          </p:nvSpPr>
          <p:spPr>
            <a:xfrm>
              <a:off x="10744200" y="5641848"/>
              <a:ext cx="822960" cy="365760"/>
            </a:xfrm>
            <a:prstGeom prst="roundRect">
              <a:avLst>
                <a:gd name="adj" fmla="val 50000"/>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8" name="Obj badge text"/>
            <p:cNvSpPr txBox="1"/>
            <p:nvPr/>
          </p:nvSpPr>
          <p:spPr>
            <a:xfrm>
              <a:off x="10744200" y="5641848"/>
              <a:ext cx="822960" cy="365760"/>
            </a:xfrm>
            <a:prstGeom prst="rect">
              <a:avLst/>
            </a:prstGeom>
            <a:noFill/>
          </p:spPr>
          <p:txBody>
            <a:bodyPr wrap="square" lIns="0" tIns="0" rIns="0" bIns="0" anchor="ctr">
              <a:spAutoFit/>
            </a:bodyPr>
            <a:lstStyle/>
            <a:p>
              <a:pPr algn="ctr">
                <a:lnSpc>
                  <a:spcPct val="108000"/>
                </a:lnSpc>
              </a:pPr>
              <a:r>
                <a:rPr sz="1000" b="1" i="0">
                  <a:solidFill>
                    <a:srgbClr val="EFE9DD"/>
                  </a:solidFill>
                  <a:latin typeface="Consolas"/>
                </a:rPr>
                <a:t>MET</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9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1750"/>
                            </p:stCondLst>
                            <p:childTnLst>
                              <p:par>
                                <p:cTn id="19" presetID="10" presetClass="entr" presetSubtype="0"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childTnLst>
                          </p:cTn>
                        </p:par>
                        <p:par>
                          <p:cTn id="22" fill="hold">
                            <p:stCondLst>
                              <p:cond delay="2050"/>
                            </p:stCondLst>
                            <p:childTnLst>
                              <p:par>
                                <p:cTn id="23" presetID="10" presetClass="entr" presetSubtype="0"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15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150"/>
                                        <p:tgtEl>
                                          <p:spTgt spid="22"/>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left)">
                                      <p:cBhvr>
                                        <p:cTn id="31" dur="500"/>
                                        <p:tgtEl>
                                          <p:spTgt spid="23"/>
                                        </p:tgtEl>
                                      </p:cBhvr>
                                    </p:animEffect>
                                  </p:childTnLst>
                                </p:cTn>
                              </p:par>
                              <p:par>
                                <p:cTn id="32" presetID="10" presetClass="entr" presetSubtype="0" fill="hold" grpId="0" nodeType="withEffect">
                                  <p:stCondLst>
                                    <p:cond delay="30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200"/>
                                        <p:tgtEl>
                                          <p:spTgt spid="24"/>
                                        </p:tgtEl>
                                      </p:cBhvr>
                                    </p:animEffect>
                                  </p:childTnLst>
                                </p:cTn>
                              </p:par>
                            </p:childTnLst>
                          </p:cTn>
                        </p:par>
                        <p:par>
                          <p:cTn id="35" fill="hold">
                            <p:stCondLst>
                              <p:cond delay="2550"/>
                            </p:stCondLst>
                            <p:childTnLst>
                              <p:par>
                                <p:cTn id="36" presetID="10" presetClass="entr" presetSubtype="0" fill="hold" grpId="0" nodeType="after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150"/>
                                        <p:tgtEl>
                                          <p:spTgt spid="2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50"/>
                                        <p:tgtEl>
                                          <p:spTgt spid="26"/>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left)">
                                      <p:cBhvr>
                                        <p:cTn id="44" dur="500"/>
                                        <p:tgtEl>
                                          <p:spTgt spid="27"/>
                                        </p:tgtEl>
                                      </p:cBhvr>
                                    </p:animEffect>
                                  </p:childTnLst>
                                </p:cTn>
                              </p:par>
                              <p:par>
                                <p:cTn id="45" presetID="10" presetClass="entr" presetSubtype="0" fill="hold" grpId="0" nodeType="withEffect">
                                  <p:stCondLst>
                                    <p:cond delay="30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200"/>
                                        <p:tgtEl>
                                          <p:spTgt spid="28"/>
                                        </p:tgtEl>
                                      </p:cBhvr>
                                    </p:animEffect>
                                  </p:childTnLst>
                                </p:cTn>
                              </p:par>
                            </p:childTnLst>
                          </p:cTn>
                        </p:par>
                        <p:par>
                          <p:cTn id="48" fill="hold">
                            <p:stCondLst>
                              <p:cond delay="3050"/>
                            </p:stCondLst>
                            <p:childTnLst>
                              <p:par>
                                <p:cTn id="49" presetID="10" presetClass="entr" presetSubtype="0"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150"/>
                                        <p:tgtEl>
                                          <p:spTgt spid="2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150"/>
                                        <p:tgtEl>
                                          <p:spTgt spid="30"/>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wipe(left)">
                                      <p:cBhvr>
                                        <p:cTn id="57" dur="500"/>
                                        <p:tgtEl>
                                          <p:spTgt spid="31"/>
                                        </p:tgtEl>
                                      </p:cBhvr>
                                    </p:animEffect>
                                  </p:childTnLst>
                                </p:cTn>
                              </p:par>
                              <p:par>
                                <p:cTn id="58" presetID="10" presetClass="entr" presetSubtype="0" fill="hold" grpId="0" nodeType="withEffect">
                                  <p:stCondLst>
                                    <p:cond delay="30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200"/>
                                        <p:tgtEl>
                                          <p:spTgt spid="32"/>
                                        </p:tgtEl>
                                      </p:cBhvr>
                                    </p:animEffect>
                                  </p:childTnLst>
                                </p:cTn>
                              </p:par>
                            </p:childTnLst>
                          </p:cTn>
                        </p:par>
                        <p:par>
                          <p:cTn id="61" fill="hold">
                            <p:stCondLst>
                              <p:cond delay="3550"/>
                            </p:stCondLst>
                            <p:childTnLst>
                              <p:par>
                                <p:cTn id="62" presetID="10" presetClass="entr" presetSubtype="0" fill="hold" grpId="0" nodeType="after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150"/>
                                        <p:tgtEl>
                                          <p:spTgt spid="3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150"/>
                                        <p:tgtEl>
                                          <p:spTgt spid="34"/>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wipe(left)">
                                      <p:cBhvr>
                                        <p:cTn id="70" dur="500"/>
                                        <p:tgtEl>
                                          <p:spTgt spid="35"/>
                                        </p:tgtEl>
                                      </p:cBhvr>
                                    </p:animEffect>
                                  </p:childTnLst>
                                </p:cTn>
                              </p:par>
                              <p:par>
                                <p:cTn id="71" presetID="10" presetClass="entr" presetSubtype="0" fill="hold" grpId="0" nodeType="withEffect">
                                  <p:stCondLst>
                                    <p:cond delay="30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200"/>
                                        <p:tgtEl>
                                          <p:spTgt spid="36"/>
                                        </p:tgtEl>
                                      </p:cBhvr>
                                    </p:animEffect>
                                  </p:childTnLst>
                                </p:cTn>
                              </p:par>
                            </p:childTnLst>
                          </p:cTn>
                        </p:par>
                        <p:par>
                          <p:cTn id="74" fill="hold">
                            <p:stCondLst>
                              <p:cond delay="4050"/>
                            </p:stCondLst>
                            <p:childTnLst>
                              <p:par>
                                <p:cTn id="75" presetID="53" presetClass="entr" presetSubtype="16" fill="hold" nodeType="afterEffect">
                                  <p:stCondLst>
                                    <p:cond delay="0"/>
                                  </p:stCondLst>
                                  <p:childTnLst>
                                    <p:set>
                                      <p:cBhvr>
                                        <p:cTn id="76" dur="1" fill="hold">
                                          <p:stCondLst>
                                            <p:cond delay="0"/>
                                          </p:stCondLst>
                                        </p:cTn>
                                        <p:tgtEl>
                                          <p:spTgt spid="37"/>
                                        </p:tgtEl>
                                        <p:attrNameLst>
                                          <p:attrName>style.visibility</p:attrName>
                                        </p:attrNameLst>
                                      </p:cBhvr>
                                      <p:to>
                                        <p:strVal val="visible"/>
                                      </p:to>
                                    </p:set>
                                    <p:anim calcmode="lin" valueType="num">
                                      <p:cBhvr>
                                        <p:cTn id="77" dur="400" fill="hold"/>
                                        <p:tgtEl>
                                          <p:spTgt spid="37"/>
                                        </p:tgtEl>
                                        <p:attrNameLst>
                                          <p:attrName>ppt_w</p:attrName>
                                        </p:attrNameLst>
                                      </p:cBhvr>
                                      <p:tavLst>
                                        <p:tav tm="0">
                                          <p:val>
                                            <p:fltVal val="0"/>
                                          </p:val>
                                        </p:tav>
                                        <p:tav tm="100000">
                                          <p:val>
                                            <p:strVal val="#ppt_w"/>
                                          </p:val>
                                        </p:tav>
                                      </p:tavLst>
                                    </p:anim>
                                    <p:anim calcmode="lin" valueType="num">
                                      <p:cBhvr>
                                        <p:cTn id="78" dur="400" fill="hold"/>
                                        <p:tgtEl>
                                          <p:spTgt spid="37"/>
                                        </p:tgtEl>
                                        <p:attrNameLst>
                                          <p:attrName>ppt_h</p:attrName>
                                        </p:attrNameLst>
                                      </p:cBhvr>
                                      <p:tavLst>
                                        <p:tav tm="0">
                                          <p:val>
                                            <p:fltVal val="0"/>
                                          </p:val>
                                        </p:tav>
                                        <p:tav tm="100000">
                                          <p:val>
                                            <p:strVal val="#ppt_h"/>
                                          </p:val>
                                        </p:tav>
                                      </p:tavLst>
                                    </p:anim>
                                    <p:animEffect transition="in" filter="fade">
                                      <p:cBhvr>
                                        <p:cTn id="79" dur="400"/>
                                        <p:tgtEl>
                                          <p:spTgt spid="3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300"/>
                                        <p:tgtEl>
                                          <p:spTgt spid="38"/>
                                        </p:tgtEl>
                                      </p:cBhvr>
                                    </p:animEffect>
                                  </p:childTnLst>
                                </p:cTn>
                              </p:par>
                            </p:childTnLst>
                          </p:cTn>
                        </p:par>
                        <p:par>
                          <p:cTn id="83" fill="hold">
                            <p:stCondLst>
                              <p:cond delay="4450"/>
                            </p:stCondLst>
                            <p:childTnLst>
                              <p:par>
                                <p:cTn id="84" presetID="10" presetClass="entr" presetSubtype="0" fill="hold" grpId="0" nodeType="afterEffect">
                                  <p:stCondLst>
                                    <p:cond delay="0"/>
                                  </p:stCondLst>
                                  <p:childTnLst>
                                    <p:set>
                                      <p:cBhvr>
                                        <p:cTn id="85" dur="1" fill="hold">
                                          <p:stCondLst>
                                            <p:cond delay="0"/>
                                          </p:stCondLst>
                                        </p:cTn>
                                        <p:tgtEl>
                                          <p:spTgt spid="39"/>
                                        </p:tgtEl>
                                        <p:attrNameLst>
                                          <p:attrName>style.visibility</p:attrName>
                                        </p:attrNameLst>
                                      </p:cBhvr>
                                      <p:to>
                                        <p:strVal val="visible"/>
                                      </p:to>
                                    </p:set>
                                    <p:animEffect transition="in" filter="fade">
                                      <p:cBhvr>
                                        <p:cTn id="86" dur="300"/>
                                        <p:tgtEl>
                                          <p:spTgt spid="39"/>
                                        </p:tgtEl>
                                      </p:cBhvr>
                                    </p:animEffect>
                                  </p:childTnLst>
                                </p:cTn>
                              </p:par>
                            </p:childTnLst>
                          </p:cTn>
                        </p:par>
                        <p:par>
                          <p:cTn id="87" fill="hold">
                            <p:stCondLst>
                              <p:cond delay="4750"/>
                            </p:stCondLst>
                            <p:childTnLst>
                              <p:par>
                                <p:cTn id="88" presetID="2" presetClass="entr" presetSubtype="2" fill="hold" nodeType="afterEffect">
                                  <p:stCondLst>
                                    <p:cond delay="0"/>
                                  </p:stCondLst>
                                  <p:childTnLst>
                                    <p:set>
                                      <p:cBhvr>
                                        <p:cTn id="89" dur="1" fill="hold">
                                          <p:stCondLst>
                                            <p:cond delay="0"/>
                                          </p:stCondLst>
                                        </p:cTn>
                                        <p:tgtEl>
                                          <p:spTgt spid="45"/>
                                        </p:tgtEl>
                                        <p:attrNameLst>
                                          <p:attrName>style.visibility</p:attrName>
                                        </p:attrNameLst>
                                      </p:cBhvr>
                                      <p:to>
                                        <p:strVal val="visible"/>
                                      </p:to>
                                    </p:set>
                                    <p:anim calcmode="lin" valueType="num">
                                      <p:cBhvr additive="base">
                                        <p:cTn id="90" dur="500" fill="hold"/>
                                        <p:tgtEl>
                                          <p:spTgt spid="45"/>
                                        </p:tgtEl>
                                        <p:attrNameLst>
                                          <p:attrName>ppt_x</p:attrName>
                                        </p:attrNameLst>
                                      </p:cBhvr>
                                      <p:tavLst>
                                        <p:tav tm="0">
                                          <p:val>
                                            <p:strVal val="1+#ppt_w/2"/>
                                          </p:val>
                                        </p:tav>
                                        <p:tav tm="100000">
                                          <p:val>
                                            <p:strVal val="#ppt_x"/>
                                          </p:val>
                                        </p:tav>
                                      </p:tavLst>
                                    </p:anim>
                                    <p:anim calcmode="lin" valueType="num">
                                      <p:cBhvr additive="base">
                                        <p:cTn id="91" dur="500" fill="hold"/>
                                        <p:tgtEl>
                                          <p:spTgt spid="45"/>
                                        </p:tgtEl>
                                        <p:attrNameLst>
                                          <p:attrName>ppt_y</p:attrName>
                                        </p:attrNameLst>
                                      </p:cBhvr>
                                      <p:tavLst>
                                        <p:tav tm="0">
                                          <p:val>
                                            <p:strVal val="#ppt_y"/>
                                          </p:val>
                                        </p:tav>
                                        <p:tav tm="100000">
                                          <p:val>
                                            <p:strVal val="#ppt_y"/>
                                          </p:val>
                                        </p:tav>
                                      </p:tavLst>
                                    </p:anim>
                                  </p:childTnLst>
                                </p:cTn>
                              </p:par>
                            </p:childTnLst>
                          </p:cTn>
                        </p:par>
                        <p:par>
                          <p:cTn id="92" fill="hold">
                            <p:stCondLst>
                              <p:cond delay="5250"/>
                            </p:stCondLst>
                            <p:childTnLst>
                              <p:par>
                                <p:cTn id="93" presetID="2" presetClass="entr" presetSubtype="2" fill="hold" nodeType="afterEffect">
                                  <p:stCondLst>
                                    <p:cond delay="0"/>
                                  </p:stCondLst>
                                  <p:childTnLst>
                                    <p:set>
                                      <p:cBhvr>
                                        <p:cTn id="94" dur="1" fill="hold">
                                          <p:stCondLst>
                                            <p:cond delay="0"/>
                                          </p:stCondLst>
                                        </p:cTn>
                                        <p:tgtEl>
                                          <p:spTgt spid="51"/>
                                        </p:tgtEl>
                                        <p:attrNameLst>
                                          <p:attrName>style.visibility</p:attrName>
                                        </p:attrNameLst>
                                      </p:cBhvr>
                                      <p:to>
                                        <p:strVal val="visible"/>
                                      </p:to>
                                    </p:set>
                                    <p:anim calcmode="lin" valueType="num">
                                      <p:cBhvr additive="base">
                                        <p:cTn id="95" dur="500" fill="hold"/>
                                        <p:tgtEl>
                                          <p:spTgt spid="51"/>
                                        </p:tgtEl>
                                        <p:attrNameLst>
                                          <p:attrName>ppt_x</p:attrName>
                                        </p:attrNameLst>
                                      </p:cBhvr>
                                      <p:tavLst>
                                        <p:tav tm="0">
                                          <p:val>
                                            <p:strVal val="1+#ppt_w/2"/>
                                          </p:val>
                                        </p:tav>
                                        <p:tav tm="100000">
                                          <p:val>
                                            <p:strVal val="#ppt_x"/>
                                          </p:val>
                                        </p:tav>
                                      </p:tavLst>
                                    </p:anim>
                                    <p:anim calcmode="lin" valueType="num">
                                      <p:cBhvr additive="base">
                                        <p:cTn id="96" dur="500" fill="hold"/>
                                        <p:tgtEl>
                                          <p:spTgt spid="51"/>
                                        </p:tgtEl>
                                        <p:attrNameLst>
                                          <p:attrName>ppt_y</p:attrName>
                                        </p:attrNameLst>
                                      </p:cBhvr>
                                      <p:tavLst>
                                        <p:tav tm="0">
                                          <p:val>
                                            <p:strVal val="#ppt_y"/>
                                          </p:val>
                                        </p:tav>
                                        <p:tav tm="100000">
                                          <p:val>
                                            <p:strVal val="#ppt_y"/>
                                          </p:val>
                                        </p:tav>
                                      </p:tavLst>
                                    </p:anim>
                                  </p:childTnLst>
                                </p:cTn>
                              </p:par>
                            </p:childTnLst>
                          </p:cTn>
                        </p:par>
                        <p:par>
                          <p:cTn id="97" fill="hold">
                            <p:stCondLst>
                              <p:cond delay="5750"/>
                            </p:stCondLst>
                            <p:childTnLst>
                              <p:par>
                                <p:cTn id="98" presetID="2" presetClass="entr" presetSubtype="2" fill="hold" nodeType="afterEffect">
                                  <p:stCondLst>
                                    <p:cond delay="0"/>
                                  </p:stCondLst>
                                  <p:childTnLst>
                                    <p:set>
                                      <p:cBhvr>
                                        <p:cTn id="99" dur="1" fill="hold">
                                          <p:stCondLst>
                                            <p:cond delay="0"/>
                                          </p:stCondLst>
                                        </p:cTn>
                                        <p:tgtEl>
                                          <p:spTgt spid="57"/>
                                        </p:tgtEl>
                                        <p:attrNameLst>
                                          <p:attrName>style.visibility</p:attrName>
                                        </p:attrNameLst>
                                      </p:cBhvr>
                                      <p:to>
                                        <p:strVal val="visible"/>
                                      </p:to>
                                    </p:set>
                                    <p:anim calcmode="lin" valueType="num">
                                      <p:cBhvr additive="base">
                                        <p:cTn id="100" dur="500" fill="hold"/>
                                        <p:tgtEl>
                                          <p:spTgt spid="57"/>
                                        </p:tgtEl>
                                        <p:attrNameLst>
                                          <p:attrName>ppt_x</p:attrName>
                                        </p:attrNameLst>
                                      </p:cBhvr>
                                      <p:tavLst>
                                        <p:tav tm="0">
                                          <p:val>
                                            <p:strVal val="1+#ppt_w/2"/>
                                          </p:val>
                                        </p:tav>
                                        <p:tav tm="100000">
                                          <p:val>
                                            <p:strVal val="#ppt_x"/>
                                          </p:val>
                                        </p:tav>
                                      </p:tavLst>
                                    </p:anim>
                                    <p:anim calcmode="lin" valueType="num">
                                      <p:cBhvr additive="base">
                                        <p:cTn id="101" dur="500" fill="hold"/>
                                        <p:tgtEl>
                                          <p:spTgt spid="57"/>
                                        </p:tgtEl>
                                        <p:attrNameLst>
                                          <p:attrName>ppt_y</p:attrName>
                                        </p:attrNameLst>
                                      </p:cBhvr>
                                      <p:tavLst>
                                        <p:tav tm="0">
                                          <p:val>
                                            <p:strVal val="#ppt_y"/>
                                          </p:val>
                                        </p:tav>
                                        <p:tav tm="100000">
                                          <p:val>
                                            <p:strVal val="#ppt_y"/>
                                          </p:val>
                                        </p:tav>
                                      </p:tavLst>
                                    </p:anim>
                                  </p:childTnLst>
                                </p:cTn>
                              </p:par>
                            </p:childTnLst>
                          </p:cTn>
                        </p:par>
                        <p:par>
                          <p:cTn id="102" fill="hold">
                            <p:stCondLst>
                              <p:cond delay="6250"/>
                            </p:stCondLst>
                            <p:childTnLst>
                              <p:par>
                                <p:cTn id="103" presetID="2" presetClass="entr" presetSubtype="2" fill="hold" nodeType="afterEffect">
                                  <p:stCondLst>
                                    <p:cond delay="0"/>
                                  </p:stCondLst>
                                  <p:childTnLst>
                                    <p:set>
                                      <p:cBhvr>
                                        <p:cTn id="104" dur="1" fill="hold">
                                          <p:stCondLst>
                                            <p:cond delay="0"/>
                                          </p:stCondLst>
                                        </p:cTn>
                                        <p:tgtEl>
                                          <p:spTgt spid="63"/>
                                        </p:tgtEl>
                                        <p:attrNameLst>
                                          <p:attrName>style.visibility</p:attrName>
                                        </p:attrNameLst>
                                      </p:cBhvr>
                                      <p:to>
                                        <p:strVal val="visible"/>
                                      </p:to>
                                    </p:set>
                                    <p:anim calcmode="lin" valueType="num">
                                      <p:cBhvr additive="base">
                                        <p:cTn id="105" dur="500" fill="hold"/>
                                        <p:tgtEl>
                                          <p:spTgt spid="63"/>
                                        </p:tgtEl>
                                        <p:attrNameLst>
                                          <p:attrName>ppt_x</p:attrName>
                                        </p:attrNameLst>
                                      </p:cBhvr>
                                      <p:tavLst>
                                        <p:tav tm="0">
                                          <p:val>
                                            <p:strVal val="1+#ppt_w/2"/>
                                          </p:val>
                                        </p:tav>
                                        <p:tav tm="100000">
                                          <p:val>
                                            <p:strVal val="#ppt_x"/>
                                          </p:val>
                                        </p:tav>
                                      </p:tavLst>
                                    </p:anim>
                                    <p:anim calcmode="lin" valueType="num">
                                      <p:cBhvr additive="base">
                                        <p:cTn id="106" dur="500" fill="hold"/>
                                        <p:tgtEl>
                                          <p:spTgt spid="63"/>
                                        </p:tgtEl>
                                        <p:attrNameLst>
                                          <p:attrName>ppt_y</p:attrName>
                                        </p:attrNameLst>
                                      </p:cBhvr>
                                      <p:tavLst>
                                        <p:tav tm="0">
                                          <p:val>
                                            <p:strVal val="#ppt_y"/>
                                          </p:val>
                                        </p:tav>
                                        <p:tav tm="100000">
                                          <p:val>
                                            <p:strVal val="#ppt_y"/>
                                          </p:val>
                                        </p:tav>
                                      </p:tavLst>
                                    </p:anim>
                                  </p:childTnLst>
                                </p:cTn>
                              </p:par>
                            </p:childTnLst>
                          </p:cTn>
                        </p:par>
                        <p:par>
                          <p:cTn id="107" fill="hold">
                            <p:stCondLst>
                              <p:cond delay="6750"/>
                            </p:stCondLst>
                            <p:childTnLst>
                              <p:par>
                                <p:cTn id="108" presetID="2" presetClass="entr" presetSubtype="2" fill="hold" nodeType="afterEffect">
                                  <p:stCondLst>
                                    <p:cond delay="0"/>
                                  </p:stCondLst>
                                  <p:childTnLst>
                                    <p:set>
                                      <p:cBhvr>
                                        <p:cTn id="109" dur="1" fill="hold">
                                          <p:stCondLst>
                                            <p:cond delay="0"/>
                                          </p:stCondLst>
                                        </p:cTn>
                                        <p:tgtEl>
                                          <p:spTgt spid="69"/>
                                        </p:tgtEl>
                                        <p:attrNameLst>
                                          <p:attrName>style.visibility</p:attrName>
                                        </p:attrNameLst>
                                      </p:cBhvr>
                                      <p:to>
                                        <p:strVal val="visible"/>
                                      </p:to>
                                    </p:set>
                                    <p:anim calcmode="lin" valueType="num">
                                      <p:cBhvr additive="base">
                                        <p:cTn id="110" dur="500" fill="hold"/>
                                        <p:tgtEl>
                                          <p:spTgt spid="69"/>
                                        </p:tgtEl>
                                        <p:attrNameLst>
                                          <p:attrName>ppt_x</p:attrName>
                                        </p:attrNameLst>
                                      </p:cBhvr>
                                      <p:tavLst>
                                        <p:tav tm="0">
                                          <p:val>
                                            <p:strVal val="1+#ppt_w/2"/>
                                          </p:val>
                                        </p:tav>
                                        <p:tav tm="100000">
                                          <p:val>
                                            <p:strVal val="#ppt_x"/>
                                          </p:val>
                                        </p:tav>
                                      </p:tavLst>
                                    </p:anim>
                                    <p:anim calcmode="lin" valueType="num">
                                      <p:cBhvr additive="base">
                                        <p:cTn id="111" dur="500" fill="hold"/>
                                        <p:tgtEl>
                                          <p:spTgt spid="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20" grpId="0"/>
      <p:bldP spid="21" grpId="0"/>
      <p:bldP spid="22" grpId="0" animBg="1"/>
      <p:bldP spid="23" grpId="0" animBg="1"/>
      <p:bldP spid="24" grpId="0"/>
      <p:bldP spid="25" grpId="0"/>
      <p:bldP spid="26" grpId="0" animBg="1"/>
      <p:bldP spid="27" grpId="0" animBg="1"/>
      <p:bldP spid="28" grpId="0"/>
      <p:bldP spid="29" grpId="0"/>
      <p:bldP spid="30" grpId="0" animBg="1"/>
      <p:bldP spid="31" grpId="0" animBg="1"/>
      <p:bldP spid="32" grpId="0"/>
      <p:bldP spid="33" grpId="0"/>
      <p:bldP spid="34" grpId="0" animBg="1"/>
      <p:bldP spid="35" grpId="0" animBg="1"/>
      <p:bldP spid="36" grpId="0"/>
      <p:bldP spid="38" grpId="0"/>
      <p:bldP spid="3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875520" y="-1371600"/>
            <a:ext cx="3017520" cy="301752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418673" y="-828446"/>
            <a:ext cx="1931212" cy="1931212"/>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1764791"/>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1051559"/>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3383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06</a:t>
            </a:r>
          </a:p>
        </p:txBody>
      </p:sp>
      <p:sp>
        <p:nvSpPr>
          <p:cNvPr id="12" name="!!rail7"/>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08</a:t>
            </a:r>
          </a:p>
        </p:txBody>
      </p:sp>
      <p:sp>
        <p:nvSpPr>
          <p:cNvPr id="14" name="Kicker 334"/>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08  ·  CONCLUSION</a:t>
            </a:r>
          </a:p>
        </p:txBody>
      </p:sp>
      <p:sp>
        <p:nvSpPr>
          <p:cNvPr id="15" name="Title 335"/>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Conclusion</a:t>
            </a:r>
          </a:p>
        </p:txBody>
      </p:sp>
      <p:sp>
        <p:nvSpPr>
          <p:cNvPr id="16" name="Subtitle 336"/>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What the study shows</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§5.1 Conclusion; §4.9</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18 / 20</a:t>
            </a:r>
          </a:p>
        </p:txBody>
      </p:sp>
      <p:grpSp>
        <p:nvGrpSpPr>
          <p:cNvPr id="23" name="Big 337"/>
          <p:cNvGrpSpPr/>
          <p:nvPr/>
        </p:nvGrpSpPr>
        <p:grpSpPr>
          <a:xfrm>
            <a:off x="1417320" y="1874519"/>
            <a:ext cx="2419273" cy="1325880"/>
            <a:chOff x="1417320" y="1874519"/>
            <a:chExt cx="2419273" cy="1325880"/>
          </a:xfrm>
        </p:grpSpPr>
        <p:sp>
          <p:nvSpPr>
            <p:cNvPr id="20" name="Big bg"/>
            <p:cNvSpPr/>
            <p:nvPr/>
          </p:nvSpPr>
          <p:spPr>
            <a:xfrm>
              <a:off x="1417320" y="1874519"/>
              <a:ext cx="2419273" cy="1325880"/>
            </a:xfrm>
            <a:prstGeom prst="roundRect">
              <a:avLst>
                <a:gd name="adj" fmla="val 8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Big value"/>
            <p:cNvSpPr txBox="1"/>
            <p:nvPr/>
          </p:nvSpPr>
          <p:spPr>
            <a:xfrm>
              <a:off x="1554480" y="1938528"/>
              <a:ext cx="2144953" cy="731520"/>
            </a:xfrm>
            <a:prstGeom prst="rect">
              <a:avLst/>
            </a:prstGeom>
            <a:noFill/>
          </p:spPr>
          <p:txBody>
            <a:bodyPr wrap="square" lIns="36576" tIns="36576" rIns="36576" bIns="36576" anchor="t">
              <a:spAutoFit/>
            </a:bodyPr>
            <a:lstStyle/>
            <a:p>
              <a:pPr algn="l">
                <a:lnSpc>
                  <a:spcPct val="108000"/>
                </a:lnSpc>
              </a:pPr>
              <a:r>
                <a:rPr sz="3400" b="1" i="0">
                  <a:solidFill>
                    <a:srgbClr val="F69D39"/>
                  </a:solidFill>
                  <a:latin typeface="Bahnschrift"/>
                </a:rPr>
                <a:t>284 / 300</a:t>
              </a:r>
            </a:p>
          </p:txBody>
        </p:sp>
        <p:sp>
          <p:nvSpPr>
            <p:cNvPr id="22" name="Big key"/>
            <p:cNvSpPr txBox="1"/>
            <p:nvPr/>
          </p:nvSpPr>
          <p:spPr>
            <a:xfrm>
              <a:off x="1554480" y="2651760"/>
              <a:ext cx="2144953" cy="457200"/>
            </a:xfrm>
            <a:prstGeom prst="rect">
              <a:avLst/>
            </a:prstGeom>
            <a:noFill/>
          </p:spPr>
          <p:txBody>
            <a:bodyPr wrap="square" lIns="36576" tIns="36576" rIns="36576" bIns="36576" anchor="t">
              <a:spAutoFit/>
            </a:bodyPr>
            <a:lstStyle/>
            <a:p>
              <a:pPr algn="l">
                <a:lnSpc>
                  <a:spcPct val="108000"/>
                </a:lnSpc>
              </a:pPr>
              <a:r>
                <a:rPr sz="1350" b="0" i="0">
                  <a:solidFill>
                    <a:srgbClr val="EFE9DD"/>
                  </a:solidFill>
                  <a:latin typeface="Calibri"/>
                </a:rPr>
                <a:t>URLs classified correctly</a:t>
              </a:r>
            </a:p>
          </p:txBody>
        </p:sp>
      </p:grpSp>
      <p:grpSp>
        <p:nvGrpSpPr>
          <p:cNvPr id="27" name="Big 338"/>
          <p:cNvGrpSpPr/>
          <p:nvPr/>
        </p:nvGrpSpPr>
        <p:grpSpPr>
          <a:xfrm>
            <a:off x="4019473" y="1874519"/>
            <a:ext cx="2419273" cy="1325880"/>
            <a:chOff x="4019473" y="1874519"/>
            <a:chExt cx="2419273" cy="1325880"/>
          </a:xfrm>
        </p:grpSpPr>
        <p:sp>
          <p:nvSpPr>
            <p:cNvPr id="24" name="Big bg"/>
            <p:cNvSpPr/>
            <p:nvPr/>
          </p:nvSpPr>
          <p:spPr>
            <a:xfrm>
              <a:off x="4019473" y="1874519"/>
              <a:ext cx="2419273" cy="1325880"/>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Big value"/>
            <p:cNvSpPr txBox="1"/>
            <p:nvPr/>
          </p:nvSpPr>
          <p:spPr>
            <a:xfrm>
              <a:off x="4156633" y="1938528"/>
              <a:ext cx="2144953" cy="731520"/>
            </a:xfrm>
            <a:prstGeom prst="rect">
              <a:avLst/>
            </a:prstGeom>
            <a:noFill/>
          </p:spPr>
          <p:txBody>
            <a:bodyPr wrap="square" lIns="36576" tIns="36576" rIns="36576" bIns="36576" anchor="t">
              <a:spAutoFit/>
            </a:bodyPr>
            <a:lstStyle/>
            <a:p>
              <a:pPr algn="l">
                <a:lnSpc>
                  <a:spcPct val="108000"/>
                </a:lnSpc>
              </a:pPr>
              <a:r>
                <a:rPr sz="3400" b="1" i="0">
                  <a:solidFill>
                    <a:srgbClr val="C77A1E"/>
                  </a:solidFill>
                  <a:latin typeface="Bahnschrift"/>
                </a:rPr>
                <a:t>137</a:t>
              </a:r>
            </a:p>
          </p:txBody>
        </p:sp>
        <p:sp>
          <p:nvSpPr>
            <p:cNvPr id="26" name="Big key"/>
            <p:cNvSpPr txBox="1"/>
            <p:nvPr/>
          </p:nvSpPr>
          <p:spPr>
            <a:xfrm>
              <a:off x="4156633" y="2651760"/>
              <a:ext cx="2144953" cy="457200"/>
            </a:xfrm>
            <a:prstGeom prst="rect">
              <a:avLst/>
            </a:prstGeom>
            <a:noFill/>
          </p:spPr>
          <p:txBody>
            <a:bodyPr wrap="square" lIns="36576" tIns="36576" rIns="36576" bIns="36576" anchor="t">
              <a:spAutoFit/>
            </a:bodyPr>
            <a:lstStyle/>
            <a:p>
              <a:pPr algn="l">
                <a:lnSpc>
                  <a:spcPct val="108000"/>
                </a:lnSpc>
              </a:pPr>
              <a:r>
                <a:rPr sz="1350" b="0" i="0">
                  <a:solidFill>
                    <a:srgbClr val="4A4244"/>
                  </a:solidFill>
                  <a:latin typeface="Calibri"/>
                </a:rPr>
                <a:t>harmful URLs detected</a:t>
              </a:r>
            </a:p>
          </p:txBody>
        </p:sp>
      </p:grpSp>
      <p:grpSp>
        <p:nvGrpSpPr>
          <p:cNvPr id="31" name="Big 339"/>
          <p:cNvGrpSpPr/>
          <p:nvPr/>
        </p:nvGrpSpPr>
        <p:grpSpPr>
          <a:xfrm>
            <a:off x="6621627" y="1874519"/>
            <a:ext cx="2419273" cy="1325880"/>
            <a:chOff x="6621627" y="1874519"/>
            <a:chExt cx="2419273" cy="1325880"/>
          </a:xfrm>
        </p:grpSpPr>
        <p:sp>
          <p:nvSpPr>
            <p:cNvPr id="28" name="Big bg"/>
            <p:cNvSpPr/>
            <p:nvPr/>
          </p:nvSpPr>
          <p:spPr>
            <a:xfrm>
              <a:off x="6621627" y="1874519"/>
              <a:ext cx="2419273" cy="1325880"/>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Big value"/>
            <p:cNvSpPr txBox="1"/>
            <p:nvPr/>
          </p:nvSpPr>
          <p:spPr>
            <a:xfrm>
              <a:off x="6758787" y="1938528"/>
              <a:ext cx="2144953" cy="731520"/>
            </a:xfrm>
            <a:prstGeom prst="rect">
              <a:avLst/>
            </a:prstGeom>
            <a:noFill/>
          </p:spPr>
          <p:txBody>
            <a:bodyPr wrap="square" lIns="36576" tIns="36576" rIns="36576" bIns="36576" anchor="t">
              <a:spAutoFit/>
            </a:bodyPr>
            <a:lstStyle/>
            <a:p>
              <a:pPr algn="l">
                <a:lnSpc>
                  <a:spcPct val="108000"/>
                </a:lnSpc>
              </a:pPr>
              <a:r>
                <a:rPr sz="3400" b="1" i="0">
                  <a:solidFill>
                    <a:srgbClr val="C77A1E"/>
                  </a:solidFill>
                  <a:latin typeface="Bahnschrift"/>
                </a:rPr>
                <a:t>3</a:t>
              </a:r>
            </a:p>
          </p:txBody>
        </p:sp>
        <p:sp>
          <p:nvSpPr>
            <p:cNvPr id="30" name="Big key"/>
            <p:cNvSpPr txBox="1"/>
            <p:nvPr/>
          </p:nvSpPr>
          <p:spPr>
            <a:xfrm>
              <a:off x="6758787" y="2651760"/>
              <a:ext cx="2144953" cy="457200"/>
            </a:xfrm>
            <a:prstGeom prst="rect">
              <a:avLst/>
            </a:prstGeom>
            <a:noFill/>
          </p:spPr>
          <p:txBody>
            <a:bodyPr wrap="square" lIns="36576" tIns="36576" rIns="36576" bIns="36576" anchor="t">
              <a:spAutoFit/>
            </a:bodyPr>
            <a:lstStyle/>
            <a:p>
              <a:pPr algn="l">
                <a:lnSpc>
                  <a:spcPct val="108000"/>
                </a:lnSpc>
              </a:pPr>
              <a:r>
                <a:rPr sz="1350" b="0" i="0">
                  <a:solidFill>
                    <a:srgbClr val="4A4244"/>
                  </a:solidFill>
                  <a:latin typeface="Calibri"/>
                </a:rPr>
                <a:t>benign URLs falsely flagged</a:t>
              </a:r>
            </a:p>
          </p:txBody>
        </p:sp>
      </p:grpSp>
      <p:grpSp>
        <p:nvGrpSpPr>
          <p:cNvPr id="35" name="Big 340"/>
          <p:cNvGrpSpPr/>
          <p:nvPr/>
        </p:nvGrpSpPr>
        <p:grpSpPr>
          <a:xfrm>
            <a:off x="9223781" y="1874519"/>
            <a:ext cx="2419273" cy="1325880"/>
            <a:chOff x="9223781" y="1874519"/>
            <a:chExt cx="2419273" cy="1325880"/>
          </a:xfrm>
        </p:grpSpPr>
        <p:sp>
          <p:nvSpPr>
            <p:cNvPr id="32" name="Big bg"/>
            <p:cNvSpPr/>
            <p:nvPr/>
          </p:nvSpPr>
          <p:spPr>
            <a:xfrm>
              <a:off x="9223781" y="1874519"/>
              <a:ext cx="2419273" cy="1325880"/>
            </a:xfrm>
            <a:prstGeom prst="roundRect">
              <a:avLst>
                <a:gd name="adj" fmla="val 8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Big value"/>
            <p:cNvSpPr txBox="1"/>
            <p:nvPr/>
          </p:nvSpPr>
          <p:spPr>
            <a:xfrm>
              <a:off x="9360941" y="1938528"/>
              <a:ext cx="2144953" cy="731520"/>
            </a:xfrm>
            <a:prstGeom prst="rect">
              <a:avLst/>
            </a:prstGeom>
            <a:noFill/>
          </p:spPr>
          <p:txBody>
            <a:bodyPr wrap="square" lIns="36576" tIns="36576" rIns="36576" bIns="36576" anchor="t">
              <a:spAutoFit/>
            </a:bodyPr>
            <a:lstStyle/>
            <a:p>
              <a:pPr algn="l">
                <a:lnSpc>
                  <a:spcPct val="108000"/>
                </a:lnSpc>
              </a:pPr>
              <a:r>
                <a:rPr sz="3400" b="1" i="0">
                  <a:solidFill>
                    <a:srgbClr val="C77A1E"/>
                  </a:solidFill>
                  <a:latin typeface="Bahnschrift"/>
                </a:rPr>
                <a:t>4.05 s</a:t>
              </a:r>
            </a:p>
          </p:txBody>
        </p:sp>
        <p:sp>
          <p:nvSpPr>
            <p:cNvPr id="34" name="Big key"/>
            <p:cNvSpPr txBox="1"/>
            <p:nvPr/>
          </p:nvSpPr>
          <p:spPr>
            <a:xfrm>
              <a:off x="9360941" y="2651760"/>
              <a:ext cx="2144953" cy="457200"/>
            </a:xfrm>
            <a:prstGeom prst="rect">
              <a:avLst/>
            </a:prstGeom>
            <a:noFill/>
          </p:spPr>
          <p:txBody>
            <a:bodyPr wrap="square" lIns="36576" tIns="36576" rIns="36576" bIns="36576" anchor="t">
              <a:spAutoFit/>
            </a:bodyPr>
            <a:lstStyle/>
            <a:p>
              <a:pPr algn="l">
                <a:lnSpc>
                  <a:spcPct val="108000"/>
                </a:lnSpc>
              </a:pPr>
              <a:r>
                <a:rPr sz="1350" b="0" i="0">
                  <a:solidFill>
                    <a:srgbClr val="4A4244"/>
                  </a:solidFill>
                  <a:latin typeface="Calibri"/>
                </a:rPr>
                <a:t>mean end-to-end analysis</a:t>
              </a:r>
            </a:p>
          </p:txBody>
        </p:sp>
      </p:grpSp>
      <p:grpSp>
        <p:nvGrpSpPr>
          <p:cNvPr id="41" name="Card 341"/>
          <p:cNvGrpSpPr/>
          <p:nvPr/>
        </p:nvGrpSpPr>
        <p:grpSpPr>
          <a:xfrm>
            <a:off x="1417320" y="3474720"/>
            <a:ext cx="3256178" cy="2743200"/>
            <a:chOff x="1417320" y="3474720"/>
            <a:chExt cx="3256178" cy="2743200"/>
          </a:xfrm>
        </p:grpSpPr>
        <p:sp>
          <p:nvSpPr>
            <p:cNvPr id="36" name="Card bg"/>
            <p:cNvSpPr/>
            <p:nvPr/>
          </p:nvSpPr>
          <p:spPr>
            <a:xfrm>
              <a:off x="1417320" y="3474720"/>
              <a:ext cx="3256178" cy="274320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Card accent"/>
            <p:cNvSpPr/>
            <p:nvPr/>
          </p:nvSpPr>
          <p:spPr>
            <a:xfrm>
              <a:off x="1417320" y="3474720"/>
              <a:ext cx="3256178"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Card label"/>
            <p:cNvSpPr txBox="1"/>
            <p:nvPr/>
          </p:nvSpPr>
          <p:spPr>
            <a:xfrm>
              <a:off x="1618488" y="3657600"/>
              <a:ext cx="2853842" cy="274320"/>
            </a:xfrm>
            <a:prstGeom prst="rect">
              <a:avLst/>
            </a:prstGeom>
            <a:noFill/>
          </p:spPr>
          <p:txBody>
            <a:bodyPr wrap="square" lIns="36576" tIns="36576" rIns="36576" bIns="36576" anchor="t">
              <a:spAutoFit/>
            </a:bodyPr>
            <a:lstStyle/>
            <a:p>
              <a:pPr algn="l">
                <a:lnSpc>
                  <a:spcPct val="108000"/>
                </a:lnSpc>
              </a:pPr>
              <a:r>
                <a:rPr sz="1050" b="1" i="0">
                  <a:solidFill>
                    <a:srgbClr val="C77A1E"/>
                  </a:solidFill>
                  <a:latin typeface="Consolas"/>
                </a:rPr>
                <a:t>01</a:t>
              </a:r>
            </a:p>
          </p:txBody>
        </p:sp>
        <p:sp>
          <p:nvSpPr>
            <p:cNvPr id="39" name="Card title"/>
            <p:cNvSpPr txBox="1"/>
            <p:nvPr/>
          </p:nvSpPr>
          <p:spPr>
            <a:xfrm>
              <a:off x="1618488" y="3950208"/>
              <a:ext cx="2853842" cy="358902"/>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Contribution</a:t>
              </a:r>
            </a:p>
          </p:txBody>
        </p:sp>
        <p:sp>
          <p:nvSpPr>
            <p:cNvPr id="40" name="Card body"/>
            <p:cNvSpPr txBox="1"/>
            <p:nvPr/>
          </p:nvSpPr>
          <p:spPr>
            <a:xfrm>
              <a:off x="1618488" y="4309110"/>
              <a:ext cx="2853842" cy="1799081"/>
            </a:xfrm>
            <a:prstGeom prst="rect">
              <a:avLst/>
            </a:prstGeom>
            <a:noFill/>
          </p:spPr>
          <p:txBody>
            <a:bodyPr wrap="square" lIns="36576" tIns="36576" rIns="36576" bIns="36576" anchor="t">
              <a:spAutoFit/>
            </a:bodyPr>
            <a:lstStyle/>
            <a:p>
              <a:pPr algn="l">
                <a:lnSpc>
                  <a:spcPct val="105000"/>
                </a:lnSpc>
              </a:pPr>
              <a:r>
                <a:rPr sz="1450" b="0" i="0">
                  <a:solidFill>
                    <a:srgbClr val="4A4244"/>
                  </a:solidFill>
                  <a:latin typeface="Calibri"/>
                </a:rPr>
                <a:t>Eight specialist analyses and a Reporter combine complementary evidence into one inspectable, explained verdict, with few false alarms.</a:t>
              </a:r>
            </a:p>
          </p:txBody>
        </p:sp>
      </p:grpSp>
      <p:grpSp>
        <p:nvGrpSpPr>
          <p:cNvPr id="47" name="Card 342"/>
          <p:cNvGrpSpPr/>
          <p:nvPr/>
        </p:nvGrpSpPr>
        <p:grpSpPr>
          <a:xfrm>
            <a:off x="4902098" y="3474720"/>
            <a:ext cx="3256178" cy="2743200"/>
            <a:chOff x="4902098" y="3474720"/>
            <a:chExt cx="3256178" cy="2743200"/>
          </a:xfrm>
        </p:grpSpPr>
        <p:sp>
          <p:nvSpPr>
            <p:cNvPr id="42" name="Card bg"/>
            <p:cNvSpPr/>
            <p:nvPr/>
          </p:nvSpPr>
          <p:spPr>
            <a:xfrm>
              <a:off x="4902098" y="3474720"/>
              <a:ext cx="3256178" cy="274320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Card accent"/>
            <p:cNvSpPr/>
            <p:nvPr/>
          </p:nvSpPr>
          <p:spPr>
            <a:xfrm>
              <a:off x="4902098" y="3474720"/>
              <a:ext cx="3256178" cy="64008"/>
            </a:xfrm>
            <a:prstGeom prst="rect">
              <a:avLst/>
            </a:prstGeom>
            <a:solidFill>
              <a:srgbClr val="C77A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4" name="Card label"/>
            <p:cNvSpPr txBox="1"/>
            <p:nvPr/>
          </p:nvSpPr>
          <p:spPr>
            <a:xfrm>
              <a:off x="5103266" y="3657600"/>
              <a:ext cx="2853842" cy="274320"/>
            </a:xfrm>
            <a:prstGeom prst="rect">
              <a:avLst/>
            </a:prstGeom>
            <a:noFill/>
          </p:spPr>
          <p:txBody>
            <a:bodyPr wrap="square" lIns="36576" tIns="36576" rIns="36576" bIns="36576" anchor="t">
              <a:spAutoFit/>
            </a:bodyPr>
            <a:lstStyle/>
            <a:p>
              <a:pPr algn="l">
                <a:lnSpc>
                  <a:spcPct val="108000"/>
                </a:lnSpc>
              </a:pPr>
              <a:r>
                <a:rPr sz="1050" b="1" i="0">
                  <a:solidFill>
                    <a:srgbClr val="5E7257"/>
                  </a:solidFill>
                  <a:latin typeface="Consolas"/>
                </a:rPr>
                <a:t>02</a:t>
              </a:r>
            </a:p>
          </p:txBody>
        </p:sp>
        <p:sp>
          <p:nvSpPr>
            <p:cNvPr id="45" name="Card title"/>
            <p:cNvSpPr txBox="1"/>
            <p:nvPr/>
          </p:nvSpPr>
          <p:spPr>
            <a:xfrm>
              <a:off x="5103266" y="3950208"/>
              <a:ext cx="2853842" cy="358902"/>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What it does not prove</a:t>
              </a:r>
            </a:p>
          </p:txBody>
        </p:sp>
        <p:sp>
          <p:nvSpPr>
            <p:cNvPr id="46" name="Card body"/>
            <p:cNvSpPr txBox="1"/>
            <p:nvPr/>
          </p:nvSpPr>
          <p:spPr>
            <a:xfrm>
              <a:off x="5103266" y="4309110"/>
              <a:ext cx="2853842" cy="1799081"/>
            </a:xfrm>
            <a:prstGeom prst="rect">
              <a:avLst/>
            </a:prstGeom>
            <a:noFill/>
          </p:spPr>
          <p:txBody>
            <a:bodyPr wrap="square" lIns="36576" tIns="36576" rIns="36576" bIns="36576" anchor="t">
              <a:spAutoFit/>
            </a:bodyPr>
            <a:lstStyle/>
            <a:p>
              <a:pPr algn="l">
                <a:lnSpc>
                  <a:spcPct val="105000"/>
                </a:lnSpc>
              </a:pPr>
              <a:r>
                <a:rPr sz="1450" b="0" i="0">
                  <a:solidFill>
                    <a:srgbClr val="4A4244"/>
                  </a:solidFill>
                  <a:latin typeface="Calibri"/>
                </a:rPr>
                <a:t>No controlled single-model ablation: the results do not prove superiority to a single model, universal protection or current production performance.</a:t>
              </a:r>
            </a:p>
          </p:txBody>
        </p:sp>
      </p:grpSp>
      <p:grpSp>
        <p:nvGrpSpPr>
          <p:cNvPr id="53" name="Card 343"/>
          <p:cNvGrpSpPr/>
          <p:nvPr/>
        </p:nvGrpSpPr>
        <p:grpSpPr>
          <a:xfrm>
            <a:off x="8386876" y="3474720"/>
            <a:ext cx="3256178" cy="2743200"/>
            <a:chOff x="8386876" y="3474720"/>
            <a:chExt cx="3256178" cy="2743200"/>
          </a:xfrm>
        </p:grpSpPr>
        <p:sp>
          <p:nvSpPr>
            <p:cNvPr id="48" name="Card bg"/>
            <p:cNvSpPr/>
            <p:nvPr/>
          </p:nvSpPr>
          <p:spPr>
            <a:xfrm>
              <a:off x="8386876" y="3474720"/>
              <a:ext cx="3256178" cy="2743200"/>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9" name="Card accent"/>
            <p:cNvSpPr/>
            <p:nvPr/>
          </p:nvSpPr>
          <p:spPr>
            <a:xfrm>
              <a:off x="8386876" y="3474720"/>
              <a:ext cx="3256178"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0" name="Card label"/>
            <p:cNvSpPr txBox="1"/>
            <p:nvPr/>
          </p:nvSpPr>
          <p:spPr>
            <a:xfrm>
              <a:off x="8588044" y="3657600"/>
              <a:ext cx="2853842" cy="274320"/>
            </a:xfrm>
            <a:prstGeom prst="rect">
              <a:avLst/>
            </a:prstGeom>
            <a:noFill/>
          </p:spPr>
          <p:txBody>
            <a:bodyPr wrap="square" lIns="36576" tIns="36576" rIns="36576" bIns="36576" anchor="t">
              <a:spAutoFit/>
            </a:bodyPr>
            <a:lstStyle/>
            <a:p>
              <a:pPr algn="l">
                <a:lnSpc>
                  <a:spcPct val="108000"/>
                </a:lnSpc>
              </a:pPr>
              <a:r>
                <a:rPr sz="1050" b="1" i="0">
                  <a:solidFill>
                    <a:srgbClr val="5E7257"/>
                  </a:solidFill>
                  <a:latin typeface="Consolas"/>
                </a:rPr>
                <a:t>03</a:t>
              </a:r>
            </a:p>
          </p:txBody>
        </p:sp>
        <p:sp>
          <p:nvSpPr>
            <p:cNvPr id="51" name="Card title"/>
            <p:cNvSpPr txBox="1"/>
            <p:nvPr/>
          </p:nvSpPr>
          <p:spPr>
            <a:xfrm>
              <a:off x="8588044" y="3950208"/>
              <a:ext cx="2853842" cy="358902"/>
            </a:xfrm>
            <a:prstGeom prst="rect">
              <a:avLst/>
            </a:prstGeom>
            <a:noFill/>
          </p:spPr>
          <p:txBody>
            <a:bodyPr wrap="square" lIns="36576" tIns="36576" rIns="36576" bIns="36576" anchor="t">
              <a:spAutoFit/>
            </a:bodyPr>
            <a:lstStyle/>
            <a:p>
              <a:pPr algn="l">
                <a:lnSpc>
                  <a:spcPct val="108000"/>
                </a:lnSpc>
              </a:pPr>
              <a:r>
                <a:rPr sz="1800" b="1" i="0">
                  <a:solidFill>
                    <a:srgbClr val="1F1A1B"/>
                  </a:solidFill>
                  <a:latin typeface="Bahnschrift"/>
                </a:rPr>
                <a:t>Where the system is now</a:t>
              </a:r>
            </a:p>
          </p:txBody>
        </p:sp>
        <p:sp>
          <p:nvSpPr>
            <p:cNvPr id="52" name="Card body"/>
            <p:cNvSpPr txBox="1"/>
            <p:nvPr/>
          </p:nvSpPr>
          <p:spPr>
            <a:xfrm>
              <a:off x="8588044" y="4309110"/>
              <a:ext cx="2853842" cy="1799081"/>
            </a:xfrm>
            <a:prstGeom prst="rect">
              <a:avLst/>
            </a:prstGeom>
            <a:noFill/>
          </p:spPr>
          <p:txBody>
            <a:bodyPr wrap="square" lIns="36576" tIns="36576" rIns="36576" bIns="36576" anchor="t">
              <a:spAutoFit/>
            </a:bodyPr>
            <a:lstStyle/>
            <a:p>
              <a:pPr algn="l">
                <a:lnSpc>
                  <a:spcPct val="105000"/>
                </a:lnSpc>
              </a:pPr>
              <a:r>
                <a:rPr sz="1450" b="0" i="0">
                  <a:solidFill>
                    <a:srgbClr val="4A4244"/>
                  </a:solidFill>
                  <a:latin typeface="Calibri"/>
                </a:rPr>
                <a:t>Verified identity and workspace checks, five independent privacy choices, service authentication, device signing and explicit action states are in the source.</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05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1700"/>
                            </p:stCondLst>
                            <p:childTnLst>
                              <p:par>
                                <p:cTn id="19" presetID="53" presetClass="entr" presetSubtype="16" fill="hold" nodeType="after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p:cTn id="21" dur="350" fill="hold"/>
                                        <p:tgtEl>
                                          <p:spTgt spid="23"/>
                                        </p:tgtEl>
                                        <p:attrNameLst>
                                          <p:attrName>ppt_w</p:attrName>
                                        </p:attrNameLst>
                                      </p:cBhvr>
                                      <p:tavLst>
                                        <p:tav tm="0">
                                          <p:val>
                                            <p:fltVal val="0"/>
                                          </p:val>
                                        </p:tav>
                                        <p:tav tm="100000">
                                          <p:val>
                                            <p:strVal val="#ppt_w"/>
                                          </p:val>
                                        </p:tav>
                                      </p:tavLst>
                                    </p:anim>
                                    <p:anim calcmode="lin" valueType="num">
                                      <p:cBhvr>
                                        <p:cTn id="22" dur="350" fill="hold"/>
                                        <p:tgtEl>
                                          <p:spTgt spid="23"/>
                                        </p:tgtEl>
                                        <p:attrNameLst>
                                          <p:attrName>ppt_h</p:attrName>
                                        </p:attrNameLst>
                                      </p:cBhvr>
                                      <p:tavLst>
                                        <p:tav tm="0">
                                          <p:val>
                                            <p:fltVal val="0"/>
                                          </p:val>
                                        </p:tav>
                                        <p:tav tm="100000">
                                          <p:val>
                                            <p:strVal val="#ppt_h"/>
                                          </p:val>
                                        </p:tav>
                                      </p:tavLst>
                                    </p:anim>
                                    <p:animEffect transition="in" filter="fade">
                                      <p:cBhvr>
                                        <p:cTn id="23" dur="350"/>
                                        <p:tgtEl>
                                          <p:spTgt spid="23"/>
                                        </p:tgtEl>
                                      </p:cBhvr>
                                    </p:animEffect>
                                  </p:childTnLst>
                                </p:cTn>
                              </p:par>
                            </p:childTnLst>
                          </p:cTn>
                        </p:par>
                        <p:par>
                          <p:cTn id="24" fill="hold">
                            <p:stCondLst>
                              <p:cond delay="2050"/>
                            </p:stCondLst>
                            <p:childTnLst>
                              <p:par>
                                <p:cTn id="25" presetID="53" presetClass="entr" presetSubtype="16" fill="hold" nodeType="after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p:cTn id="27" dur="350" fill="hold"/>
                                        <p:tgtEl>
                                          <p:spTgt spid="27"/>
                                        </p:tgtEl>
                                        <p:attrNameLst>
                                          <p:attrName>ppt_w</p:attrName>
                                        </p:attrNameLst>
                                      </p:cBhvr>
                                      <p:tavLst>
                                        <p:tav tm="0">
                                          <p:val>
                                            <p:fltVal val="0"/>
                                          </p:val>
                                        </p:tav>
                                        <p:tav tm="100000">
                                          <p:val>
                                            <p:strVal val="#ppt_w"/>
                                          </p:val>
                                        </p:tav>
                                      </p:tavLst>
                                    </p:anim>
                                    <p:anim calcmode="lin" valueType="num">
                                      <p:cBhvr>
                                        <p:cTn id="28" dur="350" fill="hold"/>
                                        <p:tgtEl>
                                          <p:spTgt spid="27"/>
                                        </p:tgtEl>
                                        <p:attrNameLst>
                                          <p:attrName>ppt_h</p:attrName>
                                        </p:attrNameLst>
                                      </p:cBhvr>
                                      <p:tavLst>
                                        <p:tav tm="0">
                                          <p:val>
                                            <p:fltVal val="0"/>
                                          </p:val>
                                        </p:tav>
                                        <p:tav tm="100000">
                                          <p:val>
                                            <p:strVal val="#ppt_h"/>
                                          </p:val>
                                        </p:tav>
                                      </p:tavLst>
                                    </p:anim>
                                    <p:animEffect transition="in" filter="fade">
                                      <p:cBhvr>
                                        <p:cTn id="29" dur="350"/>
                                        <p:tgtEl>
                                          <p:spTgt spid="27"/>
                                        </p:tgtEl>
                                      </p:cBhvr>
                                    </p:animEffect>
                                  </p:childTnLst>
                                </p:cTn>
                              </p:par>
                            </p:childTnLst>
                          </p:cTn>
                        </p:par>
                        <p:par>
                          <p:cTn id="30" fill="hold">
                            <p:stCondLst>
                              <p:cond delay="2400"/>
                            </p:stCondLst>
                            <p:childTnLst>
                              <p:par>
                                <p:cTn id="31" presetID="53" presetClass="entr" presetSubtype="16" fill="hold" nodeType="after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p:cTn id="33" dur="350" fill="hold"/>
                                        <p:tgtEl>
                                          <p:spTgt spid="31"/>
                                        </p:tgtEl>
                                        <p:attrNameLst>
                                          <p:attrName>ppt_w</p:attrName>
                                        </p:attrNameLst>
                                      </p:cBhvr>
                                      <p:tavLst>
                                        <p:tav tm="0">
                                          <p:val>
                                            <p:fltVal val="0"/>
                                          </p:val>
                                        </p:tav>
                                        <p:tav tm="100000">
                                          <p:val>
                                            <p:strVal val="#ppt_w"/>
                                          </p:val>
                                        </p:tav>
                                      </p:tavLst>
                                    </p:anim>
                                    <p:anim calcmode="lin" valueType="num">
                                      <p:cBhvr>
                                        <p:cTn id="34" dur="350" fill="hold"/>
                                        <p:tgtEl>
                                          <p:spTgt spid="31"/>
                                        </p:tgtEl>
                                        <p:attrNameLst>
                                          <p:attrName>ppt_h</p:attrName>
                                        </p:attrNameLst>
                                      </p:cBhvr>
                                      <p:tavLst>
                                        <p:tav tm="0">
                                          <p:val>
                                            <p:fltVal val="0"/>
                                          </p:val>
                                        </p:tav>
                                        <p:tav tm="100000">
                                          <p:val>
                                            <p:strVal val="#ppt_h"/>
                                          </p:val>
                                        </p:tav>
                                      </p:tavLst>
                                    </p:anim>
                                    <p:animEffect transition="in" filter="fade">
                                      <p:cBhvr>
                                        <p:cTn id="35" dur="350"/>
                                        <p:tgtEl>
                                          <p:spTgt spid="31"/>
                                        </p:tgtEl>
                                      </p:cBhvr>
                                    </p:animEffect>
                                  </p:childTnLst>
                                </p:cTn>
                              </p:par>
                            </p:childTnLst>
                          </p:cTn>
                        </p:par>
                        <p:par>
                          <p:cTn id="36" fill="hold">
                            <p:stCondLst>
                              <p:cond delay="2750"/>
                            </p:stCondLst>
                            <p:childTnLst>
                              <p:par>
                                <p:cTn id="37" presetID="53" presetClass="entr" presetSubtype="16" fill="hold" nodeType="afterEffect">
                                  <p:stCondLst>
                                    <p:cond delay="0"/>
                                  </p:stCondLst>
                                  <p:childTnLst>
                                    <p:set>
                                      <p:cBhvr>
                                        <p:cTn id="38" dur="1" fill="hold">
                                          <p:stCondLst>
                                            <p:cond delay="0"/>
                                          </p:stCondLst>
                                        </p:cTn>
                                        <p:tgtEl>
                                          <p:spTgt spid="35"/>
                                        </p:tgtEl>
                                        <p:attrNameLst>
                                          <p:attrName>style.visibility</p:attrName>
                                        </p:attrNameLst>
                                      </p:cBhvr>
                                      <p:to>
                                        <p:strVal val="visible"/>
                                      </p:to>
                                    </p:set>
                                    <p:anim calcmode="lin" valueType="num">
                                      <p:cBhvr>
                                        <p:cTn id="39" dur="350" fill="hold"/>
                                        <p:tgtEl>
                                          <p:spTgt spid="35"/>
                                        </p:tgtEl>
                                        <p:attrNameLst>
                                          <p:attrName>ppt_w</p:attrName>
                                        </p:attrNameLst>
                                      </p:cBhvr>
                                      <p:tavLst>
                                        <p:tav tm="0">
                                          <p:val>
                                            <p:fltVal val="0"/>
                                          </p:val>
                                        </p:tav>
                                        <p:tav tm="100000">
                                          <p:val>
                                            <p:strVal val="#ppt_w"/>
                                          </p:val>
                                        </p:tav>
                                      </p:tavLst>
                                    </p:anim>
                                    <p:anim calcmode="lin" valueType="num">
                                      <p:cBhvr>
                                        <p:cTn id="40" dur="350" fill="hold"/>
                                        <p:tgtEl>
                                          <p:spTgt spid="35"/>
                                        </p:tgtEl>
                                        <p:attrNameLst>
                                          <p:attrName>ppt_h</p:attrName>
                                        </p:attrNameLst>
                                      </p:cBhvr>
                                      <p:tavLst>
                                        <p:tav tm="0">
                                          <p:val>
                                            <p:fltVal val="0"/>
                                          </p:val>
                                        </p:tav>
                                        <p:tav tm="100000">
                                          <p:val>
                                            <p:strVal val="#ppt_h"/>
                                          </p:val>
                                        </p:tav>
                                      </p:tavLst>
                                    </p:anim>
                                    <p:animEffect transition="in" filter="fade">
                                      <p:cBhvr>
                                        <p:cTn id="41" dur="350"/>
                                        <p:tgtEl>
                                          <p:spTgt spid="35"/>
                                        </p:tgtEl>
                                      </p:cBhvr>
                                    </p:animEffect>
                                  </p:childTnLst>
                                </p:cTn>
                              </p:par>
                            </p:childTnLst>
                          </p:cTn>
                        </p:par>
                        <p:par>
                          <p:cTn id="42" fill="hold">
                            <p:stCondLst>
                              <p:cond delay="3100"/>
                            </p:stCondLst>
                            <p:childTnLst>
                              <p:par>
                                <p:cTn id="43" presetID="2" presetClass="entr" presetSubtype="4" fill="hold" nodeType="afterEffect">
                                  <p:stCondLst>
                                    <p:cond delay="0"/>
                                  </p:stCondLst>
                                  <p:childTnLst>
                                    <p:set>
                                      <p:cBhvr>
                                        <p:cTn id="44" dur="1" fill="hold">
                                          <p:stCondLst>
                                            <p:cond delay="0"/>
                                          </p:stCondLst>
                                        </p:cTn>
                                        <p:tgtEl>
                                          <p:spTgt spid="41"/>
                                        </p:tgtEl>
                                        <p:attrNameLst>
                                          <p:attrName>style.visibility</p:attrName>
                                        </p:attrNameLst>
                                      </p:cBhvr>
                                      <p:to>
                                        <p:strVal val="visible"/>
                                      </p:to>
                                    </p:set>
                                    <p:anim calcmode="lin" valueType="num">
                                      <p:cBhvr additive="base">
                                        <p:cTn id="45" dur="500" fill="hold"/>
                                        <p:tgtEl>
                                          <p:spTgt spid="41"/>
                                        </p:tgtEl>
                                        <p:attrNameLst>
                                          <p:attrName>ppt_x</p:attrName>
                                        </p:attrNameLst>
                                      </p:cBhvr>
                                      <p:tavLst>
                                        <p:tav tm="0">
                                          <p:val>
                                            <p:strVal val="#ppt_x"/>
                                          </p:val>
                                        </p:tav>
                                        <p:tav tm="100000">
                                          <p:val>
                                            <p:strVal val="#ppt_x"/>
                                          </p:val>
                                        </p:tav>
                                      </p:tavLst>
                                    </p:anim>
                                    <p:anim calcmode="lin" valueType="num">
                                      <p:cBhvr additive="base">
                                        <p:cTn id="46" dur="500" fill="hold"/>
                                        <p:tgtEl>
                                          <p:spTgt spid="41"/>
                                        </p:tgtEl>
                                        <p:attrNameLst>
                                          <p:attrName>ppt_y</p:attrName>
                                        </p:attrNameLst>
                                      </p:cBhvr>
                                      <p:tavLst>
                                        <p:tav tm="0">
                                          <p:val>
                                            <p:strVal val="1+#ppt_h/2"/>
                                          </p:val>
                                        </p:tav>
                                        <p:tav tm="100000">
                                          <p:val>
                                            <p:strVal val="#ppt_y"/>
                                          </p:val>
                                        </p:tav>
                                      </p:tavLst>
                                    </p:anim>
                                  </p:childTnLst>
                                </p:cTn>
                              </p:par>
                            </p:childTnLst>
                          </p:cTn>
                        </p:par>
                        <p:par>
                          <p:cTn id="47" fill="hold">
                            <p:stCondLst>
                              <p:cond delay="3600"/>
                            </p:stCondLst>
                            <p:childTnLst>
                              <p:par>
                                <p:cTn id="48" presetID="2" presetClass="entr" presetSubtype="4" fill="hold" nodeType="afterEffect">
                                  <p:stCondLst>
                                    <p:cond delay="0"/>
                                  </p:stCondLst>
                                  <p:childTnLst>
                                    <p:set>
                                      <p:cBhvr>
                                        <p:cTn id="49" dur="1" fill="hold">
                                          <p:stCondLst>
                                            <p:cond delay="0"/>
                                          </p:stCondLst>
                                        </p:cTn>
                                        <p:tgtEl>
                                          <p:spTgt spid="47"/>
                                        </p:tgtEl>
                                        <p:attrNameLst>
                                          <p:attrName>style.visibility</p:attrName>
                                        </p:attrNameLst>
                                      </p:cBhvr>
                                      <p:to>
                                        <p:strVal val="visible"/>
                                      </p:to>
                                    </p:set>
                                    <p:anim calcmode="lin" valueType="num">
                                      <p:cBhvr additive="base">
                                        <p:cTn id="50" dur="500" fill="hold"/>
                                        <p:tgtEl>
                                          <p:spTgt spid="47"/>
                                        </p:tgtEl>
                                        <p:attrNameLst>
                                          <p:attrName>ppt_x</p:attrName>
                                        </p:attrNameLst>
                                      </p:cBhvr>
                                      <p:tavLst>
                                        <p:tav tm="0">
                                          <p:val>
                                            <p:strVal val="#ppt_x"/>
                                          </p:val>
                                        </p:tav>
                                        <p:tav tm="100000">
                                          <p:val>
                                            <p:strVal val="#ppt_x"/>
                                          </p:val>
                                        </p:tav>
                                      </p:tavLst>
                                    </p:anim>
                                    <p:anim calcmode="lin" valueType="num">
                                      <p:cBhvr additive="base">
                                        <p:cTn id="51" dur="500" fill="hold"/>
                                        <p:tgtEl>
                                          <p:spTgt spid="47"/>
                                        </p:tgtEl>
                                        <p:attrNameLst>
                                          <p:attrName>ppt_y</p:attrName>
                                        </p:attrNameLst>
                                      </p:cBhvr>
                                      <p:tavLst>
                                        <p:tav tm="0">
                                          <p:val>
                                            <p:strVal val="1+#ppt_h/2"/>
                                          </p:val>
                                        </p:tav>
                                        <p:tav tm="100000">
                                          <p:val>
                                            <p:strVal val="#ppt_y"/>
                                          </p:val>
                                        </p:tav>
                                      </p:tavLst>
                                    </p:anim>
                                  </p:childTnLst>
                                </p:cTn>
                              </p:par>
                            </p:childTnLst>
                          </p:cTn>
                        </p:par>
                        <p:par>
                          <p:cTn id="52" fill="hold">
                            <p:stCondLst>
                              <p:cond delay="4100"/>
                            </p:stCondLst>
                            <p:childTnLst>
                              <p:par>
                                <p:cTn id="53" presetID="2" presetClass="entr" presetSubtype="4" fill="hold" nodeType="afterEffect">
                                  <p:stCondLst>
                                    <p:cond delay="0"/>
                                  </p:stCondLst>
                                  <p:childTnLst>
                                    <p:set>
                                      <p:cBhvr>
                                        <p:cTn id="54" dur="1" fill="hold">
                                          <p:stCondLst>
                                            <p:cond delay="0"/>
                                          </p:stCondLst>
                                        </p:cTn>
                                        <p:tgtEl>
                                          <p:spTgt spid="53"/>
                                        </p:tgtEl>
                                        <p:attrNameLst>
                                          <p:attrName>style.visibility</p:attrName>
                                        </p:attrNameLst>
                                      </p:cBhvr>
                                      <p:to>
                                        <p:strVal val="visible"/>
                                      </p:to>
                                    </p:set>
                                    <p:anim calcmode="lin" valueType="num">
                                      <p:cBhvr additive="base">
                                        <p:cTn id="55" dur="500" fill="hold"/>
                                        <p:tgtEl>
                                          <p:spTgt spid="53"/>
                                        </p:tgtEl>
                                        <p:attrNameLst>
                                          <p:attrName>ppt_x</p:attrName>
                                        </p:attrNameLst>
                                      </p:cBhvr>
                                      <p:tavLst>
                                        <p:tav tm="0">
                                          <p:val>
                                            <p:strVal val="#ppt_x"/>
                                          </p:val>
                                        </p:tav>
                                        <p:tav tm="100000">
                                          <p:val>
                                            <p:strVal val="#ppt_x"/>
                                          </p:val>
                                        </p:tav>
                                      </p:tavLst>
                                    </p:anim>
                                    <p:anim calcmode="lin" valueType="num">
                                      <p:cBhvr additive="base">
                                        <p:cTn id="56"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FE9DD"/>
        </a:solidFill>
        <a:effectLst/>
      </p:bgPr>
    </p:bg>
    <p:spTree>
      <p:nvGrpSpPr>
        <p:cNvPr id="1" name=""/>
        <p:cNvGrpSpPr/>
        <p:nvPr/>
      </p:nvGrpSpPr>
      <p:grpSpPr>
        <a:xfrm>
          <a:off x="0" y="0"/>
          <a:ext cx="0" cy="0"/>
          <a:chOff x="0" y="0"/>
          <a:chExt cx="0" cy="0"/>
        </a:xfrm>
      </p:grpSpPr>
      <p:sp>
        <p:nvSpPr>
          <p:cNvPr id="2" name="!!orb"/>
          <p:cNvSpPr/>
          <p:nvPr/>
        </p:nvSpPr>
        <p:spPr>
          <a:xfrm>
            <a:off x="9418320" y="4389120"/>
            <a:ext cx="3291840" cy="3291840"/>
          </a:xfrm>
          <a:prstGeom prst="ellipse">
            <a:avLst/>
          </a:prstGeom>
          <a:noFill/>
          <a:ln w="1587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10010851" y="4981651"/>
            <a:ext cx="2106777" cy="2106777"/>
          </a:xfrm>
          <a:prstGeom prst="ellipse">
            <a:avLst/>
          </a:prstGeom>
          <a:noFill/>
          <a:ln w="9525">
            <a:solidFill>
              <a:srgbClr val="E2D7C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ailpanel"/>
          <p:cNvSpPr/>
          <p:nvPr/>
        </p:nvSpPr>
        <p:spPr>
          <a:xfrm>
            <a:off x="0" y="0"/>
            <a:ext cx="960120" cy="6858000"/>
          </a:xfrm>
          <a:prstGeom prst="rect">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ailmark"/>
          <p:cNvSpPr/>
          <p:nvPr/>
        </p:nvSpPr>
        <p:spPr>
          <a:xfrm>
            <a:off x="886968" y="3154680"/>
            <a:ext cx="73152" cy="548640"/>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rail1"/>
          <p:cNvSpPr txBox="1"/>
          <p:nvPr/>
        </p:nvSpPr>
        <p:spPr>
          <a:xfrm>
            <a:off x="45720" y="-1764791"/>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01</a:t>
            </a:r>
          </a:p>
        </p:txBody>
      </p:sp>
      <p:sp>
        <p:nvSpPr>
          <p:cNvPr id="7" name="!!rail2"/>
          <p:cNvSpPr txBox="1"/>
          <p:nvPr/>
        </p:nvSpPr>
        <p:spPr>
          <a:xfrm>
            <a:off x="45720" y="-1051559"/>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02</a:t>
            </a:r>
          </a:p>
        </p:txBody>
      </p:sp>
      <p:sp>
        <p:nvSpPr>
          <p:cNvPr id="8" name="!!rail3"/>
          <p:cNvSpPr txBox="1"/>
          <p:nvPr/>
        </p:nvSpPr>
        <p:spPr>
          <a:xfrm>
            <a:off x="45720" y="-33832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03</a:t>
            </a:r>
          </a:p>
        </p:txBody>
      </p:sp>
      <p:sp>
        <p:nvSpPr>
          <p:cNvPr id="9" name="!!rail4"/>
          <p:cNvSpPr txBox="1"/>
          <p:nvPr/>
        </p:nvSpPr>
        <p:spPr>
          <a:xfrm>
            <a:off x="45720" y="374904"/>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04</a:t>
            </a:r>
          </a:p>
        </p:txBody>
      </p:sp>
      <p:sp>
        <p:nvSpPr>
          <p:cNvPr id="10" name="!!rail5"/>
          <p:cNvSpPr txBox="1"/>
          <p:nvPr/>
        </p:nvSpPr>
        <p:spPr>
          <a:xfrm>
            <a:off x="45720" y="1088136"/>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05</a:t>
            </a:r>
          </a:p>
        </p:txBody>
      </p:sp>
      <p:sp>
        <p:nvSpPr>
          <p:cNvPr id="11" name="!!rail6"/>
          <p:cNvSpPr txBox="1"/>
          <p:nvPr/>
        </p:nvSpPr>
        <p:spPr>
          <a:xfrm>
            <a:off x="45720" y="1801368"/>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06</a:t>
            </a:r>
          </a:p>
        </p:txBody>
      </p:sp>
      <p:sp>
        <p:nvSpPr>
          <p:cNvPr id="12" name="!!rail7"/>
          <p:cNvSpPr txBox="1"/>
          <p:nvPr/>
        </p:nvSpPr>
        <p:spPr>
          <a:xfrm>
            <a:off x="45720" y="2514600"/>
            <a:ext cx="777240" cy="548640"/>
          </a:xfrm>
          <a:prstGeom prst="rect">
            <a:avLst/>
          </a:prstGeom>
          <a:noFill/>
        </p:spPr>
        <p:txBody>
          <a:bodyPr wrap="square" lIns="36576" tIns="36576" rIns="36576" bIns="36576" anchor="ctr">
            <a:spAutoFit/>
          </a:bodyPr>
          <a:lstStyle/>
          <a:p>
            <a:pPr algn="ctr">
              <a:lnSpc>
                <a:spcPct val="108000"/>
              </a:lnSpc>
            </a:pPr>
            <a:r>
              <a:rPr sz="1500" b="0" i="0">
                <a:solidFill>
                  <a:srgbClr val="6E6466"/>
                </a:solidFill>
                <a:latin typeface="Bahnschrift"/>
              </a:rPr>
              <a:t>07</a:t>
            </a:r>
          </a:p>
        </p:txBody>
      </p:sp>
      <p:sp>
        <p:nvSpPr>
          <p:cNvPr id="13" name="!!rail8"/>
          <p:cNvSpPr txBox="1"/>
          <p:nvPr/>
        </p:nvSpPr>
        <p:spPr>
          <a:xfrm>
            <a:off x="45720" y="3154680"/>
            <a:ext cx="777240" cy="548640"/>
          </a:xfrm>
          <a:prstGeom prst="rect">
            <a:avLst/>
          </a:prstGeom>
          <a:noFill/>
        </p:spPr>
        <p:txBody>
          <a:bodyPr wrap="square" lIns="36576" tIns="36576" rIns="36576" bIns="36576" anchor="ctr">
            <a:spAutoFit/>
          </a:bodyPr>
          <a:lstStyle/>
          <a:p>
            <a:pPr algn="ctr">
              <a:lnSpc>
                <a:spcPct val="108000"/>
              </a:lnSpc>
            </a:pPr>
            <a:r>
              <a:rPr sz="2600" b="1" i="0">
                <a:solidFill>
                  <a:srgbClr val="F69D39"/>
                </a:solidFill>
                <a:latin typeface="Bahnschrift"/>
              </a:rPr>
              <a:t>08</a:t>
            </a:r>
          </a:p>
        </p:txBody>
      </p:sp>
      <p:sp>
        <p:nvSpPr>
          <p:cNvPr id="14" name="Kicker 344"/>
          <p:cNvSpPr txBox="1"/>
          <p:nvPr/>
        </p:nvSpPr>
        <p:spPr>
          <a:xfrm>
            <a:off x="1417320" y="384048"/>
            <a:ext cx="10225735" cy="292608"/>
          </a:xfrm>
          <a:prstGeom prst="rect">
            <a:avLst/>
          </a:prstGeom>
          <a:noFill/>
        </p:spPr>
        <p:txBody>
          <a:bodyPr wrap="square" lIns="36576" tIns="36576" rIns="36576" bIns="36576" anchor="t">
            <a:spAutoFit/>
          </a:bodyPr>
          <a:lstStyle/>
          <a:p>
            <a:pPr algn="l">
              <a:lnSpc>
                <a:spcPct val="108000"/>
              </a:lnSpc>
            </a:pPr>
            <a:r>
              <a:rPr sz="1150" b="1" i="0">
                <a:solidFill>
                  <a:srgbClr val="C77A1E"/>
                </a:solidFill>
                <a:latin typeface="Consolas"/>
              </a:rPr>
              <a:t>08  ·  CONCLUSION</a:t>
            </a:r>
          </a:p>
        </p:txBody>
      </p:sp>
      <p:sp>
        <p:nvSpPr>
          <p:cNvPr id="15" name="Title 345"/>
          <p:cNvSpPr txBox="1"/>
          <p:nvPr/>
        </p:nvSpPr>
        <p:spPr>
          <a:xfrm>
            <a:off x="1417320" y="658368"/>
            <a:ext cx="10225735" cy="685800"/>
          </a:xfrm>
          <a:prstGeom prst="rect">
            <a:avLst/>
          </a:prstGeom>
          <a:noFill/>
        </p:spPr>
        <p:txBody>
          <a:bodyPr wrap="square" lIns="36576" tIns="36576" rIns="36576" bIns="36576" anchor="t">
            <a:spAutoFit/>
          </a:bodyPr>
          <a:lstStyle/>
          <a:p>
            <a:pPr algn="l">
              <a:lnSpc>
                <a:spcPct val="108000"/>
              </a:lnSpc>
            </a:pPr>
            <a:r>
              <a:rPr sz="3400" b="1" i="0">
                <a:solidFill>
                  <a:srgbClr val="1F1A1B"/>
                </a:solidFill>
                <a:latin typeface="Bahnschrift"/>
              </a:rPr>
              <a:t>Conclusion</a:t>
            </a:r>
          </a:p>
        </p:txBody>
      </p:sp>
      <p:sp>
        <p:nvSpPr>
          <p:cNvPr id="16" name="Subtitle 346"/>
          <p:cNvSpPr txBox="1"/>
          <p:nvPr/>
        </p:nvSpPr>
        <p:spPr>
          <a:xfrm>
            <a:off x="1417320" y="1298448"/>
            <a:ext cx="10225735" cy="411480"/>
          </a:xfrm>
          <a:prstGeom prst="rect">
            <a:avLst/>
          </a:prstGeom>
          <a:noFill/>
        </p:spPr>
        <p:txBody>
          <a:bodyPr wrap="square" lIns="36576" tIns="36576" rIns="36576" bIns="36576" anchor="t">
            <a:spAutoFit/>
          </a:bodyPr>
          <a:lstStyle/>
          <a:p>
            <a:pPr algn="l">
              <a:lnSpc>
                <a:spcPct val="108000"/>
              </a:lnSpc>
            </a:pPr>
            <a:r>
              <a:rPr sz="1600" b="0" i="0">
                <a:solidFill>
                  <a:srgbClr val="857A72"/>
                </a:solidFill>
                <a:latin typeface="Calibri"/>
              </a:rPr>
              <a:t>Recommendations and perspectives</a:t>
            </a:r>
          </a:p>
        </p:txBody>
      </p:sp>
      <p:cxnSp>
        <p:nvCxnSpPr>
          <p:cNvPr id="17" name="Footer rule"/>
          <p:cNvCxnSpPr/>
          <p:nvPr/>
        </p:nvCxnSpPr>
        <p:spPr>
          <a:xfrm>
            <a:off x="1417320" y="6400800"/>
            <a:ext cx="10225735" cy="0"/>
          </a:xfrm>
          <a:prstGeom prst="line">
            <a:avLst/>
          </a:prstGeom>
          <a:ln w="9525">
            <a:solidFill>
              <a:srgbClr val="DCD2C3"/>
            </a:solidFill>
          </a:ln>
        </p:spPr>
        <p:style>
          <a:lnRef idx="2">
            <a:schemeClr val="accent1"/>
          </a:lnRef>
          <a:fillRef idx="0">
            <a:schemeClr val="accent1"/>
          </a:fillRef>
          <a:effectRef idx="1">
            <a:schemeClr val="accent1"/>
          </a:effectRef>
          <a:fontRef idx="minor">
            <a:schemeClr val="tx1"/>
          </a:fontRef>
        </p:style>
      </p:cxnSp>
      <p:sp>
        <p:nvSpPr>
          <p:cNvPr id="18" name="Source"/>
          <p:cNvSpPr txBox="1"/>
          <p:nvPr/>
        </p:nvSpPr>
        <p:spPr>
          <a:xfrm>
            <a:off x="1417320" y="6437376"/>
            <a:ext cx="9128455" cy="274320"/>
          </a:xfrm>
          <a:prstGeom prst="rect">
            <a:avLst/>
          </a:prstGeom>
          <a:noFill/>
        </p:spPr>
        <p:txBody>
          <a:bodyPr wrap="square" lIns="36576" tIns="36576" rIns="36576" bIns="36576" anchor="t">
            <a:spAutoFit/>
          </a:bodyPr>
          <a:lstStyle/>
          <a:p>
            <a:pPr algn="l">
              <a:lnSpc>
                <a:spcPct val="108000"/>
              </a:lnSpc>
            </a:pPr>
            <a:r>
              <a:rPr sz="950" b="0" i="0">
                <a:solidFill>
                  <a:srgbClr val="857A72"/>
                </a:solidFill>
                <a:latin typeface="Calibri"/>
              </a:rPr>
              <a:t>Thesis §5.2 Recommendations; §5.3 Perspectives</a:t>
            </a:r>
          </a:p>
        </p:txBody>
      </p:sp>
      <p:sp>
        <p:nvSpPr>
          <p:cNvPr id="19" name="Page"/>
          <p:cNvSpPr txBox="1"/>
          <p:nvPr/>
        </p:nvSpPr>
        <p:spPr>
          <a:xfrm>
            <a:off x="10545775" y="6437376"/>
            <a:ext cx="1097280" cy="274320"/>
          </a:xfrm>
          <a:prstGeom prst="rect">
            <a:avLst/>
          </a:prstGeom>
          <a:noFill/>
        </p:spPr>
        <p:txBody>
          <a:bodyPr wrap="square" lIns="36576" tIns="36576" rIns="36576" bIns="36576" anchor="t">
            <a:spAutoFit/>
          </a:bodyPr>
          <a:lstStyle/>
          <a:p>
            <a:pPr algn="r">
              <a:lnSpc>
                <a:spcPct val="108000"/>
              </a:lnSpc>
            </a:pPr>
            <a:r>
              <a:rPr sz="950" b="0" i="0">
                <a:solidFill>
                  <a:srgbClr val="857A72"/>
                </a:solidFill>
                <a:latin typeface="Consolas"/>
              </a:rPr>
              <a:t>19 / 20</a:t>
            </a:r>
          </a:p>
        </p:txBody>
      </p:sp>
      <p:grpSp>
        <p:nvGrpSpPr>
          <p:cNvPr id="25" name="Card 347"/>
          <p:cNvGrpSpPr/>
          <p:nvPr/>
        </p:nvGrpSpPr>
        <p:grpSpPr>
          <a:xfrm>
            <a:off x="1417320" y="1810512"/>
            <a:ext cx="4975707" cy="1426464"/>
            <a:chOff x="1417320" y="1810512"/>
            <a:chExt cx="4975707" cy="1426464"/>
          </a:xfrm>
        </p:grpSpPr>
        <p:sp>
          <p:nvSpPr>
            <p:cNvPr id="20" name="Card bg"/>
            <p:cNvSpPr/>
            <p:nvPr/>
          </p:nvSpPr>
          <p:spPr>
            <a:xfrm>
              <a:off x="1417320" y="1810512"/>
              <a:ext cx="4975707" cy="1426464"/>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Card accent"/>
            <p:cNvSpPr/>
            <p:nvPr/>
          </p:nvSpPr>
          <p:spPr>
            <a:xfrm>
              <a:off x="1417320" y="1810512"/>
              <a:ext cx="4975707"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Card label"/>
            <p:cNvSpPr txBox="1"/>
            <p:nvPr/>
          </p:nvSpPr>
          <p:spPr>
            <a:xfrm>
              <a:off x="1618488" y="1993392"/>
              <a:ext cx="4573371" cy="274320"/>
            </a:xfrm>
            <a:prstGeom prst="rect">
              <a:avLst/>
            </a:prstGeom>
            <a:noFill/>
          </p:spPr>
          <p:txBody>
            <a:bodyPr wrap="square" lIns="36576" tIns="36576" rIns="36576" bIns="36576" anchor="t">
              <a:spAutoFit/>
            </a:bodyPr>
            <a:lstStyle/>
            <a:p>
              <a:pPr algn="l">
                <a:lnSpc>
                  <a:spcPct val="108000"/>
                </a:lnSpc>
              </a:pPr>
              <a:r>
                <a:rPr sz="1050" b="1" i="0">
                  <a:solidFill>
                    <a:srgbClr val="C77A1E"/>
                  </a:solidFill>
                  <a:latin typeface="Consolas"/>
                </a:rPr>
                <a:t>RECOMMENDATION 1</a:t>
              </a:r>
            </a:p>
          </p:txBody>
        </p:sp>
        <p:sp>
          <p:nvSpPr>
            <p:cNvPr id="23" name="Card title"/>
            <p:cNvSpPr txBox="1"/>
            <p:nvPr/>
          </p:nvSpPr>
          <p:spPr>
            <a:xfrm>
              <a:off x="1618488" y="2286000"/>
              <a:ext cx="4573371" cy="327152"/>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Security assurance</a:t>
              </a:r>
            </a:p>
          </p:txBody>
        </p:sp>
        <p:sp>
          <p:nvSpPr>
            <p:cNvPr id="24" name="Card body"/>
            <p:cNvSpPr txBox="1"/>
            <p:nvPr/>
          </p:nvSpPr>
          <p:spPr>
            <a:xfrm>
              <a:off x="1618488" y="2613152"/>
              <a:ext cx="4573371" cy="514096"/>
            </a:xfrm>
            <a:prstGeom prst="rect">
              <a:avLst/>
            </a:prstGeom>
            <a:noFill/>
          </p:spPr>
          <p:txBody>
            <a:bodyPr wrap="square" lIns="36576" tIns="36576" rIns="36576" bIns="36576" anchor="t">
              <a:spAutoFit/>
            </a:bodyPr>
            <a:lstStyle/>
            <a:p>
              <a:pPr algn="l">
                <a:lnSpc>
                  <a:spcPct val="105000"/>
                </a:lnSpc>
              </a:pPr>
              <a:r>
                <a:rPr sz="1300" b="0" i="0">
                  <a:solidFill>
                    <a:srgbClr val="4A4244"/>
                  </a:solidFill>
                  <a:latin typeface="Calibri"/>
                </a:rPr>
                <a:t>Exercise account switching, grant revocation, hostile input, replay, expiry and elevation prompts in the packaged product.</a:t>
              </a:r>
            </a:p>
          </p:txBody>
        </p:sp>
      </p:grpSp>
      <p:grpSp>
        <p:nvGrpSpPr>
          <p:cNvPr id="31" name="Card 348"/>
          <p:cNvGrpSpPr/>
          <p:nvPr/>
        </p:nvGrpSpPr>
        <p:grpSpPr>
          <a:xfrm>
            <a:off x="6667347" y="1810512"/>
            <a:ext cx="4975707" cy="1426464"/>
            <a:chOff x="6667347" y="1810512"/>
            <a:chExt cx="4975707" cy="1426464"/>
          </a:xfrm>
        </p:grpSpPr>
        <p:sp>
          <p:nvSpPr>
            <p:cNvPr id="26" name="Card bg"/>
            <p:cNvSpPr/>
            <p:nvPr/>
          </p:nvSpPr>
          <p:spPr>
            <a:xfrm>
              <a:off x="6667347" y="1810512"/>
              <a:ext cx="4975707" cy="1426464"/>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Card accent"/>
            <p:cNvSpPr/>
            <p:nvPr/>
          </p:nvSpPr>
          <p:spPr>
            <a:xfrm>
              <a:off x="6667347" y="1810512"/>
              <a:ext cx="4975707"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Card label"/>
            <p:cNvSpPr txBox="1"/>
            <p:nvPr/>
          </p:nvSpPr>
          <p:spPr>
            <a:xfrm>
              <a:off x="6868515" y="1993392"/>
              <a:ext cx="4573371" cy="274320"/>
            </a:xfrm>
            <a:prstGeom prst="rect">
              <a:avLst/>
            </a:prstGeom>
            <a:noFill/>
          </p:spPr>
          <p:txBody>
            <a:bodyPr wrap="square" lIns="36576" tIns="36576" rIns="36576" bIns="36576" anchor="t">
              <a:spAutoFit/>
            </a:bodyPr>
            <a:lstStyle/>
            <a:p>
              <a:pPr algn="l">
                <a:lnSpc>
                  <a:spcPct val="108000"/>
                </a:lnSpc>
              </a:pPr>
              <a:r>
                <a:rPr sz="1050" b="1" i="0">
                  <a:solidFill>
                    <a:srgbClr val="5E7257"/>
                  </a:solidFill>
                  <a:latin typeface="Consolas"/>
                </a:rPr>
                <a:t>RECOMMENDATION 2</a:t>
              </a:r>
            </a:p>
          </p:txBody>
        </p:sp>
        <p:sp>
          <p:nvSpPr>
            <p:cNvPr id="29" name="Card title"/>
            <p:cNvSpPr txBox="1"/>
            <p:nvPr/>
          </p:nvSpPr>
          <p:spPr>
            <a:xfrm>
              <a:off x="6868515" y="2286000"/>
              <a:ext cx="4573371" cy="327152"/>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Privacy and retention</a:t>
              </a:r>
            </a:p>
          </p:txBody>
        </p:sp>
        <p:sp>
          <p:nvSpPr>
            <p:cNvPr id="30" name="Card body"/>
            <p:cNvSpPr txBox="1"/>
            <p:nvPr/>
          </p:nvSpPr>
          <p:spPr>
            <a:xfrm>
              <a:off x="6868515" y="2613152"/>
              <a:ext cx="4573371" cy="514096"/>
            </a:xfrm>
            <a:prstGeom prst="rect">
              <a:avLst/>
            </a:prstGeom>
            <a:noFill/>
          </p:spPr>
          <p:txBody>
            <a:bodyPr wrap="square" lIns="36576" tIns="36576" rIns="36576" bIns="36576" anchor="t">
              <a:spAutoFit/>
            </a:bodyPr>
            <a:lstStyle/>
            <a:p>
              <a:pPr algn="l">
                <a:lnSpc>
                  <a:spcPct val="105000"/>
                </a:lnSpc>
              </a:pPr>
              <a:r>
                <a:rPr sz="1300" b="0" i="0">
                  <a:solidFill>
                    <a:srgbClr val="4A4244"/>
                  </a:solidFill>
                  <a:latin typeface="Calibri"/>
                </a:rPr>
                <a:t>Validate the five consent categories, URL redaction, deletion and sync withdrawal across all clients and recipients.</a:t>
              </a:r>
            </a:p>
          </p:txBody>
        </p:sp>
      </p:grpSp>
      <p:grpSp>
        <p:nvGrpSpPr>
          <p:cNvPr id="37" name="Card 349"/>
          <p:cNvGrpSpPr/>
          <p:nvPr/>
        </p:nvGrpSpPr>
        <p:grpSpPr>
          <a:xfrm>
            <a:off x="1417320" y="3346704"/>
            <a:ext cx="4975707" cy="1426464"/>
            <a:chOff x="1417320" y="3346704"/>
            <a:chExt cx="4975707" cy="1426464"/>
          </a:xfrm>
        </p:grpSpPr>
        <p:sp>
          <p:nvSpPr>
            <p:cNvPr id="32" name="Card bg"/>
            <p:cNvSpPr/>
            <p:nvPr/>
          </p:nvSpPr>
          <p:spPr>
            <a:xfrm>
              <a:off x="1417320" y="3346704"/>
              <a:ext cx="4975707" cy="1426464"/>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Card accent"/>
            <p:cNvSpPr/>
            <p:nvPr/>
          </p:nvSpPr>
          <p:spPr>
            <a:xfrm>
              <a:off x="1417320" y="3346704"/>
              <a:ext cx="4975707" cy="64008"/>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Card label"/>
            <p:cNvSpPr txBox="1"/>
            <p:nvPr/>
          </p:nvSpPr>
          <p:spPr>
            <a:xfrm>
              <a:off x="1618488" y="3529584"/>
              <a:ext cx="4573371" cy="274320"/>
            </a:xfrm>
            <a:prstGeom prst="rect">
              <a:avLst/>
            </a:prstGeom>
            <a:noFill/>
          </p:spPr>
          <p:txBody>
            <a:bodyPr wrap="square" lIns="36576" tIns="36576" rIns="36576" bIns="36576" anchor="t">
              <a:spAutoFit/>
            </a:bodyPr>
            <a:lstStyle/>
            <a:p>
              <a:pPr algn="l">
                <a:lnSpc>
                  <a:spcPct val="108000"/>
                </a:lnSpc>
              </a:pPr>
              <a:r>
                <a:rPr sz="1050" b="1" i="0">
                  <a:solidFill>
                    <a:srgbClr val="5E7257"/>
                  </a:solidFill>
                  <a:latin typeface="Consolas"/>
                </a:rPr>
                <a:t>RECOMMENDATION 3</a:t>
              </a:r>
            </a:p>
          </p:txBody>
        </p:sp>
        <p:sp>
          <p:nvSpPr>
            <p:cNvPr id="35" name="Card title"/>
            <p:cNvSpPr txBox="1"/>
            <p:nvPr/>
          </p:nvSpPr>
          <p:spPr>
            <a:xfrm>
              <a:off x="1618488" y="3822192"/>
              <a:ext cx="4573371" cy="327152"/>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Model quality and training</a:t>
              </a:r>
            </a:p>
          </p:txBody>
        </p:sp>
        <p:sp>
          <p:nvSpPr>
            <p:cNvPr id="36" name="Card body"/>
            <p:cNvSpPr txBox="1"/>
            <p:nvPr/>
          </p:nvSpPr>
          <p:spPr>
            <a:xfrm>
              <a:off x="1618488" y="4149344"/>
              <a:ext cx="4573371" cy="514095"/>
            </a:xfrm>
            <a:prstGeom prst="rect">
              <a:avLst/>
            </a:prstGeom>
            <a:noFill/>
          </p:spPr>
          <p:txBody>
            <a:bodyPr wrap="square" lIns="36576" tIns="36576" rIns="36576" bIns="36576" anchor="t">
              <a:spAutoFit/>
            </a:bodyPr>
            <a:lstStyle/>
            <a:p>
              <a:pPr algn="l">
                <a:lnSpc>
                  <a:spcPct val="105000"/>
                </a:lnSpc>
              </a:pPr>
              <a:r>
                <a:rPr sz="1300" b="0" i="0">
                  <a:solidFill>
                    <a:srgbClr val="4A4244"/>
                  </a:solidFill>
                  <a:latin typeface="Calibri"/>
                </a:rPr>
                <a:t>Temporal and domain-held-out evaluation; isolated training jobs; reviewed feedback, never unchecked online retraining.</a:t>
              </a:r>
            </a:p>
          </p:txBody>
        </p:sp>
      </p:grpSp>
      <p:grpSp>
        <p:nvGrpSpPr>
          <p:cNvPr id="43" name="Card 350"/>
          <p:cNvGrpSpPr/>
          <p:nvPr/>
        </p:nvGrpSpPr>
        <p:grpSpPr>
          <a:xfrm>
            <a:off x="6667347" y="3346704"/>
            <a:ext cx="4975707" cy="1426464"/>
            <a:chOff x="6667347" y="3346704"/>
            <a:chExt cx="4975707" cy="1426464"/>
          </a:xfrm>
        </p:grpSpPr>
        <p:sp>
          <p:nvSpPr>
            <p:cNvPr id="38" name="Card bg"/>
            <p:cNvSpPr/>
            <p:nvPr/>
          </p:nvSpPr>
          <p:spPr>
            <a:xfrm>
              <a:off x="6667347" y="3346704"/>
              <a:ext cx="4975707" cy="1426464"/>
            </a:xfrm>
            <a:prstGeom prst="roundRect">
              <a:avLst>
                <a:gd name="adj" fmla="val 5000"/>
              </a:avLst>
            </a:prstGeom>
            <a:solidFill>
              <a:srgbClr val="F8F4ED"/>
            </a:solidFill>
            <a:ln w="9525">
              <a:solidFill>
                <a:srgbClr val="DCD2C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Card accent"/>
            <p:cNvSpPr/>
            <p:nvPr/>
          </p:nvSpPr>
          <p:spPr>
            <a:xfrm>
              <a:off x="6667347" y="3346704"/>
              <a:ext cx="4975707" cy="64008"/>
            </a:xfrm>
            <a:prstGeom prst="rect">
              <a:avLst/>
            </a:prstGeom>
            <a:solidFill>
              <a:srgbClr val="F69D3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0" name="Card label"/>
            <p:cNvSpPr txBox="1"/>
            <p:nvPr/>
          </p:nvSpPr>
          <p:spPr>
            <a:xfrm>
              <a:off x="6868515" y="3529584"/>
              <a:ext cx="4573371" cy="274320"/>
            </a:xfrm>
            <a:prstGeom prst="rect">
              <a:avLst/>
            </a:prstGeom>
            <a:noFill/>
          </p:spPr>
          <p:txBody>
            <a:bodyPr wrap="square" lIns="36576" tIns="36576" rIns="36576" bIns="36576" anchor="t">
              <a:spAutoFit/>
            </a:bodyPr>
            <a:lstStyle/>
            <a:p>
              <a:pPr algn="l">
                <a:lnSpc>
                  <a:spcPct val="108000"/>
                </a:lnSpc>
              </a:pPr>
              <a:r>
                <a:rPr sz="1050" b="1" i="0">
                  <a:solidFill>
                    <a:srgbClr val="C77A1E"/>
                  </a:solidFill>
                  <a:latin typeface="Consolas"/>
                </a:rPr>
                <a:t>RECOMMENDATION 4</a:t>
              </a:r>
            </a:p>
          </p:txBody>
        </p:sp>
        <p:sp>
          <p:nvSpPr>
            <p:cNvPr id="41" name="Card title"/>
            <p:cNvSpPr txBox="1"/>
            <p:nvPr/>
          </p:nvSpPr>
          <p:spPr>
            <a:xfrm>
              <a:off x="6868515" y="3822192"/>
              <a:ext cx="4573371" cy="327152"/>
            </a:xfrm>
            <a:prstGeom prst="rect">
              <a:avLst/>
            </a:prstGeom>
            <a:noFill/>
          </p:spPr>
          <p:txBody>
            <a:bodyPr wrap="square" lIns="36576" tIns="36576" rIns="36576" bIns="36576" anchor="t">
              <a:spAutoFit/>
            </a:bodyPr>
            <a:lstStyle/>
            <a:p>
              <a:pPr algn="l">
                <a:lnSpc>
                  <a:spcPct val="108000"/>
                </a:lnSpc>
              </a:pPr>
              <a:r>
                <a:rPr sz="1600" b="1" i="0">
                  <a:solidFill>
                    <a:srgbClr val="1F1A1B"/>
                  </a:solidFill>
                  <a:latin typeface="Bahnschrift"/>
                </a:rPr>
                <a:t>Action and integration scope</a:t>
              </a:r>
            </a:p>
          </p:txBody>
        </p:sp>
        <p:sp>
          <p:nvSpPr>
            <p:cNvPr id="42" name="Card body"/>
            <p:cNvSpPr txBox="1"/>
            <p:nvPr/>
          </p:nvSpPr>
          <p:spPr>
            <a:xfrm>
              <a:off x="6868515" y="4149344"/>
              <a:ext cx="4573371" cy="514095"/>
            </a:xfrm>
            <a:prstGeom prst="rect">
              <a:avLst/>
            </a:prstGeom>
            <a:noFill/>
          </p:spPr>
          <p:txBody>
            <a:bodyPr wrap="square" lIns="36576" tIns="36576" rIns="36576" bIns="36576" anchor="t">
              <a:spAutoFit/>
            </a:bodyPr>
            <a:lstStyle/>
            <a:p>
              <a:pPr algn="l">
                <a:lnSpc>
                  <a:spcPct val="105000"/>
                </a:lnSpc>
              </a:pPr>
              <a:r>
                <a:rPr sz="1300" b="0" i="0">
                  <a:solidFill>
                    <a:srgbClr val="4A4244"/>
                  </a:solidFill>
                  <a:latin typeface="Calibri"/>
                </a:rPr>
                <a:t>Verified rollback before broader automatic response; extend CLI and MCP only with permission and recovery contracts.</a:t>
              </a:r>
            </a:p>
          </p:txBody>
        </p:sp>
      </p:grpSp>
      <p:grpSp>
        <p:nvGrpSpPr>
          <p:cNvPr id="47" name="Perspectives 351"/>
          <p:cNvGrpSpPr/>
          <p:nvPr/>
        </p:nvGrpSpPr>
        <p:grpSpPr>
          <a:xfrm>
            <a:off x="1417320" y="4956048"/>
            <a:ext cx="10225735" cy="1280160"/>
            <a:chOff x="1417320" y="4956048"/>
            <a:chExt cx="10225735" cy="1280160"/>
          </a:xfrm>
        </p:grpSpPr>
        <p:sp>
          <p:nvSpPr>
            <p:cNvPr id="44" name="Persp bg"/>
            <p:cNvSpPr/>
            <p:nvPr/>
          </p:nvSpPr>
          <p:spPr>
            <a:xfrm>
              <a:off x="1417320" y="4956048"/>
              <a:ext cx="10225735" cy="1280160"/>
            </a:xfrm>
            <a:prstGeom prst="roundRect">
              <a:avLst>
                <a:gd name="adj" fmla="val 6000"/>
              </a:avLst>
            </a:prstGeom>
            <a:solidFill>
              <a:srgbClr val="1F1A1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5" name="Persp label"/>
            <p:cNvSpPr txBox="1"/>
            <p:nvPr/>
          </p:nvSpPr>
          <p:spPr>
            <a:xfrm>
              <a:off x="1691640" y="5029200"/>
              <a:ext cx="2743200" cy="274320"/>
            </a:xfrm>
            <a:prstGeom prst="rect">
              <a:avLst/>
            </a:prstGeom>
            <a:noFill/>
          </p:spPr>
          <p:txBody>
            <a:bodyPr wrap="square" lIns="36576" tIns="36576" rIns="36576" bIns="36576" anchor="t">
              <a:spAutoFit/>
            </a:bodyPr>
            <a:lstStyle/>
            <a:p>
              <a:pPr algn="l">
                <a:lnSpc>
                  <a:spcPct val="108000"/>
                </a:lnSpc>
              </a:pPr>
              <a:r>
                <a:rPr sz="1100" b="1" i="0">
                  <a:solidFill>
                    <a:srgbClr val="F69D39"/>
                  </a:solidFill>
                  <a:latin typeface="Consolas"/>
                </a:rPr>
                <a:t>PERSPECTIVES</a:t>
              </a:r>
            </a:p>
          </p:txBody>
        </p:sp>
        <p:sp>
          <p:nvSpPr>
            <p:cNvPr id="46" name="Persp text"/>
            <p:cNvSpPr txBox="1"/>
            <p:nvPr/>
          </p:nvSpPr>
          <p:spPr>
            <a:xfrm>
              <a:off x="1691640" y="5303520"/>
              <a:ext cx="9677095" cy="914400"/>
            </a:xfrm>
            <a:prstGeom prst="rect">
              <a:avLst/>
            </a:prstGeom>
            <a:noFill/>
          </p:spPr>
          <p:txBody>
            <a:bodyPr wrap="square" lIns="36576" tIns="36576" rIns="36576" bIns="36576" anchor="t">
              <a:spAutoFit/>
            </a:bodyPr>
            <a:lstStyle/>
            <a:p>
              <a:pPr algn="l">
                <a:lnSpc>
                  <a:spcPct val="105000"/>
                </a:lnSpc>
              </a:pPr>
              <a:r>
                <a:rPr sz="1450" b="0" i="0">
                  <a:solidFill>
                    <a:srgbClr val="EFE9DD"/>
                  </a:solidFill>
                  <a:latin typeface="Calibri"/>
                </a:rPr>
                <a:t>Longer deployments with raw logs · agent ablations · independent regional and hosted-phishing corpora · a blinded explanation study · isolated training · richer grounded CLI and MCP tools · packaged mobile capture · a genuine dynamic-execution sandbox</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anim calcmode="lin" valueType="num">
                                      <p:cBhvr>
                                        <p:cTn id="11" dur="500" fill="hold"/>
                                        <p:tgtEl>
                                          <p:spTgt spid="15"/>
                                        </p:tgtEl>
                                        <p:attrNameLst>
                                          <p:attrName>ppt_x</p:attrName>
                                        </p:attrNameLst>
                                      </p:cBhvr>
                                      <p:tavLst>
                                        <p:tav tm="0">
                                          <p:val>
                                            <p:strVal val="#ppt_x"/>
                                          </p:val>
                                        </p:tav>
                                        <p:tav tm="100000">
                                          <p:val>
                                            <p:strVal val="#ppt_x"/>
                                          </p:val>
                                        </p:tav>
                                      </p:tavLst>
                                    </p:anim>
                                    <p:anim calcmode="lin" valueType="num">
                                      <p:cBhvr>
                                        <p:cTn id="12" dur="450" decel="100000" fill="hold"/>
                                        <p:tgtEl>
                                          <p:spTgt spid="15"/>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4" fill="hold">
                            <p:stCondLst>
                              <p:cond delay="105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1650"/>
                            </p:stCondLst>
                            <p:childTnLst>
                              <p:par>
                                <p:cTn id="19" presetID="2" presetClass="entr" presetSubtype="4" fill="hold" nodeType="after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ppt_x"/>
                                          </p:val>
                                        </p:tav>
                                        <p:tav tm="100000">
                                          <p:val>
                                            <p:strVal val="#ppt_x"/>
                                          </p:val>
                                        </p:tav>
                                      </p:tavLst>
                                    </p:anim>
                                    <p:anim calcmode="lin" valueType="num">
                                      <p:cBhvr additive="base">
                                        <p:cTn id="22" dur="500" fill="hold"/>
                                        <p:tgtEl>
                                          <p:spTgt spid="25"/>
                                        </p:tgtEl>
                                        <p:attrNameLst>
                                          <p:attrName>ppt_y</p:attrName>
                                        </p:attrNameLst>
                                      </p:cBhvr>
                                      <p:tavLst>
                                        <p:tav tm="0">
                                          <p:val>
                                            <p:strVal val="1+#ppt_h/2"/>
                                          </p:val>
                                        </p:tav>
                                        <p:tav tm="100000">
                                          <p:val>
                                            <p:strVal val="#ppt_y"/>
                                          </p:val>
                                        </p:tav>
                                      </p:tavLst>
                                    </p:anim>
                                  </p:childTnLst>
                                </p:cTn>
                              </p:par>
                            </p:childTnLst>
                          </p:cTn>
                        </p:par>
                        <p:par>
                          <p:cTn id="23" fill="hold">
                            <p:stCondLst>
                              <p:cond delay="2150"/>
                            </p:stCondLst>
                            <p:childTnLst>
                              <p:par>
                                <p:cTn id="24" presetID="2" presetClass="entr" presetSubtype="4" fill="hold" nodeType="afterEffect">
                                  <p:stCondLst>
                                    <p:cond delay="0"/>
                                  </p:stCondLst>
                                  <p:childTnLst>
                                    <p:set>
                                      <p:cBhvr>
                                        <p:cTn id="25" dur="1" fill="hold">
                                          <p:stCondLst>
                                            <p:cond delay="0"/>
                                          </p:stCondLst>
                                        </p:cTn>
                                        <p:tgtEl>
                                          <p:spTgt spid="31"/>
                                        </p:tgtEl>
                                        <p:attrNameLst>
                                          <p:attrName>style.visibility</p:attrName>
                                        </p:attrNameLst>
                                      </p:cBhvr>
                                      <p:to>
                                        <p:strVal val="visible"/>
                                      </p:to>
                                    </p:set>
                                    <p:anim calcmode="lin" valueType="num">
                                      <p:cBhvr additive="base">
                                        <p:cTn id="26" dur="500" fill="hold"/>
                                        <p:tgtEl>
                                          <p:spTgt spid="31"/>
                                        </p:tgtEl>
                                        <p:attrNameLst>
                                          <p:attrName>ppt_x</p:attrName>
                                        </p:attrNameLst>
                                      </p:cBhvr>
                                      <p:tavLst>
                                        <p:tav tm="0">
                                          <p:val>
                                            <p:strVal val="#ppt_x"/>
                                          </p:val>
                                        </p:tav>
                                        <p:tav tm="100000">
                                          <p:val>
                                            <p:strVal val="#ppt_x"/>
                                          </p:val>
                                        </p:tav>
                                      </p:tavLst>
                                    </p:anim>
                                    <p:anim calcmode="lin" valueType="num">
                                      <p:cBhvr additive="base">
                                        <p:cTn id="27" dur="500" fill="hold"/>
                                        <p:tgtEl>
                                          <p:spTgt spid="31"/>
                                        </p:tgtEl>
                                        <p:attrNameLst>
                                          <p:attrName>ppt_y</p:attrName>
                                        </p:attrNameLst>
                                      </p:cBhvr>
                                      <p:tavLst>
                                        <p:tav tm="0">
                                          <p:val>
                                            <p:strVal val="1+#ppt_h/2"/>
                                          </p:val>
                                        </p:tav>
                                        <p:tav tm="100000">
                                          <p:val>
                                            <p:strVal val="#ppt_y"/>
                                          </p:val>
                                        </p:tav>
                                      </p:tavLst>
                                    </p:anim>
                                  </p:childTnLst>
                                </p:cTn>
                              </p:par>
                            </p:childTnLst>
                          </p:cTn>
                        </p:par>
                        <p:par>
                          <p:cTn id="28" fill="hold">
                            <p:stCondLst>
                              <p:cond delay="2650"/>
                            </p:stCondLst>
                            <p:childTnLst>
                              <p:par>
                                <p:cTn id="29" presetID="2" presetClass="entr" presetSubtype="4" fill="hold" nodeType="after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500" fill="hold"/>
                                        <p:tgtEl>
                                          <p:spTgt spid="37"/>
                                        </p:tgtEl>
                                        <p:attrNameLst>
                                          <p:attrName>ppt_x</p:attrName>
                                        </p:attrNameLst>
                                      </p:cBhvr>
                                      <p:tavLst>
                                        <p:tav tm="0">
                                          <p:val>
                                            <p:strVal val="#ppt_x"/>
                                          </p:val>
                                        </p:tav>
                                        <p:tav tm="100000">
                                          <p:val>
                                            <p:strVal val="#ppt_x"/>
                                          </p:val>
                                        </p:tav>
                                      </p:tavLst>
                                    </p:anim>
                                    <p:anim calcmode="lin" valueType="num">
                                      <p:cBhvr additive="base">
                                        <p:cTn id="32" dur="500" fill="hold"/>
                                        <p:tgtEl>
                                          <p:spTgt spid="37"/>
                                        </p:tgtEl>
                                        <p:attrNameLst>
                                          <p:attrName>ppt_y</p:attrName>
                                        </p:attrNameLst>
                                      </p:cBhvr>
                                      <p:tavLst>
                                        <p:tav tm="0">
                                          <p:val>
                                            <p:strVal val="1+#ppt_h/2"/>
                                          </p:val>
                                        </p:tav>
                                        <p:tav tm="100000">
                                          <p:val>
                                            <p:strVal val="#ppt_y"/>
                                          </p:val>
                                        </p:tav>
                                      </p:tavLst>
                                    </p:anim>
                                  </p:childTnLst>
                                </p:cTn>
                              </p:par>
                            </p:childTnLst>
                          </p:cTn>
                        </p:par>
                        <p:par>
                          <p:cTn id="33" fill="hold">
                            <p:stCondLst>
                              <p:cond delay="3150"/>
                            </p:stCondLst>
                            <p:childTnLst>
                              <p:par>
                                <p:cTn id="34" presetID="2" presetClass="entr" presetSubtype="4" fill="hold" nodeType="afterEffect">
                                  <p:stCondLst>
                                    <p:cond delay="0"/>
                                  </p:stCondLst>
                                  <p:childTnLst>
                                    <p:set>
                                      <p:cBhvr>
                                        <p:cTn id="35" dur="1" fill="hold">
                                          <p:stCondLst>
                                            <p:cond delay="0"/>
                                          </p:stCondLst>
                                        </p:cTn>
                                        <p:tgtEl>
                                          <p:spTgt spid="43"/>
                                        </p:tgtEl>
                                        <p:attrNameLst>
                                          <p:attrName>style.visibility</p:attrName>
                                        </p:attrNameLst>
                                      </p:cBhvr>
                                      <p:to>
                                        <p:strVal val="visible"/>
                                      </p:to>
                                    </p:set>
                                    <p:anim calcmode="lin" valueType="num">
                                      <p:cBhvr additive="base">
                                        <p:cTn id="36" dur="500" fill="hold"/>
                                        <p:tgtEl>
                                          <p:spTgt spid="43"/>
                                        </p:tgtEl>
                                        <p:attrNameLst>
                                          <p:attrName>ppt_x</p:attrName>
                                        </p:attrNameLst>
                                      </p:cBhvr>
                                      <p:tavLst>
                                        <p:tav tm="0">
                                          <p:val>
                                            <p:strVal val="#ppt_x"/>
                                          </p:val>
                                        </p:tav>
                                        <p:tav tm="100000">
                                          <p:val>
                                            <p:strVal val="#ppt_x"/>
                                          </p:val>
                                        </p:tav>
                                      </p:tavLst>
                                    </p:anim>
                                    <p:anim calcmode="lin" valueType="num">
                                      <p:cBhvr additive="base">
                                        <p:cTn id="37" dur="500" fill="hold"/>
                                        <p:tgtEl>
                                          <p:spTgt spid="43"/>
                                        </p:tgtEl>
                                        <p:attrNameLst>
                                          <p:attrName>ppt_y</p:attrName>
                                        </p:attrNameLst>
                                      </p:cBhvr>
                                      <p:tavLst>
                                        <p:tav tm="0">
                                          <p:val>
                                            <p:strVal val="1+#ppt_h/2"/>
                                          </p:val>
                                        </p:tav>
                                        <p:tav tm="100000">
                                          <p:val>
                                            <p:strVal val="#ppt_y"/>
                                          </p:val>
                                        </p:tav>
                                      </p:tavLst>
                                    </p:anim>
                                  </p:childTnLst>
                                </p:cTn>
                              </p:par>
                            </p:childTnLst>
                          </p:cTn>
                        </p:par>
                        <p:par>
                          <p:cTn id="38" fill="hold">
                            <p:stCondLst>
                              <p:cond delay="3650"/>
                            </p:stCondLst>
                            <p:childTnLst>
                              <p:par>
                                <p:cTn id="39" presetID="22" presetClass="entr" presetSubtype="8" fill="hold" nodeType="after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wipe(left)">
                                      <p:cBhvr>
                                        <p:cTn id="4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F1A1B"/>
        </a:solidFill>
        <a:effectLst/>
      </p:bgPr>
    </p:bg>
    <p:spTree>
      <p:nvGrpSpPr>
        <p:cNvPr id="1" name=""/>
        <p:cNvGrpSpPr/>
        <p:nvPr/>
      </p:nvGrpSpPr>
      <p:grpSpPr>
        <a:xfrm>
          <a:off x="0" y="0"/>
          <a:ext cx="0" cy="0"/>
          <a:chOff x="0" y="0"/>
          <a:chExt cx="0" cy="0"/>
        </a:xfrm>
      </p:grpSpPr>
      <p:sp>
        <p:nvSpPr>
          <p:cNvPr id="2" name="!!orb"/>
          <p:cNvSpPr/>
          <p:nvPr/>
        </p:nvSpPr>
        <p:spPr>
          <a:xfrm>
            <a:off x="7680960" y="822960"/>
            <a:ext cx="5120640" cy="5120640"/>
          </a:xfrm>
          <a:prstGeom prst="ellipse">
            <a:avLst/>
          </a:prstGeom>
          <a:noFill/>
          <a:ln w="15875">
            <a:solidFill>
              <a:srgbClr val="3A323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orb2"/>
          <p:cNvSpPr/>
          <p:nvPr/>
        </p:nvSpPr>
        <p:spPr>
          <a:xfrm>
            <a:off x="8604504" y="1746504"/>
            <a:ext cx="3273552" cy="3273552"/>
          </a:xfrm>
          <a:prstGeom prst="ellipse">
            <a:avLst/>
          </a:prstGeom>
          <a:noFill/>
          <a:ln w="9525">
            <a:solidFill>
              <a:srgbClr val="3A323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Thanks 352"/>
          <p:cNvSpPr txBox="1"/>
          <p:nvPr/>
        </p:nvSpPr>
        <p:spPr>
          <a:xfrm>
            <a:off x="731520" y="1554480"/>
            <a:ext cx="6400800" cy="1188720"/>
          </a:xfrm>
          <a:prstGeom prst="rect">
            <a:avLst/>
          </a:prstGeom>
          <a:noFill/>
        </p:spPr>
        <p:txBody>
          <a:bodyPr wrap="square" lIns="36576" tIns="36576" rIns="36576" bIns="36576" anchor="t">
            <a:spAutoFit/>
          </a:bodyPr>
          <a:lstStyle/>
          <a:p>
            <a:pPr algn="l">
              <a:lnSpc>
                <a:spcPct val="108000"/>
              </a:lnSpc>
            </a:pPr>
            <a:r>
              <a:rPr sz="6600" b="1" i="0">
                <a:solidFill>
                  <a:srgbClr val="EFE9DD"/>
                </a:solidFill>
                <a:latin typeface="Bahnschrift"/>
              </a:rPr>
              <a:t>Thank you</a:t>
            </a:r>
          </a:p>
        </p:txBody>
      </p:sp>
      <p:sp>
        <p:nvSpPr>
          <p:cNvPr id="5" name="Questions 353"/>
          <p:cNvSpPr txBox="1"/>
          <p:nvPr/>
        </p:nvSpPr>
        <p:spPr>
          <a:xfrm>
            <a:off x="731520" y="2743200"/>
            <a:ext cx="6400800" cy="731520"/>
          </a:xfrm>
          <a:prstGeom prst="rect">
            <a:avLst/>
          </a:prstGeom>
          <a:noFill/>
        </p:spPr>
        <p:txBody>
          <a:bodyPr wrap="square" lIns="36576" tIns="36576" rIns="36576" bIns="36576" anchor="t">
            <a:spAutoFit/>
          </a:bodyPr>
          <a:lstStyle/>
          <a:p>
            <a:pPr algn="l">
              <a:lnSpc>
                <a:spcPct val="108000"/>
              </a:lnSpc>
            </a:pPr>
            <a:r>
              <a:rPr sz="2600" b="0" i="0">
                <a:solidFill>
                  <a:srgbClr val="F69D39"/>
                </a:solidFill>
                <a:latin typeface="Bahnschrift"/>
              </a:rPr>
              <a:t>Questions and discussion</a:t>
            </a:r>
          </a:p>
        </p:txBody>
      </p:sp>
      <p:sp>
        <p:nvSpPr>
          <p:cNvPr id="6" name="Divider 354"/>
          <p:cNvSpPr/>
          <p:nvPr/>
        </p:nvSpPr>
        <p:spPr>
          <a:xfrm>
            <a:off x="731520" y="3657600"/>
            <a:ext cx="822960" cy="45720"/>
          </a:xfrm>
          <a:prstGeom prst="rect">
            <a:avLst/>
          </a:prstGeom>
          <a:solidFill>
            <a:srgbClr val="869B7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Credits 355"/>
          <p:cNvSpPr txBox="1"/>
          <p:nvPr/>
        </p:nvSpPr>
        <p:spPr>
          <a:xfrm>
            <a:off x="731520" y="3886200"/>
            <a:ext cx="6400800" cy="1463040"/>
          </a:xfrm>
          <a:prstGeom prst="rect">
            <a:avLst/>
          </a:prstGeom>
          <a:noFill/>
        </p:spPr>
        <p:txBody>
          <a:bodyPr wrap="square" lIns="36576" tIns="36576" rIns="36576" bIns="36576" anchor="t">
            <a:spAutoFit/>
          </a:bodyPr>
          <a:lstStyle/>
          <a:p>
            <a:pPr algn="l">
              <a:lnSpc>
                <a:spcPct val="108000"/>
              </a:lnSpc>
              <a:spcAft>
                <a:spcPts val="400"/>
              </a:spcAft>
            </a:pPr>
            <a:r>
              <a:rPr sz="1600" b="1" i="0">
                <a:solidFill>
                  <a:srgbClr val="EFE9DD"/>
                </a:solidFill>
                <a:latin typeface="Bahnschrift"/>
              </a:rPr>
              <a:t>Che Haggai Ngha Kang  ·  UBA24PP134</a:t>
            </a:r>
          </a:p>
          <a:p>
            <a:pPr algn="l">
              <a:lnSpc>
                <a:spcPct val="108000"/>
              </a:lnSpc>
              <a:spcAft>
                <a:spcPts val="200"/>
              </a:spcAft>
            </a:pPr>
            <a:r>
              <a:rPr sz="1400" b="0" i="0">
                <a:solidFill>
                  <a:srgbClr val="B9AFA2"/>
                </a:solidFill>
                <a:latin typeface="Calibri"/>
              </a:rPr>
              <a:t>Supervisor: Prof. Onabid Mathias Akong</a:t>
            </a:r>
          </a:p>
          <a:p>
            <a:pPr algn="l">
              <a:lnSpc>
                <a:spcPct val="108000"/>
              </a:lnSpc>
            </a:pPr>
            <a:r>
              <a:rPr sz="1400" b="0" i="0">
                <a:solidFill>
                  <a:srgbClr val="B9AFA2"/>
                </a:solidFill>
                <a:latin typeface="Calibri"/>
              </a:rPr>
              <a:t>The University of Bamenda  ·  College of Technology</a:t>
            </a:r>
          </a:p>
        </p:txBody>
      </p:sp>
      <p:sp>
        <p:nvSpPr>
          <p:cNvPr id="8" name="References roll 356"/>
          <p:cNvSpPr txBox="1"/>
          <p:nvPr/>
        </p:nvSpPr>
        <p:spPr>
          <a:xfrm>
            <a:off x="8001000" y="914400"/>
            <a:ext cx="4023360" cy="5120640"/>
          </a:xfrm>
          <a:prstGeom prst="rect">
            <a:avLst/>
          </a:prstGeom>
          <a:noFill/>
        </p:spPr>
        <p:txBody>
          <a:bodyPr wrap="square" lIns="36576" tIns="36576" rIns="36576" bIns="36576" anchor="t">
            <a:spAutoFit/>
          </a:bodyPr>
          <a:lstStyle/>
          <a:p>
            <a:pPr algn="ctr">
              <a:lnSpc>
                <a:spcPct val="115000"/>
              </a:lnSpc>
            </a:pPr>
            <a:r>
              <a:rPr sz="1300" b="1" i="0">
                <a:solidFill>
                  <a:srgbClr val="F69D39"/>
                </a:solidFill>
                <a:latin typeface="Consolas"/>
              </a:rPr>
              <a:t>REFERENCES</a:t>
            </a:r>
          </a:p>
          <a:p>
            <a:pPr algn="ctr">
              <a:lnSpc>
                <a:spcPct val="115000"/>
              </a:lnSpc>
            </a:pPr>
            <a:endParaRPr sz="1300" b="1" i="0">
              <a:solidFill>
                <a:srgbClr val="F69D39"/>
              </a:solidFill>
              <a:latin typeface="Consolas"/>
            </a:endParaRPr>
          </a:p>
          <a:p>
            <a:pPr algn="ctr">
              <a:lnSpc>
                <a:spcPct val="115000"/>
              </a:lnSpc>
            </a:pPr>
            <a:r>
              <a:rPr sz="1300" b="0" i="0">
                <a:solidFill>
                  <a:srgbClr val="CFC6B8"/>
                </a:solidFill>
                <a:latin typeface="Calibri"/>
              </a:rPr>
              <a:t>Anderson &amp; Roth (2018) — EMBER</a:t>
            </a:r>
          </a:p>
          <a:p>
            <a:pPr algn="ctr">
              <a:lnSpc>
                <a:spcPct val="115000"/>
              </a:lnSpc>
            </a:pPr>
            <a:r>
              <a:rPr sz="1300" b="0" i="0">
                <a:solidFill>
                  <a:srgbClr val="CFC6B8"/>
                </a:solidFill>
                <a:latin typeface="Calibri"/>
              </a:rPr>
              <a:t>Antonakakis et al. (2012) — DGA-based malware</a:t>
            </a:r>
          </a:p>
          <a:p>
            <a:pPr algn="ctr">
              <a:lnSpc>
                <a:spcPct val="115000"/>
              </a:lnSpc>
            </a:pPr>
            <a:r>
              <a:rPr sz="1300" b="0" i="0">
                <a:solidFill>
                  <a:srgbClr val="CFC6B8"/>
                </a:solidFill>
                <a:latin typeface="Calibri"/>
              </a:rPr>
              <a:t>Barnum (2012) — STIX</a:t>
            </a:r>
          </a:p>
          <a:p>
            <a:pPr algn="ctr">
              <a:lnSpc>
                <a:spcPct val="115000"/>
              </a:lnSpc>
            </a:pPr>
            <a:r>
              <a:rPr sz="1300" b="0" i="0">
                <a:solidFill>
                  <a:srgbClr val="CFC6B8"/>
                </a:solidFill>
                <a:latin typeface="Calibri"/>
              </a:rPr>
              <a:t>Brown et al. (2020) — few-shot language models</a:t>
            </a:r>
          </a:p>
          <a:p>
            <a:pPr algn="ctr">
              <a:lnSpc>
                <a:spcPct val="115000"/>
              </a:lnSpc>
            </a:pPr>
            <a:r>
              <a:rPr sz="1300" b="0" i="0">
                <a:solidFill>
                  <a:srgbClr val="CFC6B8"/>
                </a:solidFill>
                <a:latin typeface="Calibri"/>
              </a:rPr>
              <a:t>Buczak &amp; Guven (2016) — ML for intrusion detection</a:t>
            </a:r>
          </a:p>
          <a:p>
            <a:pPr algn="ctr">
              <a:lnSpc>
                <a:spcPct val="115000"/>
              </a:lnSpc>
            </a:pPr>
            <a:r>
              <a:rPr sz="1300" b="0" i="0">
                <a:solidFill>
                  <a:srgbClr val="CFC6B8"/>
                </a:solidFill>
                <a:latin typeface="Calibri"/>
              </a:rPr>
              <a:t>Cockburn (2001) — Writing effective use cases</a:t>
            </a:r>
          </a:p>
          <a:p>
            <a:pPr algn="ctr">
              <a:lnSpc>
                <a:spcPct val="115000"/>
              </a:lnSpc>
            </a:pPr>
            <a:r>
              <a:rPr sz="1300" b="0" i="0">
                <a:solidFill>
                  <a:srgbClr val="CFC6B8"/>
                </a:solidFill>
                <a:latin typeface="Calibri"/>
              </a:rPr>
              <a:t>Devlin et al. (2019) — BERT</a:t>
            </a:r>
          </a:p>
          <a:p>
            <a:pPr algn="ctr">
              <a:lnSpc>
                <a:spcPct val="115000"/>
              </a:lnSpc>
            </a:pPr>
            <a:r>
              <a:rPr sz="1300" b="0" i="0">
                <a:solidFill>
                  <a:srgbClr val="CFC6B8"/>
                </a:solidFill>
                <a:latin typeface="Calibri"/>
              </a:rPr>
              <a:t>Egele et al. (2012) — dynamic malware analysis</a:t>
            </a:r>
          </a:p>
          <a:p>
            <a:pPr algn="ctr">
              <a:lnSpc>
                <a:spcPct val="115000"/>
              </a:lnSpc>
            </a:pPr>
            <a:r>
              <a:rPr sz="1300" b="0" i="0">
                <a:solidFill>
                  <a:srgbClr val="CFC6B8"/>
                </a:solidFill>
                <a:latin typeface="Calibri"/>
              </a:rPr>
              <a:t>Khonji et al. (2013) — phishing detection survey</a:t>
            </a:r>
          </a:p>
          <a:p>
            <a:pPr algn="ctr">
              <a:lnSpc>
                <a:spcPct val="115000"/>
              </a:lnSpc>
            </a:pPr>
            <a:r>
              <a:rPr sz="1300" b="0" i="0">
                <a:solidFill>
                  <a:srgbClr val="CFC6B8"/>
                </a:solidFill>
                <a:latin typeface="Calibri"/>
              </a:rPr>
              <a:t>Le et al. (2018) — URLNet</a:t>
            </a:r>
          </a:p>
          <a:p>
            <a:pPr algn="ctr">
              <a:lnSpc>
                <a:spcPct val="115000"/>
              </a:lnSpc>
            </a:pPr>
            <a:r>
              <a:rPr sz="1300" b="0" i="0">
                <a:solidFill>
                  <a:srgbClr val="CFC6B8"/>
                </a:solidFill>
                <a:latin typeface="Calibri"/>
              </a:rPr>
              <a:t>Liao et al. (2016) — IOC discovery</a:t>
            </a:r>
          </a:p>
          <a:p>
            <a:pPr algn="ctr">
              <a:lnSpc>
                <a:spcPct val="115000"/>
              </a:lnSpc>
            </a:pPr>
            <a:r>
              <a:rPr sz="1300" b="0" i="0">
                <a:solidFill>
                  <a:srgbClr val="CFC6B8"/>
                </a:solidFill>
                <a:latin typeface="Calibri"/>
              </a:rPr>
              <a:t>Mohammad et al. (2014) — phishing websites</a:t>
            </a:r>
          </a:p>
          <a:p>
            <a:pPr algn="ctr">
              <a:lnSpc>
                <a:spcPct val="115000"/>
              </a:lnSpc>
            </a:pPr>
            <a:r>
              <a:rPr sz="1300" b="0" i="0">
                <a:solidFill>
                  <a:srgbClr val="CFC6B8"/>
                </a:solidFill>
                <a:latin typeface="Calibri"/>
              </a:rPr>
              <a:t>Park et al. (2023) — Generative Agents</a:t>
            </a:r>
          </a:p>
          <a:p>
            <a:pPr algn="ctr">
              <a:lnSpc>
                <a:spcPct val="115000"/>
              </a:lnSpc>
            </a:pPr>
            <a:r>
              <a:rPr sz="1300" b="0" i="0">
                <a:solidFill>
                  <a:srgbClr val="CFC6B8"/>
                </a:solidFill>
                <a:latin typeface="Calibri"/>
              </a:rPr>
              <a:t>Provos et al. (2007) — The ghost in the browser</a:t>
            </a:r>
          </a:p>
          <a:p>
            <a:pPr algn="ctr">
              <a:lnSpc>
                <a:spcPct val="115000"/>
              </a:lnSpc>
            </a:pPr>
            <a:r>
              <a:rPr sz="1300" b="0" i="0">
                <a:solidFill>
                  <a:srgbClr val="CFC6B8"/>
                </a:solidFill>
                <a:latin typeface="Calibri"/>
              </a:rPr>
              <a:t>Russell &amp; Norvig (2020) — AI: A Modern Approach</a:t>
            </a:r>
          </a:p>
          <a:p>
            <a:pPr algn="ctr">
              <a:lnSpc>
                <a:spcPct val="115000"/>
              </a:lnSpc>
            </a:pPr>
            <a:r>
              <a:rPr sz="1300" b="0" i="0">
                <a:solidFill>
                  <a:srgbClr val="CFC6B8"/>
                </a:solidFill>
                <a:latin typeface="Calibri"/>
              </a:rPr>
              <a:t>Sahingoz et al. (2019) — ML phishing detection</a:t>
            </a:r>
          </a:p>
          <a:p>
            <a:pPr algn="ctr">
              <a:lnSpc>
                <a:spcPct val="115000"/>
              </a:lnSpc>
            </a:pPr>
            <a:r>
              <a:rPr sz="1300" b="0" i="0">
                <a:solidFill>
                  <a:srgbClr val="CFC6B8"/>
                </a:solidFill>
                <a:latin typeface="Calibri"/>
              </a:rPr>
              <a:t>Sommer &amp; Paxson (2010) — Outside the closed world</a:t>
            </a:r>
          </a:p>
          <a:p>
            <a:pPr algn="ctr">
              <a:lnSpc>
                <a:spcPct val="115000"/>
              </a:lnSpc>
            </a:pPr>
            <a:r>
              <a:rPr sz="1300" b="0" i="0">
                <a:solidFill>
                  <a:srgbClr val="CFC6B8"/>
                </a:solidFill>
                <a:latin typeface="Calibri"/>
              </a:rPr>
              <a:t>Strom et al. (2018) — MITRE ATT&amp;CK</a:t>
            </a:r>
          </a:p>
          <a:p>
            <a:pPr algn="ctr">
              <a:lnSpc>
                <a:spcPct val="115000"/>
              </a:lnSpc>
            </a:pPr>
            <a:r>
              <a:rPr sz="1300" b="0" i="0">
                <a:solidFill>
                  <a:srgbClr val="CFC6B8"/>
                </a:solidFill>
                <a:latin typeface="Calibri"/>
              </a:rPr>
              <a:t>Tounsi &amp; Rais (2018) — threat intelligence survey</a:t>
            </a:r>
          </a:p>
          <a:p>
            <a:pPr algn="ctr">
              <a:lnSpc>
                <a:spcPct val="115000"/>
              </a:lnSpc>
            </a:pPr>
            <a:r>
              <a:rPr sz="1300" b="0" i="0">
                <a:solidFill>
                  <a:srgbClr val="CFC6B8"/>
                </a:solidFill>
                <a:latin typeface="Calibri"/>
              </a:rPr>
              <a:t>Vaswani et al. (2017) — Attention is all you need</a:t>
            </a:r>
          </a:p>
          <a:p>
            <a:pPr algn="ctr">
              <a:lnSpc>
                <a:spcPct val="115000"/>
              </a:lnSpc>
            </a:pPr>
            <a:r>
              <a:rPr sz="1300" b="0" i="0">
                <a:solidFill>
                  <a:srgbClr val="CFC6B8"/>
                </a:solidFill>
                <a:latin typeface="Calibri"/>
              </a:rPr>
              <a:t>Wei et al. (2022) — chain-of-thought prompting</a:t>
            </a:r>
          </a:p>
          <a:p>
            <a:pPr algn="ctr">
              <a:lnSpc>
                <a:spcPct val="115000"/>
              </a:lnSpc>
            </a:pPr>
            <a:r>
              <a:rPr sz="1300" b="0" i="0">
                <a:solidFill>
                  <a:srgbClr val="CFC6B8"/>
                </a:solidFill>
                <a:latin typeface="Calibri"/>
              </a:rPr>
              <a:t>Willems et al. (2007) — CWSandbox</a:t>
            </a:r>
          </a:p>
          <a:p>
            <a:pPr algn="ctr">
              <a:lnSpc>
                <a:spcPct val="115000"/>
              </a:lnSpc>
            </a:pPr>
            <a:r>
              <a:rPr sz="1300" b="0" i="0">
                <a:solidFill>
                  <a:srgbClr val="CFC6B8"/>
                </a:solidFill>
                <a:latin typeface="Calibri"/>
              </a:rPr>
              <a:t>Wooldridge (2009) — multiagent systems</a:t>
            </a:r>
          </a:p>
          <a:p>
            <a:pPr algn="ctr">
              <a:lnSpc>
                <a:spcPct val="115000"/>
              </a:lnSpc>
            </a:pPr>
            <a:r>
              <a:rPr sz="1300" b="0" i="0">
                <a:solidFill>
                  <a:srgbClr val="CFC6B8"/>
                </a:solidFill>
                <a:latin typeface="Calibri"/>
              </a:rPr>
              <a:t>Yao et al. (2023) — ReAct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p:cTn id="8" dur="600" fill="hold"/>
                                        <p:tgtEl>
                                          <p:spTgt spid="4"/>
                                        </p:tgtEl>
                                        <p:attrNameLst>
                                          <p:attrName>ppt_x</p:attrName>
                                        </p:attrNameLst>
                                      </p:cBhvr>
                                      <p:tavLst>
                                        <p:tav tm="0">
                                          <p:val>
                                            <p:strVal val="#ppt_x"/>
                                          </p:val>
                                        </p:tav>
                                        <p:tav tm="100000">
                                          <p:val>
                                            <p:strVal val="#ppt_x"/>
                                          </p:val>
                                        </p:tav>
                                      </p:tavLst>
                                    </p:anim>
                                    <p:anim calcmode="lin" valueType="num">
                                      <p:cBhvr>
                                        <p:cTn id="9" dur="540" decel="100000" fill="hold"/>
                                        <p:tgtEl>
                                          <p:spTgt spid="4"/>
                                        </p:tgtEl>
                                        <p:attrNameLst>
                                          <p:attrName>ppt_y</p:attrName>
                                        </p:attrNameLst>
                                      </p:cBhvr>
                                      <p:tavLst>
                                        <p:tav tm="0">
                                          <p:val>
                                            <p:strVal val="#ppt_y+1"/>
                                          </p:val>
                                        </p:tav>
                                        <p:tav tm="100000">
                                          <p:val>
                                            <p:strVal val="#ppt_y-.03"/>
                                          </p:val>
                                        </p:tav>
                                      </p:tavLst>
                                    </p:anim>
                                    <p:anim calcmode="lin" valueType="num">
                                      <p:cBhvr>
                                        <p:cTn id="10" dur="60" accel="100000" fill="hold">
                                          <p:stCondLst>
                                            <p:cond delay="540"/>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1020"/>
                            </p:stCondLst>
                            <p:childTnLst>
                              <p:par>
                                <p:cTn id="12" presetID="10" presetClass="entr" presetSubtype="0" fill="hold" grpId="0" nodeType="afterEffect">
                                  <p:stCondLst>
                                    <p:cond delay="0"/>
                                  </p:stCondLst>
                                  <p:iterate type="wd">
                                    <p:tmPct val="10000"/>
                                  </p:iterate>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62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par>
                          <p:cTn id="19" fill="hold">
                            <p:stCondLst>
                              <p:cond delay="2120"/>
                            </p:stCondLst>
                            <p:childTnLst>
                              <p:par>
                                <p:cTn id="20" presetID="37" presetClass="entr" presetSubtype="0" fill="hold" grpId="0" nodeType="after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400"/>
                                        <p:tgtEl>
                                          <p:spTgt spid="7">
                                            <p:txEl>
                                              <p:pRg st="0" end="0"/>
                                            </p:txEl>
                                          </p:spTgt>
                                        </p:tgtEl>
                                      </p:cBhvr>
                                    </p:animEffect>
                                    <p:anim calcmode="lin" valueType="num">
                                      <p:cBhvr>
                                        <p:cTn id="23" dur="4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4" dur="360" decel="100000" fill="hold"/>
                                        <p:tgtEl>
                                          <p:spTgt spid="7">
                                            <p:txEl>
                                              <p:pRg st="0" end="0"/>
                                            </p:txEl>
                                          </p:spTgt>
                                        </p:tgtEl>
                                        <p:attrNameLst>
                                          <p:attrName>ppt_y</p:attrName>
                                        </p:attrNameLst>
                                      </p:cBhvr>
                                      <p:tavLst>
                                        <p:tav tm="0">
                                          <p:val>
                                            <p:strVal val="#ppt_y+1"/>
                                          </p:val>
                                        </p:tav>
                                        <p:tav tm="100000">
                                          <p:val>
                                            <p:strVal val="#ppt_y-.03"/>
                                          </p:val>
                                        </p:tav>
                                      </p:tavLst>
                                    </p:anim>
                                    <p:anim calcmode="lin" valueType="num">
                                      <p:cBhvr>
                                        <p:cTn id="25" dur="40" accel="100000" fill="hold">
                                          <p:stCondLst>
                                            <p:cond delay="360"/>
                                          </p:stCondLst>
                                        </p:cTn>
                                        <p:tgtEl>
                                          <p:spTgt spid="7">
                                            <p:txEl>
                                              <p:pRg st="0" end="0"/>
                                            </p:txEl>
                                          </p:spTgt>
                                        </p:tgtEl>
                                        <p:attrNameLst>
                                          <p:attrName>ppt_y</p:attrName>
                                        </p:attrNameLst>
                                      </p:cBhvr>
                                      <p:tavLst>
                                        <p:tav tm="0">
                                          <p:val>
                                            <p:strVal val="#ppt_y-.03"/>
                                          </p:val>
                                        </p:tav>
                                        <p:tav tm="100000">
                                          <p:val>
                                            <p:strVal val="#ppt_y"/>
                                          </p:val>
                                        </p:tav>
                                      </p:tavLst>
                                    </p:anim>
                                  </p:childTnLst>
                                </p:cTn>
                              </p:par>
                            </p:childTnLst>
                          </p:cTn>
                        </p:par>
                        <p:par>
                          <p:cTn id="26" fill="hold">
                            <p:stCondLst>
                              <p:cond delay="2520"/>
                            </p:stCondLst>
                            <p:childTnLst>
                              <p:par>
                                <p:cTn id="27" presetID="37" presetClass="entr" presetSubtype="0" fill="hold" grpId="0" nodeType="afterEffect">
                                  <p:stCondLst>
                                    <p:cond delay="0"/>
                                  </p:stCondLst>
                                  <p:childTnLst>
                                    <p:set>
                                      <p:cBhvr>
                                        <p:cTn id="28" dur="1" fill="hold">
                                          <p:stCondLst>
                                            <p:cond delay="0"/>
                                          </p:stCondLst>
                                        </p:cTn>
                                        <p:tgtEl>
                                          <p:spTgt spid="7">
                                            <p:txEl>
                                              <p:pRg st="1" end="1"/>
                                            </p:txEl>
                                          </p:spTgt>
                                        </p:tgtEl>
                                        <p:attrNameLst>
                                          <p:attrName>style.visibility</p:attrName>
                                        </p:attrNameLst>
                                      </p:cBhvr>
                                      <p:to>
                                        <p:strVal val="visible"/>
                                      </p:to>
                                    </p:set>
                                    <p:animEffect transition="in" filter="fade">
                                      <p:cBhvr>
                                        <p:cTn id="29" dur="400"/>
                                        <p:tgtEl>
                                          <p:spTgt spid="7">
                                            <p:txEl>
                                              <p:pRg st="1" end="1"/>
                                            </p:txEl>
                                          </p:spTgt>
                                        </p:tgtEl>
                                      </p:cBhvr>
                                    </p:animEffect>
                                    <p:anim calcmode="lin" valueType="num">
                                      <p:cBhvr>
                                        <p:cTn id="30" dur="4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1" dur="360" decel="100000" fill="hold"/>
                                        <p:tgtEl>
                                          <p:spTgt spid="7">
                                            <p:txEl>
                                              <p:pRg st="1" end="1"/>
                                            </p:txEl>
                                          </p:spTgt>
                                        </p:tgtEl>
                                        <p:attrNameLst>
                                          <p:attrName>ppt_y</p:attrName>
                                        </p:attrNameLst>
                                      </p:cBhvr>
                                      <p:tavLst>
                                        <p:tav tm="0">
                                          <p:val>
                                            <p:strVal val="#ppt_y+1"/>
                                          </p:val>
                                        </p:tav>
                                        <p:tav tm="100000">
                                          <p:val>
                                            <p:strVal val="#ppt_y-.03"/>
                                          </p:val>
                                        </p:tav>
                                      </p:tavLst>
                                    </p:anim>
                                    <p:anim calcmode="lin" valueType="num">
                                      <p:cBhvr>
                                        <p:cTn id="32" dur="40" accel="100000" fill="hold">
                                          <p:stCondLst>
                                            <p:cond delay="360"/>
                                          </p:stCondLst>
                                        </p:cTn>
                                        <p:tgtEl>
                                          <p:spTgt spid="7">
                                            <p:txEl>
                                              <p:pRg st="1" end="1"/>
                                            </p:txEl>
                                          </p:spTgt>
                                        </p:tgtEl>
                                        <p:attrNameLst>
                                          <p:attrName>ppt_y</p:attrName>
                                        </p:attrNameLst>
                                      </p:cBhvr>
                                      <p:tavLst>
                                        <p:tav tm="0">
                                          <p:val>
                                            <p:strVal val="#ppt_y-.03"/>
                                          </p:val>
                                        </p:tav>
                                        <p:tav tm="100000">
                                          <p:val>
                                            <p:strVal val="#ppt_y"/>
                                          </p:val>
                                        </p:tav>
                                      </p:tavLst>
                                    </p:anim>
                                  </p:childTnLst>
                                </p:cTn>
                              </p:par>
                            </p:childTnLst>
                          </p:cTn>
                        </p:par>
                        <p:par>
                          <p:cTn id="33" fill="hold">
                            <p:stCondLst>
                              <p:cond delay="2920"/>
                            </p:stCondLst>
                            <p:childTnLst>
                              <p:par>
                                <p:cTn id="34" presetID="37" presetClass="entr" presetSubtype="0" fill="hold" grpId="0" nodeType="after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fade">
                                      <p:cBhvr>
                                        <p:cTn id="36" dur="400"/>
                                        <p:tgtEl>
                                          <p:spTgt spid="7">
                                            <p:txEl>
                                              <p:pRg st="2" end="2"/>
                                            </p:txEl>
                                          </p:spTgt>
                                        </p:tgtEl>
                                      </p:cBhvr>
                                    </p:animEffect>
                                    <p:anim calcmode="lin" valueType="num">
                                      <p:cBhvr>
                                        <p:cTn id="37" dur="4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8" dur="360" decel="100000" fill="hold"/>
                                        <p:tgtEl>
                                          <p:spTgt spid="7">
                                            <p:txEl>
                                              <p:pRg st="2" end="2"/>
                                            </p:txEl>
                                          </p:spTgt>
                                        </p:tgtEl>
                                        <p:attrNameLst>
                                          <p:attrName>ppt_y</p:attrName>
                                        </p:attrNameLst>
                                      </p:cBhvr>
                                      <p:tavLst>
                                        <p:tav tm="0">
                                          <p:val>
                                            <p:strVal val="#ppt_y+1"/>
                                          </p:val>
                                        </p:tav>
                                        <p:tav tm="100000">
                                          <p:val>
                                            <p:strVal val="#ppt_y-.03"/>
                                          </p:val>
                                        </p:tav>
                                      </p:tavLst>
                                    </p:anim>
                                    <p:anim calcmode="lin" valueType="num">
                                      <p:cBhvr>
                                        <p:cTn id="39" dur="40" accel="100000" fill="hold">
                                          <p:stCondLst>
                                            <p:cond delay="360"/>
                                          </p:stCondLst>
                                        </p:cTn>
                                        <p:tgtEl>
                                          <p:spTgt spid="7">
                                            <p:txEl>
                                              <p:pRg st="2" end="2"/>
                                            </p:txEl>
                                          </p:spTgt>
                                        </p:tgtEl>
                                        <p:attrNameLst>
                                          <p:attrName>ppt_y</p:attrName>
                                        </p:attrNameLst>
                                      </p:cBhvr>
                                      <p:tavLst>
                                        <p:tav tm="0">
                                          <p:val>
                                            <p:strVal val="#ppt_y-.03"/>
                                          </p:val>
                                        </p:tav>
                                        <p:tav tm="100000">
                                          <p:val>
                                            <p:strVal val="#ppt_y"/>
                                          </p:val>
                                        </p:tav>
                                      </p:tavLst>
                                    </p:anim>
                                  </p:childTnLst>
                                </p:cTn>
                              </p:par>
                            </p:childTnLst>
                          </p:cTn>
                        </p:par>
                        <p:par>
                          <p:cTn id="40" fill="hold">
                            <p:stCondLst>
                              <p:cond delay="3320"/>
                            </p:stCondLst>
                            <p:childTnLst>
                              <p:par>
                                <p:cTn id="41" presetID="28" presetClass="entr" presetSubtype="0" fill="hold" grpId="0" nodeType="afterEffect">
                                  <p:stCondLst>
                                    <p:cond delay="500"/>
                                  </p:stCondLst>
                                  <p:childTnLst>
                                    <p:set>
                                      <p:cBhvr>
                                        <p:cTn id="42" dur="1" fill="hold">
                                          <p:stCondLst>
                                            <p:cond delay="0"/>
                                          </p:stCondLst>
                                        </p:cTn>
                                        <p:tgtEl>
                                          <p:spTgt spid="8"/>
                                        </p:tgtEl>
                                        <p:attrNameLst>
                                          <p:attrName>style.visibility</p:attrName>
                                        </p:attrNameLst>
                                      </p:cBhvr>
                                      <p:to>
                                        <p:strVal val="visible"/>
                                      </p:to>
                                    </p:set>
                                    <p:anim calcmode="lin" valueType="num">
                                      <p:cBhvr>
                                        <p:cTn id="43" dur="22000" fill="hold"/>
                                        <p:tgtEl>
                                          <p:spTgt spid="8"/>
                                        </p:tgtEl>
                                        <p:attrNameLst>
                                          <p:attrName>ppt_x</p:attrName>
                                        </p:attrNameLst>
                                      </p:cBhvr>
                                      <p:tavLst>
                                        <p:tav tm="0">
                                          <p:val>
                                            <p:strVal val="#ppt_x"/>
                                          </p:val>
                                        </p:tav>
                                        <p:tav tm="100000">
                                          <p:val>
                                            <p:strVal val="#ppt_x"/>
                                          </p:val>
                                        </p:tav>
                                      </p:tavLst>
                                    </p:anim>
                                    <p:anim calcmode="lin" valueType="num">
                                      <p:cBhvr>
                                        <p:cTn id="44" dur="22000" fill="hold"/>
                                        <p:tgtEl>
                                          <p:spTgt spid="8"/>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build="p"/>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4733</Words>
  <Application>Microsoft Office PowerPoint</Application>
  <PresentationFormat>Widescreen</PresentationFormat>
  <Paragraphs>698</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Bahnschrift</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CyberForge: A Real-Time Agentic AI System for Web Threat Detection and User Protection</dc:title>
  <dc:subject>Master's dissertation defence, The University of Bamenda</dc:subject>
  <dc:creator>Che Haggai Ngha Kang</dc:creator>
  <cp:keywords/>
  <dc:description>generated using python-pptx</dc:description>
  <cp:lastModifiedBy>haggai rameni</cp:lastModifiedBy>
  <cp:revision>2</cp:revision>
  <dcterms:created xsi:type="dcterms:W3CDTF">2013-01-27T09:14:16Z</dcterms:created>
  <dcterms:modified xsi:type="dcterms:W3CDTF">2026-10-19T00:20:32Z</dcterms:modified>
  <cp:category/>
</cp:coreProperties>
</file>